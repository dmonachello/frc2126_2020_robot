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84" r:id="rId3"/>
    <p:sldId id="257" r:id="rId4"/>
    <p:sldId id="282" r:id="rId5"/>
    <p:sldId id="258" r:id="rId6"/>
    <p:sldId id="259" r:id="rId7"/>
    <p:sldId id="260" r:id="rId8"/>
    <p:sldId id="261" r:id="rId9"/>
    <p:sldId id="262" r:id="rId10"/>
    <p:sldId id="263" r:id="rId11"/>
    <p:sldId id="264" r:id="rId12"/>
    <p:sldId id="265" r:id="rId13"/>
    <p:sldId id="266" r:id="rId14"/>
    <p:sldId id="267" r:id="rId15"/>
    <p:sldId id="269" r:id="rId16"/>
    <p:sldId id="276" r:id="rId17"/>
    <p:sldId id="270" r:id="rId18"/>
    <p:sldId id="271" r:id="rId19"/>
    <p:sldId id="277" r:id="rId20"/>
    <p:sldId id="272" r:id="rId21"/>
    <p:sldId id="283" r:id="rId22"/>
    <p:sldId id="268" r:id="rId23"/>
    <p:sldId id="273" r:id="rId24"/>
    <p:sldId id="274" r:id="rId25"/>
    <p:sldId id="275" r:id="rId26"/>
    <p:sldId id="278" r:id="rId27"/>
    <p:sldId id="279" r:id="rId28"/>
    <p:sldId id="280" r:id="rId29"/>
    <p:sldId id="281"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8" autoAdjust="0"/>
    <p:restoredTop sz="77427" autoAdjust="0"/>
  </p:normalViewPr>
  <p:slideViewPr>
    <p:cSldViewPr snapToGrid="0" snapToObjects="1">
      <p:cViewPr varScale="1">
        <p:scale>
          <a:sx n="85" d="100"/>
          <a:sy n="85" d="100"/>
        </p:scale>
        <p:origin x="78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127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students. This presentation breaks down how human operator inputs on an Xbox controller move physical hardware on our robot. We examine raw low-level control first, then build up to WPILib's pure Command-Based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gives students the route through the presentation.
We begin with the physical robot and very small programs. Those programs prove that the ports, wiring, motors, and pneumatic valve work. We then add a controller button so the operator can start and stop a mechanism.
After that, we move to command-based code. Command-based programming organizes the same hardware actions into subsystems, commands, button bindings, and scheduler rules. The final part of the presentation follows Button A through the real repository and uses short debugging exercises to check understanding.
Students do not need to memorize this list. Its purpose is to show how the early hardware examples connect to the final robot program.</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What is an actuator?</a:t>
            </a:r>
            <a:br>
              <a:rPr lang="en-US" dirty="0"/>
            </a:br>
            <a:r>
              <a:rPr lang="en-US" dirty="0"/>
              <a:t>An actuator is a device that turns a robot command into physical movement. Motors spin, and pneumatic cylinders push or pull.</a:t>
            </a:r>
          </a:p>
          <a:p>
            <a:r>
              <a:rPr dirty="0"/>
              <a:t>Note the exact PWM port mappings: Front Left is PWM 0, Back Left is PWM 1, Front Right is PWM 3, Back Right is PWM 2. Because the gearboxes face opposite directions, inverting </a:t>
            </a:r>
            <a:r>
              <a:rPr dirty="0" err="1"/>
              <a:t>leftDriveMotors</a:t>
            </a:r>
            <a:r>
              <a:rPr dirty="0"/>
              <a:t> in software aligns forward motion.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will first use the shortest possible path from Java to the hardware. </a:t>
            </a:r>
          </a:p>
          <a:p>
            <a:r>
              <a:rPr lang="en-US" dirty="0"/>
              <a:t>Each temporary Robot.java program operates one mechanism directly. </a:t>
            </a:r>
          </a:p>
          <a:p>
            <a:r>
              <a:rPr lang="en-US" dirty="0"/>
              <a:t>These tests confirm ports, wiring, direction, and basic device control before controller input or command-based structure enters the picture.</a:t>
            </a:r>
          </a:p>
          <a:p>
            <a:endParaRPr lang="en-US" dirty="0"/>
          </a:p>
          <a:p>
            <a:r>
              <a:rPr lang="en-US" dirty="0"/>
              <a:t> Ask students what must happen between a number in Java and physical motion.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bare-minimum </a:t>
            </a:r>
            <a:r>
              <a:rPr dirty="0" err="1"/>
              <a:t>TimedRobot</a:t>
            </a:r>
            <a:r>
              <a:rPr dirty="0"/>
              <a:t> program proves the belt motor and Talon controller on PWM 5 are wired correctly. </a:t>
            </a:r>
            <a:endParaRPr lang="en-US" dirty="0"/>
          </a:p>
          <a:p>
            <a:r>
              <a:rPr dirty="0"/>
              <a:t>Notice how </a:t>
            </a:r>
            <a:r>
              <a:rPr dirty="0" err="1"/>
              <a:t>teleopPeriodic</a:t>
            </a:r>
            <a:r>
              <a:rPr dirty="0"/>
              <a:t> executes continuously every 20 </a:t>
            </a:r>
            <a:r>
              <a:rPr dirty="0" err="1"/>
              <a:t>ms.</a:t>
            </a:r>
            <a:br>
              <a:rPr lang="en-US" dirty="0"/>
            </a:br>
            <a:br>
              <a:rPr lang="en-US" dirty="0"/>
            </a:br>
            <a:r>
              <a:rPr lang="en-US" dirty="0"/>
              <a:t>Two main things:</a:t>
            </a:r>
            <a:br>
              <a:rPr lang="en-US" dirty="0"/>
            </a:br>
            <a:r>
              <a:rPr lang="en-US" dirty="0"/>
              <a:t>1. create an object to control the motor with the new Talon statement</a:t>
            </a:r>
          </a:p>
          <a:p>
            <a:r>
              <a:rPr lang="en-US" dirty="0"/>
              <a:t>2. Run the motor with the .set statement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roller program follows the exact same pattern as the belt demo, changing only the PWM port handle from 5 to 4.</a:t>
            </a:r>
            <a:br>
              <a:rPr lang="en-US" dirty="0"/>
            </a:br>
            <a:r>
              <a:rPr lang="en-US" dirty="0"/>
              <a:t>Flip between this slide and the previous to show the changes. Same idea but 2 different motors/subsystems</a:t>
            </a:r>
          </a:p>
          <a:p>
            <a:r>
              <a:rPr lang="en-US" dirty="0"/>
              <a:t>Make them look at the </a:t>
            </a:r>
            <a:r>
              <a:rPr lang="en-US" dirty="0" err="1"/>
              <a:t>roborio</a:t>
            </a:r>
            <a:r>
              <a:rPr lang="en-US" dirty="0"/>
              <a:t> and seem the wiring for these 2 motors from </a:t>
            </a:r>
            <a:r>
              <a:rPr lang="en-US" dirty="0" err="1"/>
              <a:t>thw</a:t>
            </a:r>
            <a:r>
              <a:rPr lang="en-US" dirty="0"/>
              <a:t> PWM port to the talon motor controller</a:t>
            </a: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A single valve controls both left and right climber arms together through split air lines.</a:t>
            </a:r>
            <a:br>
              <a:rPr lang="en-US" dirty="0"/>
            </a:br>
            <a:br>
              <a:rPr lang="en-US" dirty="0"/>
            </a:br>
            <a:r>
              <a:rPr lang="en-US" dirty="0"/>
              <a:t>Pneumatics use a </a:t>
            </a:r>
            <a:r>
              <a:rPr lang="en-US" dirty="0" err="1"/>
              <a:t>DoubleSolenoid</a:t>
            </a:r>
            <a:r>
              <a:rPr lang="en-US" dirty="0"/>
              <a:t> valve connected to a CTRE Pneumatics Control Module (PCM) CAN ID 0. channels 0 and 1. </a:t>
            </a:r>
          </a:p>
          <a:p>
            <a:endParaRPr lang="en-US" dirty="0"/>
          </a:p>
          <a:p>
            <a:r>
              <a:rPr lang="en-US" dirty="0"/>
              <a:t>See the pattern is similar even if the hardware is very different:</a:t>
            </a:r>
            <a:br>
              <a:rPr lang="en-US" dirty="0"/>
            </a:br>
            <a:r>
              <a:rPr lang="en-US" dirty="0"/>
              <a:t>1. create the object that controls the hardware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Give a command (.set) to change the state of the hardware</a:t>
            </a:r>
            <a:br>
              <a:rPr lang="en-US" dirty="0"/>
            </a:br>
            <a:br>
              <a:rPr lang="en-US" dirty="0"/>
            </a:br>
            <a:r>
              <a:rPr lang="en-US" dirty="0"/>
              <a:t>Look at the robot PCM module to see what the channel numbers mean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many channels can the PCM handle?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happens if you need more channels?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Constructor </a:t>
            </a:r>
            <a:r>
              <a:rPr lang="en-US" sz="1200" kern="1200" dirty="0" err="1">
                <a:solidFill>
                  <a:schemeClr val="tx1"/>
                </a:solidFill>
                <a:latin typeface="+mn-lt"/>
                <a:ea typeface="+mn-ea"/>
                <a:cs typeface="+mn-cs"/>
              </a:rPr>
              <a:t>args</a:t>
            </a:r>
            <a:r>
              <a:rPr lang="en-US" sz="1200" kern="1200" dirty="0">
                <a:solidFill>
                  <a:schemeClr val="tx1"/>
                </a:solidFill>
                <a:latin typeface="+mn-lt"/>
                <a:ea typeface="+mn-ea"/>
                <a:cs typeface="+mn-cs"/>
              </a:rPr>
              <a:t> - PCM CAN ID, module type, forward channel, reverse channel</a:t>
            </a:r>
          </a:p>
          <a:p>
            <a:br>
              <a:rPr lang="en-US" dirty="0"/>
            </a:br>
            <a:r>
              <a:rPr lang="en-US" sz="1200" b="0" kern="1200" dirty="0">
                <a:solidFill>
                  <a:schemeClr val="tx1"/>
                </a:solidFill>
                <a:effectLst/>
                <a:latin typeface="+mn-lt"/>
                <a:ea typeface="+mn-ea"/>
                <a:cs typeface="+mn-cs"/>
              </a:rPr>
              <a:t>public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module,</a:t>
            </a:r>
          </a:p>
          <a:p>
            <a:r>
              <a:rPr lang="en-US" sz="1200" b="0" kern="1200" dirty="0">
                <a:solidFill>
                  <a:schemeClr val="tx1"/>
                </a:solidFill>
                <a:effectLst/>
                <a:latin typeface="+mn-lt"/>
                <a:ea typeface="+mn-ea"/>
                <a:cs typeface="+mn-cs"/>
              </a:rPr>
              <a:t>      final </a:t>
            </a:r>
            <a:r>
              <a:rPr lang="en-US" sz="1200" b="0" kern="1200" dirty="0" err="1">
                <a:solidFill>
                  <a:schemeClr val="tx1"/>
                </a:solidFill>
                <a:effectLst/>
                <a:latin typeface="+mn-lt"/>
                <a:ea typeface="+mn-ea"/>
                <a:cs typeface="+mn-cs"/>
              </a:rPr>
              <a:t>PneumaticsModuleType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moduleType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forwardChannel</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reverseChannel</a:t>
            </a:r>
            <a:r>
              <a:rPr lang="en-US" sz="1200" b="0" kern="1200" dirty="0">
                <a:solidFill>
                  <a:schemeClr val="tx1"/>
                </a:solidFill>
                <a:effectLst/>
                <a:latin typeface="+mn-lt"/>
                <a:ea typeface="+mn-ea"/>
                <a:cs typeface="+mn-cs"/>
              </a:rPr>
              <a:t>)</a:t>
            </a:r>
          </a:p>
          <a:p>
            <a:br>
              <a:rPr lang="en-US" dirty="0"/>
            </a:br>
            <a:r>
              <a:rPr lang="en-US" dirty="0"/>
              <a:t>In our real code that you will see later we won’t use literal numbers like 0, 1, etc. We will use names that make it clear what the numbers are being used for</a:t>
            </a:r>
          </a:p>
          <a:p>
            <a:endParaRPr lang="en-US" dirty="0"/>
          </a:p>
          <a:p>
            <a:endParaRPr lang="en-US" dirty="0"/>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climberSolenoid</a:t>
            </a:r>
            <a:r>
              <a:rPr lang="en-US" sz="1200" b="0" kern="1200" dirty="0">
                <a:solidFill>
                  <a:schemeClr val="tx1"/>
                </a:solidFill>
                <a:effectLst/>
                <a:latin typeface="+mn-lt"/>
                <a:ea typeface="+mn-ea"/>
                <a:cs typeface="+mn-cs"/>
              </a:rPr>
              <a:t> = new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PneumaticsModuleType.CTREPCM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Constants.Hardware.CLIMBER_SOLENOID_FORWARD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Constants.Hardware.CLIMBER_SOLENOID_REVERSE</a:t>
            </a:r>
            <a:r>
              <a:rPr lang="en-US" sz="1200" b="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similar to the other motor demos except it show how to use all the motors together to create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Front-right uses PWM 3 and back-right uses PWM 2. </a:t>
            </a:r>
          </a:p>
          <a:p>
            <a:endParaRPr lang="en-US" dirty="0"/>
          </a:p>
          <a:p>
            <a:r>
              <a:rPr lang="en-US" dirty="0"/>
              <a:t>Note how </a:t>
            </a:r>
            <a:r>
              <a:rPr lang="en-US" dirty="0" err="1"/>
              <a:t>robotInit</a:t>
            </a:r>
            <a:r>
              <a:rPr lang="en-US" dirty="0"/>
              <a:t>() configures the followers and left-side inversion once.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you think the inversion is necessary?</a:t>
            </a:r>
          </a:p>
          <a:p>
            <a:endParaRPr lang="en-US" dirty="0"/>
          </a:p>
          <a:p>
            <a:r>
              <a:rPr lang="en-US" dirty="0"/>
              <a:t>Commanding +0.15 to both leaders then drives both sides forward. Keep the chassis elevated on blocks during this test.</a:t>
            </a:r>
            <a:br>
              <a:rPr lang="en-US" dirty="0"/>
            </a:b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brings the four direct hardware tests together on one robot.
On the electrical side, each PWM number identifies one roboRIO output. The number used in the Java constructor must match the physical port used by the signal cable. The drivetrain uses ports 0 through 3. The roller uses port 4, and the belt uses port 5.
The PCM communicates with the roboRIO over the CAN bus. The PDP stays connected at the far end of the standard CAN wiring because it contains the second CAN termination resistor. This project does not create a PDP object or refer to a PDP CAN ID in Java code.
On the pneumatic side, the robot has one double-solenoid valve for the climber. Each valve output splits through a tee fitting, so the two cylinders extend and retract together.
This is a summary of the hardware used in the direct tests. The next slides add the two Xbox controllers.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use 2 </a:t>
            </a:r>
            <a:r>
              <a:rPr lang="en-US" dirty="0" err="1"/>
              <a:t>xbox</a:t>
            </a:r>
            <a:r>
              <a:rPr lang="en-US" dirty="0"/>
              <a:t> controllers to run this robot.</a:t>
            </a:r>
            <a:br>
              <a:rPr lang="en-US" dirty="0"/>
            </a:br>
            <a:r>
              <a:rPr dirty="0"/>
              <a:t>Driver commands chassis movement </a:t>
            </a:r>
            <a:r>
              <a:rPr lang="en-US" dirty="0"/>
              <a:t>with the </a:t>
            </a:r>
            <a:r>
              <a:rPr lang="en-US" dirty="0" err="1"/>
              <a:t>xbox</a:t>
            </a:r>
            <a:r>
              <a:rPr lang="en-US" dirty="0"/>
              <a:t> controller </a:t>
            </a:r>
            <a:r>
              <a:rPr dirty="0"/>
              <a:t>on USB Port 0 </a:t>
            </a:r>
            <a:endParaRPr lang="en-US" dirty="0"/>
          </a:p>
          <a:p>
            <a:r>
              <a:rPr dirty="0"/>
              <a:t>Operator commands mechanisms </a:t>
            </a:r>
            <a:r>
              <a:rPr lang="en-US" dirty="0"/>
              <a:t>with the controller </a:t>
            </a:r>
            <a:r>
              <a:rPr dirty="0"/>
              <a:t>on USB Port 1. </a:t>
            </a:r>
            <a:br>
              <a:rPr lang="en-US" dirty="0"/>
            </a:br>
            <a:br>
              <a:rPr lang="en-US" dirty="0"/>
            </a:br>
            <a:r>
              <a:rPr lang="en-US" dirty="0"/>
              <a:t>Take a break from the presentation and drive/operate the robot but do the next slide first!</a:t>
            </a:r>
            <a:br>
              <a:rPr lang="en-US" dirty="0"/>
            </a:br>
            <a:endParaRPr lang="en-US" dirty="0"/>
          </a:p>
          <a:p>
            <a:r>
              <a:rPr lang="en-US" dirty="0"/>
              <a:t>Caution - </a:t>
            </a:r>
            <a:r>
              <a:rPr dirty="0"/>
              <a:t>Before enabling </a:t>
            </a:r>
            <a:r>
              <a:rPr dirty="0" err="1"/>
              <a:t>teleop</a:t>
            </a:r>
            <a:r>
              <a:rPr dirty="0"/>
              <a:t> during live tests, physically confirm the chassis is on blocks</a:t>
            </a:r>
            <a:r>
              <a:rPr lang="en-US" baseline="0" dirty="0"/>
              <a:t> or in a well spaced area to handle robot movement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Open the USB tab in Driver Station before enabling the robot.
The software creates the driver controller on port 0 and the operator controller on port 1. Driver Station must show the physical controllers in the same positions. If the controllers are reversed, the robot code still runs, but each person receives the other controller's assignments.
Use the live indicators to verify the mapping. Press A on the operator controller and confirm that Button 1 changes on USB port 1. Press the right bumper on the driver controller and confirm that the matching indicator changes on USB port 0.
This test separates a controller or USB-order problem from a Java-code problem. If Driver Station does not show the button changing, inspect the controller connection and USB order before debugging the command code.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simplest controller version of the belt demo.
The program checks Button A every time </a:t>
            </a:r>
            <a:r>
              <a:rPr lang="en-US" dirty="0" err="1"/>
              <a:t>teleopPeriodic</a:t>
            </a:r>
            <a:r>
              <a:rPr lang="en-US" dirty="0"/>
              <a:t> runs. While the button is held, the code sends 0.25 to the belt motor. When the button is released, the else block sends 0.0.
The else block matters because a motor controller keeps its last requested output until the program writes a new value or the robot is disabled. Reading a false button value does not stop the motor by itself.
This pattern works for one button. As the robot gains more buttons and mechanisms, </a:t>
            </a:r>
            <a:r>
              <a:rPr lang="en-US" dirty="0" err="1"/>
              <a:t>teleopPeriodic</a:t>
            </a:r>
            <a:r>
              <a:rPr lang="en-US" dirty="0"/>
              <a:t> fills with conditions that start actions, stop actions, and decide which action wins. Command-based programming gives those responsibilities clear places.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same basic process we saw in the </a:t>
            </a:r>
            <a:r>
              <a:rPr lang="en-US" dirty="0" err="1"/>
              <a:t>TimedRobot</a:t>
            </a:r>
            <a:r>
              <a:rPr lang="en-US" dirty="0"/>
              <a:t> demonstration. The operator presses Button A, and Driver Station sends that information to the robot. The robot program sees that the button is pressed and runs the code that moves the belt inward. That code sends an output through PWM port 5 to the belt motor controller.
A more </a:t>
            </a:r>
            <a:r>
              <a:rPr lang="en-US" dirty="0" err="1"/>
              <a:t>coplex</a:t>
            </a:r>
            <a:r>
              <a:rPr lang="en-US" dirty="0"/>
              <a:t> robot needs to repeat this process for many buttons and mechanisms. If we put every button check and motor instruction inside </a:t>
            </a:r>
            <a:r>
              <a:rPr lang="en-US" dirty="0" err="1"/>
              <a:t>teleopPeriodic</a:t>
            </a:r>
            <a:r>
              <a:rPr lang="en-US" dirty="0"/>
              <a:t>(), the method will become difficult to manage. The next slide introduces the way command-based programming divides these jobs into smaller, organized parts.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US" dirty="0"/>
              <a:t>So far, we have controlled each device directly. That is a good way to prove that the wiring, ports, and basic code work. Our finished robot has a drivetrain, a belt, a roller, a climber, and two controllers. Putting all of that behavior into one large </a:t>
            </a:r>
            <a:r>
              <a:rPr lang="en-US" dirty="0" err="1"/>
              <a:t>teleopPeriodic</a:t>
            </a:r>
            <a:r>
              <a:rPr lang="en-US" dirty="0"/>
              <a:t> method would become difficult to read and change.
Command-based programming is another way of organizing a robot program. It does not change how a motor or controller works. It gives each part of the program a clear job.
</a:t>
            </a:r>
          </a:p>
          <a:p>
            <a:pPr lvl="0"/>
            <a:r>
              <a:rPr lang="en-US" dirty="0"/>
              <a:t>There are a few major concepts to understand command based robot programming</a:t>
            </a:r>
          </a:p>
          <a:p>
            <a:pPr marL="171450" lvl="0" indent="-171450">
              <a:buFontTx/>
              <a:buChar char="-"/>
            </a:pPr>
            <a:r>
              <a:rPr lang="en-US" dirty="0"/>
              <a:t>subsystems, commands, buttons bindings, command scheduling, conflict resolution, ???</a:t>
            </a:r>
          </a:p>
          <a:p>
            <a:pPr marL="0" lvl="0" indent="0">
              <a:buFontTx/>
              <a:buNone/>
            </a:pPr>
            <a:endParaRPr lang="en-US" dirty="0"/>
          </a:p>
          <a:p>
            <a:pPr marL="0" lvl="0" indent="0">
              <a:buFontTx/>
              <a:buNone/>
            </a:pPr>
            <a:r>
              <a:rPr lang="en-US" dirty="0"/>
              <a:t>A subsystem contains the code for one mechanism. </a:t>
            </a:r>
            <a:r>
              <a:rPr lang="en-US" dirty="0" err="1"/>
              <a:t>BeltSubsystem</a:t>
            </a:r>
            <a:r>
              <a:rPr lang="en-US" dirty="0"/>
              <a:t> controls the belt motor. </a:t>
            </a:r>
          </a:p>
          <a:p>
            <a:pPr marL="0" lvl="0" indent="0">
              <a:buFontTx/>
              <a:buNone/>
            </a:pPr>
            <a:endParaRPr lang="en-US" dirty="0"/>
          </a:p>
          <a:p>
            <a:pPr marL="0" lvl="0" indent="0">
              <a:buFontTx/>
              <a:buNone/>
            </a:pPr>
            <a:r>
              <a:rPr lang="en-US" dirty="0"/>
              <a:t>Subsystems are hardware grouping needed to handle a specific function.  It may be a single component like a motor or multiple motors, sensors etc. </a:t>
            </a:r>
          </a:p>
          <a:p>
            <a:pPr marL="0" lvl="0" indent="0">
              <a:buFontTx/>
              <a:buNone/>
            </a:pPr>
            <a:r>
              <a:rPr lang="en-US" dirty="0"/>
              <a:t>It usually has the code in it that directly controls the hardware like in our demo code at the start of this presentation.</a:t>
            </a:r>
          </a:p>
          <a:p>
            <a:pPr marL="0" lvl="0" indent="0">
              <a:buFontTx/>
              <a:buNone/>
            </a:pPr>
            <a:endParaRPr lang="en-US" dirty="0"/>
          </a:p>
          <a:p>
            <a:pPr lvl="0"/>
            <a:r>
              <a:rPr lang="en-US" dirty="0"/>
              <a:t>A command describes one action. </a:t>
            </a:r>
            <a:r>
              <a:rPr lang="en-US" dirty="0" err="1"/>
              <a:t>BeltInCommand</a:t>
            </a:r>
            <a:r>
              <a:rPr lang="en-US" dirty="0"/>
              <a:t> means run the belt inward. </a:t>
            </a:r>
          </a:p>
          <a:p>
            <a:pPr lvl="0"/>
            <a:endParaRPr lang="en-US" dirty="0"/>
          </a:p>
          <a:p>
            <a:pPr lvl="0"/>
            <a:r>
              <a:rPr lang="en-US" dirty="0"/>
              <a:t>A button binding connects an operator input to a command. For example, in this project, the A button starts </a:t>
            </a:r>
            <a:r>
              <a:rPr lang="en-US" dirty="0" err="1"/>
              <a:t>BeltInCommand</a:t>
            </a:r>
            <a:r>
              <a:rPr lang="en-US" dirty="0"/>
              <a:t>.
The scheduler runs the commands. It starts them, calls them while they are active, and stops them when they end. </a:t>
            </a:r>
          </a:p>
          <a:p>
            <a:pPr lvl="0"/>
            <a:endParaRPr lang="en-US" dirty="0"/>
          </a:p>
          <a:p>
            <a:pPr lvl="0"/>
            <a:r>
              <a:rPr lang="en-US" dirty="0"/>
              <a:t>The scheduler also handles conflicts. If two commands need the same subsystem, it does not let both control that subsystem at once.
This slide is only the big picture. The next slides explain each part before we return to the belt example.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Subsystems and commands have different jobs.</a:t>
            </a:r>
          </a:p>
          <a:p>
            <a:r>
              <a:rPr lang="en-US" dirty="0"/>
              <a:t>A subsystem controls a part of the robot’s hardware. For example, </a:t>
            </a:r>
            <a:r>
              <a:rPr lang="en-US" sz="1200" kern="1200" dirty="0" err="1">
                <a:solidFill>
                  <a:schemeClr val="tx1"/>
                </a:solidFill>
                <a:latin typeface="+mn-lt"/>
                <a:ea typeface="+mn-ea"/>
                <a:cs typeface="+mn-cs"/>
              </a:rPr>
              <a:t>BeltSubsystem</a:t>
            </a:r>
            <a:r>
              <a:rPr lang="en-US" dirty="0"/>
              <a:t> owns the belt motor controller and provides methods to run and stop the belt.</a:t>
            </a:r>
          </a:p>
          <a:p>
            <a:r>
              <a:rPr lang="en-US" dirty="0"/>
              <a:t>A command uses those methods to perform a specific action. </a:t>
            </a:r>
            <a:r>
              <a:rPr lang="en-US" sz="1200" kern="1200" dirty="0" err="1">
                <a:solidFill>
                  <a:schemeClr val="tx1"/>
                </a:solidFill>
                <a:latin typeface="+mn-lt"/>
                <a:ea typeface="+mn-ea"/>
                <a:cs typeface="+mn-cs"/>
              </a:rPr>
              <a:t>BeltInCommand</a:t>
            </a:r>
            <a:r>
              <a:rPr lang="en-US" dirty="0"/>
              <a:t> runs the belt at the intake speed. </a:t>
            </a:r>
            <a:r>
              <a:rPr lang="en-US" sz="1200" kern="1200" dirty="0" err="1">
                <a:solidFill>
                  <a:schemeClr val="tx1"/>
                </a:solidFill>
                <a:latin typeface="+mn-lt"/>
                <a:ea typeface="+mn-ea"/>
                <a:cs typeface="+mn-cs"/>
              </a:rPr>
              <a:t>BeltOutCommand</a:t>
            </a:r>
            <a:r>
              <a:rPr lang="en-US" dirty="0"/>
              <a:t> runs it in the opposite direction.</a:t>
            </a:r>
          </a:p>
          <a:p>
            <a:r>
              <a:rPr lang="en-US" dirty="0"/>
              <a:t>The motor-control code stays in one place. Button controls and autonomous code can both use the same subsystem methods without copying that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A subsystem may control more than one hardware device. For example, our </a:t>
            </a:r>
            <a:r>
              <a:rPr lang="en-US" sz="1200" kern="1200" dirty="0" err="1">
                <a:solidFill>
                  <a:schemeClr val="tx1"/>
                </a:solidFill>
                <a:latin typeface="+mn-lt"/>
                <a:ea typeface="+mn-ea"/>
                <a:cs typeface="+mn-cs"/>
              </a:rPr>
              <a:t>ShooterSubsystem</a:t>
            </a:r>
            <a:r>
              <a:rPr lang="en-US" dirty="0"/>
              <a:t> controlled two flywheel motors, a feeder motor, and several encoders. The subsystem contained the code for running those devices and measuring flywheel speed. The shoot command controlled the sequence: start the flywheels, wait until they reach the requested speed, and then run the feeder to shoot the ball. The intake was a separate mechanism, so it belonged in its own subsystem.</a:t>
            </a:r>
          </a:p>
          <a:p>
            <a:r>
              <a:rPr lang="en-US" dirty="0"/>
              <a:t>The simple division is:</a:t>
            </a:r>
          </a:p>
          <a:p>
            <a:r>
              <a:rPr lang="en-US" dirty="0"/>
              <a:t>Subsystems control the hardware. Commands organize the actions and timing.</a:t>
            </a:r>
          </a:p>
          <a:p>
            <a:br>
              <a:rPr lang="en-US" dirty="0"/>
            </a:br>
            <a:r>
              <a:rPr lang="en-US" dirty="0"/>
              <a:t>We will deal with more complex examples like this in future presentations.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first complete subsystem from the project.
The private Talon field is the motor controller owned by BeltSubsystem. Keeping it private means commands cannot reach around the subsystem and control the motor directly.
The constructor creates the Talon using the PWM port stored in Constants. The run(speed) method sends a requested speed to the motor controller. The stop() method calls run(0), which gives the motor a zero output.
The public run() and stop() methods are the small set of controls that the rest of the robot program uses. Programmers often call this set of public methods an API.
The next slides show how a button starts a command and how that command uses these subsystem methods.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button binding connects an input to a command.
It’s how you tell the system to run commands when a controller button is press or used</a:t>
            </a:r>
          </a:p>
          <a:p>
            <a:endParaRPr lang="en-US" dirty="0"/>
          </a:p>
          <a:p>
            <a:r>
              <a:rPr lang="en-US" dirty="0"/>
              <a:t>This slide shows 3 examples. There are more and they can be more complex.</a:t>
            </a:r>
          </a:p>
          <a:p>
            <a:r>
              <a:rPr lang="en-US" dirty="0"/>
              <a:t>
</a:t>
            </a:r>
            <a:r>
              <a:rPr lang="en-US" dirty="0" err="1"/>
              <a:t>whileTrue</a:t>
            </a:r>
            <a:r>
              <a:rPr lang="en-US" dirty="0"/>
              <a:t> is useful for actions that should last only while the operator holds a button. </a:t>
            </a:r>
          </a:p>
          <a:p>
            <a:r>
              <a:rPr lang="en-US" dirty="0"/>
              <a:t>For example in our code pressing A starts </a:t>
            </a:r>
            <a:r>
              <a:rPr lang="en-US" dirty="0" err="1"/>
              <a:t>BeltInCommand</a:t>
            </a:r>
            <a:r>
              <a:rPr lang="en-US" dirty="0"/>
              <a:t>. </a:t>
            </a:r>
          </a:p>
          <a:p>
            <a:r>
              <a:rPr lang="en-US" dirty="0"/>
              <a:t>Releasing A cancels it, which causes the command's end method to stop the belt.
</a:t>
            </a:r>
            <a:r>
              <a:rPr lang="en-US" dirty="0" err="1"/>
              <a:t>onTrue</a:t>
            </a:r>
            <a:r>
              <a:rPr lang="en-US" dirty="0"/>
              <a:t> starts a command once when the button changes from released to pressed. </a:t>
            </a:r>
          </a:p>
          <a:p>
            <a:r>
              <a:rPr lang="en-US" dirty="0"/>
              <a:t>In this robot’s code the climber toggle uses </a:t>
            </a:r>
            <a:r>
              <a:rPr lang="en-US" dirty="0" err="1"/>
              <a:t>onTrue</a:t>
            </a:r>
            <a:r>
              <a:rPr lang="en-US" dirty="0"/>
              <a:t> because one press should cause one change of state.
A default command runs whenever its subsystem is available. </a:t>
            </a:r>
          </a:p>
          <a:p>
            <a:r>
              <a:rPr lang="en-US" dirty="0"/>
              <a:t>On this robot the </a:t>
            </a:r>
            <a:r>
              <a:rPr lang="en-US" dirty="0" err="1"/>
              <a:t>DriveTeleopCommand</a:t>
            </a:r>
            <a:r>
              <a:rPr lang="en-US" dirty="0"/>
              <a:t> is the default for </a:t>
            </a:r>
            <a:r>
              <a:rPr lang="en-US" dirty="0" err="1"/>
              <a:t>DriveSubsystem</a:t>
            </a:r>
            <a:r>
              <a:rPr lang="en-US" dirty="0"/>
              <a:t>, </a:t>
            </a:r>
          </a:p>
          <a:p>
            <a:r>
              <a:rPr lang="en-US" dirty="0"/>
              <a:t>so normal driving resumes whenever another drive command is not using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a default command runs whenever no other command is using its subsystem.</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WPILib</a:t>
            </a:r>
            <a:r>
              <a:rPr lang="en-US" dirty="0"/>
              <a:t> calls these methods for us.
initialize runs once when the scheduler starts a command. execute then runs repeatedly while the command remains active. </a:t>
            </a:r>
            <a:r>
              <a:rPr lang="en-US" dirty="0" err="1"/>
              <a:t>isFinished</a:t>
            </a:r>
            <a:r>
              <a:rPr lang="en-US" dirty="0"/>
              <a:t> tells the scheduler whether the command has completed normally. end runs once when the command finishes or is interrupted.
</a:t>
            </a:r>
            <a:r>
              <a:rPr lang="en-US" dirty="0" err="1"/>
              <a:t>BeltInCommand</a:t>
            </a:r>
            <a:r>
              <a:rPr lang="en-US" dirty="0"/>
              <a:t> does not need initialize, so it uses the empty default implementation. Its execute method runs the belt. Its </a:t>
            </a:r>
            <a:r>
              <a:rPr lang="en-US" dirty="0" err="1"/>
              <a:t>isFinished</a:t>
            </a:r>
            <a:r>
              <a:rPr lang="en-US" dirty="0"/>
              <a:t> method returns false because the button binding controls how long it runs. Its end method stops the belt.
</a:t>
            </a:r>
            <a:r>
              <a:rPr lang="en-US"/>
              <a:t>The important safety habit is simple: if execute starts a motor, end should normally stop it.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first complete command example from the project. It uses the BeltSubsystem methods from the earlier slide.
The constructor receives BeltSubsystem and saves it in a field. The addRequirements line tells the scheduler that this command needs the belt. Point out the line now, but tell students that the later conflict example will explain why it matters.
While the command is active, execute() repeatedly calls beltSubsystem.run() with the configured belt speed. isFinished() returns false, so the command does not finish on its own. The whileTrue button binding controls how long it remains active.
This command does not override initialize() because it has no work that needs to happen only once when the command starts. WPILib uses the empty default implementation.
When the operator releases the button or another command interrupts this one, the scheduler calls end(). The end() method calls beltSubsystem.stop(), which sends zero output to the motor.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Robot.java calls the scheduler repeatedly. A normal pass occurs about every 20 milliseconds, or 50 times per second.
During a pass, the scheduler gives subsystems a chance to update, checks the controller bindings, runs the active commands, ends commands that are done, and starts default commands for unused subsystems.
These callbacks run one after another on the main robot thread. Thread.sleep inside a command pauses that thread. While it sleeps, the scheduler cannot run the other commands or complete the rest of its work. Use command timing tools instead of blocking the thread.
Students do not need to memorize the exact order today. They should remember that the scheduler repeatedly checks inputs and gives each active command a small amount of time to run.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D080-E3F9-A936-4C72-4ABD95543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D1876-F874-0AC6-CD3B-8EF46F33728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40C6701-48D6-294E-5003-98A2F8D18749}"/>
              </a:ext>
            </a:extLst>
          </p:cNvPr>
          <p:cNvSpPr>
            <a:spLocks noGrp="1"/>
          </p:cNvSpPr>
          <p:nvPr>
            <p:ph type="body" sz="quarter" idx="3"/>
          </p:nvPr>
        </p:nvSpPr>
        <p:spPr/>
        <p:txBody>
          <a:bodyPr/>
          <a:lstStyle/>
          <a:p>
            <a:pPr lvl="0"/>
            <a:r>
              <a:rPr lang="en-US" dirty="0"/>
              <a:t>Ask: What should happen if the operator presses A for belt in and B for belt out at the same time?
Give students time to answer. They may say that the motor stops, one button wins, or the robot breaks. Java does not automatically know that these two actions control the same motor.
Without subsystem requirements, both commands could run during the same scheduler cycle. </a:t>
            </a:r>
          </a:p>
          <a:p>
            <a:pPr lvl="0"/>
            <a:r>
              <a:rPr lang="en-US" dirty="0" err="1"/>
              <a:t>BeltInCommand</a:t>
            </a:r>
            <a:r>
              <a:rPr lang="en-US" dirty="0"/>
              <a:t> could request a positive belt speed, and </a:t>
            </a:r>
          </a:p>
          <a:p>
            <a:pPr lvl="0"/>
            <a:r>
              <a:rPr lang="en-US" dirty="0" err="1"/>
              <a:t>BeltOutCommand</a:t>
            </a:r>
            <a:r>
              <a:rPr lang="en-US" dirty="0"/>
              <a:t> could request a negative belt speed. The motor controller keeps the last value written during that cycle. The result depends on which command writes last. The robot may appear to work, but changing the code order can change the result.
End with: Command-based programming gives us a way to declare this conflict before the commands run.</a:t>
            </a:r>
            <a:endParaRPr dirty="0"/>
          </a:p>
        </p:txBody>
      </p:sp>
      <p:sp>
        <p:nvSpPr>
          <p:cNvPr id="4" name="Slide Number Placeholder 3">
            <a:extLst>
              <a:ext uri="{FF2B5EF4-FFF2-40B4-BE49-F238E27FC236}">
                <a16:creationId xmlns:a16="http://schemas.microsoft.com/office/drawing/2014/main" id="{3A220772-50E4-0DC1-2C07-C973192E691F}"/>
              </a:ext>
            </a:extLst>
          </p:cNvPr>
          <p:cNvSpPr>
            <a:spLocks noGrp="1"/>
          </p:cNvSpPr>
          <p:nvPr>
            <p:ph type="sldNum" sz="quarter" idx="5"/>
          </p:nvPr>
        </p:nvSpPr>
        <p:spPr/>
      </p:sp>
    </p:spTree>
    <p:extLst>
      <p:ext uri="{BB962C8B-B14F-4D97-AF65-F5344CB8AC3E}">
        <p14:creationId xmlns:p14="http://schemas.microsoft.com/office/powerpoint/2010/main" val="2259875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Point to addRequirements(beltSubsystem) in both command constructors.
Explain it in plain language: This command tells the scheduler that it needs control of the belt subsystem while it runs.
Walk through the project behavior. The operator presses A, and the whileTrue binding schedules BeltInCommand. The scheduler starts that command and records that it is using BeltSubsystem. If the operator then presses B, the B binding asks the scheduler to start BeltOutCommand.
The scheduler sees that both commands require BeltSubsystem. These commands use WPILib's default interruption behavior, so the scheduler interrupts BeltInCommand. It calls BeltInCommand.end(true), and this project's end method calls beltSubsystem.stop(). After the first command ends, the scheduler starts BeltOutCommand and the belt runs in the opposite direction.
The scheduler does not decide which direction is correct. The command code defines the action. The scheduler enforces the rule that only one command can control the belt subsystem at a time.
Ask: Could a belt command and the roller command run at the same time? Yes. They require different subsystems.
Instructor note: if you demonstrate the conflict by holding A and then pressing B, release both buttons before repeating it. A whileTrue binding does not restart an interrupted command while its button remains held.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cleanup half of the Button A story.
While A is held, the </a:t>
            </a:r>
            <a:r>
              <a:rPr lang="en-US" dirty="0" err="1"/>
              <a:t>whileTrue</a:t>
            </a:r>
            <a:r>
              <a:rPr lang="en-US" dirty="0"/>
              <a:t> binding keeps </a:t>
            </a:r>
            <a:r>
              <a:rPr lang="en-US" dirty="0" err="1"/>
              <a:t>BeltInCommand</a:t>
            </a:r>
            <a:r>
              <a:rPr lang="en-US" dirty="0"/>
              <a:t> active. When the operator releases A, the binding cancels the command. The scheduler then calls end(true). In this project, the end method calls </a:t>
            </a:r>
            <a:r>
              <a:rPr lang="en-US" dirty="0" err="1"/>
              <a:t>beltSubsystem.stop</a:t>
            </a:r>
            <a:r>
              <a:rPr lang="en-US" dirty="0"/>
              <a:t>(), and the subsystem writes 0.0 to the motor controller.
The motor does not stop because execute stopped running. It stops because end explicitly sends the stop request. This is why an empty end method is dangerous for a command that runs a motor.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our actual repository directory tree. Notice how code is organized into root package, subsystems, and commands folders.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shows the constants used by the hardware, controller, and tuning examples. Open the complete Constants.java file in VS Code to show its documentation and private constructors.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matches the repository constructor and configureBindings() method. RobotContainer creates the controllers, subsystems, and drive-speed state before installing defaults and button bindings. Show the complete file in VS Code.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Checkpoint 3. The path begins in the repository binding, passes through WPILib CommandScheduler, and returns to BeltInCommand, BeltSubsystem, and Constants. CommandScheduler belongs to WPILib, not this repository.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these three bugs to the class. Have students analyze what goes wrong in each case before advancing to the fix slide!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Fix 1 gives the scheduler exclusive ownership information. Fix 2 writes zero when the command ends. Fix 3 assigns distinct USB slots to the driver and operator controllers.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040"/>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2743200"/>
          </a:xfrm>
          <a:prstGeom prst="rect">
            <a:avLst/>
          </a:prstGeom>
          <a:noFill/>
        </p:spPr>
        <p:txBody>
          <a:bodyPr wrap="square">
            <a:spAutoFit/>
          </a:bodyPr>
          <a:lstStyle/>
          <a:p>
            <a:pPr>
              <a:defRPr sz="3600" b="1">
                <a:solidFill>
                  <a:srgbClr val="FFFFFF"/>
                </a:solidFill>
                <a:latin typeface="Georgia"/>
              </a:defRPr>
            </a:pPr>
            <a:r>
              <a:t>2020 FRC Robot Code Architecture &amp; Implementation Guide</a:t>
            </a:r>
          </a:p>
          <a:p>
            <a:pPr>
              <a:spcBef>
                <a:spcPts val="1400"/>
              </a:spcBef>
              <a:defRPr sz="1800">
                <a:solidFill>
                  <a:srgbClr val="D97724"/>
                </a:solidFill>
                <a:latin typeface="Arial"/>
              </a:defRPr>
            </a:pPr>
            <a:r>
              <a:t>A Student's Technical Guide to Robot Hardware, WPILib Command-Based Architecture, and Java Code</a:t>
            </a:r>
          </a:p>
          <a:p>
            <a:pPr>
              <a:spcBef>
                <a:spcPts val="1000"/>
              </a:spcBef>
              <a:defRPr sz="1400">
                <a:solidFill>
                  <a:srgbClr val="D0D5E0"/>
                </a:solidFill>
                <a:latin typeface="Arial"/>
              </a:defRPr>
            </a:pPr>
            <a:r>
              <a:t>Case Study: 4-Talon Drivetrain, Belt/Roller Transport, CTRE PCM Climber, and Dual CommandXboxControllers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768747"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From hardware tests to a complete robot program</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First, prove that the hardware works
1. Identify each motor, valve, port, and controller.
2. Run one component at a time with short TimedRobot programs.
3. Read a controller button and stop the output when the button is released.</a:t>
            </a:r>
            <a:endParaRPr b="1">
              <a:solidFill>
                <a:srgbClr val="1B2144"/>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Then, organize the complete robot
4. Use subsystems, commands, button bindings, and the scheduler.
5. Follow Button A through the real project code.
6. Practice finding common mistakes.</a:t>
            </a:r>
            <a:endParaRPr b="1">
              <a:solidFill>
                <a:srgbClr val="1B2144"/>
              </a:solidFill>
              <a:latin typeface="Georgia" panose="02040502050405020303" pitchFamily="18" charset="0"/>
            </a:endParaRPr>
          </a:p>
        </p:txBody>
      </p:sp>
    </p:spTree>
    <p:extLst>
      <p:ext uri="{BB962C8B-B14F-4D97-AF65-F5344CB8AC3E}">
        <p14:creationId xmlns:p14="http://schemas.microsoft.com/office/powerpoint/2010/main" val="758478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Physical Hardware Inventory &amp; Actuator Channel Map</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Actuator Channel Allocation</a:t>
            </a:r>
          </a:p>
          <a:p>
            <a:pPr>
              <a:spcAft>
                <a:spcPts val="600"/>
              </a:spcAft>
              <a:defRPr sz="1400">
                <a:solidFill>
                  <a:srgbClr val="1B2040"/>
                </a:solidFill>
                <a:latin typeface="Arial"/>
              </a:defRPr>
            </a:pPr>
            <a:r>
              <a:t>• Drivetrain: 4x Talon SRX Motor Controllers</a:t>
            </a:r>
          </a:p>
          <a:p>
            <a:pPr>
              <a:spcAft>
                <a:spcPts val="600"/>
              </a:spcAft>
              <a:defRPr sz="1400">
                <a:solidFill>
                  <a:srgbClr val="1B2040"/>
                </a:solidFill>
                <a:latin typeface="Arial"/>
              </a:defRPr>
            </a:pPr>
            <a:r>
              <a:t>  - Left: PWM 0 (Front) &amp; PWM 1 (Back)</a:t>
            </a:r>
          </a:p>
          <a:p>
            <a:pPr>
              <a:spcAft>
                <a:spcPts val="600"/>
              </a:spcAft>
              <a:defRPr sz="1400">
                <a:solidFill>
                  <a:srgbClr val="1B2040"/>
                </a:solidFill>
                <a:latin typeface="Arial"/>
              </a:defRPr>
            </a:pPr>
            <a:r>
              <a:t>  - Right: PWM 3 (Front) &amp; PWM 2 (Back)</a:t>
            </a:r>
          </a:p>
          <a:p>
            <a:pPr>
              <a:spcAft>
                <a:spcPts val="600"/>
              </a:spcAft>
              <a:defRPr sz="1400">
                <a:solidFill>
                  <a:srgbClr val="1B2040"/>
                </a:solidFill>
                <a:latin typeface="Arial"/>
              </a:defRPr>
            </a:pPr>
            <a:r>
              <a:t>• Ball Transport Belt: 1x Talon SRX on PWM 5</a:t>
            </a:r>
          </a:p>
          <a:p>
            <a:pPr>
              <a:spcAft>
                <a:spcPts val="600"/>
              </a:spcAft>
              <a:defRPr sz="1400">
                <a:solidFill>
                  <a:srgbClr val="1B2040"/>
                </a:solidFill>
                <a:latin typeface="Arial"/>
              </a:defRPr>
            </a:pPr>
            <a:r>
              <a:t>• Outtake Roller: 1x Talon SRX on PWM 4</a:t>
            </a:r>
          </a:p>
          <a:p>
            <a:pPr>
              <a:spcAft>
                <a:spcPts val="600"/>
              </a:spcAft>
              <a:defRPr sz="1400">
                <a:solidFill>
                  <a:srgbClr val="1B2040"/>
                </a:solidFill>
                <a:latin typeface="Arial"/>
              </a:defRPr>
            </a:pPr>
            <a:r>
              <a:t>• Climber Arms: 1x CTRE PCM (ID 0), Solenoid 0 &amp; 1</a:t>
            </a:r>
          </a:p>
          <a:p>
            <a:pPr>
              <a:spcAft>
                <a:spcPts val="600"/>
              </a:spcAft>
              <a:defRPr sz="1400">
                <a:solidFill>
                  <a:srgbClr val="1B2040"/>
                </a:solidFill>
                <a:latin typeface="Arial"/>
              </a:defRPr>
            </a:pPr>
            <a:r>
              <a:t>• </a:t>
            </a:r>
            <a:r>
              <a:rPr lang="en-US"/>
              <a:t>Power Distribution Panel (PDP)</a:t>
            </a:r>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Hardware Inversion &amp; Wiring</a:t>
            </a:r>
          </a:p>
          <a:p>
            <a:pPr>
              <a:spcAft>
                <a:spcPts val="600"/>
              </a:spcAft>
              <a:defRPr sz="1400">
                <a:solidFill>
                  <a:srgbClr val="1B2040"/>
                </a:solidFill>
                <a:latin typeface="Arial"/>
              </a:defRPr>
            </a:pPr>
            <a:r>
              <a:rPr dirty="0"/>
              <a:t>• Symmetrical Mechanical Mounting:</a:t>
            </a:r>
          </a:p>
          <a:p>
            <a:pPr>
              <a:spcAft>
                <a:spcPts val="600"/>
              </a:spcAft>
              <a:defRPr sz="1400">
                <a:solidFill>
                  <a:srgbClr val="1B2040"/>
                </a:solidFill>
                <a:latin typeface="Arial"/>
              </a:defRPr>
            </a:pPr>
            <a:r>
              <a:rPr dirty="0"/>
              <a:t>  Left and right drivetrain gearboxes are mounted facing opposite directions on the chassis.</a:t>
            </a:r>
          </a:p>
          <a:p>
            <a:pPr>
              <a:spcAft>
                <a:spcPts val="600"/>
              </a:spcAft>
              <a:defRPr sz="1400">
                <a:solidFill>
                  <a:srgbClr val="1B2040"/>
                </a:solidFill>
                <a:latin typeface="Arial"/>
              </a:defRPr>
            </a:pPr>
            <a:r>
              <a:rPr dirty="0"/>
              <a:t>• Software Sign Inversion:</a:t>
            </a:r>
          </a:p>
          <a:p>
            <a:pPr>
              <a:spcAft>
                <a:spcPts val="600"/>
              </a:spcAft>
              <a:defRPr sz="1400">
                <a:solidFill>
                  <a:srgbClr val="1B2040"/>
                </a:solidFill>
                <a:latin typeface="Arial"/>
              </a:defRPr>
            </a:pPr>
            <a:r>
              <a:rPr dirty="0"/>
              <a:t>  </a:t>
            </a:r>
            <a:r>
              <a:rPr dirty="0" err="1"/>
              <a:t>leftDriveMotors.setInverted</a:t>
            </a:r>
            <a:r>
              <a:rPr dirty="0"/>
              <a:t>(true) aligns forward velocity vectors so positive values drive straight ahead.</a:t>
            </a:r>
          </a:p>
          <a:p>
            <a:pPr>
              <a:spcAft>
                <a:spcPts val="600"/>
              </a:spcAft>
              <a:defRPr sz="1400">
                <a:solidFill>
                  <a:srgbClr val="1B2040"/>
                </a:solidFill>
                <a:latin typeface="Arial"/>
              </a:defRPr>
            </a:pPr>
            <a:r>
              <a:t>• </a:t>
            </a:r>
            <a:r>
              <a:rPr lang="en-US"/>
              <a:t>Motor control:</a:t>
            </a:r>
            <a:endParaRPr dirty="0"/>
          </a:p>
          <a:p>
            <a:pPr>
              <a:spcAft>
                <a:spcPts val="600"/>
              </a:spcAft>
              <a:defRPr sz="1400">
                <a:solidFill>
                  <a:srgbClr val="1B2040"/>
                </a:solidFill>
                <a:latin typeface="Arial"/>
              </a:defRPr>
            </a:pPr>
            <a:r>
              <a:t>  </a:t>
            </a:r>
            <a:r>
              <a:rPr lang="en-US"/>
              <a:t>The roboRIO tells each motor controller how fast and which direction to run.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3895618" cy="492443"/>
          </a:xfrm>
          <a:prstGeom prst="rect">
            <a:avLst/>
          </a:prstGeom>
          <a:noFill/>
        </p:spPr>
        <p:txBody>
          <a:bodyPr wrap="none">
            <a:spAutoFit/>
          </a:bodyPr>
          <a:lstStyle/>
          <a:p>
            <a:pPr>
              <a:defRPr sz="2600" b="1">
                <a:solidFill>
                  <a:srgbClr val="1B2040"/>
                </a:solidFill>
                <a:latin typeface="Georgia"/>
              </a:defRPr>
            </a:pPr>
            <a:r>
              <a:rPr lang="en-US"/>
              <a:t>Direct hardware tests</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Four single-component demos</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Belt motor on PWM 5</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Roller motor on PWM 4</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Climber valve on PCM 0</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Drivetrain motors on PWM 0 through 3</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Each program contains only the hardware it operates.</a:t>
            </a:r>
            <a:endParaRPr sz="1600">
              <a:solidFill>
                <a:srgbClr val="1B2144"/>
              </a:solidFill>
              <a:latin typeface="Arial" panose="020B0604020202020204" pitchFamily="34"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How each demo works</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Load one Robot.java file at a time.</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teleopPeriodic() sends one fixed output.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Driver Station Enable starts the test.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Disable stops the test.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No Xbox input or command-based classes yet.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Raise the drivetrain off the floor before enabling.</a:t>
            </a:r>
            <a:endParaRPr sz="1600">
              <a:solidFill>
                <a:srgbClr val="1B2144"/>
              </a:solidFill>
              <a:latin typeface="Arial" panose="020B0604020202020204" pitchFamily="34" charset="0"/>
            </a:endParaRPr>
          </a:p>
        </p:txBody>
      </p:sp>
    </p:spTree>
    <p:extLst>
      <p:ext uri="{BB962C8B-B14F-4D97-AF65-F5344CB8AC3E}">
        <p14:creationId xmlns:p14="http://schemas.microsoft.com/office/powerpoint/2010/main" val="210681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Running the Belt Motor in TimedRobot</a:t>
            </a:r>
          </a:p>
        </p:txBody>
      </p:sp>
      <p:sp>
        <p:nvSpPr>
          <p:cNvPr id="4" name="Rounded Rectangle 3"/>
          <p:cNvSpPr/>
          <p:nvPr/>
        </p:nvSpPr>
        <p:spPr>
          <a:xfrm>
            <a:off x="731519" y="1463040"/>
            <a:ext cx="6087921"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Belt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Direct hardware actuation on PWM Port 5</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Runs belt inward at 25% power</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Direct Control Mechanics</a:t>
            </a:r>
          </a:p>
          <a:p>
            <a:pPr>
              <a:spcAft>
                <a:spcPts val="600"/>
              </a:spcAft>
              <a:defRPr sz="1400">
                <a:solidFill>
                  <a:srgbClr val="1B2040"/>
                </a:solidFill>
                <a:latin typeface="Arial"/>
              </a:defRPr>
            </a:pPr>
            <a:r>
              <a:t>• Direct Hardware Handle:</a:t>
            </a:r>
          </a:p>
          <a:p>
            <a:pPr>
              <a:spcAft>
                <a:spcPts val="600"/>
              </a:spcAft>
              <a:defRPr sz="1400">
                <a:solidFill>
                  <a:srgbClr val="1B2040"/>
                </a:solidFill>
                <a:latin typeface="Arial"/>
              </a:defRPr>
            </a:pPr>
            <a:r>
              <a:t>  Instantiates a raw Talon object directly tied to PWM Port 5.</a:t>
            </a:r>
          </a:p>
          <a:p>
            <a:pPr>
              <a:spcAft>
                <a:spcPts val="600"/>
              </a:spcAft>
              <a:defRPr sz="1400">
                <a:solidFill>
                  <a:srgbClr val="1B2040"/>
                </a:solidFill>
                <a:latin typeface="Arial"/>
              </a:defRPr>
            </a:pPr>
            <a:r>
              <a:t>• 50 Hz Synchronous Loop:</a:t>
            </a:r>
          </a:p>
          <a:p>
            <a:pPr>
              <a:spcAft>
                <a:spcPts val="600"/>
              </a:spcAft>
              <a:defRPr sz="1400">
                <a:solidFill>
                  <a:srgbClr val="1B2040"/>
                </a:solidFill>
                <a:latin typeface="Arial"/>
              </a:defRPr>
            </a:pPr>
            <a:r>
              <a:t>  teleopPeriodic() executes every 20ms while teleop is active.</a:t>
            </a:r>
          </a:p>
          <a:p>
            <a:pPr>
              <a:spcAft>
                <a:spcPts val="600"/>
              </a:spcAft>
              <a:defRPr sz="1400">
                <a:solidFill>
                  <a:srgbClr val="1B2040"/>
                </a:solidFill>
                <a:latin typeface="Arial"/>
              </a:defRPr>
            </a:pPr>
            <a:r>
              <a:t>• Continuous Voltage Output:</a:t>
            </a:r>
          </a:p>
          <a:p>
            <a:pPr>
              <a:spcAft>
                <a:spcPts val="600"/>
              </a:spcAft>
              <a:defRPr sz="1400">
                <a:solidFill>
                  <a:srgbClr val="1B2040"/>
                </a:solidFill>
                <a:latin typeface="Arial"/>
              </a:defRPr>
            </a:pPr>
            <a:r>
              <a:t>  Repeatedly sends +3.0V (25% of 12V bus) to the belt controller.</a:t>
            </a:r>
          </a:p>
          <a:p>
            <a:pPr>
              <a:spcAft>
                <a:spcPts val="600"/>
              </a:spcAft>
              <a:defRPr sz="1400">
                <a:solidFill>
                  <a:srgbClr val="1B2040"/>
                </a:solidFill>
                <a:latin typeface="Arial"/>
              </a:defRPr>
            </a:pPr>
            <a:r>
              <a:t>• Hardware Isolation:</a:t>
            </a:r>
          </a:p>
          <a:p>
            <a:pPr>
              <a:spcAft>
                <a:spcPts val="600"/>
              </a:spcAft>
              <a:defRPr sz="1400">
                <a:solidFill>
                  <a:srgbClr val="1B2040"/>
                </a:solidFill>
                <a:latin typeface="Arial"/>
              </a:defRPr>
            </a:pPr>
            <a:r>
              <a:t>  Great for quick bench testing single mechanisms without framework overhead.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628190" cy="492443"/>
          </a:xfrm>
          <a:prstGeom prst="rect">
            <a:avLst/>
          </a:prstGeom>
          <a:noFill/>
        </p:spPr>
        <p:txBody>
          <a:bodyPr wrap="none">
            <a:spAutoFit/>
          </a:bodyPr>
          <a:lstStyle/>
          <a:p>
            <a:pPr>
              <a:defRPr sz="2600" b="1">
                <a:solidFill>
                  <a:srgbClr val="1B2040"/>
                </a:solidFill>
                <a:latin typeface="Georgia"/>
              </a:defRPr>
            </a:pPr>
            <a:r>
              <a:rPr dirty="0"/>
              <a:t>Running the Roller Motor</a:t>
            </a:r>
          </a:p>
        </p:txBody>
      </p:sp>
      <p:sp>
        <p:nvSpPr>
          <p:cNvPr id="4" name="Rounded Rectangle 3"/>
          <p:cNvSpPr/>
          <p:nvPr/>
        </p:nvSpPr>
        <p:spPr>
          <a:xfrm>
            <a:off x="731519" y="1463040"/>
            <a:ext cx="6109955"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Roller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rollerMotor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4</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Identical pattern, targeting PWM Port 4</a:t>
            </a:r>
          </a:p>
          <a:p>
            <a:pPr>
              <a:defRPr sz="1200">
                <a:solidFill>
                  <a:srgbClr val="F0F0F0"/>
                </a:solidFill>
                <a:latin typeface="Courier New"/>
              </a:defRPr>
            </a:pPr>
            <a:r>
              <a:rPr>
                <a:latin typeface="Consolas" panose="020B0609020204030204" pitchFamily="49" charset="0"/>
              </a:rPr>
              <a:t>        rollerMotor.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Spins ejection roller at 25%</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What Changes From the Belt?</a:t>
            </a:r>
          </a:p>
          <a:p>
            <a:pPr>
              <a:spcAft>
                <a:spcPts val="600"/>
              </a:spcAft>
              <a:defRPr sz="1400">
                <a:solidFill>
                  <a:srgbClr val="1B2040"/>
                </a:solidFill>
                <a:latin typeface="Arial"/>
              </a:defRPr>
            </a:pPr>
            <a:r>
              <a:t>• Same Architectural Pattern:</a:t>
            </a:r>
          </a:p>
          <a:p>
            <a:pPr>
              <a:spcAft>
                <a:spcPts val="600"/>
              </a:spcAft>
              <a:defRPr sz="1400">
                <a:solidFill>
                  <a:srgbClr val="1B2040"/>
                </a:solidFill>
                <a:latin typeface="Arial"/>
              </a:defRPr>
            </a:pPr>
            <a:r>
              <a:t>  Instantiates a Talon motor controller inside TimedRobot.</a:t>
            </a:r>
          </a:p>
          <a:p>
            <a:pPr>
              <a:spcAft>
                <a:spcPts val="600"/>
              </a:spcAft>
              <a:defRPr sz="1400">
                <a:solidFill>
                  <a:srgbClr val="1B2040"/>
                </a:solidFill>
                <a:latin typeface="Arial"/>
              </a:defRPr>
            </a:pPr>
            <a:r>
              <a:t>• Channel Target Change:</a:t>
            </a:r>
          </a:p>
          <a:p>
            <a:pPr>
              <a:spcAft>
                <a:spcPts val="600"/>
              </a:spcAft>
              <a:defRPr sz="1400">
                <a:solidFill>
                  <a:srgbClr val="1B2040"/>
                </a:solidFill>
                <a:latin typeface="Arial"/>
              </a:defRPr>
            </a:pPr>
            <a:r>
              <a:t>  Constructed with PWM Port 4 instead of PWM Port 5.</a:t>
            </a:r>
          </a:p>
          <a:p>
            <a:pPr>
              <a:spcAft>
                <a:spcPts val="600"/>
              </a:spcAft>
              <a:defRPr sz="1400">
                <a:solidFill>
                  <a:srgbClr val="1B2040"/>
                </a:solidFill>
                <a:latin typeface="Arial"/>
              </a:defRPr>
            </a:pPr>
            <a:r>
              <a:t>• Independent Actuation Domain:</a:t>
            </a:r>
          </a:p>
          <a:p>
            <a:pPr>
              <a:spcAft>
                <a:spcPts val="600"/>
              </a:spcAft>
              <a:defRPr sz="1400">
                <a:solidFill>
                  <a:srgbClr val="1B2040"/>
                </a:solidFill>
                <a:latin typeface="Arial"/>
              </a:defRPr>
            </a:pPr>
            <a:r>
              <a:t>  The outtake roller is a physically separate mechanism from the intake belt.</a:t>
            </a:r>
          </a:p>
          <a:p>
            <a:pPr>
              <a:spcAft>
                <a:spcPts val="600"/>
              </a:spcAft>
              <a:defRPr sz="1400">
                <a:solidFill>
                  <a:srgbClr val="1B2040"/>
                </a:solidFill>
                <a:latin typeface="Arial"/>
              </a:defRPr>
            </a:pPr>
            <a:r>
              <a:t>• Reusable Control Pattern:</a:t>
            </a:r>
          </a:p>
          <a:p>
            <a:pPr>
              <a:spcAft>
                <a:spcPts val="600"/>
              </a:spcAft>
              <a:defRPr sz="1400">
                <a:solidFill>
                  <a:srgbClr val="1B2040"/>
                </a:solidFill>
                <a:latin typeface="Arial"/>
              </a:defRPr>
            </a:pPr>
            <a:r>
              <a:t>  Demonstrates how every open-loop PWM motor is initialized.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Pneumatic Climber Arms Control</a:t>
            </a:r>
          </a:p>
        </p:txBody>
      </p:sp>
      <p:sp>
        <p:nvSpPr>
          <p:cNvPr id="4" name="Rounded Rectangle 3"/>
          <p:cNvSpPr/>
          <p:nvPr/>
        </p:nvSpPr>
        <p:spPr>
          <a:xfrm>
            <a:off x="761999" y="1463040"/>
            <a:ext cx="645284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dirty="0">
                <a:solidFill>
                  <a:srgbClr val="FB923C"/>
                </a:solidFill>
                <a:latin typeface="Consolas" panose="020B0609020204030204" pitchFamily="49" charset="0"/>
              </a:rPr>
              <a:t>// Direct Pneumatic Test Program</a:t>
            </a:r>
          </a:p>
          <a:p>
            <a:pPr>
              <a:defRPr sz="1200">
                <a:solidFill>
                  <a:srgbClr val="F0F0F0"/>
                </a:solidFill>
                <a:latin typeface="Courier New"/>
              </a:defRPr>
            </a:pPr>
            <a:r>
              <a:rPr dirty="0">
                <a:solidFill>
                  <a:srgbClr val="7DD3FC"/>
                </a:solidFill>
                <a:latin typeface="Consolas" panose="020B0609020204030204" pitchFamily="49" charset="0"/>
              </a:rPr>
              <a:t>package</a:t>
            </a:r>
            <a:r>
              <a:rPr dirty="0">
                <a:latin typeface="Consolas" panose="020B0609020204030204" pitchFamily="49" charset="0"/>
              </a:rPr>
              <a:t> </a:t>
            </a:r>
            <a:r>
              <a:rPr dirty="0" err="1">
                <a:latin typeface="Consolas" panose="020B0609020204030204" pitchFamily="49" charset="0"/>
              </a:rPr>
              <a:t>frc.robot</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DoubleSolenoid</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PneumaticsModuleType</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TimedRobot</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class</a:t>
            </a:r>
            <a:r>
              <a:rPr dirty="0">
                <a:latin typeface="Consolas" panose="020B0609020204030204" pitchFamily="49" charset="0"/>
              </a:rPr>
              <a:t> </a:t>
            </a:r>
            <a:r>
              <a:rPr dirty="0">
                <a:solidFill>
                  <a:srgbClr val="C4B5FD"/>
                </a:solidFill>
                <a:latin typeface="Consolas" panose="020B0609020204030204" pitchFamily="49" charset="0"/>
              </a:rPr>
              <a:t>Robot</a:t>
            </a:r>
            <a:r>
              <a:rPr dirty="0">
                <a:latin typeface="Consolas" panose="020B0609020204030204" pitchFamily="49" charset="0"/>
              </a:rPr>
              <a:t> </a:t>
            </a:r>
            <a:r>
              <a:rPr dirty="0">
                <a:solidFill>
                  <a:srgbClr val="7DD3FC"/>
                </a:solidFill>
                <a:latin typeface="Consolas" panose="020B0609020204030204" pitchFamily="49" charset="0"/>
              </a:rPr>
              <a:t>extends</a:t>
            </a:r>
            <a:r>
              <a:rPr dirty="0">
                <a:latin typeface="Consolas" panose="020B0609020204030204" pitchFamily="49" charset="0"/>
              </a:rPr>
              <a:t> </a:t>
            </a:r>
            <a:r>
              <a:rPr dirty="0" err="1">
                <a:solidFill>
                  <a:srgbClr val="C4B5FD"/>
                </a:solidFill>
                <a:latin typeface="Consolas" panose="020B0609020204030204" pitchFamily="49" charset="0"/>
              </a:rPr>
              <a:t>TimedRobot</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private</a:t>
            </a:r>
            <a:r>
              <a:rPr dirty="0">
                <a:latin typeface="Consolas" panose="020B0609020204030204" pitchFamily="49" charset="0"/>
              </a:rPr>
              <a:t> </a:t>
            </a:r>
            <a:r>
              <a:rPr dirty="0">
                <a:solidFill>
                  <a:srgbClr val="7DD3FC"/>
                </a:solidFill>
                <a:latin typeface="Consolas" panose="020B0609020204030204" pitchFamily="49" charset="0"/>
              </a:rPr>
              <a:t>final</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 </a:t>
            </a:r>
            <a:r>
              <a:rPr dirty="0" err="1">
                <a:latin typeface="Consolas" panose="020B0609020204030204" pitchFamily="49" charset="0"/>
              </a:rPr>
              <a:t>climberSolenoid</a:t>
            </a:r>
            <a:r>
              <a:rPr dirty="0">
                <a:latin typeface="Consolas" panose="020B0609020204030204" pitchFamily="49" charset="0"/>
              </a:rPr>
              <a:t> =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new</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a:t>
            </a:r>
            <a:r>
              <a:rPr dirty="0">
                <a:solidFill>
                  <a:srgbClr val="A7F3D0"/>
                </a:solidFill>
                <a:latin typeface="Consolas" panose="020B0609020204030204" pitchFamily="49" charset="0"/>
              </a:rPr>
              <a:t>0</a:t>
            </a:r>
            <a:r>
              <a:rPr dirty="0">
                <a:latin typeface="Consolas" panose="020B0609020204030204" pitchFamily="49" charset="0"/>
              </a:rPr>
              <a:t>, </a:t>
            </a:r>
            <a:r>
              <a:rPr dirty="0" err="1">
                <a:solidFill>
                  <a:srgbClr val="C4B5FD"/>
                </a:solidFill>
                <a:latin typeface="Consolas" panose="020B0609020204030204" pitchFamily="49" charset="0"/>
              </a:rPr>
              <a:t>PneumaticsModuleType</a:t>
            </a:r>
            <a:r>
              <a:rPr dirty="0" err="1">
                <a:latin typeface="Consolas" panose="020B0609020204030204" pitchFamily="49" charset="0"/>
              </a:rPr>
              <a:t>.</a:t>
            </a:r>
            <a:r>
              <a:rPr dirty="0" err="1">
                <a:solidFill>
                  <a:srgbClr val="FDE68A"/>
                </a:solidFill>
                <a:latin typeface="Consolas" panose="020B0609020204030204" pitchFamily="49" charset="0"/>
              </a:rPr>
              <a:t>CTREPCM</a:t>
            </a:r>
            <a:r>
              <a:rPr dirty="0">
                <a:latin typeface="Consolas" panose="020B0609020204030204" pitchFamily="49" charset="0"/>
              </a:rPr>
              <a:t>, </a:t>
            </a:r>
            <a:r>
              <a:rPr dirty="0">
                <a:solidFill>
                  <a:srgbClr val="A7F3D0"/>
                </a:solidFill>
                <a:latin typeface="Consolas" panose="020B0609020204030204" pitchFamily="49" charset="0"/>
              </a:rPr>
              <a:t>0</a:t>
            </a:r>
            <a:r>
              <a:rPr dirty="0">
                <a:latin typeface="Consolas" panose="020B0609020204030204" pitchFamily="49" charset="0"/>
              </a:rPr>
              <a:t>, </a:t>
            </a:r>
            <a:r>
              <a:rPr dirty="0">
                <a:solidFill>
                  <a:srgbClr val="A7F3D0"/>
                </a:solidFill>
                <a:latin typeface="Consolas" panose="020B0609020204030204" pitchFamily="49" charset="0"/>
              </a:rPr>
              <a:t>1</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latin typeface="Consolas" panose="020B0609020204030204" pitchFamily="49" charset="0"/>
              </a:rPr>
              <a:t>    </a:t>
            </a:r>
            <a:r>
              <a:rPr dirty="0">
                <a:solidFill>
                  <a:srgbClr val="F9A8D4"/>
                </a:solidFill>
                <a:latin typeface="Consolas" panose="020B0609020204030204" pitchFamily="49" charset="0"/>
              </a:rPr>
              <a:t>@Override</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void</a:t>
            </a:r>
            <a:r>
              <a:rPr dirty="0">
                <a:latin typeface="Consolas" panose="020B0609020204030204" pitchFamily="49" charset="0"/>
              </a:rPr>
              <a:t> </a:t>
            </a:r>
            <a:r>
              <a:rPr dirty="0" err="1">
                <a:solidFill>
                  <a:srgbClr val="6EE7B7"/>
                </a:solidFill>
                <a:latin typeface="Consolas" panose="020B0609020204030204" pitchFamily="49" charset="0"/>
              </a:rPr>
              <a:t>teleopPeriodic</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FB923C"/>
                </a:solidFill>
                <a:latin typeface="Consolas" panose="020B0609020204030204" pitchFamily="49" charset="0"/>
              </a:rPr>
              <a:t>// Extends climber solenoids on CTRE PCM ID 0</a:t>
            </a:r>
          </a:p>
          <a:p>
            <a:pPr>
              <a:defRPr sz="1200">
                <a:solidFill>
                  <a:srgbClr val="F0F0F0"/>
                </a:solidFill>
                <a:latin typeface="Courier New"/>
              </a:defRPr>
            </a:pPr>
            <a:r>
              <a:rPr dirty="0">
                <a:latin typeface="Consolas" panose="020B0609020204030204" pitchFamily="49" charset="0"/>
              </a:rPr>
              <a:t>        </a:t>
            </a:r>
            <a:r>
              <a:rPr dirty="0" err="1">
                <a:latin typeface="Consolas" panose="020B0609020204030204" pitchFamily="49" charset="0"/>
              </a:rPr>
              <a:t>climberSolenoid.</a:t>
            </a:r>
            <a:r>
              <a:rPr dirty="0" err="1">
                <a:solidFill>
                  <a:srgbClr val="6EE7B7"/>
                </a:solidFill>
                <a:latin typeface="Consolas" panose="020B0609020204030204" pitchFamily="49" charset="0"/>
              </a:rPr>
              <a:t>set</a:t>
            </a:r>
            <a:r>
              <a:rPr dirty="0">
                <a:latin typeface="Consolas" panose="020B0609020204030204" pitchFamily="49" charset="0"/>
              </a:rPr>
              <a:t>(</a:t>
            </a:r>
            <a:r>
              <a:rPr dirty="0" err="1">
                <a:solidFill>
                  <a:srgbClr val="C4B5FD"/>
                </a:solidFill>
                <a:latin typeface="Consolas" panose="020B0609020204030204" pitchFamily="49" charset="0"/>
              </a:rPr>
              <a:t>DoubleSolenoid</a:t>
            </a:r>
            <a:r>
              <a:rPr dirty="0" err="1">
                <a:latin typeface="Consolas" panose="020B0609020204030204" pitchFamily="49" charset="0"/>
              </a:rPr>
              <a:t>.</a:t>
            </a:r>
            <a:r>
              <a:rPr dirty="0" err="1">
                <a:solidFill>
                  <a:srgbClr val="C4B5FD"/>
                </a:solidFill>
                <a:latin typeface="Consolas" panose="020B0609020204030204" pitchFamily="49" charset="0"/>
              </a:rPr>
              <a:t>Value</a:t>
            </a:r>
            <a:r>
              <a:rPr dirty="0" err="1">
                <a:latin typeface="Consolas" panose="020B0609020204030204" pitchFamily="49" charset="0"/>
              </a:rPr>
              <a:t>.kForward</a:t>
            </a:r>
            <a:r>
              <a:rPr dirty="0">
                <a:latin typeface="Consolas" panose="020B0609020204030204" pitchFamily="49" charset="0"/>
              </a:rPr>
              <a:t>);</a:t>
            </a:r>
          </a:p>
          <a:p>
            <a:pPr>
              <a:defRPr sz="1200">
                <a:solidFill>
                  <a:srgbClr val="F0F0F0"/>
                </a:solidFill>
                <a:latin typeface="Courier New"/>
              </a:defRPr>
            </a:pP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a:t>
            </a:r>
          </a:p>
        </p:txBody>
      </p:sp>
      <p:sp>
        <p:nvSpPr>
          <p:cNvPr id="5" name="Rounded Rectangle 4"/>
          <p:cNvSpPr/>
          <p:nvPr/>
        </p:nvSpPr>
        <p:spPr>
          <a:xfrm>
            <a:off x="6753177"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Pneumatic Control Mechanics</a:t>
            </a:r>
          </a:p>
          <a:p>
            <a:pPr>
              <a:spcAft>
                <a:spcPts val="600"/>
              </a:spcAft>
              <a:defRPr sz="1400">
                <a:solidFill>
                  <a:srgbClr val="1B2040"/>
                </a:solidFill>
                <a:latin typeface="Arial"/>
              </a:defRPr>
            </a:pPr>
            <a:r>
              <a:t>• Single CTRE PCM Valve:</a:t>
            </a:r>
          </a:p>
          <a:p>
            <a:pPr>
              <a:spcAft>
                <a:spcPts val="600"/>
              </a:spcAft>
              <a:defRPr sz="1400">
                <a:solidFill>
                  <a:srgbClr val="1B2040"/>
                </a:solidFill>
                <a:latin typeface="Arial"/>
              </a:defRPr>
            </a:pPr>
            <a:r>
              <a:t>  Constructed on CAN PCM ID 0, Forward Channel 0, Reverse Channel 1.</a:t>
            </a:r>
          </a:p>
          <a:p>
            <a:pPr>
              <a:spcAft>
                <a:spcPts val="600"/>
              </a:spcAft>
              <a:defRPr sz="1400">
                <a:solidFill>
                  <a:srgbClr val="1B2040"/>
                </a:solidFill>
                <a:latin typeface="Arial"/>
              </a:defRPr>
            </a:pPr>
            <a:r>
              <a:t>• Split Air Lines:</a:t>
            </a:r>
          </a:p>
          <a:p>
            <a:pPr>
              <a:spcAft>
                <a:spcPts val="600"/>
              </a:spcAft>
              <a:defRPr sz="1400">
                <a:solidFill>
                  <a:srgbClr val="1B2040"/>
                </a:solidFill>
                <a:latin typeface="Arial"/>
              </a:defRPr>
            </a:pPr>
            <a:r>
              <a:t>  One double-solenoid valve splits airflow via tee-fittings to both physical climber cylinders.</a:t>
            </a:r>
          </a:p>
          <a:p>
            <a:pPr>
              <a:spcAft>
                <a:spcPts val="600"/>
              </a:spcAft>
              <a:defRPr sz="1400">
                <a:solidFill>
                  <a:srgbClr val="1B2040"/>
                </a:solidFill>
                <a:latin typeface="Arial"/>
              </a:defRPr>
            </a:pPr>
            <a:r>
              <a:t>• Latching State:</a:t>
            </a:r>
          </a:p>
          <a:p>
            <a:pPr>
              <a:spcAft>
                <a:spcPts val="600"/>
              </a:spcAft>
              <a:defRPr sz="1400">
                <a:solidFill>
                  <a:srgbClr val="1B2040"/>
                </a:solidFill>
                <a:latin typeface="Arial"/>
              </a:defRPr>
            </a:pPr>
            <a:r>
              <a:t>  Pneumatic solenoids maintain state once shifted until commanded otherwise.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4-Motor Drivetrain Control &amp; Safety Shutdown</a:t>
            </a:r>
          </a:p>
        </p:txBody>
      </p:sp>
      <p:sp>
        <p:nvSpPr>
          <p:cNvPr id="4" name="Rounded Rectangle 3"/>
          <p:cNvSpPr/>
          <p:nvPr/>
        </p:nvSpPr>
        <p:spPr>
          <a:xfrm>
            <a:off x="731520" y="1463040"/>
            <a:ext cx="59436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4-Motor Drivetrain Test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package</a:t>
            </a:r>
            <a:r>
              <a:rPr lang="en-US" sz="1100">
                <a:solidFill>
                  <a:srgbClr val="F8F5EE"/>
                </a:solidFill>
                <a:latin typeface="Consolas" panose="020B0609020204030204" pitchFamily="49" charset="0"/>
              </a:rPr>
              <a:t> frc.robot;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edu.wpi.first.wpilibj.motorcontrol.</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class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extends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robotInit</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(backLeft);
        frontRight.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(backRight);
        frontLeft.</a:t>
            </a:r>
            <a:r>
              <a:rPr lang="en-US" sz="1100">
                <a:solidFill>
                  <a:srgbClr val="6EE7B7"/>
                </a:solidFill>
                <a:latin typeface="Consolas" panose="020B0609020204030204" pitchFamily="49" charset="0"/>
              </a:rPr>
              <a:t>setInverted</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true</a:t>
            </a:r>
            <a:r>
              <a:rPr lang="en-US" sz="1100">
                <a:solidFill>
                  <a:srgbClr val="F8F5EE"/>
                </a:solidFill>
                <a:latin typeface="Consolas" panose="020B0609020204030204" pitchFamily="49" charset="0"/>
              </a:rPr>
              <a:t>);
    }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teleopPeriodic</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frontRight.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
}</a:t>
            </a:r>
            <a:endParaRPr sz="1100">
              <a:solidFill>
                <a:srgbClr val="F8F5EE"/>
              </a:solidFill>
              <a:latin typeface="Consolas" panose="020B0609020204030204" pitchFamily="49" charset="0"/>
            </a:endParaRPr>
          </a:p>
        </p:txBody>
      </p:sp>
      <p:sp>
        <p:nvSpPr>
          <p:cNvPr id="5" name="Rounded Rectangle 4"/>
          <p:cNvSpPr/>
          <p:nvPr/>
        </p:nvSpPr>
        <p:spPr>
          <a:xfrm>
            <a:off x="6858000" y="1463040"/>
            <a:ext cx="457200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Safety &amp; Motor Limits</a:t>
            </a:r>
          </a:p>
          <a:p>
            <a:pPr>
              <a:spcAft>
                <a:spcPts val="600"/>
              </a:spcAft>
              <a:defRPr sz="1400">
                <a:solidFill>
                  <a:srgbClr val="1B2040"/>
                </a:solidFill>
                <a:latin typeface="Arial"/>
              </a:defRPr>
            </a:pPr>
            <a:r>
              <a:t>⚠️ SAFETY WARNING:</a:t>
            </a:r>
          </a:p>
          <a:p>
            <a:pPr>
              <a:spcAft>
                <a:spcPts val="600"/>
              </a:spcAft>
              <a:defRPr sz="1400">
                <a:solidFill>
                  <a:srgbClr val="1B2040"/>
                </a:solidFill>
                <a:latin typeface="Arial"/>
              </a:defRPr>
            </a:pPr>
            <a:r>
              <a:t>Elevate chassis on blocks off the floor before enabling test code!</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 Correct PWM Mapping:</a:t>
            </a:r>
          </a:p>
          <a:p>
            <a:pPr>
              <a:spcAft>
                <a:spcPts val="600"/>
              </a:spcAft>
              <a:defRPr sz="1400">
                <a:solidFill>
                  <a:srgbClr val="1B2040"/>
                </a:solidFill>
                <a:latin typeface="Arial"/>
              </a:defRPr>
            </a:pPr>
            <a:r>
              <a:t>  Front-Right is PWM 3, Back-Right is PWM 2. Left is PWM 0 &amp; 1.</a:t>
            </a:r>
          </a:p>
          <a:p>
            <a:pPr>
              <a:spcAft>
                <a:spcPts val="600"/>
              </a:spcAft>
              <a:defRPr sz="1400">
                <a:solidFill>
                  <a:srgbClr val="1B2040"/>
                </a:solidFill>
                <a:latin typeface="Arial"/>
              </a:defRPr>
            </a:pPr>
            <a:r>
              <a:t>• Positive Voltages Drive Forward:</a:t>
            </a:r>
          </a:p>
          <a:p>
            <a:pPr>
              <a:spcAft>
                <a:spcPts val="600"/>
              </a:spcAft>
              <a:defRPr sz="1400">
                <a:solidFill>
                  <a:srgbClr val="1B2040"/>
                </a:solidFill>
                <a:latin typeface="Arial"/>
              </a:defRPr>
            </a:pPr>
            <a:r>
              <a:t>  Because left is setInverted(true), passing +0.15 to both sides drives the robot forward.</a:t>
            </a:r>
          </a:p>
          <a:p>
            <a:pPr>
              <a:spcAft>
                <a:spcPts val="600"/>
              </a:spcAft>
              <a:defRPr sz="1400">
                <a:solidFill>
                  <a:srgbClr val="1B2040"/>
                </a:solidFill>
                <a:latin typeface="Arial"/>
              </a:defRPr>
            </a:pPr>
            <a:r>
              <a:t>• Automatic Safety Shutdown:</a:t>
            </a:r>
          </a:p>
          <a:p>
            <a:pPr>
              <a:spcAft>
                <a:spcPts val="600"/>
              </a:spcAft>
              <a:defRPr sz="1400">
                <a:solidFill>
                  <a:srgbClr val="1B2040"/>
                </a:solidFill>
                <a:latin typeface="Arial"/>
              </a:defRPr>
            </a:pPr>
            <a:r>
              <a:t>  </a:t>
            </a:r>
            <a:r>
              <a:rPr lang="en-US"/>
              <a:t>Disabling the robot commands the motor outputs to a safe disabled state.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795724"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the hardware tests connect to the robot</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b="1" dirty="0">
                <a:latin typeface="Georgia" panose="02040502050405020303" pitchFamily="18" charset="0"/>
              </a:rPr>
              <a:t>Electrical connections used in the tests
• PWM 0: Front-left drive motor
• PWM 1: Back-left drive motor
• PWM 2: Back-right drive motor
• PWM 3: Front-right drive motor
• PWM 4: Roller motor
• PWM 5: Belt motor
The CAN bus connects the </a:t>
            </a:r>
            <a:r>
              <a:rPr lang="en-US" b="1" dirty="0" err="1">
                <a:latin typeface="Georgia" panose="02040502050405020303" pitchFamily="18" charset="0"/>
              </a:rPr>
              <a:t>roboRIO</a:t>
            </a:r>
            <a:r>
              <a:rPr lang="en-US" b="1" dirty="0">
                <a:latin typeface="Georgia" panose="02040502050405020303" pitchFamily="18" charset="0"/>
              </a:rPr>
              <a:t>, PCM 0, and PDP.</a:t>
            </a:r>
            <a:endParaRPr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Pneumatic connections used in the climber test
• PCM 0 controls one double-solenoid valve.
• Channel 0 extends the climber arms.
• Channel 1 retracts the climber arms.
• Tee fittings split each air line between the two cylinders.
Both cylinders move from the same valve command.</a:t>
            </a:r>
            <a:endParaRPr sz="1700" b="1" dirty="0">
              <a:latin typeface="Georgia" panose="02040502050405020303"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475905" cy="492443"/>
          </a:xfrm>
          <a:prstGeom prst="rect">
            <a:avLst/>
          </a:prstGeom>
          <a:noFill/>
        </p:spPr>
        <p:txBody>
          <a:bodyPr wrap="none">
            <a:spAutoFit/>
          </a:bodyPr>
          <a:lstStyle/>
          <a:p>
            <a:pPr>
              <a:defRPr sz="2600" b="1">
                <a:solidFill>
                  <a:srgbClr val="1B2040"/>
                </a:solidFill>
                <a:latin typeface="Georgia"/>
              </a:defRPr>
            </a:pPr>
            <a:r>
              <a:rPr dirty="0" err="1"/>
              <a:t>XboxController</a:t>
            </a:r>
            <a:r>
              <a:rPr dirty="0"/>
              <a:t> Mapping</a:t>
            </a:r>
          </a:p>
        </p:txBody>
      </p:sp>
      <p:sp>
        <p:nvSpPr>
          <p:cNvPr id="4" name="Rounded Rectangle 3"/>
          <p:cNvSpPr/>
          <p:nvPr/>
        </p:nvSpPr>
        <p:spPr>
          <a:xfrm>
            <a:off x="716280" y="1253833"/>
            <a:ext cx="5364480" cy="4290989"/>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DRIVER CONTROLLER (USB Port </a:t>
            </a:r>
            <a:r>
              <a:rPr lang="en-US" dirty="0"/>
              <a:t>0</a:t>
            </a:r>
            <a:r>
              <a:rPr dirty="0"/>
              <a:t>)</a:t>
            </a:r>
          </a:p>
          <a:p>
            <a:pPr>
              <a:spcAft>
                <a:spcPts val="600"/>
              </a:spcAft>
              <a:defRPr sz="1400">
                <a:solidFill>
                  <a:srgbClr val="1B2040"/>
                </a:solidFill>
                <a:latin typeface="Arial"/>
              </a:defRPr>
            </a:pPr>
            <a:r>
              <a:rPr dirty="0"/>
              <a:t>• Driving Responsibilities:</a:t>
            </a:r>
          </a:p>
          <a:p>
            <a:pPr>
              <a:spcAft>
                <a:spcPts val="600"/>
              </a:spcAft>
              <a:defRPr sz="1400">
                <a:solidFill>
                  <a:srgbClr val="1B2040"/>
                </a:solidFill>
                <a:latin typeface="Arial"/>
              </a:defRPr>
            </a:pPr>
            <a:r>
              <a:rPr dirty="0"/>
              <a:t>  - Left Stick Y: Left-side tank drive speed</a:t>
            </a:r>
          </a:p>
          <a:p>
            <a:pPr>
              <a:spcAft>
                <a:spcPts val="600"/>
              </a:spcAft>
              <a:defRPr sz="1400">
                <a:solidFill>
                  <a:srgbClr val="1B2040"/>
                </a:solidFill>
                <a:latin typeface="Arial"/>
              </a:defRPr>
            </a:pPr>
            <a:r>
              <a:rPr dirty="0"/>
              <a:t>  - Right Stick Y: Right-side tank drive speed</a:t>
            </a:r>
          </a:p>
          <a:p>
            <a:pPr>
              <a:spcAft>
                <a:spcPts val="600"/>
              </a:spcAft>
              <a:defRPr sz="1400">
                <a:solidFill>
                  <a:srgbClr val="1B2040"/>
                </a:solidFill>
                <a:latin typeface="Arial"/>
              </a:defRPr>
            </a:pPr>
            <a:r>
              <a:rPr dirty="0"/>
              <a:t>  - </a:t>
            </a:r>
            <a:r>
              <a:rPr lang="en-US" dirty="0"/>
              <a:t>both stick forward to go forward. </a:t>
            </a:r>
          </a:p>
          <a:p>
            <a:pPr>
              <a:spcAft>
                <a:spcPts val="600"/>
              </a:spcAft>
              <a:defRPr sz="1400">
                <a:solidFill>
                  <a:srgbClr val="1B2040"/>
                </a:solidFill>
                <a:latin typeface="Arial"/>
              </a:defRPr>
            </a:pPr>
            <a:r>
              <a:rPr lang="en-US" dirty="0"/>
              <a:t>  - Both backward to go backward</a:t>
            </a:r>
          </a:p>
          <a:p>
            <a:pPr>
              <a:spcAft>
                <a:spcPts val="600"/>
              </a:spcAft>
              <a:defRPr sz="1400">
                <a:solidFill>
                  <a:srgbClr val="1B2040"/>
                </a:solidFill>
                <a:latin typeface="Arial"/>
              </a:defRPr>
            </a:pPr>
            <a:r>
              <a:rPr lang="en-US" dirty="0"/>
              <a:t>  - differ positions between the two to turn</a:t>
            </a:r>
            <a:br>
              <a:rPr lang="en-US" dirty="0"/>
            </a:br>
            <a:br>
              <a:rPr lang="en-US" dirty="0"/>
            </a:br>
            <a:r>
              <a:rPr lang="en-US" dirty="0"/>
              <a:t>  -  </a:t>
            </a:r>
            <a:r>
              <a:rPr dirty="0"/>
              <a:t>Right Bumper (Held): Precision Slow Drive Mode (scales speed from 40% down to 20%)</a:t>
            </a:r>
            <a:endParaRPr lang="en-US" dirty="0"/>
          </a:p>
          <a:p>
            <a:pPr>
              <a:spcAft>
                <a:spcPts val="600"/>
              </a:spcAft>
              <a:defRPr sz="1400">
                <a:solidFill>
                  <a:srgbClr val="1B2040"/>
                </a:solidFill>
                <a:latin typeface="Arial"/>
              </a:defRPr>
            </a:pPr>
            <a:endParaRPr dirty="0"/>
          </a:p>
          <a:p>
            <a:pPr>
              <a:spcAft>
                <a:spcPts val="600"/>
              </a:spcAft>
              <a:defRPr sz="1400">
                <a:solidFill>
                  <a:srgbClr val="1B2040"/>
                </a:solidFill>
                <a:latin typeface="Arial"/>
              </a:defRPr>
            </a:pPr>
            <a:r>
              <a:rPr dirty="0"/>
              <a:t>• Axis Deadband Tuning:</a:t>
            </a:r>
          </a:p>
          <a:p>
            <a:pPr>
              <a:spcAft>
                <a:spcPts val="600"/>
              </a:spcAft>
              <a:defRPr sz="1400">
                <a:solidFill>
                  <a:srgbClr val="1B2040"/>
                </a:solidFill>
                <a:latin typeface="Arial"/>
              </a:defRPr>
            </a:pPr>
            <a:r>
              <a:rPr dirty="0"/>
              <a:t>  - 0.08 deadband applied to suppress stick drift</a:t>
            </a:r>
          </a:p>
        </p:txBody>
      </p:sp>
      <p:sp>
        <p:nvSpPr>
          <p:cNvPr id="5" name="Rounded Rectangle 4"/>
          <p:cNvSpPr/>
          <p:nvPr/>
        </p:nvSpPr>
        <p:spPr>
          <a:xfrm>
            <a:off x="6217920" y="1233330"/>
            <a:ext cx="5870002" cy="4264226"/>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OPERATOR CONTROLLER (USB Port 1)</a:t>
            </a:r>
          </a:p>
          <a:p>
            <a:pPr>
              <a:spcAft>
                <a:spcPts val="600"/>
              </a:spcAft>
              <a:defRPr sz="1400">
                <a:solidFill>
                  <a:srgbClr val="1B2040"/>
                </a:solidFill>
                <a:latin typeface="Arial"/>
              </a:defRPr>
            </a:pPr>
            <a:r>
              <a:t>• Mechanism Manipulation:</a:t>
            </a:r>
          </a:p>
          <a:p>
            <a:pPr>
              <a:spcAft>
                <a:spcPts val="600"/>
              </a:spcAft>
              <a:defRPr sz="1400">
                <a:solidFill>
                  <a:srgbClr val="1B2040"/>
                </a:solidFill>
                <a:latin typeface="Arial"/>
              </a:defRPr>
            </a:pPr>
            <a:r>
              <a:t>  - Button A (Held): Runs Ball Transport Belt Inward (+1.0)</a:t>
            </a:r>
          </a:p>
          <a:p>
            <a:pPr>
              <a:spcAft>
                <a:spcPts val="600"/>
              </a:spcAft>
              <a:defRPr sz="1400">
                <a:solidFill>
                  <a:srgbClr val="1B2040"/>
                </a:solidFill>
                <a:latin typeface="Arial"/>
              </a:defRPr>
            </a:pPr>
            <a:r>
              <a:t>  - Button B (Held): Runs Ball Transport Belt Outward (-1.0)</a:t>
            </a:r>
          </a:p>
          <a:p>
            <a:pPr>
              <a:spcAft>
                <a:spcPts val="600"/>
              </a:spcAft>
              <a:defRPr sz="1400">
                <a:solidFill>
                  <a:srgbClr val="1B2040"/>
                </a:solidFill>
                <a:latin typeface="Arial"/>
              </a:defRPr>
            </a:pPr>
            <a:r>
              <a:t>  - Button X (Held): Runs Outtake Roller (+1.0)</a:t>
            </a:r>
          </a:p>
          <a:p>
            <a:pPr>
              <a:spcAft>
                <a:spcPts val="600"/>
              </a:spcAft>
              <a:defRPr sz="1400">
                <a:solidFill>
                  <a:srgbClr val="1B2040"/>
                </a:solidFill>
                <a:latin typeface="Arial"/>
              </a:defRPr>
            </a:pPr>
            <a:r>
              <a:t>  - Button Y (Pressed): Toggles Pneumatic Climber Arms once</a:t>
            </a:r>
          </a:p>
        </p:txBody>
      </p:sp>
      <p:sp>
        <p:nvSpPr>
          <p:cNvPr id="7" name="TextBox 6">
            <a:extLst>
              <a:ext uri="{FF2B5EF4-FFF2-40B4-BE49-F238E27FC236}">
                <a16:creationId xmlns:a16="http://schemas.microsoft.com/office/drawing/2014/main" id="{5896899F-1FE9-16E0-5A71-62A3CB55D869}"/>
              </a:ext>
            </a:extLst>
          </p:cNvPr>
          <p:cNvSpPr txBox="1"/>
          <p:nvPr/>
        </p:nvSpPr>
        <p:spPr>
          <a:xfrm>
            <a:off x="3345367" y="5995336"/>
            <a:ext cx="7225990" cy="646331"/>
          </a:xfrm>
          <a:prstGeom prst="rect">
            <a:avLst/>
          </a:prstGeom>
          <a:noFill/>
        </p:spPr>
        <p:txBody>
          <a:bodyPr wrap="square" rtlCol="0">
            <a:spAutoFit/>
          </a:bodyPr>
          <a:lstStyle/>
          <a:p>
            <a:r>
              <a:rPr lang="en-US" sz="3600" dirty="0"/>
              <a:t>Take a break - Drive the robot!!!!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81202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Driver Station USB setup and live controller check</a:t>
            </a:r>
            <a:endParaRPr sz="2600" b="1" dirty="0">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Match each controller to its software port
• USB port 0: Driver controller
• USB port 1: Operator controller
</a:t>
            </a:r>
            <a:r>
              <a:rPr lang="en-US" sz="1600" b="1" dirty="0">
                <a:latin typeface="Georgia" panose="02040502050405020303" pitchFamily="18" charset="0"/>
              </a:rPr>
              <a:t>Before enabling the robot, confirm that the controllers appear in this order. Swapping them also swaps their controls.</a:t>
            </a:r>
            <a:endParaRPr sz="16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endParaRPr dirty="0"/>
          </a:p>
        </p:txBody>
      </p:sp>
      <p:pic>
        <p:nvPicPr>
          <p:cNvPr id="7" name="Picture 6">
            <a:extLst>
              <a:ext uri="{FF2B5EF4-FFF2-40B4-BE49-F238E27FC236}">
                <a16:creationId xmlns:a16="http://schemas.microsoft.com/office/drawing/2014/main" id="{970848BB-8C2D-20C5-8883-1C8A1FB9E131}"/>
              </a:ext>
            </a:extLst>
          </p:cNvPr>
          <p:cNvPicPr>
            <a:picLocks/>
          </p:cNvPicPr>
          <p:nvPr/>
        </p:nvPicPr>
        <p:blipFill>
          <a:blip r:embed="rId3"/>
          <a:stretch>
            <a:fillRect/>
          </a:stretch>
        </p:blipFill>
        <p:spPr>
          <a:xfrm>
            <a:off x="6400800" y="1625600"/>
            <a:ext cx="4826000" cy="2336800"/>
          </a:xfrm>
          <a:prstGeom prst="rect">
            <a:avLst/>
          </a:prstGeom>
          <a:ln w="19050">
            <a:solidFill>
              <a:srgbClr val="D97724"/>
            </a:solidFill>
          </a:ln>
        </p:spPr>
      </p:pic>
      <p:sp>
        <p:nvSpPr>
          <p:cNvPr id="8" name="TextBox 7">
            <a:extLst>
              <a:ext uri="{FF2B5EF4-FFF2-40B4-BE49-F238E27FC236}">
                <a16:creationId xmlns:a16="http://schemas.microsoft.com/office/drawing/2014/main" id="{6A749D47-9323-2F02-A15D-32A6AC96698B}"/>
              </a:ext>
            </a:extLst>
          </p:cNvPr>
          <p:cNvSpPr txBox="1"/>
          <p:nvPr/>
        </p:nvSpPr>
        <p:spPr>
          <a:xfrm>
            <a:off x="6477000" y="4063999"/>
            <a:ext cx="4699000" cy="1905000"/>
          </a:xfrm>
          <a:prstGeom prst="rect">
            <a:avLst/>
          </a:prstGeom>
          <a:noFill/>
        </p:spPr>
        <p:txBody>
          <a:bodyPr vert="horz" wrap="square" lIns="101600" tIns="76200" rIns="101600" bIns="76200" rtlCol="0">
            <a:noAutofit/>
          </a:bodyPr>
          <a:lstStyle/>
          <a:p>
            <a:r>
              <a:rPr lang="en-US" sz="1550" dirty="0">
                <a:solidFill>
                  <a:srgbClr val="1B2040"/>
                </a:solidFill>
                <a:latin typeface="Arial" panose="020B0604020202020204" pitchFamily="34" charset="0"/>
              </a:rPr>
              <a:t>Press a controller button and watch the matching indicator.
• Operator A should appear on USB port 1.
• Driver right bumper should appear on USB port 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Reading controller inputs in TimedRobot</a:t>
            </a:r>
            <a:endParaRPr sz="2600" b="1" dirty="0">
              <a:latin typeface="Georgia" panose="02040502050405020303" pitchFamily="18" charset="0"/>
            </a:endParaRPr>
          </a:p>
        </p:txBody>
      </p:sp>
      <p:sp>
        <p:nvSpPr>
          <p:cNvPr id="4" name="Rounded Rectangle 3"/>
          <p:cNvSpPr/>
          <p:nvPr/>
        </p:nvSpPr>
        <p:spPr>
          <a:xfrm>
            <a:off x="731520" y="1463040"/>
            <a:ext cx="69850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Raw Controller Polling</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XboxController</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 operator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a:t>
            </a:r>
            <a:r>
              <a:rPr>
                <a:solidFill>
                  <a:srgbClr val="A7F3D0"/>
                </a:solidFill>
                <a:latin typeface="Consolas" panose="020B0609020204030204" pitchFamily="49" charset="0"/>
              </a:rPr>
              <a:t>1</a:t>
            </a:r>
            <a:r>
              <a:rPr>
                <a:latin typeface="Consolas" panose="020B0609020204030204" pitchFamily="49" charset="0"/>
              </a:rPr>
              <a:t>);</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if</a:t>
            </a:r>
            <a:r>
              <a:rPr>
                <a:latin typeface="Consolas" panose="020B0609020204030204" pitchFamily="49" charset="0"/>
              </a:rPr>
              <a:t> (operator.</a:t>
            </a:r>
            <a:r>
              <a:rPr>
                <a:solidFill>
                  <a:srgbClr val="6EE7B7"/>
                </a:solidFill>
                <a:latin typeface="Consolas" panose="020B0609020204030204" pitchFamily="49" charset="0"/>
              </a:rPr>
              <a:t>getAButton</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Button held</a:t>
            </a:r>
          </a:p>
          <a:p>
            <a:pPr>
              <a:defRPr sz="1200">
                <a:solidFill>
                  <a:srgbClr val="F0F0F0"/>
                </a:solidFill>
                <a:latin typeface="Courier New"/>
              </a:defRPr>
            </a:pPr>
            <a:r>
              <a:rPr>
                <a:latin typeface="Consolas" panose="020B0609020204030204" pitchFamily="49" charset="0"/>
              </a:rPr>
              <a:t>        } else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0.0</a:t>
            </a:r>
            <a:r>
              <a:rPr>
                <a:latin typeface="Consolas" panose="020B0609020204030204" pitchFamily="49" charset="0"/>
              </a:rPr>
              <a:t>);  </a:t>
            </a:r>
            <a:r>
              <a:rPr>
                <a:solidFill>
                  <a:srgbClr val="FB923C"/>
                </a:solidFill>
                <a:latin typeface="Consolas" panose="020B0609020204030204" pitchFamily="49" charset="0"/>
              </a:rPr>
              <a:t>// Mandatory release cutoff</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7048500" y="1463040"/>
            <a:ext cx="438150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900" b="1">
                <a:latin typeface="Georgia" panose="02040502050405020303" pitchFamily="18" charset="0"/>
              </a:rPr>
              <a:t>What this code must do
• A held: write 0.25 to the belt motor.
• A released: write 0.0 so the motor stops.
This gets complicated quickly. Each new action adds another condition to manage.</a:t>
            </a:r>
            <a:endParaRPr sz="1900" b="1" dirty="0">
              <a:latin typeface="Georgia" panose="020405020504050203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5040162"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Button A starts the belt</a:t>
            </a:r>
            <a:endParaRPr lang="en-US" sz="2600" b="1" dirty="0">
              <a:solidFill>
                <a:srgbClr val="1B2040"/>
              </a:solidFill>
              <a:latin typeface="Georgia" panose="02040502050405020303" pitchFamily="18" charset="0"/>
            </a:endParaRP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1. Button A</a:t>
            </a:r>
            <a:br>
              <a:rPr lang="en-US"/>
            </a:br>
            <a:r>
              <a:rPr lang="en-US"/>
              <a:t>pressed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Driver Station</a:t>
            </a:r>
            <a:br>
              <a:rPr lang="en-US"/>
            </a:br>
            <a:r>
              <a:rPr lang="en-US"/>
              <a:t>sends input</a:t>
            </a:r>
            <a:endParaRPr dirty="0"/>
          </a:p>
        </p:txBody>
      </p:sp>
      <p:sp>
        <p:nvSpPr>
          <p:cNvPr id="6" name="Rounded Rectangle 5"/>
          <p:cNvSpPr/>
          <p:nvPr/>
        </p:nvSpPr>
        <p:spPr>
          <a:xfrm>
            <a:off x="512064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nb-NO"/>
              <a:t>3. Robot code</a:t>
            </a:r>
            <a:br>
              <a:rPr lang="nb-NO"/>
            </a:br>
            <a:r>
              <a:rPr lang="nb-NO"/>
              <a:t>sees input</a:t>
            </a:r>
            <a:endParaRPr/>
          </a:p>
        </p:txBody>
      </p:sp>
      <p:sp>
        <p:nvSpPr>
          <p:cNvPr id="7" name="Rounded Rectangle 6"/>
          <p:cNvSpPr/>
          <p:nvPr/>
        </p:nvSpPr>
        <p:spPr>
          <a:xfrm>
            <a:off x="731520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4. Belt code</a:t>
            </a:r>
            <a:br>
              <a:rPr lang="en-US"/>
            </a:br>
            <a:r>
              <a:rPr lang="en-US"/>
              <a:t>runs</a:t>
            </a:r>
            <a:endParaRPr dirty="0"/>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5. Belt motor</a:t>
            </a:r>
            <a:br>
              <a:rPr lang="en-US"/>
            </a:br>
            <a:r>
              <a:rPr lang="en-US"/>
              <a:t>turns</a:t>
            </a:r>
            <a:endParaRPr dirty="0"/>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lvl="0"/>
            <a:r>
              <a:rPr lang="en-US" sz="2000" b="1">
                <a:solidFill>
                  <a:schemeClr val="tx1"/>
                </a:solidFill>
                <a:latin typeface="Georgia" panose="02040502050405020303" pitchFamily="18" charset="0"/>
              </a:rPr>
              <a:t>Follow the path for now
1. The operator presses Button A.
2. Driver Station sends the button state to the robot.
3. The robot program sees that A is pressed.
4. The program runs the code that moves the belt inward.
5. That code sends output to the belt motor on PWM port 5.
Next, we will see how command-based programming organizes these jobs.</a:t>
            </a:r>
            <a:endParaRPr sz="2000" b="1" dirty="0">
              <a:latin typeface="Georgia" panose="020405020504050203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5184433"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panose="02040502050405020303" pitchFamily="18" charset="0"/>
              </a:rPr>
              <a:t>Command-based robot code</a:t>
            </a:r>
          </a:p>
        </p:txBody>
      </p:sp>
      <p:sp>
        <p:nvSpPr>
          <p:cNvPr id="4" name="Rounded Rectangle 3"/>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solidFill>
                  <a:srgbClr val="1B2040"/>
                </a:solidFill>
                <a:latin typeface="Georgia" panose="02040502050405020303" pitchFamily="18" charset="0"/>
              </a:rPr>
              <a:t>A command-based robot is a way to organize the </a:t>
            </a:r>
            <a:r>
              <a:rPr lang="en-US" sz="2000" b="1" dirty="0">
                <a:latin typeface="Georgia" panose="02040502050405020303" pitchFamily="18" charset="0"/>
              </a:rPr>
              <a:t>robot code 
• Subsystems control one mechanism, such as the belt.
• Commands describe actions, such as running the belt inward or raising the climber.
• Button bindings connect controller buttons to commands.</a:t>
            </a:r>
            <a:endParaRPr sz="20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 The scheduler starts, runs, and stops commands.
• The scheduler also handles conflicts so that two commands cannot control the same subsystem at once.
Each responsibility has a clear place.</a:t>
            </a:r>
            <a:endParaRPr sz="2000" b="1" dirty="0">
              <a:latin typeface="Georgia" panose="020405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20929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Subsystems and commands have different jobs</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900" b="1" dirty="0">
                <a:latin typeface="Georgia" panose="02040502050405020303" pitchFamily="18" charset="0"/>
              </a:rPr>
              <a:t>Subsystems control hardware
• A subsystem owns one or more of the robot’s motors, valves, or sensors.
• It provides methods such as run(speed) and stop().
• Each robot mechanism has its own subsystem.</a:t>
            </a:r>
            <a:endParaRPr sz="19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Commands describe actions
• A command tells a subsystem what action to perform.
• It declares which subsystem it needs.
</a:t>
            </a:r>
            <a:r>
              <a:rPr lang="en-US" sz="2000" b="1">
                <a:latin typeface="Georgia" panose="02040502050405020303" pitchFamily="18" charset="0"/>
              </a:rPr>
              <a:t>• The scheduler calls its methods as the action starts, runs, and ends.</a:t>
            </a:r>
            <a:endParaRPr sz="2000" b="1" dirty="0">
              <a:latin typeface="Georgia" panose="020405020504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9855583"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BeltSubsystem provides methods for controlling the belt</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solidFill>
                  <a:srgbClr val="FB923C"/>
                </a:solidFill>
                <a:latin typeface="Consolas" panose="020B0609020204030204" pitchFamily="49" charset="0"/>
              </a:rPr>
              <a:t>// BeltSubsystem.java</a:t>
            </a:r>
          </a:p>
          <a:p>
            <a:pPr>
              <a:defRPr sz="1200">
                <a:solidFill>
                  <a:srgbClr val="F0F0F0"/>
                </a:solidFill>
                <a:latin typeface="Courier New"/>
              </a:defRPr>
            </a:pPr>
            <a:r>
              <a:rPr sz="1050">
                <a:solidFill>
                  <a:srgbClr val="7DD3FC"/>
                </a:solidFill>
                <a:latin typeface="Consolas" panose="020B0609020204030204" pitchFamily="49" charset="0"/>
              </a:rPr>
              <a:t>package</a:t>
            </a:r>
            <a:r>
              <a:rPr sz="1050">
                <a:latin typeface="Consolas" panose="020B0609020204030204" pitchFamily="49" charset="0"/>
              </a:rPr>
              <a:t> frc.robot.subsystems;</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edu.wpi.first.wpilibj.motorcontrol.</a:t>
            </a:r>
            <a:r>
              <a:rPr sz="1050">
                <a:solidFill>
                  <a:srgbClr val="C4B5FD"/>
                </a:solidFill>
                <a:latin typeface="Consolas" panose="020B0609020204030204" pitchFamily="49" charset="0"/>
              </a:rPr>
              <a:t>Talon</a:t>
            </a:r>
            <a:r>
              <a:rPr sz="1050">
                <a:latin typeface="Consolas" panose="020B0609020204030204" pitchFamily="49" charset="0"/>
              </a:rPr>
              <a:t>;</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edu.wpi.first.wpilibj2.command.SubsystemBase;</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frc.robot.</a:t>
            </a:r>
            <a:r>
              <a:rPr sz="1050">
                <a:solidFill>
                  <a:srgbClr val="C4B5FD"/>
                </a:solidFill>
                <a:latin typeface="Consolas" panose="020B0609020204030204" pitchFamily="49" charset="0"/>
              </a:rPr>
              <a:t>Constants</a:t>
            </a:r>
            <a:r>
              <a:rPr sz="1050">
                <a:latin typeface="Consolas" panose="020B0609020204030204" pitchFamily="49" charset="0"/>
              </a:rPr>
              <a:t>;</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 </a:t>
            </a:r>
            <a:r>
              <a:rPr sz="1050">
                <a:solidFill>
                  <a:srgbClr val="FDE68A"/>
                </a:solidFill>
                <a:latin typeface="Consolas" panose="020B0609020204030204" pitchFamily="49" charset="0"/>
              </a:rPr>
              <a:t>NAME</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 owns the ball-transport belt motor.</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class</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r>
              <a:rPr sz="1050">
                <a:solidFill>
                  <a:srgbClr val="7DD3FC"/>
                </a:solidFill>
                <a:latin typeface="Consolas" panose="020B0609020204030204" pitchFamily="49" charset="0"/>
              </a:rPr>
              <a:t>extends</a:t>
            </a:r>
            <a:r>
              <a:rPr sz="1050">
                <a:latin typeface="Consolas" panose="020B0609020204030204" pitchFamily="49" charset="0"/>
              </a:rPr>
              <a:t> SubsystemBase {</a:t>
            </a: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private</a:t>
            </a:r>
            <a:r>
              <a:rPr sz="1050">
                <a:latin typeface="Consolas" panose="020B0609020204030204" pitchFamily="49" charset="0"/>
              </a:rPr>
              <a:t> </a:t>
            </a:r>
            <a:r>
              <a:rPr sz="1050">
                <a:solidFill>
                  <a:srgbClr val="7DD3FC"/>
                </a:solidFill>
                <a:latin typeface="Consolas" panose="020B0609020204030204" pitchFamily="49" charset="0"/>
              </a:rPr>
              <a:t>final</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 beltMotor;</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beltMotor = </a:t>
            </a:r>
            <a:r>
              <a:rPr sz="1050">
                <a:solidFill>
                  <a:srgbClr val="7DD3FC"/>
                </a:solidFill>
                <a:latin typeface="Consolas" panose="020B0609020204030204" pitchFamily="49" charset="0"/>
              </a:rPr>
              <a:t>new</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a:t>
            </a:r>
            <a:r>
              <a:rPr sz="1050">
                <a:solidFill>
                  <a:srgbClr val="C4B5FD"/>
                </a:solidFill>
                <a:latin typeface="Consolas" panose="020B0609020204030204" pitchFamily="49" charset="0"/>
              </a:rPr>
              <a:t>Constants</a:t>
            </a:r>
            <a:r>
              <a:rPr sz="1050">
                <a:latin typeface="Consolas" panose="020B0609020204030204" pitchFamily="49" charset="0"/>
              </a:rPr>
              <a:t>.Hardware.</a:t>
            </a:r>
            <a:r>
              <a:rPr sz="1050">
                <a:solidFill>
                  <a:srgbClr val="FDE68A"/>
                </a:solidFill>
                <a:latin typeface="Consolas" panose="020B0609020204030204" pitchFamily="49" charset="0"/>
              </a:rPr>
              <a:t>PWM_BELT</a:t>
            </a: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(double speed) {</a:t>
            </a:r>
          </a:p>
          <a:p>
            <a:pPr>
              <a:defRPr sz="1200">
                <a:solidFill>
                  <a:srgbClr val="F0F0F0"/>
                </a:solidFill>
                <a:latin typeface="Courier New"/>
              </a:defRPr>
            </a:pPr>
            <a:r>
              <a:rPr sz="1050">
                <a:latin typeface="Consolas" panose="020B0609020204030204" pitchFamily="49" charset="0"/>
              </a:rPr>
              <a:t>        beltMotor.</a:t>
            </a:r>
            <a:r>
              <a:rPr sz="1050">
                <a:solidFill>
                  <a:srgbClr val="6EE7B7"/>
                </a:solidFill>
                <a:latin typeface="Consolas" panose="020B0609020204030204" pitchFamily="49" charset="0"/>
              </a:rPr>
              <a:t>set</a:t>
            </a:r>
            <a:r>
              <a:rPr sz="1050">
                <a:latin typeface="Consolas" panose="020B0609020204030204" pitchFamily="49" charset="0"/>
              </a:rPr>
              <a:t>(speed);</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stop</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a:t>
            </a:r>
            <a:r>
              <a:rPr sz="1050">
                <a:solidFill>
                  <a:srgbClr val="A7F3D0"/>
                </a:solidFill>
                <a:latin typeface="Consolas" panose="020B0609020204030204" pitchFamily="49" charset="0"/>
              </a:rPr>
              <a:t>0.0</a:t>
            </a:r>
            <a:r>
              <a:rPr sz="1050">
                <a:latin typeface="Consolas" panose="020B0609020204030204" pitchFamily="49" charset="0"/>
              </a:rPr>
              <a:t>); </a:t>
            </a:r>
            <a:r>
              <a:rPr sz="1050">
                <a:solidFill>
                  <a:srgbClr val="FB923C"/>
                </a:solidFill>
                <a:latin typeface="Consolas" panose="020B0609020204030204" pitchFamily="49" charset="0"/>
              </a:rPr>
              <a:t>// Safe motor output cutoff</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07304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Button bindings can start and stop commands</a:t>
            </a:r>
            <a:endParaRPr sz="2600" b="1" dirty="0">
              <a:latin typeface="Georgia" panose="02040502050405020303" pitchFamily="18" charset="0"/>
            </a:endParaRPr>
          </a:p>
        </p:txBody>
      </p:sp>
      <p:sp>
        <p:nvSpPr>
          <p:cNvPr id="4" name="Rounded Rectangle 3"/>
          <p:cNvSpPr/>
          <p:nvPr/>
        </p:nvSpPr>
        <p:spPr>
          <a:xfrm>
            <a:off x="7315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a:spcAft>
                <a:spcPts val="800"/>
              </a:spcAft>
              <a:defRPr sz="1800" b="1">
                <a:solidFill>
                  <a:srgbClr val="1B2040"/>
                </a:solidFill>
                <a:latin typeface="Georgia"/>
              </a:defRPr>
            </a:pPr>
            <a:r>
              <a:rPr lang="en-US" sz="1700" b="1" dirty="0" err="1">
                <a:latin typeface="Georgia" panose="02040502050405020303" pitchFamily="18" charset="0"/>
              </a:rPr>
              <a:t>whileTrue</a:t>
            </a:r>
            <a:r>
              <a:rPr lang="en-US" sz="170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when the button is pressed
Cancels it when the button is released.
Used for held-button controls.</a:t>
            </a:r>
            <a:endParaRPr sz="1700" b="1" dirty="0">
              <a:latin typeface="Georgia" panose="02040502050405020303" pitchFamily="18" charset="0"/>
            </a:endParaRPr>
          </a:p>
        </p:txBody>
      </p:sp>
      <p:sp>
        <p:nvSpPr>
          <p:cNvPr id="5" name="Rounded Rectangle 4"/>
          <p:cNvSpPr/>
          <p:nvPr/>
        </p:nvSpPr>
        <p:spPr>
          <a:xfrm>
            <a:off x="43891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err="1">
                <a:latin typeface="Georgia" panose="02040502050405020303" pitchFamily="18" charset="0"/>
              </a:rPr>
              <a:t>onTrue</a:t>
            </a:r>
            <a:r>
              <a:rPr lang="en-US" sz="1700" b="1" dirty="0">
                <a:latin typeface="Georgia" panose="02040502050405020303" pitchFamily="18" charset="0"/>
              </a:rPr>
              <a:t>(...)</a:t>
            </a:r>
          </a:p>
          <a:p>
            <a:pPr>
              <a:spcAft>
                <a:spcPts val="800"/>
              </a:spcAft>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once when the button is pressed.
Used to toggle the climber arms.</a:t>
            </a:r>
            <a:endParaRPr sz="1700" b="1" dirty="0">
              <a:latin typeface="Georgia" panose="02040502050405020303" pitchFamily="18" charset="0"/>
            </a:endParaRPr>
          </a:p>
        </p:txBody>
      </p:sp>
      <p:sp>
        <p:nvSpPr>
          <p:cNvPr id="6" name="Rounded Rectangle 5"/>
          <p:cNvSpPr/>
          <p:nvPr/>
        </p:nvSpPr>
        <p:spPr>
          <a:xfrm>
            <a:off x="80467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Default command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whenever no other command is using that subsystem.
Used for normal driving.</a:t>
            </a:r>
            <a:endParaRPr sz="1700" b="1" dirty="0">
              <a:latin typeface="Georgia" panose="02040502050405020303"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9302547"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a:rPr>
              <a:t>The scheduler calls four methods as a command runs</a:t>
            </a:r>
          </a:p>
        </p:txBody>
      </p:sp>
      <p:sp>
        <p:nvSpPr>
          <p:cNvPr id="4" name="Rounded Rectangle 3"/>
          <p:cNvSpPr/>
          <p:nvPr/>
        </p:nvSpPr>
        <p:spPr>
          <a:xfrm>
            <a:off x="731520" y="146304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initialize()</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starts.
Prepares the action.</a:t>
            </a:r>
            <a:endParaRPr sz="1700" b="1" dirty="0">
              <a:latin typeface="Georgia" panose="02040502050405020303" pitchFamily="18" charset="0"/>
            </a:endParaRPr>
          </a:p>
        </p:txBody>
      </p:sp>
      <p:sp>
        <p:nvSpPr>
          <p:cNvPr id="5" name="Rounded Rectangle 4"/>
          <p:cNvSpPr/>
          <p:nvPr/>
        </p:nvSpPr>
        <p:spPr>
          <a:xfrm>
            <a:off x="6217920" y="146304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a:latin typeface="Georgia" panose="02040502050405020303" pitchFamily="18" charset="0"/>
              </a:rPr>
              <a:t>execute()
</a:t>
            </a: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Runs repeatedly while the command is active.
Keeps the action running.</a:t>
            </a:r>
          </a:p>
        </p:txBody>
      </p:sp>
      <p:sp>
        <p:nvSpPr>
          <p:cNvPr id="6" name="Rounded Rectangle 5"/>
          <p:cNvSpPr/>
          <p:nvPr/>
        </p:nvSpPr>
        <p:spPr>
          <a:xfrm>
            <a:off x="731520" y="393192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err="1">
                <a:latin typeface="Georgia" panose="02040502050405020303" pitchFamily="18" charset="0"/>
              </a:rPr>
              <a:t>isFinished</a:t>
            </a:r>
            <a:r>
              <a:rPr lang="en-US" sz="165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65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Returns true when the command is done.
False keeps it running.</a:t>
            </a:r>
            <a:endParaRPr sz="1650" b="1" dirty="0">
              <a:latin typeface="Georgia" panose="02040502050405020303" pitchFamily="18" charset="0"/>
            </a:endParaRPr>
          </a:p>
        </p:txBody>
      </p:sp>
      <p:sp>
        <p:nvSpPr>
          <p:cNvPr id="7" name="Rounded Rectangle 6"/>
          <p:cNvSpPr/>
          <p:nvPr/>
        </p:nvSpPr>
        <p:spPr>
          <a:xfrm>
            <a:off x="6217920" y="393192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end(interrupted)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stops.
Stops motors safely.</a:t>
            </a:r>
            <a:endParaRPr sz="1700" b="1" dirty="0">
              <a:latin typeface="Georgia" panose="02040502050405020303"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2476960" cy="261610"/>
          </a:xfrm>
          <a:prstGeom prst="rect">
            <a:avLst/>
          </a:prstGeom>
          <a:noFill/>
        </p:spPr>
        <p:txBody>
          <a:bodyPr wrap="none">
            <a:spAutoFit/>
          </a:bodyPr>
          <a:lstStyle/>
          <a:p>
            <a:pPr>
              <a:defRPr sz="1100" b="1">
                <a:solidFill>
                  <a:srgbClr val="D97724"/>
                </a:solidFill>
                <a:latin typeface="Arial"/>
              </a:defRPr>
            </a:pPr>
            <a:r>
              <a:rPr lang="en-US"/>
              <a:t>COMMAND-BASED ROBOT CODE</a:t>
            </a:r>
            <a:endParaRPr/>
          </a:p>
        </p:txBody>
      </p:sp>
      <p:sp>
        <p:nvSpPr>
          <p:cNvPr id="3" name="TextBox 2"/>
          <p:cNvSpPr txBox="1"/>
          <p:nvPr/>
        </p:nvSpPr>
        <p:spPr>
          <a:xfrm>
            <a:off x="731520" y="640080"/>
            <a:ext cx="8852103"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BeltInCommand runs from button press to release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50">
                <a:solidFill>
                  <a:srgbClr val="FB923C"/>
                </a:solidFill>
                <a:latin typeface="Consolas" panose="020B0609020204030204" pitchFamily="49" charset="0"/>
              </a:rPr>
              <a:t>// BeltInCommand.java (key methods)</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class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extends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Command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private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final</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
        this.beltSubsystem = beltSubsystem;
        </a:t>
            </a:r>
            <a:r>
              <a:rPr lang="en-US" sz="1150">
                <a:solidFill>
                  <a:srgbClr val="6EE7B7"/>
                </a:solidFill>
                <a:latin typeface="Consolas" panose="020B0609020204030204" pitchFamily="49" charset="0"/>
              </a:rPr>
              <a:t>addRequirements</a:t>
            </a:r>
            <a:r>
              <a:rPr lang="en-US" sz="1150">
                <a:solidFill>
                  <a:srgbClr val="F8F5EE"/>
                </a:solidFill>
                <a:latin typeface="Consolas" panose="020B0609020204030204" pitchFamily="49" charset="0"/>
              </a:rPr>
              <a:t>(beltSubsystem);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execute</a:t>
            </a:r>
            <a:r>
              <a:rPr lang="en-US" sz="1150">
                <a:solidFill>
                  <a:srgbClr val="F8F5EE"/>
                </a:solidFill>
                <a:latin typeface="Consolas" panose="020B0609020204030204" pitchFamily="49" charset="0"/>
              </a:rPr>
              <a:t>() {
        beltSubsystem.</a:t>
            </a:r>
            <a:r>
              <a:rPr lang="en-US" sz="1150">
                <a:solidFill>
                  <a:srgbClr val="6EE7B7"/>
                </a:solidFill>
                <a:latin typeface="Consolas" panose="020B0609020204030204" pitchFamily="49" charset="0"/>
              </a:rPr>
              <a:t>run</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Constants</a:t>
            </a:r>
            <a:r>
              <a:rPr lang="en-US" sz="1150">
                <a:solidFill>
                  <a:srgbClr val="F8F5EE"/>
                </a:solidFill>
                <a:latin typeface="Consolas" panose="020B0609020204030204" pitchFamily="49" charset="0"/>
              </a:rPr>
              <a:t>.Tuning.</a:t>
            </a:r>
            <a:r>
              <a:rPr lang="en-US" sz="1150">
                <a:solidFill>
                  <a:srgbClr val="FDE68A"/>
                </a:solidFill>
                <a:latin typeface="Consolas" panose="020B0609020204030204" pitchFamily="49" charset="0"/>
              </a:rPr>
              <a:t>BELT_SPEED</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end</a:t>
            </a:r>
            <a:r>
              <a:rPr lang="en-US" sz="1150">
                <a:solidFill>
                  <a:srgbClr val="F8F5EE"/>
                </a:solidFill>
                <a:latin typeface="Consolas" panose="020B0609020204030204" pitchFamily="49" charset="0"/>
              </a:rPr>
              <a:t>(</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interrupted) {
        beltSubsystem.</a:t>
            </a:r>
            <a:r>
              <a:rPr lang="en-US" sz="1150">
                <a:solidFill>
                  <a:srgbClr val="6EE7B7"/>
                </a:solidFill>
                <a:latin typeface="Consolas" panose="020B0609020204030204" pitchFamily="49" charset="0"/>
              </a:rPr>
              <a:t>stop</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isFinished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return</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false</a:t>
            </a:r>
            <a:r>
              <a:rPr lang="en-US" sz="1150">
                <a:solidFill>
                  <a:srgbClr val="F8F5EE"/>
                </a:solidFill>
                <a:latin typeface="Consolas" panose="020B0609020204030204" pitchFamily="49" charset="0"/>
              </a:rPr>
              <a:t>;
    }
}</a:t>
            </a:r>
            <a:endParaRPr sz="1150">
              <a:solidFill>
                <a:srgbClr val="F8F5EE"/>
              </a:solidFill>
              <a:latin typeface="Consolas" panose="020B06090202040302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64824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The scheduler checks the robot every 20 ms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During each pass, the scheduler:
1. Calls each subsystem's periodic() method.
2. Checks buttons and other triggers.
3. Calls execute() on the active commands.
4. Ends commands that finish or are interrupted.
5. Starts default commands for available subsystems.
The callbacks run one after another on the robot's main thread. Do not use </a:t>
            </a:r>
            <a:r>
              <a:rPr lang="en-US" sz="2000" b="1" dirty="0" err="1">
                <a:latin typeface="Georgia" panose="02040502050405020303" pitchFamily="18" charset="0"/>
              </a:rPr>
              <a:t>Thread.sleep</a:t>
            </a:r>
            <a:r>
              <a:rPr lang="en-US" sz="2000" b="1" dirty="0">
                <a:latin typeface="Georgia" panose="02040502050405020303" pitchFamily="18" charset="0"/>
              </a:rPr>
              <a:t>() inside a command. It delays the rest of the robot program.</a:t>
            </a:r>
            <a:endParaRPr sz="2000" b="1" dirty="0">
              <a:latin typeface="Georgia" panose="02040502050405020303"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a:extLst>
            <a:ext uri="{FF2B5EF4-FFF2-40B4-BE49-F238E27FC236}">
              <a16:creationId xmlns:a16="http://schemas.microsoft.com/office/drawing/2014/main" id="{199424AF-A605-DAE3-8B51-45C73A480B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F3D00F-E677-D4FD-7DF6-1AAAD249A8F7}"/>
              </a:ext>
            </a:extLst>
          </p:cNvPr>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a:extLst>
              <a:ext uri="{FF2B5EF4-FFF2-40B4-BE49-F238E27FC236}">
                <a16:creationId xmlns:a16="http://schemas.microsoft.com/office/drawing/2014/main" id="{3D62C4B4-8344-3C49-72BB-08E5429D158A}"/>
              </a:ext>
            </a:extLst>
          </p:cNvPr>
          <p:cNvSpPr txBox="1"/>
          <p:nvPr/>
        </p:nvSpPr>
        <p:spPr>
          <a:xfrm>
            <a:off x="731520" y="640080"/>
            <a:ext cx="881523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What if two commands attempt to control the belt?</a:t>
            </a:r>
            <a:endParaRPr sz="2600" b="1" dirty="0">
              <a:latin typeface="Georgia" panose="02040502050405020303" pitchFamily="18" charset="0"/>
            </a:endParaRPr>
          </a:p>
        </p:txBody>
      </p:sp>
      <p:sp>
        <p:nvSpPr>
          <p:cNvPr id="4" name="Rounded Rectangle 3">
            <a:extLst>
              <a:ext uri="{FF2B5EF4-FFF2-40B4-BE49-F238E27FC236}">
                <a16:creationId xmlns:a16="http://schemas.microsoft.com/office/drawing/2014/main" id="{99D5DDBA-DC25-9353-5513-7ED91CD27CC6}"/>
              </a:ext>
            </a:extLst>
          </p:cNvPr>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Two buttons request opposite action:
• Button A starts </a:t>
            </a:r>
            <a:r>
              <a:rPr lang="en-US" sz="2000" b="1" dirty="0" err="1">
                <a:latin typeface="Georgia" panose="02040502050405020303" pitchFamily="18" charset="0"/>
              </a:rPr>
              <a:t>BeltInCommand</a:t>
            </a:r>
            <a:r>
              <a:rPr lang="en-US" sz="2000" b="1" dirty="0">
                <a:latin typeface="Georgia" panose="02040502050405020303" pitchFamily="18" charset="0"/>
              </a:rPr>
              <a:t>.
• </a:t>
            </a:r>
            <a:r>
              <a:rPr lang="en-US" sz="2000" b="1" dirty="0" err="1">
                <a:latin typeface="Georgia" panose="02040502050405020303" pitchFamily="18" charset="0"/>
              </a:rPr>
              <a:t>BeltInCommand</a:t>
            </a:r>
            <a:r>
              <a:rPr lang="en-US" sz="2000" b="1" dirty="0">
                <a:latin typeface="Georgia" panose="02040502050405020303" pitchFamily="18" charset="0"/>
              </a:rPr>
              <a:t> tells the belt to run inward.
• Button B starts </a:t>
            </a:r>
            <a:r>
              <a:rPr lang="en-US" sz="2000" b="1" dirty="0" err="1">
                <a:latin typeface="Georgia" panose="02040502050405020303" pitchFamily="18" charset="0"/>
              </a:rPr>
              <a:t>BeltOutCommand</a:t>
            </a:r>
            <a:r>
              <a:rPr lang="en-US" sz="2000" b="1" dirty="0">
                <a:latin typeface="Georgia" panose="02040502050405020303" pitchFamily="18" charset="0"/>
              </a:rPr>
              <a:t>.
• </a:t>
            </a:r>
            <a:r>
              <a:rPr lang="en-US" sz="2000" b="1" dirty="0" err="1">
                <a:latin typeface="Georgia" panose="02040502050405020303" pitchFamily="18" charset="0"/>
              </a:rPr>
              <a:t>BeltOutCommand</a:t>
            </a:r>
            <a:r>
              <a:rPr lang="en-US" sz="2000" b="1" dirty="0">
                <a:latin typeface="Georgia" panose="02040502050405020303" pitchFamily="18" charset="0"/>
              </a:rPr>
              <a:t> tells the same belt to run outward.</a:t>
            </a:r>
            <a:endParaRPr sz="2000" b="1" dirty="0">
              <a:latin typeface="Georgia" panose="02040502050405020303" pitchFamily="18" charset="0"/>
            </a:endParaRPr>
          </a:p>
        </p:txBody>
      </p:sp>
      <p:sp>
        <p:nvSpPr>
          <p:cNvPr id="5" name="Rounded Rectangle 4">
            <a:extLst>
              <a:ext uri="{FF2B5EF4-FFF2-40B4-BE49-F238E27FC236}">
                <a16:creationId xmlns:a16="http://schemas.microsoft.com/office/drawing/2014/main" id="{1E884993-202D-8D86-AA25-1E26CC1B4840}"/>
              </a:ext>
            </a:extLst>
          </p:cNvPr>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Both commands send instructions to the same motor
Without conflict handling, the last instruction sent controls the motor.
What should happen if the operator presses both buttons?</a:t>
            </a:r>
            <a:endParaRPr sz="2000" b="1" dirty="0">
              <a:latin typeface="Georgia" panose="02040502050405020303" pitchFamily="18" charset="0"/>
            </a:endParaRPr>
          </a:p>
        </p:txBody>
      </p:sp>
    </p:spTree>
    <p:extLst>
      <p:ext uri="{BB962C8B-B14F-4D97-AF65-F5344CB8AC3E}">
        <p14:creationId xmlns:p14="http://schemas.microsoft.com/office/powerpoint/2010/main" val="1381953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962436"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Only one command controls the belt at a time</a:t>
            </a:r>
            <a:endParaRPr sz="2600" b="1">
              <a:latin typeface="Georgia" panose="02040502050405020303" pitchFamily="18" charset="0"/>
            </a:endParaRP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Declaring Requirements</a:t>
            </a: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Command</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beltSubsystem;</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a:t>
            </a:r>
            <a:r>
              <a:rPr>
                <a:solidFill>
                  <a:srgbClr val="C4B5FD"/>
                </a:solidFill>
                <a:latin typeface="Consolas" panose="020B0609020204030204" pitchFamily="49" charset="0"/>
              </a:rPr>
              <a:t>BeltSubsystem</a:t>
            </a:r>
            <a:r>
              <a:rPr>
                <a:latin typeface="Consolas" panose="020B0609020204030204" pitchFamily="49" charset="0"/>
              </a:rPr>
              <a:t> beltSubsystem) {</a:t>
            </a:r>
          </a:p>
          <a:p>
            <a:pPr>
              <a:defRPr sz="1200">
                <a:solidFill>
                  <a:srgbClr val="F0F0F0"/>
                </a:solidFill>
                <a:latin typeface="Courier New"/>
              </a:defRPr>
            </a:pPr>
            <a:r>
              <a:rPr>
                <a:latin typeface="Consolas" panose="020B0609020204030204" pitchFamily="49" charset="0"/>
              </a:rPr>
              <a:t>        this.beltSubsystem = beltSubsystem;</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a:t>
            </a:r>
            <a:r>
              <a:rPr lang="en-US">
                <a:solidFill>
                  <a:srgbClr val="FB923C"/>
                </a:solidFill>
                <a:latin typeface="Consolas" panose="020B0609020204030204" pitchFamily="49" charset="0"/>
              </a:rPr>
              <a:t>Tells the scheduler this command uses the belt</a:t>
            </a:r>
            <a:endParaRPr>
              <a:solidFill>
                <a:srgbClr val="FB923C"/>
              </a:solidFill>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addRequirements</a:t>
            </a:r>
            <a:r>
              <a:rPr>
                <a:latin typeface="Consolas" panose="020B0609020204030204" pitchFamily="49" charset="0"/>
              </a:rPr>
              <a:t>(beltSubsystem);</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t">
            <a:noAutofit/>
          </a:bodyPr>
          <a:lstStyle/>
          <a:p>
            <a:pPr algn="ctr">
              <a:spcAft>
                <a:spcPts val="800"/>
              </a:spcAft>
              <a:defRPr sz="1800" b="1">
                <a:solidFill>
                  <a:srgbClr val="1B2040"/>
                </a:solidFill>
                <a:latin typeface="Georgia"/>
              </a:defRPr>
            </a:pPr>
            <a:r>
              <a:rPr lang="en-US" sz="1700" b="1">
                <a:latin typeface="Georgia" panose="02040502050405020303" pitchFamily="18" charset="0"/>
              </a:rPr>
              <a:t>What the scheduler does
1. Both commands say they need BeltSubsystem.
2. The scheduler stops BeltInCommand.
3. end(true) stops the belt motor.
4. The scheduler starts BeltOutCommand.</a:t>
            </a:r>
            <a:endParaRPr sz="1700" b="1">
              <a:latin typeface="Georgia" panose="02040502050405020303"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Releasing Button A stops the belt</a:t>
            </a:r>
          </a:p>
        </p:txBody>
      </p:sp>
      <p:sp>
        <p:nvSpPr>
          <p:cNvPr id="4" name="Rounded Rectangle 3"/>
          <p:cNvSpPr/>
          <p:nvPr/>
        </p:nvSpPr>
        <p:spPr>
          <a:xfrm>
            <a:off x="73152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1. Button A</a:t>
            </a:r>
            <a:br>
              <a:rPr lang="en-US"/>
            </a:br>
            <a:r>
              <a:rPr lang="en-US"/>
              <a:t>released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Binding</a:t>
            </a:r>
            <a:br>
              <a:rPr lang="en-US"/>
            </a:br>
            <a:r>
              <a:rPr lang="en-US"/>
              <a:t>becomes false</a:t>
            </a:r>
            <a:endParaRP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3. Scheduler</a:t>
            </a:r>
            <a:br>
              <a:rPr lang="en-US"/>
            </a:br>
            <a:r>
              <a:rPr lang="en-US"/>
              <a:t>cancels command</a:t>
            </a:r>
            <a:endParaRP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4. end(true)</a:t>
            </a:r>
            <a:br>
              <a:rPr lang="en-US"/>
            </a:br>
            <a:r>
              <a:rPr lang="en-US"/>
              <a:t>calls stop()</a:t>
            </a:r>
            <a:endParaRPr/>
          </a:p>
        </p:txBody>
      </p:sp>
      <p:sp>
        <p:nvSpPr>
          <p:cNvPr id="8" name="Rounded Rectangle 7"/>
          <p:cNvSpPr/>
          <p:nvPr/>
        </p:nvSpPr>
        <p:spPr>
          <a:xfrm>
            <a:off x="950976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5. Belt motor</a:t>
            </a:r>
            <a:br>
              <a:rPr lang="en-US"/>
            </a:br>
            <a:r>
              <a:rPr lang="en-US"/>
              <a:t>receives 0.0</a:t>
            </a:r>
            <a:endParaRP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What happens when A is released
1. The </a:t>
            </a:r>
            <a:r>
              <a:rPr lang="en-US" sz="2000" b="1" dirty="0" err="1">
                <a:latin typeface="Georgia" panose="02040502050405020303" pitchFamily="18" charset="0"/>
              </a:rPr>
              <a:t>whileTrue</a:t>
            </a:r>
            <a:r>
              <a:rPr lang="en-US" sz="2000" b="1" dirty="0">
                <a:latin typeface="Georgia" panose="02040502050405020303" pitchFamily="18" charset="0"/>
              </a:rPr>
              <a:t> condition becomes false.
2. The scheduler cancels </a:t>
            </a:r>
            <a:r>
              <a:rPr lang="en-US" sz="2000" b="1" dirty="0" err="1">
                <a:latin typeface="Georgia" panose="02040502050405020303" pitchFamily="18" charset="0"/>
              </a:rPr>
              <a:t>BeltInCommand</a:t>
            </a:r>
            <a:r>
              <a:rPr lang="en-US" sz="2000" b="1" dirty="0">
                <a:latin typeface="Georgia" panose="02040502050405020303" pitchFamily="18" charset="0"/>
              </a:rPr>
              <a:t>.
3. The scheduler calls end(true).
4. end() calls </a:t>
            </a:r>
            <a:r>
              <a:rPr lang="en-US" sz="2000" b="1" dirty="0" err="1">
                <a:latin typeface="Georgia" panose="02040502050405020303" pitchFamily="18" charset="0"/>
              </a:rPr>
              <a:t>beltSubsystem.stop</a:t>
            </a:r>
            <a:r>
              <a:rPr lang="en-US" sz="2000" b="1" dirty="0">
                <a:latin typeface="Georgia" panose="02040502050405020303" pitchFamily="18" charset="0"/>
              </a:rPr>
              <a:t>().
5. </a:t>
            </a:r>
            <a:r>
              <a:rPr lang="en-US" sz="2000" b="1" dirty="0" err="1">
                <a:latin typeface="Georgia" panose="02040502050405020303" pitchFamily="18" charset="0"/>
              </a:rPr>
              <a:t>BeltSubsystem</a:t>
            </a:r>
            <a:r>
              <a:rPr lang="en-US" sz="2000" b="1" dirty="0">
                <a:latin typeface="Georgia" panose="02040502050405020303" pitchFamily="18" charset="0"/>
              </a:rPr>
              <a:t> writes 0.0 to the motor controller.
The belt stops even though execute() no longer runs.</a:t>
            </a:r>
            <a:endParaRPr sz="2000" b="1" dirty="0">
              <a:latin typeface="Georgia" panose="02040502050405020303"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Project Directory Tree &amp; Repository Structure</a:t>
            </a:r>
          </a:p>
        </p:txBody>
      </p:sp>
      <p:sp>
        <p:nvSpPr>
          <p:cNvPr id="4" name="Rounded Rectangle 3"/>
          <p:cNvSpPr/>
          <p:nvPr/>
        </p:nvSpPr>
        <p:spPr>
          <a:xfrm>
            <a:off x="731520" y="1463040"/>
            <a:ext cx="576072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t>// Repository Package Layout</a:t>
            </a:r>
          </a:p>
          <a:p>
            <a:pPr>
              <a:defRPr sz="1200">
                <a:solidFill>
                  <a:srgbClr val="F0F0F0"/>
                </a:solidFill>
                <a:latin typeface="Courier New"/>
              </a:defRPr>
            </a:pPr>
            <a:r>
              <a:rPr sz="1050"/>
              <a:t>src/main/java/frc/robot/</a:t>
            </a:r>
          </a:p>
          <a:p>
            <a:pPr>
              <a:defRPr sz="1200">
                <a:solidFill>
                  <a:srgbClr val="F0F0F0"/>
                </a:solidFill>
                <a:latin typeface="Courier New"/>
              </a:defRPr>
            </a:pPr>
            <a:r>
              <a:rPr sz="1050"/>
              <a:t>├── Main.java                 &lt;- Entry point</a:t>
            </a:r>
          </a:p>
          <a:p>
            <a:pPr>
              <a:defRPr sz="1200">
                <a:solidFill>
                  <a:srgbClr val="F0F0F0"/>
                </a:solidFill>
                <a:latin typeface="Courier New"/>
              </a:defRPr>
            </a:pPr>
            <a:r>
              <a:rPr sz="1050"/>
              <a:t>├── Robot.java                &lt;- 20ms scheduler loop</a:t>
            </a:r>
          </a:p>
          <a:p>
            <a:pPr>
              <a:defRPr sz="1200">
                <a:solidFill>
                  <a:srgbClr val="F0F0F0"/>
                </a:solidFill>
                <a:latin typeface="Courier New"/>
              </a:defRPr>
            </a:pPr>
            <a:r>
              <a:rPr sz="1050"/>
              <a:t>├── RobotContainer.java       &lt;- Wiring hub &amp; button bindings</a:t>
            </a:r>
          </a:p>
          <a:p>
            <a:pPr>
              <a:defRPr sz="1200">
                <a:solidFill>
                  <a:srgbClr val="F0F0F0"/>
                </a:solidFill>
                <a:latin typeface="Courier New"/>
              </a:defRPr>
            </a:pPr>
            <a:r>
              <a:rPr sz="1050"/>
              <a:t>├── Constants.java            &lt;- Hardware channels &amp; tuning</a:t>
            </a:r>
          </a:p>
          <a:p>
            <a:pPr>
              <a:defRPr sz="1200">
                <a:solidFill>
                  <a:srgbClr val="F0F0F0"/>
                </a:solidFill>
                <a:latin typeface="Courier New"/>
              </a:defRPr>
            </a:pPr>
            <a:r>
              <a:rPr sz="1050"/>
              <a:t>├── DriveSpeedMode.java       &lt;- Shared drive state</a:t>
            </a:r>
          </a:p>
          <a:p>
            <a:pPr>
              <a:defRPr sz="1200">
                <a:solidFill>
                  <a:srgbClr val="F0F0F0"/>
                </a:solidFill>
                <a:latin typeface="Courier New"/>
              </a:defRPr>
            </a:pPr>
            <a:r>
              <a:rPr sz="1050"/>
              <a:t>├── subsystems/</a:t>
            </a:r>
          </a:p>
          <a:p>
            <a:pPr>
              <a:defRPr sz="1200">
                <a:solidFill>
                  <a:srgbClr val="F0F0F0"/>
                </a:solidFill>
                <a:latin typeface="Courier New"/>
              </a:defRPr>
            </a:pPr>
            <a:r>
              <a:rPr sz="1050"/>
              <a:t>│   ├── DriveSubsystem.java   &lt;- 4-motor tank drive</a:t>
            </a:r>
          </a:p>
          <a:p>
            <a:pPr>
              <a:defRPr sz="1200">
                <a:solidFill>
                  <a:srgbClr val="F0F0F0"/>
                </a:solidFill>
                <a:latin typeface="Courier New"/>
              </a:defRPr>
            </a:pPr>
            <a:r>
              <a:rPr sz="1050"/>
              <a:t>│   ├── BeltSubsystem.java    &lt;- Transport belt motor</a:t>
            </a:r>
          </a:p>
          <a:p>
            <a:pPr>
              <a:defRPr sz="1200">
                <a:solidFill>
                  <a:srgbClr val="F0F0F0"/>
                </a:solidFill>
                <a:latin typeface="Courier New"/>
              </a:defRPr>
            </a:pPr>
            <a:r>
              <a:rPr sz="1050"/>
              <a:t>│   ├── RollerSubsystem.java  &lt;- Ejection roller motor</a:t>
            </a:r>
          </a:p>
          <a:p>
            <a:pPr>
              <a:defRPr sz="1200">
                <a:solidFill>
                  <a:srgbClr val="F0F0F0"/>
                </a:solidFill>
                <a:latin typeface="Courier New"/>
              </a:defRPr>
            </a:pPr>
            <a:r>
              <a:rPr sz="1050"/>
              <a:t>│   └── ClimberSubsystem.java &lt;- Pneumatic climber valve</a:t>
            </a:r>
          </a:p>
          <a:p>
            <a:pPr>
              <a:defRPr sz="1200">
                <a:solidFill>
                  <a:srgbClr val="F0F0F0"/>
                </a:solidFill>
                <a:latin typeface="Courier New"/>
              </a:defRPr>
            </a:pPr>
            <a:r>
              <a:rPr sz="1050"/>
              <a:t>└── commands/</a:t>
            </a:r>
          </a:p>
          <a:p>
            <a:pPr>
              <a:defRPr sz="1200">
                <a:solidFill>
                  <a:srgbClr val="F0F0F0"/>
                </a:solidFill>
                <a:latin typeface="Courier New"/>
              </a:defRPr>
            </a:pPr>
            <a:r>
              <a:rPr sz="1050"/>
              <a:t>    ├── DriveTeleopCommand.java</a:t>
            </a:r>
          </a:p>
          <a:p>
            <a:pPr>
              <a:defRPr sz="1200">
                <a:solidFill>
                  <a:srgbClr val="F0F0F0"/>
                </a:solidFill>
                <a:latin typeface="Courier New"/>
              </a:defRPr>
            </a:pPr>
            <a:r>
              <a:rPr sz="1050"/>
              <a:t>    ├── BeltInCommand.java</a:t>
            </a:r>
          </a:p>
          <a:p>
            <a:pPr>
              <a:defRPr sz="1200">
                <a:solidFill>
                  <a:srgbClr val="F0F0F0"/>
                </a:solidFill>
                <a:latin typeface="Courier New"/>
              </a:defRPr>
            </a:pPr>
            <a:r>
              <a:rPr sz="1050"/>
              <a:t>    ├── BeltOutCommand.java</a:t>
            </a:r>
          </a:p>
          <a:p>
            <a:pPr>
              <a:defRPr sz="1200">
                <a:solidFill>
                  <a:srgbClr val="F0F0F0"/>
                </a:solidFill>
                <a:latin typeface="Courier New"/>
              </a:defRPr>
            </a:pPr>
            <a:r>
              <a:rPr sz="1050"/>
              <a:t>    ├── RollerCommand.java</a:t>
            </a:r>
          </a:p>
          <a:p>
            <a:pPr>
              <a:defRPr sz="1200">
                <a:solidFill>
                  <a:srgbClr val="F0F0F0"/>
                </a:solidFill>
                <a:latin typeface="Courier New"/>
              </a:defRPr>
            </a:pPr>
            <a:r>
              <a:rPr sz="1050"/>
              <a:t>    ├── SlowDriveCommand.java</a:t>
            </a:r>
          </a:p>
          <a:p>
            <a:pPr>
              <a:defRPr sz="1200">
                <a:solidFill>
                  <a:srgbClr val="F0F0F0"/>
                </a:solidFill>
                <a:latin typeface="Courier New"/>
              </a:defRPr>
            </a:pPr>
            <a:r>
              <a:rPr sz="1050"/>
              <a:t>    └── ToggleClimberArmsCommand.java</a:t>
            </a:r>
          </a:p>
        </p:txBody>
      </p:sp>
      <p:sp>
        <p:nvSpPr>
          <p:cNvPr id="5" name="Rounded Rectangle 4"/>
          <p:cNvSpPr/>
          <p:nvPr/>
        </p:nvSpPr>
        <p:spPr>
          <a:xfrm>
            <a:off x="6492240" y="1463040"/>
            <a:ext cx="493776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Repository Class Roles</a:t>
            </a:r>
          </a:p>
          <a:p>
            <a:pPr>
              <a:spcAft>
                <a:spcPts val="600"/>
              </a:spcAft>
              <a:defRPr sz="1400">
                <a:solidFill>
                  <a:srgbClr val="1B2040"/>
                </a:solidFill>
                <a:latin typeface="Arial"/>
              </a:defRPr>
            </a:pPr>
            <a:r>
              <a:t>• package frc.robot:</a:t>
            </a:r>
          </a:p>
          <a:p>
            <a:pPr>
              <a:spcAft>
                <a:spcPts val="600"/>
              </a:spcAft>
              <a:defRPr sz="1400">
                <a:solidFill>
                  <a:srgbClr val="1B2040"/>
                </a:solidFill>
                <a:latin typeface="Arial"/>
              </a:defRPr>
            </a:pPr>
            <a:r>
              <a:t>  Root package housing all robot source code.</a:t>
            </a:r>
          </a:p>
          <a:p>
            <a:pPr>
              <a:spcAft>
                <a:spcPts val="600"/>
              </a:spcAft>
              <a:defRPr sz="1400">
                <a:solidFill>
                  <a:srgbClr val="1B2040"/>
                </a:solidFill>
                <a:latin typeface="Arial"/>
              </a:defRPr>
            </a:pPr>
            <a:r>
              <a:t>• Constants.java:</a:t>
            </a:r>
          </a:p>
          <a:p>
            <a:pPr>
              <a:spcAft>
                <a:spcPts val="600"/>
              </a:spcAft>
              <a:defRPr sz="1400">
                <a:solidFill>
                  <a:srgbClr val="1B2040"/>
                </a:solidFill>
                <a:latin typeface="Arial"/>
              </a:defRPr>
            </a:pPr>
            <a:r>
              <a:t>  Central read-only configuration hub for ports, IDs, and speeds.</a:t>
            </a:r>
          </a:p>
          <a:p>
            <a:pPr>
              <a:spcAft>
                <a:spcPts val="600"/>
              </a:spcAft>
              <a:defRPr sz="1400">
                <a:solidFill>
                  <a:srgbClr val="1B2040"/>
                </a:solidFill>
                <a:latin typeface="Arial"/>
              </a:defRPr>
            </a:pPr>
            <a:r>
              <a:t>• RobotContainer.java:</a:t>
            </a:r>
          </a:p>
          <a:p>
            <a:pPr>
              <a:spcAft>
                <a:spcPts val="600"/>
              </a:spcAft>
              <a:defRPr sz="1400">
                <a:solidFill>
                  <a:srgbClr val="1B2040"/>
                </a:solidFill>
                <a:latin typeface="Arial"/>
              </a:defRPr>
            </a:pPr>
            <a:r>
              <a:t>  Master wiring hub; instantiates hardware and binds triggers.</a:t>
            </a:r>
          </a:p>
          <a:p>
            <a:pPr>
              <a:spcAft>
                <a:spcPts val="600"/>
              </a:spcAft>
              <a:defRPr sz="1400">
                <a:solidFill>
                  <a:srgbClr val="1B2040"/>
                </a:solidFill>
                <a:latin typeface="Arial"/>
              </a:defRPr>
            </a:pPr>
            <a:r>
              <a:t>• subsystems/:</a:t>
            </a:r>
          </a:p>
          <a:p>
            <a:pPr>
              <a:spcAft>
                <a:spcPts val="600"/>
              </a:spcAft>
              <a:defRPr sz="1400">
                <a:solidFill>
                  <a:srgbClr val="1B2040"/>
                </a:solidFill>
                <a:latin typeface="Arial"/>
              </a:defRPr>
            </a:pPr>
            <a:r>
              <a:t>  Contains SubsystemBase classes encapsulating raw hardware.</a:t>
            </a:r>
          </a:p>
          <a:p>
            <a:pPr>
              <a:spcAft>
                <a:spcPts val="600"/>
              </a:spcAft>
              <a:defRPr sz="1400">
                <a:solidFill>
                  <a:srgbClr val="1B2040"/>
                </a:solidFill>
                <a:latin typeface="Arial"/>
              </a:defRPr>
            </a:pPr>
            <a:r>
              <a:t>• commands/:</a:t>
            </a:r>
          </a:p>
          <a:p>
            <a:pPr>
              <a:spcAft>
                <a:spcPts val="600"/>
              </a:spcAft>
              <a:defRPr sz="1400">
                <a:solidFill>
                  <a:srgbClr val="1B2040"/>
                </a:solidFill>
                <a:latin typeface="Arial"/>
              </a:defRPr>
            </a:pPr>
            <a:r>
              <a:t>  </a:t>
            </a:r>
            <a:r>
              <a:rPr lang="en-US"/>
              <a:t>Contains Command classes that describe robot actions.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73500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Constants.java keeps settings in one place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Selected Constants.java fields</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Hardware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4</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PWM_BELT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5</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 static final int PCM = 0;
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CLIMBER_SOLENOID_FORWARD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CLIMBER_SOLENOID_REVERSE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CLIMBER_ARMS_OUT</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.kForward;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CLIMBER_ARMS_IN</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.kReverse;
</a:t>
            </a:r>
            <a:r>
              <a:rPr lang="en-US" sz="1100">
                <a:solidFill>
                  <a:srgbClr val="FB923C"/>
                </a:solidFill>
                <a:latin typeface="Consolas" panose="020B0609020204030204" pitchFamily="49" charset="0"/>
              </a:rPr>
              <a:t>// Operator</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Tuning</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ROLLER_SPEED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BELT_SPEED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NORMAL_DRIVE_SCALE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0.40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SLOW_DRIVE_SCALE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0.20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DRIVE_DEADBAND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0.08</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DRIVE_SLEW_RATE_LIMIT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0.8</a:t>
            </a:r>
            <a:r>
              <a:rPr lang="en-US" sz="1100">
                <a:solidFill>
                  <a:srgbClr val="F8F5EE"/>
                </a:solidFill>
                <a:latin typeface="Consolas" panose="020B0609020204030204" pitchFamily="49" charset="0"/>
              </a:rPr>
              <a:t>;</a:t>
            </a:r>
            <a:endParaRPr sz="1100">
              <a:solidFill>
                <a:srgbClr val="F8F5EE"/>
              </a:solidFill>
              <a:latin typeface="Consolas" panose="020B06090202040302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84705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RobotContainer connects controls to commands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RobotContainer.java (focused excerpt)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RobotContainer</a:t>
            </a:r>
            <a:r>
              <a:rPr lang="en-US" sz="1100">
                <a:solidFill>
                  <a:srgbClr val="F8F5EE"/>
                </a:solidFill>
                <a:latin typeface="Consolas" panose="020B0609020204030204" pitchFamily="49" charset="0"/>
              </a:rPr>
              <a:t>() {
    driverController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operatorController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driveSubsystem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DriveSubsystem</a:t>
            </a:r>
            <a:r>
              <a:rPr lang="en-US" sz="1100">
                <a:solidFill>
                  <a:srgbClr val="F8F5EE"/>
                </a:solidFill>
                <a:latin typeface="Consolas" panose="020B0609020204030204" pitchFamily="49" charset="0"/>
              </a:rPr>
              <a:t>();
    climberSubsystem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ClimberSubsystem</a:t>
            </a:r>
            <a:r>
              <a:rPr lang="en-US" sz="1100">
                <a:solidFill>
                  <a:srgbClr val="F8F5EE"/>
                </a:solidFill>
                <a:latin typeface="Consolas" panose="020B0609020204030204" pitchFamily="49" charset="0"/>
              </a:rPr>
              <a:t>();
    beltSubsystem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BeltSubsystem</a:t>
            </a:r>
            <a:r>
              <a:rPr lang="en-US" sz="1100">
                <a:solidFill>
                  <a:srgbClr val="F8F5EE"/>
                </a:solidFill>
                <a:latin typeface="Consolas" panose="020B0609020204030204" pitchFamily="49" charset="0"/>
              </a:rPr>
              <a:t>();
    rollerSubsystem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RollerSubsystem</a:t>
            </a:r>
            <a:r>
              <a:rPr lang="en-US" sz="1100">
                <a:solidFill>
                  <a:srgbClr val="F8F5EE"/>
                </a:solidFill>
                <a:latin typeface="Consolas" panose="020B0609020204030204" pitchFamily="49" charset="0"/>
              </a:rPr>
              <a:t>();
    driveSpeedMode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DriveSpeedMode</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configureDefaultCommands</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operatorController.</a:t>
            </a:r>
            <a:r>
              <a:rPr lang="en-US" sz="1100">
                <a:solidFill>
                  <a:srgbClr val="6EE7B7"/>
                </a:solidFill>
                <a:latin typeface="Consolas" panose="020B0609020204030204" pitchFamily="49" charset="0"/>
              </a:rPr>
              <a:t>y</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onTrue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ToggleClimberArmsCommand</a:t>
            </a:r>
            <a:r>
              <a:rPr lang="en-US" sz="1100">
                <a:solidFill>
                  <a:srgbClr val="F8F5EE"/>
                </a:solidFill>
                <a:latin typeface="Consolas" panose="020B0609020204030204" pitchFamily="49" charset="0"/>
              </a:rPr>
              <a:t>(climberSubsystem));
    operatorController.</a:t>
            </a:r>
            <a:r>
              <a:rPr lang="en-US" sz="1100">
                <a:solidFill>
                  <a:srgbClr val="6EE7B7"/>
                </a:solidFill>
                <a:latin typeface="Consolas" panose="020B0609020204030204" pitchFamily="49" charset="0"/>
              </a:rPr>
              <a:t>a</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BeltInCommand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b</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BeltOutCommand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x</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RollerCommand</a:t>
            </a:r>
            <a:r>
              <a:rPr lang="en-US" sz="1100">
                <a:solidFill>
                  <a:srgbClr val="F8F5EE"/>
                </a:solidFill>
                <a:latin typeface="Consolas" panose="020B0609020204030204" pitchFamily="49" charset="0"/>
              </a:rPr>
              <a:t>(rollerSubsystem));
    driverController.</a:t>
            </a:r>
            <a:r>
              <a:rPr lang="en-US" sz="1100">
                <a:solidFill>
                  <a:srgbClr val="6EE7B7"/>
                </a:solidFill>
                <a:latin typeface="Consolas" panose="020B0609020204030204" pitchFamily="49" charset="0"/>
              </a:rPr>
              <a:t>rightBumper</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SlowDriveCommand</a:t>
            </a:r>
            <a:r>
              <a:rPr lang="en-US" sz="1100">
                <a:solidFill>
                  <a:srgbClr val="F8F5EE"/>
                </a:solidFill>
                <a:latin typeface="Consolas" panose="020B0609020204030204" pitchFamily="49" charset="0"/>
              </a:rPr>
              <a:t>(driveSpeedMode));
}</a:t>
            </a:r>
            <a:endParaRPr sz="1100">
              <a:solidFill>
                <a:srgbClr val="F8F5EE"/>
              </a:solidFill>
              <a:latin typeface="Consolas" panose="020B06090202040302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Button A across the Java files</a:t>
            </a: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1. Controller</a:t>
            </a:r>
            <a:br/>
            <a:r>
              <a:t>(Button A)</a:t>
            </a:r>
          </a:p>
        </p:txBody>
      </p:sp>
      <p:sp>
        <p:nvSpPr>
          <p:cNvPr id="5" name="Rounded Rectangle 4"/>
          <p:cNvSpPr/>
          <p:nvPr/>
        </p:nvSpPr>
        <p:spPr>
          <a:xfrm>
            <a:off x="292608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2. Driver Station</a:t>
            </a:r>
            <a:br/>
            <a:r>
              <a:t>(USB Packet)</a:t>
            </a: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3. RobotContainer</a:t>
            </a:r>
            <a:br/>
            <a:r>
              <a:t>(Event Binding)</a:t>
            </a: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4. BeltInCommand</a:t>
            </a:r>
            <a:br>
              <a:rPr/>
            </a:br>
            <a:r>
              <a:t>(</a:t>
            </a:r>
            <a:r>
              <a:rPr lang="en-US"/>
              <a:t>Command methods</a:t>
            </a:r>
            <a:r>
              <a:t>)</a:t>
            </a:r>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5. BeltSubsystem</a:t>
            </a:r>
            <a:br/>
            <a:r>
              <a:t>(PWM 5 Output)</a:t>
            </a: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lang="en-US"/>
              <a:t>Java Execution Path — Pass 3 Checkpoint</a:t>
            </a:r>
            <a:endParaRPr/>
          </a:p>
          <a:p>
            <a:pPr>
              <a:spcAft>
                <a:spcPts val="600"/>
              </a:spcAft>
              <a:defRPr sz="1400">
                <a:solidFill>
                  <a:srgbClr val="1B2040"/>
                </a:solidFill>
                <a:latin typeface="Arial"/>
              </a:defRPr>
            </a:pPr>
            <a:r>
              <a:t>1. RobotContainer.java: operatorController.a().whileTrue(new BeltInCommand(beltSubsystem));</a:t>
            </a:r>
          </a:p>
          <a:p>
            <a:pPr>
              <a:spcAft>
                <a:spcPts val="600"/>
              </a:spcAft>
              <a:defRPr sz="1400">
                <a:solidFill>
                  <a:srgbClr val="1B2040"/>
                </a:solidFill>
                <a:latin typeface="Arial"/>
              </a:defRPr>
            </a:pPr>
            <a:r>
              <a:t>2. </a:t>
            </a:r>
            <a:r>
              <a:rPr lang="en-US"/>
              <a:t>WPILib CommandScheduler: Evaluates the Button A trigger during the 20ms scheduler pass.</a:t>
            </a:r>
            <a:endParaRPr/>
          </a:p>
          <a:p>
            <a:pPr>
              <a:spcAft>
                <a:spcPts val="600"/>
              </a:spcAft>
              <a:defRPr sz="1400">
                <a:solidFill>
                  <a:srgbClr val="1B2040"/>
                </a:solidFill>
                <a:latin typeface="Arial"/>
              </a:defRPr>
            </a:pPr>
            <a:r>
              <a:t>3. BeltInCommand.java: Constructor executes addRequirements(beltSubsystem); execute() runs every 20ms.</a:t>
            </a:r>
          </a:p>
          <a:p>
            <a:pPr>
              <a:spcAft>
                <a:spcPts val="600"/>
              </a:spcAft>
              <a:defRPr sz="1400">
                <a:solidFill>
                  <a:srgbClr val="1B2040"/>
                </a:solidFill>
                <a:latin typeface="Arial"/>
              </a:defRPr>
            </a:pPr>
            <a:r>
              <a:t>4. BeltSubsystem.java: run(Constants.Tuning.BELT_SPEED) executes beltMotor.set(1.0);</a:t>
            </a:r>
          </a:p>
          <a:p>
            <a:pPr>
              <a:spcAft>
                <a:spcPts val="600"/>
              </a:spcAft>
              <a:defRPr sz="1400">
                <a:solidFill>
                  <a:srgbClr val="1B2040"/>
                </a:solidFill>
                <a:latin typeface="Arial"/>
              </a:defRPr>
            </a:pPr>
            <a:r>
              <a:t>5. Constants.java: Hardware.PWM_BELT = 5 and Tuning.BELT_SPEED = 1.0 supply static channel &amp; speed parameters.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Classroom Debugging Challenges</a:t>
            </a:r>
          </a:p>
        </p:txBody>
      </p:sp>
      <p:sp>
        <p:nvSpPr>
          <p:cNvPr id="4" name="Rounded Rectangle 3"/>
          <p:cNvSpPr/>
          <p:nvPr/>
        </p:nvSpPr>
        <p:spPr>
          <a:xfrm>
            <a:off x="7315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1: Missing addRequirements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 addRequirements(belt); OMITTED!</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operator presses Button A and Button B simultaneously?</a:t>
            </a:r>
          </a:p>
        </p:txBody>
      </p:sp>
      <p:sp>
        <p:nvSpPr>
          <p:cNvPr id="5" name="Rounded Rectangle 4"/>
          <p:cNvSpPr/>
          <p:nvPr/>
        </p:nvSpPr>
        <p:spPr>
          <a:xfrm>
            <a:off x="43891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2: Empty end() Method</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 Left empty!</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When the operator releases Button A, what happens to the physical belt motor?</a:t>
            </a:r>
          </a:p>
        </p:txBody>
      </p:sp>
      <p:sp>
        <p:nvSpPr>
          <p:cNvPr id="6" name="Rounded Rectangle 5"/>
          <p:cNvSpPr/>
          <p:nvPr/>
        </p:nvSpPr>
        <p:spPr>
          <a:xfrm>
            <a:off x="80467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3: Duplicate USB Slots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0;</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robot is enabled on the field?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Solutions &amp; Exact Code Fixes</a:t>
            </a:r>
          </a:p>
        </p:txBody>
      </p:sp>
      <p:sp>
        <p:nvSpPr>
          <p:cNvPr id="4" name="Rounded Rectangle 3"/>
          <p:cNvSpPr/>
          <p:nvPr/>
        </p:nvSpPr>
        <p:spPr>
          <a:xfrm>
            <a:off x="7315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1: Add addRequirements</a:t>
            </a:r>
          </a:p>
          <a:p>
            <a:pPr>
              <a:spcAft>
                <a:spcPts val="600"/>
              </a:spcAft>
              <a:defRPr sz="1400">
                <a:solidFill>
                  <a:srgbClr val="1B2040"/>
                </a:solidFill>
                <a:latin typeface="Arial"/>
              </a:defRPr>
            </a:pPr>
            <a:r>
              <a:t>Symptom: Last write wins, causing unsafe motor fighting.</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addRequirements(belt); // Solved!</a:t>
            </a:r>
          </a:p>
          <a:p>
            <a:pPr>
              <a:spcAft>
                <a:spcPts val="600"/>
              </a:spcAft>
              <a:defRPr sz="1400">
                <a:solidFill>
                  <a:srgbClr val="1B2040"/>
                </a:solidFill>
                <a:latin typeface="Arial"/>
              </a:defRPr>
            </a:pPr>
            <a:r>
              <a:t>}</a:t>
            </a:r>
          </a:p>
        </p:txBody>
      </p:sp>
      <p:sp>
        <p:nvSpPr>
          <p:cNvPr id="5" name="Rounded Rectangle 4"/>
          <p:cNvSpPr/>
          <p:nvPr/>
        </p:nvSpPr>
        <p:spPr>
          <a:xfrm>
            <a:off x="43891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2: Call stop() in end()</a:t>
            </a:r>
          </a:p>
          <a:p>
            <a:pPr>
              <a:spcAft>
                <a:spcPts val="600"/>
              </a:spcAft>
              <a:defRPr sz="1400">
                <a:solidFill>
                  <a:srgbClr val="1B2040"/>
                </a:solidFill>
                <a:latin typeface="Arial"/>
              </a:defRPr>
            </a:pPr>
            <a:r>
              <a:t>Symptom: </a:t>
            </a:r>
            <a:r>
              <a:rPr lang="en-US"/>
              <a:t>Motor keeps its last output after release until code writes a new value or the robot is disabled.</a:t>
            </a:r>
            <a:endParaRP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beltSubsystem.stop(); // Solved!</a:t>
            </a:r>
          </a:p>
          <a:p>
            <a:pPr>
              <a:spcAft>
                <a:spcPts val="600"/>
              </a:spcAft>
              <a:defRPr sz="1400">
                <a:solidFill>
                  <a:srgbClr val="1B2040"/>
                </a:solidFill>
                <a:latin typeface="Arial"/>
              </a:defRPr>
            </a:pPr>
            <a:r>
              <a:t>}</a:t>
            </a:r>
          </a:p>
        </p:txBody>
      </p:sp>
      <p:sp>
        <p:nvSpPr>
          <p:cNvPr id="6" name="Rounded Rectangle 5"/>
          <p:cNvSpPr/>
          <p:nvPr/>
        </p:nvSpPr>
        <p:spPr>
          <a:xfrm>
            <a:off x="80467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3: Assign Unique USB Ports</a:t>
            </a:r>
          </a:p>
          <a:p>
            <a:pPr>
              <a:spcAft>
                <a:spcPts val="600"/>
              </a:spcAft>
              <a:defRPr sz="1400">
                <a:solidFill>
                  <a:srgbClr val="1B2040"/>
                </a:solidFill>
                <a:latin typeface="Arial"/>
              </a:defRPr>
            </a:pPr>
            <a:r>
              <a:t>Symptom: Driver &amp; Operator controls clash on USB Slot 0.</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1; // Solved!</a:t>
            </a:r>
          </a:p>
          <a:p>
            <a:pPr>
              <a:spcAft>
                <a:spcPts val="600"/>
              </a:spcAft>
              <a:defRPr sz="1400">
                <a:solidFill>
                  <a:srgbClr val="1B2040"/>
                </a:solidFill>
                <a:latin typeface="Arial"/>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TotalTime>
  <Words>7403</Words>
  <Application>Microsoft Office PowerPoint</Application>
  <PresentationFormat>Widescreen</PresentationFormat>
  <Paragraphs>476</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DAVID MONACHELLO</dc:creator>
  <cp:keywords/>
  <dc:description>generated using python-pptx</dc:description>
  <cp:lastModifiedBy>DAVID MONACHELLO</cp:lastModifiedBy>
  <cp:revision>18</cp:revision>
  <dcterms:created xsi:type="dcterms:W3CDTF">2013-01-27T09:14:16Z</dcterms:created>
  <dcterms:modified xsi:type="dcterms:W3CDTF">2026-10-08T06:08:31Z</dcterms:modified>
  <cp:category/>
</cp:coreProperties>
</file>