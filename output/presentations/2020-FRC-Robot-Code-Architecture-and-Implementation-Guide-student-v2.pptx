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1" r:id="rId4"/>
    <p:sldId id="262" r:id="rId5"/>
    <p:sldId id="263" r:id="rId6"/>
    <p:sldId id="264" r:id="rId7"/>
    <p:sldId id="266" r:id="rId8"/>
    <p:sldId id="288" r:id="rId9"/>
    <p:sldId id="260" r:id="rId10"/>
    <p:sldId id="265" r:id="rId11"/>
    <p:sldId id="270" r:id="rId12"/>
    <p:sldId id="271" r:id="rId13"/>
    <p:sldId id="272" r:id="rId14"/>
    <p:sldId id="273" r:id="rId15"/>
    <p:sldId id="274" r:id="rId16"/>
    <p:sldId id="275" r:id="rId17"/>
    <p:sldId id="277" r:id="rId18"/>
    <p:sldId id="278" r:id="rId19"/>
    <p:sldId id="279" r:id="rId20"/>
    <p:sldId id="280" r:id="rId21"/>
    <p:sldId id="281" r:id="rId22"/>
    <p:sldId id="282" r:id="rId23"/>
    <p:sldId id="284" r:id="rId24"/>
    <p:sldId id="28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5" d="100"/>
          <a:sy n="95" d="100"/>
        </p:scale>
        <p:origin x="13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362895" cy="2487861"/>
          </a:xfrm>
          <a:prstGeom prst="rect">
            <a:avLst/>
          </a:prstGeom>
          <a:noFill/>
        </p:spPr>
        <p:txBody>
          <a:bodyPr wrap="square">
            <a:spAutoFit/>
          </a:bodyPr>
          <a:lstStyle/>
          <a:p>
            <a:pPr>
              <a:spcAft>
                <a:spcPts val="1400"/>
              </a:spcAft>
              <a:defRPr sz="3600" b="1">
                <a:solidFill>
                  <a:srgbClr val="1E293B"/>
                </a:solidFill>
                <a:latin typeface="Georgia"/>
              </a:defRPr>
            </a:pPr>
            <a:r>
              <a:rPr lang="en-US"/>
              <a:t>2020 FRC Robot Code Architecture &amp; Implementation Guide
From Direct Hardware Control to Command-Based Java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Robot Mechanisms and Hardware Channels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E293B"/>
                </a:solidFill>
                <a:latin typeface="Arial"/>
              </a:defRPr>
            </a:pPr>
            <a:r>
              <a:rPr lang="en-US"/>
              <a:t>4-Motor Drivetrain
Differential Tank Drive
4x PWM Talon SRX Motor Controllers
PWM Ports 0, 1 (Left) &amp; 2, 3 (Right)
Left side motors inverted in code</a:t>
            </a:r>
            <a:endParaRPr/>
          </a:p>
        </p:txBody>
      </p:sp>
      <p:sp>
        <p:nvSpPr>
          <p:cNvPr id="6" name="Rounded Rectangle 5"/>
          <p:cNvSpPr/>
          <p:nvPr/>
        </p:nvSpPr>
        <p:spPr>
          <a:xfrm>
            <a:off x="6126480" y="164592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E293B"/>
                </a:solidFill>
                <a:latin typeface="Arial"/>
              </a:defRPr>
            </a:pPr>
            <a:r>
              <a:t>Ball Transport Belt</a:t>
            </a:r>
          </a:p>
          <a:p>
            <a:pPr>
              <a:spcAft>
                <a:spcPts val="600"/>
              </a:spcAft>
              <a:defRPr sz="1200" b="1">
                <a:solidFill>
                  <a:srgbClr val="0284C7"/>
                </a:solidFill>
                <a:latin typeface="Arial"/>
              </a:defRPr>
            </a:pPr>
            <a:r>
              <a:t>Internal Indexing Mechanism</a:t>
            </a:r>
          </a:p>
          <a:p>
            <a:pPr>
              <a:defRPr sz="1200">
                <a:solidFill>
                  <a:srgbClr val="64748B"/>
                </a:solidFill>
                <a:latin typeface="Arial"/>
              </a:defRPr>
            </a:pPr>
            <a:r>
              <a:t>1x PWM Talon SRX Motor Controller</a:t>
            </a:r>
            <a:br/>
            <a:r>
              <a:t>PWM Port 5</a:t>
            </a:r>
            <a:br/>
            <a:r>
              <a:t>Transports power cells upward to outtake</a:t>
            </a:r>
          </a:p>
        </p:txBody>
      </p:sp>
      <p:sp>
        <p:nvSpPr>
          <p:cNvPr id="7" name="Rounded Rectangle 6"/>
          <p:cNvSpPr/>
          <p:nvPr/>
        </p:nvSpPr>
        <p:spPr>
          <a:xfrm>
            <a:off x="731520" y="402336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E293B"/>
                </a:solidFill>
                <a:latin typeface="Arial"/>
              </a:defRPr>
            </a:pPr>
            <a:r>
              <a:t>Scoring Roller</a:t>
            </a:r>
          </a:p>
          <a:p>
            <a:pPr>
              <a:spcAft>
                <a:spcPts val="600"/>
              </a:spcAft>
              <a:defRPr sz="1200" b="1">
                <a:solidFill>
                  <a:srgbClr val="0284C7"/>
                </a:solidFill>
                <a:latin typeface="Arial"/>
              </a:defRPr>
            </a:pPr>
            <a:r>
              <a:t>High-Speed Outtake Mechanism</a:t>
            </a:r>
          </a:p>
          <a:p>
            <a:pPr>
              <a:defRPr sz="1200">
                <a:solidFill>
                  <a:srgbClr val="64748B"/>
                </a:solidFill>
                <a:latin typeface="Arial"/>
              </a:defRPr>
            </a:pPr>
            <a:r>
              <a:t>1x PWM Talon SRX Motor Controller</a:t>
            </a:r>
            <a:br/>
            <a:r>
              <a:t>PWM Port 4</a:t>
            </a:r>
            <a:br/>
            <a:r>
              <a:t>Ejects power cells into high/low goal</a:t>
            </a:r>
          </a:p>
        </p:txBody>
      </p:sp>
      <p:sp>
        <p:nvSpPr>
          <p:cNvPr id="8" name="Rounded Rectangle 7"/>
          <p:cNvSpPr/>
          <p:nvPr/>
        </p:nvSpPr>
        <p:spPr>
          <a:xfrm>
            <a:off x="6126480" y="402336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E293B"/>
                </a:solidFill>
                <a:latin typeface="Arial"/>
              </a:defRPr>
            </a:pPr>
            <a:r>
              <a:t>Pneumatic Climber</a:t>
            </a:r>
          </a:p>
          <a:p>
            <a:pPr>
              <a:spcAft>
                <a:spcPts val="600"/>
              </a:spcAft>
              <a:defRPr sz="1200" b="1">
                <a:solidFill>
                  <a:srgbClr val="0284C7"/>
                </a:solidFill>
                <a:latin typeface="Arial"/>
              </a:defRPr>
            </a:pPr>
            <a:r>
              <a:t>Dual-Cylinder Endgame Lift</a:t>
            </a:r>
          </a:p>
          <a:p>
            <a:pPr>
              <a:defRPr sz="1200">
                <a:solidFill>
                  <a:srgbClr val="64748B"/>
                </a:solidFill>
                <a:latin typeface="Arial"/>
              </a:defRPr>
            </a:pPr>
            <a:r>
              <a:t>CTRE Pneumatics Control Module (PCM ID 0)</a:t>
            </a:r>
            <a:br/>
            <a:r>
              <a:t>Double Solenoids 0/1 (Left) &amp; 2/3 (Right)</a:t>
            </a:r>
            <a:br/>
            <a:r>
              <a:t>Pneumatic pressure extends/retracts arms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Running the Belt Motor</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rtlCol="0" anchor="ctr"/>
          <a:lstStyle/>
          <a:p>
            <a:pPr>
              <a:defRPr sz="1300">
                <a:solidFill>
                  <a:srgbClr val="F8FAFC"/>
                </a:solidFill>
                <a:latin typeface="Courier New"/>
              </a:defRPr>
            </a:pPr>
            <a:r>
              <a:rPr dirty="0"/>
              <a:t>package </a:t>
            </a:r>
            <a:r>
              <a:rPr dirty="0" err="1"/>
              <a:t>frc.robot</a:t>
            </a:r>
            <a:r>
              <a:rPr dirty="0"/>
              <a:t>;</a:t>
            </a:r>
            <a:br>
              <a:rPr dirty="0"/>
            </a:br>
            <a:br>
              <a:rPr dirty="0"/>
            </a:br>
            <a:r>
              <a:rPr dirty="0"/>
              <a:t>import </a:t>
            </a:r>
            <a:r>
              <a:rPr dirty="0" err="1"/>
              <a:t>edu.wpi.first.wpilibj.TimedRobot</a:t>
            </a:r>
            <a:r>
              <a:rPr dirty="0"/>
              <a:t>;</a:t>
            </a:r>
            <a:br>
              <a:rPr dirty="0"/>
            </a:br>
            <a:r>
              <a:rPr dirty="0"/>
              <a:t>import </a:t>
            </a:r>
            <a:r>
              <a:rPr dirty="0" err="1"/>
              <a:t>edu.wpi.first.wpilibj.motorcontrol.Talon</a:t>
            </a:r>
            <a:r>
              <a:rPr dirty="0"/>
              <a:t>;</a:t>
            </a:r>
            <a:br>
              <a:rPr dirty="0"/>
            </a:br>
            <a:br>
              <a:rPr dirty="0"/>
            </a:br>
            <a:r>
              <a:rPr dirty="0"/>
              <a:t>/**</a:t>
            </a:r>
            <a:br>
              <a:rPr dirty="0"/>
            </a:br>
            <a:r>
              <a:rPr dirty="0"/>
              <a:t> * NAME: Robot - runs the belt motor directly.</a:t>
            </a:r>
            <a:br>
              <a:rPr dirty="0"/>
            </a:br>
            <a:r>
              <a:rPr dirty="0"/>
              <a:t> * DESCRIPTION: Enabling </a:t>
            </a:r>
            <a:r>
              <a:rPr dirty="0" err="1"/>
              <a:t>teleop</a:t>
            </a:r>
            <a:r>
              <a:rPr dirty="0"/>
              <a:t> runs the belt at 25% output.</a:t>
            </a:r>
            <a:br>
              <a:rPr dirty="0"/>
            </a:br>
            <a:r>
              <a:rPr dirty="0"/>
              <a:t> *              Disabling the robot stops the PWM output.</a:t>
            </a:r>
            <a:br>
              <a:rPr dirty="0"/>
            </a:br>
            <a:r>
              <a:rPr dirty="0"/>
              <a:t> */</a:t>
            </a:r>
            <a:br>
              <a:rPr dirty="0"/>
            </a:br>
            <a:r>
              <a:rPr dirty="0"/>
              <a:t>public class Robot extends </a:t>
            </a:r>
            <a:r>
              <a:rPr dirty="0" err="1"/>
              <a:t>TimedRobot</a:t>
            </a:r>
            <a:r>
              <a:rPr dirty="0"/>
              <a:t> {</a:t>
            </a:r>
            <a:br>
              <a:rPr dirty="0"/>
            </a:br>
            <a:r>
              <a:rPr dirty="0"/>
              <a:t>    private final Talon </a:t>
            </a:r>
            <a:r>
              <a:rPr dirty="0" err="1"/>
              <a:t>beltMotor</a:t>
            </a:r>
            <a:r>
              <a:rPr dirty="0"/>
              <a:t> = new Talon(5);</a:t>
            </a:r>
            <a:br>
              <a:rPr dirty="0"/>
            </a:br>
            <a:br>
              <a:rPr dirty="0"/>
            </a:br>
            <a:r>
              <a:rPr dirty="0"/>
              <a:t>    @Override</a:t>
            </a:r>
            <a:br>
              <a:rPr dirty="0"/>
            </a:br>
            <a:r>
              <a:rPr dirty="0"/>
              <a:t>    public void </a:t>
            </a:r>
            <a:r>
              <a:rPr dirty="0" err="1"/>
              <a:t>teleopPeriodic</a:t>
            </a:r>
            <a:r>
              <a:rPr dirty="0"/>
              <a:t>() {</a:t>
            </a:r>
            <a:br>
              <a:rPr dirty="0"/>
            </a:br>
            <a:r>
              <a:rPr dirty="0"/>
              <a:t>        </a:t>
            </a:r>
            <a:r>
              <a:rPr dirty="0" err="1"/>
              <a:t>beltMotor.set</a:t>
            </a:r>
            <a:r>
              <a:rPr dirty="0"/>
              <a:t>(0.25); // Runs belt continuously while </a:t>
            </a:r>
            <a:r>
              <a:rPr dirty="0" err="1"/>
              <a:t>teleop</a:t>
            </a:r>
            <a:r>
              <a:rPr dirty="0"/>
              <a:t> is enabled</a:t>
            </a:r>
            <a:br>
              <a:rPr dirty="0"/>
            </a:br>
            <a:r>
              <a:rPr dirty="0"/>
              <a:t>    }</a:t>
            </a:r>
            <a:br>
              <a:rPr dirty="0"/>
            </a:b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Running the Scoring Roller</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rtlCol="0" anchor="ctr"/>
          <a:lstStyle/>
          <a:p>
            <a:pPr>
              <a:defRPr sz="1300">
                <a:solidFill>
                  <a:srgbClr val="F8FAFC"/>
                </a:solidFill>
                <a:latin typeface="Courier New"/>
              </a:defRPr>
            </a:pPr>
            <a:r>
              <a:rPr dirty="0"/>
              <a:t>package </a:t>
            </a:r>
            <a:r>
              <a:rPr dirty="0" err="1"/>
              <a:t>frc.robot</a:t>
            </a:r>
            <a:r>
              <a:rPr dirty="0"/>
              <a:t>;</a:t>
            </a:r>
            <a:br>
              <a:rPr dirty="0"/>
            </a:br>
            <a:br>
              <a:rPr dirty="0"/>
            </a:br>
            <a:r>
              <a:rPr dirty="0"/>
              <a:t>import </a:t>
            </a:r>
            <a:r>
              <a:rPr dirty="0" err="1"/>
              <a:t>edu.wpi.first.wpilibj.TimedRobot</a:t>
            </a:r>
            <a:r>
              <a:rPr dirty="0"/>
              <a:t>;</a:t>
            </a:r>
            <a:br>
              <a:rPr dirty="0"/>
            </a:br>
            <a:r>
              <a:rPr dirty="0"/>
              <a:t>import </a:t>
            </a:r>
            <a:r>
              <a:rPr dirty="0" err="1"/>
              <a:t>edu.wpi.first.wpilibj.motorcontrol.Talon</a:t>
            </a:r>
            <a:r>
              <a:rPr dirty="0"/>
              <a:t>;</a:t>
            </a:r>
            <a:br>
              <a:rPr dirty="0"/>
            </a:br>
            <a:br>
              <a:rPr dirty="0"/>
            </a:br>
            <a:r>
              <a:rPr dirty="0"/>
              <a:t>/**</a:t>
            </a:r>
            <a:br>
              <a:rPr dirty="0"/>
            </a:br>
            <a:r>
              <a:rPr dirty="0"/>
              <a:t> * NAME: Robot - runs the roller motor directly.</a:t>
            </a:r>
            <a:br>
              <a:rPr dirty="0"/>
            </a:br>
            <a:r>
              <a:rPr dirty="0"/>
              <a:t> * DESCRIPTION: Enabling </a:t>
            </a:r>
            <a:r>
              <a:rPr dirty="0" err="1"/>
              <a:t>teleop</a:t>
            </a:r>
            <a:r>
              <a:rPr dirty="0"/>
              <a:t> runs the roller at 25% output.</a:t>
            </a:r>
            <a:br>
              <a:rPr dirty="0"/>
            </a:br>
            <a:r>
              <a:rPr dirty="0"/>
              <a:t> *              Disabling the robot stops the PWM output.</a:t>
            </a:r>
            <a:br>
              <a:rPr dirty="0"/>
            </a:br>
            <a:r>
              <a:rPr dirty="0"/>
              <a:t> */</a:t>
            </a:r>
            <a:br>
              <a:rPr dirty="0"/>
            </a:br>
            <a:r>
              <a:rPr dirty="0"/>
              <a:t>public class Robot extends </a:t>
            </a:r>
            <a:r>
              <a:rPr dirty="0" err="1"/>
              <a:t>TimedRobot</a:t>
            </a:r>
            <a:r>
              <a:rPr dirty="0"/>
              <a:t> {</a:t>
            </a:r>
            <a:br>
              <a:rPr dirty="0"/>
            </a:br>
            <a:r>
              <a:rPr dirty="0"/>
              <a:t>    private final Talon </a:t>
            </a:r>
            <a:r>
              <a:rPr dirty="0" err="1"/>
              <a:t>rollerMotor</a:t>
            </a:r>
            <a:r>
              <a:rPr dirty="0"/>
              <a:t> = new Talon(4);</a:t>
            </a:r>
            <a:br>
              <a:rPr dirty="0"/>
            </a:br>
            <a:br>
              <a:rPr dirty="0"/>
            </a:br>
            <a:r>
              <a:rPr dirty="0"/>
              <a:t>    @Override</a:t>
            </a:r>
            <a:br>
              <a:rPr dirty="0"/>
            </a:br>
            <a:r>
              <a:rPr dirty="0"/>
              <a:t>    public void </a:t>
            </a:r>
            <a:r>
              <a:rPr dirty="0" err="1"/>
              <a:t>teleopPeriodic</a:t>
            </a:r>
            <a:r>
              <a:rPr dirty="0"/>
              <a:t>() {</a:t>
            </a:r>
            <a:br>
              <a:rPr dirty="0"/>
            </a:br>
            <a:r>
              <a:rPr dirty="0"/>
              <a:t>        </a:t>
            </a:r>
            <a:r>
              <a:rPr dirty="0" err="1"/>
              <a:t>rollerMotor.set</a:t>
            </a:r>
            <a:r>
              <a:rPr dirty="0"/>
              <a:t>(0.25); // Runs outtake roller continuously while </a:t>
            </a:r>
            <a:r>
              <a:rPr dirty="0" err="1"/>
              <a:t>teleop</a:t>
            </a:r>
            <a:r>
              <a:rPr dirty="0"/>
              <a:t> is enabled</a:t>
            </a:r>
            <a:br>
              <a:rPr dirty="0"/>
            </a:br>
            <a:r>
              <a:rPr dirty="0"/>
              <a:t>    }</a:t>
            </a:r>
            <a:br>
              <a:rPr dirty="0"/>
            </a:br>
            <a:r>
              <a:rPr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Extending the Climber Arms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rtlCol="0" anchor="ctr"/>
          <a:lstStyle/>
          <a:p>
            <a:pPr>
              <a:defRPr sz="1200">
                <a:solidFill>
                  <a:srgbClr val="F8FAFC"/>
                </a:solidFill>
                <a:latin typeface="Courier New"/>
              </a:defRPr>
            </a:pPr>
            <a:r>
              <a:rPr dirty="0"/>
              <a:t>package </a:t>
            </a:r>
            <a:r>
              <a:rPr dirty="0" err="1"/>
              <a:t>frc.robot</a:t>
            </a:r>
            <a:r>
              <a:rPr dirty="0"/>
              <a:t>;</a:t>
            </a:r>
            <a:br>
              <a:rPr dirty="0"/>
            </a:br>
            <a:br>
              <a:rPr dirty="0"/>
            </a:br>
            <a:r>
              <a:rPr dirty="0"/>
              <a:t>import </a:t>
            </a:r>
            <a:r>
              <a:rPr dirty="0" err="1"/>
              <a:t>edu.wpi.first.wpilibj.DoubleSolenoid</a:t>
            </a:r>
            <a:r>
              <a:rPr dirty="0"/>
              <a:t>;</a:t>
            </a:r>
            <a:br>
              <a:rPr dirty="0"/>
            </a:br>
            <a:r>
              <a:rPr dirty="0"/>
              <a:t>import </a:t>
            </a:r>
            <a:r>
              <a:rPr dirty="0" err="1"/>
              <a:t>edu.wpi.first.wpilibj.PneumaticsModuleType</a:t>
            </a:r>
            <a:r>
              <a:rPr dirty="0"/>
              <a:t>;</a:t>
            </a:r>
            <a:br>
              <a:rPr dirty="0"/>
            </a:br>
            <a:r>
              <a:rPr dirty="0"/>
              <a:t>import </a:t>
            </a:r>
            <a:r>
              <a:rPr dirty="0" err="1"/>
              <a:t>edu.wpi.first.wpilibj.TimedRobot</a:t>
            </a:r>
            <a:r>
              <a:rPr dirty="0"/>
              <a:t>;</a:t>
            </a:r>
            <a:br>
              <a:rPr dirty="0"/>
            </a:br>
            <a:br>
              <a:rPr dirty="0"/>
            </a:br>
            <a:r>
              <a:rPr dirty="0"/>
              <a:t>/**</a:t>
            </a:r>
            <a:br>
              <a:rPr dirty="0"/>
            </a:br>
            <a:r>
              <a:rPr dirty="0"/>
              <a:t> * NAME: Robot - extends both climber arms directly.</a:t>
            </a:r>
            <a:br>
              <a:rPr dirty="0"/>
            </a:br>
            <a:r>
              <a:rPr dirty="0"/>
              <a:t> * DESCRIPTION: Enabling </a:t>
            </a:r>
            <a:r>
              <a:rPr dirty="0" err="1"/>
              <a:t>teleop</a:t>
            </a:r>
            <a:r>
              <a:rPr dirty="0"/>
              <a:t> commands both climber solenoids forward.</a:t>
            </a:r>
            <a:br>
              <a:rPr dirty="0"/>
            </a:br>
            <a:r>
              <a:rPr dirty="0"/>
              <a:t> *              Disabling removes electrical command (does not guarantee physical retraction).</a:t>
            </a:r>
            <a:br>
              <a:rPr dirty="0"/>
            </a:br>
            <a:r>
              <a:rPr dirty="0"/>
              <a:t> *              To make climber retract, change </a:t>
            </a:r>
            <a:r>
              <a:rPr dirty="0" err="1"/>
              <a:t>kForward</a:t>
            </a:r>
            <a:r>
              <a:rPr dirty="0"/>
              <a:t> to </a:t>
            </a:r>
            <a:r>
              <a:rPr dirty="0" err="1"/>
              <a:t>kReverse</a:t>
            </a:r>
            <a:r>
              <a:rPr dirty="0"/>
              <a:t>.</a:t>
            </a:r>
            <a:br>
              <a:rPr dirty="0"/>
            </a:br>
            <a:r>
              <a:rPr dirty="0"/>
              <a:t> */</a:t>
            </a:r>
            <a:br>
              <a:rPr dirty="0"/>
            </a:br>
            <a:r>
              <a:rPr dirty="0"/>
              <a:t>public class Robot extends </a:t>
            </a:r>
            <a:r>
              <a:rPr dirty="0" err="1"/>
              <a:t>TimedRobot</a:t>
            </a:r>
            <a:r>
              <a:rPr dirty="0"/>
              <a:t> {</a:t>
            </a:r>
            <a:br>
              <a:rPr dirty="0"/>
            </a:br>
            <a:r>
              <a:rPr dirty="0"/>
              <a:t>    private final </a:t>
            </a:r>
            <a:r>
              <a:rPr dirty="0" err="1"/>
              <a:t>DoubleSolenoid</a:t>
            </a:r>
            <a:r>
              <a:rPr dirty="0"/>
              <a:t> </a:t>
            </a:r>
            <a:r>
              <a:rPr dirty="0" err="1"/>
              <a:t>leftClimber</a:t>
            </a:r>
            <a:r>
              <a:rPr dirty="0"/>
              <a:t> = new </a:t>
            </a:r>
            <a:r>
              <a:rPr dirty="0" err="1"/>
              <a:t>DoubleSolenoid</a:t>
            </a:r>
            <a:r>
              <a:rPr dirty="0"/>
              <a:t>(0, </a:t>
            </a:r>
            <a:r>
              <a:rPr dirty="0" err="1"/>
              <a:t>PneumaticsModuleType.CTREPCM</a:t>
            </a:r>
            <a:r>
              <a:rPr dirty="0"/>
              <a:t>, 0, 1);</a:t>
            </a:r>
            <a:br>
              <a:rPr dirty="0"/>
            </a:br>
            <a:r>
              <a:rPr dirty="0"/>
              <a:t>    private final </a:t>
            </a:r>
            <a:r>
              <a:rPr dirty="0" err="1"/>
              <a:t>DoubleSolenoid</a:t>
            </a:r>
            <a:r>
              <a:rPr dirty="0"/>
              <a:t> </a:t>
            </a:r>
            <a:r>
              <a:rPr dirty="0" err="1"/>
              <a:t>rightClimber</a:t>
            </a:r>
            <a:r>
              <a:rPr dirty="0"/>
              <a:t> = new </a:t>
            </a:r>
            <a:r>
              <a:rPr dirty="0" err="1"/>
              <a:t>DoubleSolenoid</a:t>
            </a:r>
            <a:r>
              <a:rPr dirty="0"/>
              <a:t>(0, </a:t>
            </a:r>
            <a:r>
              <a:rPr dirty="0" err="1"/>
              <a:t>PneumaticsModuleType.CTREPCM</a:t>
            </a:r>
            <a:r>
              <a:rPr dirty="0"/>
              <a:t>, 2, 3);</a:t>
            </a:r>
            <a:br>
              <a:rPr dirty="0"/>
            </a:br>
            <a:br>
              <a:rPr dirty="0"/>
            </a:br>
            <a:r>
              <a:rPr dirty="0"/>
              <a:t>    @Override</a:t>
            </a:r>
            <a:br>
              <a:rPr dirty="0"/>
            </a:br>
            <a:r>
              <a:rPr dirty="0"/>
              <a:t>    public void </a:t>
            </a:r>
            <a:r>
              <a:rPr dirty="0" err="1"/>
              <a:t>teleopPeriodic</a:t>
            </a:r>
            <a:r>
              <a:rPr dirty="0"/>
              <a:t>() {</a:t>
            </a:r>
            <a:br>
              <a:rPr dirty="0"/>
            </a:br>
            <a:r>
              <a:rPr dirty="0"/>
              <a:t>        </a:t>
            </a:r>
            <a:r>
              <a:rPr dirty="0" err="1"/>
              <a:t>leftClimber.set</a:t>
            </a:r>
            <a:r>
              <a:rPr dirty="0"/>
              <a:t>(</a:t>
            </a:r>
            <a:r>
              <a:rPr dirty="0" err="1"/>
              <a:t>DoubleSolenoid.Value.kForward</a:t>
            </a:r>
            <a:r>
              <a:rPr dirty="0"/>
              <a:t>);</a:t>
            </a:r>
            <a:br>
              <a:rPr dirty="0"/>
            </a:br>
            <a:r>
              <a:rPr dirty="0"/>
              <a:t>        </a:t>
            </a:r>
            <a:r>
              <a:rPr dirty="0" err="1"/>
              <a:t>rightClimber.set</a:t>
            </a:r>
            <a:r>
              <a:rPr dirty="0"/>
              <a:t>(</a:t>
            </a:r>
            <a:r>
              <a:rPr dirty="0" err="1"/>
              <a:t>DoubleSolenoid.Value.kForward</a:t>
            </a:r>
            <a:r>
              <a:rPr dirty="0"/>
              <a:t>);</a:t>
            </a:r>
            <a:br>
              <a:rPr dirty="0"/>
            </a:br>
            <a:r>
              <a:rPr dirty="0"/>
              <a:t>    }</a:t>
            </a:r>
            <a:br>
              <a:rPr dirty="0"/>
            </a:b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Running the Drivetrain</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01344" y="5572816"/>
            <a:ext cx="10728655" cy="731520"/>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EF4444"/>
                </a:solidFill>
                <a:latin typeface="Arial"/>
              </a:defRPr>
            </a:pPr>
            <a:r>
              <a:rPr dirty="0"/>
              <a:t>⚠️ SAFETY WARNING: Place the robot securely on blocks off the floor before enabling this demo!</a:t>
            </a:r>
          </a:p>
        </p:txBody>
      </p:sp>
      <p:sp>
        <p:nvSpPr>
          <p:cNvPr id="6" name="Rectangle 5"/>
          <p:cNvSpPr/>
          <p:nvPr/>
        </p:nvSpPr>
        <p:spPr>
          <a:xfrm>
            <a:off x="701345" y="1417320"/>
            <a:ext cx="10728655" cy="402336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rtlCol="0" anchor="ctr"/>
          <a:lstStyle/>
          <a:p>
            <a:pPr>
              <a:defRPr sz="1200">
                <a:solidFill>
                  <a:srgbClr val="F8FAFC"/>
                </a:solidFill>
                <a:latin typeface="Courier New"/>
              </a:defRPr>
            </a:pPr>
            <a:r>
              <a:rPr dirty="0"/>
              <a:t>package </a:t>
            </a:r>
            <a:r>
              <a:rPr dirty="0" err="1"/>
              <a:t>frc.robot</a:t>
            </a:r>
            <a:r>
              <a:rPr dirty="0"/>
              <a:t>;</a:t>
            </a:r>
            <a:br>
              <a:rPr dirty="0"/>
            </a:br>
            <a:br>
              <a:rPr dirty="0"/>
            </a:br>
            <a:r>
              <a:rPr dirty="0"/>
              <a:t>import </a:t>
            </a:r>
            <a:r>
              <a:rPr dirty="0" err="1"/>
              <a:t>edu.wpi.first.wpilibj.TimedRobot</a:t>
            </a:r>
            <a:r>
              <a:rPr dirty="0"/>
              <a:t>;</a:t>
            </a:r>
            <a:br>
              <a:rPr dirty="0"/>
            </a:br>
            <a:r>
              <a:rPr dirty="0"/>
              <a:t>import </a:t>
            </a:r>
            <a:r>
              <a:rPr dirty="0" err="1"/>
              <a:t>edu.wpi.first.wpilibj.motorcontrol.Talon</a:t>
            </a:r>
            <a:r>
              <a:rPr dirty="0"/>
              <a:t>;</a:t>
            </a:r>
            <a:br>
              <a:rPr dirty="0"/>
            </a:br>
            <a:br>
              <a:rPr dirty="0"/>
            </a:br>
            <a:r>
              <a:rPr dirty="0"/>
              <a:t>public class Robot extends </a:t>
            </a:r>
            <a:r>
              <a:rPr dirty="0" err="1"/>
              <a:t>TimedRobot</a:t>
            </a:r>
            <a:r>
              <a:rPr dirty="0"/>
              <a:t> {</a:t>
            </a:r>
            <a:br>
              <a:rPr dirty="0"/>
            </a:br>
            <a:r>
              <a:rPr dirty="0"/>
              <a:t>    private final Talon </a:t>
            </a:r>
            <a:r>
              <a:rPr dirty="0" err="1"/>
              <a:t>frontLeftMotor</a:t>
            </a:r>
            <a:r>
              <a:rPr dirty="0"/>
              <a:t> = new Talon(0);</a:t>
            </a:r>
            <a:br>
              <a:rPr dirty="0"/>
            </a:br>
            <a:r>
              <a:rPr dirty="0"/>
              <a:t>    private final Talon </a:t>
            </a:r>
            <a:r>
              <a:rPr dirty="0" err="1"/>
              <a:t>backLeftMotor</a:t>
            </a:r>
            <a:r>
              <a:rPr dirty="0"/>
              <a:t> = new Talon(1);</a:t>
            </a:r>
            <a:br>
              <a:rPr dirty="0"/>
            </a:br>
            <a:r>
              <a:rPr dirty="0"/>
              <a:t>    private final Talon </a:t>
            </a:r>
            <a:r>
              <a:rPr dirty="0" err="1"/>
              <a:t>backRightMotor</a:t>
            </a:r>
            <a:r>
              <a:rPr dirty="0"/>
              <a:t> = new Talon(2);</a:t>
            </a:r>
            <a:br>
              <a:rPr dirty="0"/>
            </a:br>
            <a:r>
              <a:rPr dirty="0"/>
              <a:t>    private final Talon </a:t>
            </a:r>
            <a:r>
              <a:rPr dirty="0" err="1"/>
              <a:t>frontRightMotor</a:t>
            </a:r>
            <a:r>
              <a:rPr dirty="0"/>
              <a:t> = new Talon(3);</a:t>
            </a:r>
            <a:br>
              <a:rPr dirty="0"/>
            </a:br>
            <a:br>
              <a:rPr dirty="0"/>
            </a:br>
            <a:r>
              <a:rPr dirty="0"/>
              <a:t>    @Override</a:t>
            </a:r>
            <a:br>
              <a:rPr dirty="0"/>
            </a:br>
            <a:r>
              <a:rPr dirty="0"/>
              <a:t>    public void </a:t>
            </a:r>
            <a:r>
              <a:rPr dirty="0" err="1"/>
              <a:t>teleopPeriodic</a:t>
            </a:r>
            <a:r>
              <a:rPr dirty="0"/>
              <a:t>() {</a:t>
            </a:r>
            <a:br>
              <a:rPr dirty="0"/>
            </a:br>
            <a:r>
              <a:rPr dirty="0"/>
              <a:t>        </a:t>
            </a:r>
            <a:r>
              <a:rPr dirty="0" err="1"/>
              <a:t>frontLeftMotor.set</a:t>
            </a:r>
            <a:r>
              <a:rPr dirty="0"/>
              <a:t>(-0.15);  // Left side inverted for forward motion</a:t>
            </a:r>
            <a:br>
              <a:rPr dirty="0"/>
            </a:br>
            <a:r>
              <a:rPr dirty="0"/>
              <a:t>        </a:t>
            </a:r>
            <a:r>
              <a:rPr dirty="0" err="1"/>
              <a:t>backLeftMotor.set</a:t>
            </a:r>
            <a:r>
              <a:rPr dirty="0"/>
              <a:t>(-0.15);</a:t>
            </a:r>
            <a:br>
              <a:rPr dirty="0"/>
            </a:br>
            <a:r>
              <a:rPr dirty="0"/>
              <a:t>        </a:t>
            </a:r>
            <a:r>
              <a:rPr dirty="0" err="1"/>
              <a:t>frontRightMotor.set</a:t>
            </a:r>
            <a:r>
              <a:rPr dirty="0"/>
              <a:t>(0.15);  // Right side forward</a:t>
            </a:r>
            <a:br>
              <a:rPr dirty="0"/>
            </a:br>
            <a:r>
              <a:rPr dirty="0"/>
              <a:t>        </a:t>
            </a:r>
            <a:r>
              <a:rPr dirty="0" err="1"/>
              <a:t>backRightMotor.set</a:t>
            </a:r>
            <a:r>
              <a:rPr dirty="0"/>
              <a:t>(0.15);</a:t>
            </a:r>
            <a:br>
              <a:rPr dirty="0"/>
            </a:br>
            <a:r>
              <a:rPr dirty="0"/>
              <a:t>    }</a:t>
            </a:r>
            <a:br>
              <a:rPr dirty="0"/>
            </a:b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Driver and Operator Controls</a:t>
            </a:r>
            <a:endParaRPr dirty="0"/>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12064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200"/>
              </a:spcAft>
              <a:defRPr sz="1600" b="1">
                <a:solidFill>
                  <a:srgbClr val="0284C7"/>
                </a:solidFill>
                <a:latin typeface="Arial"/>
              </a:defRPr>
            </a:pPr>
            <a:r>
              <a:rPr dirty="0"/>
              <a:t>DRIVER CONTROLLER (USB PORT 0)</a:t>
            </a:r>
          </a:p>
          <a:p>
            <a:pPr>
              <a:spcAft>
                <a:spcPts val="800"/>
              </a:spcAft>
              <a:defRPr sz="1300">
                <a:solidFill>
                  <a:srgbClr val="1E293B"/>
                </a:solidFill>
                <a:latin typeface="Arial"/>
              </a:defRPr>
            </a:pPr>
            <a:r>
              <a:rPr dirty="0"/>
              <a:t>• Primary Focus: </a:t>
            </a:r>
            <a:r>
              <a:rPr lang="en-US" dirty="0"/>
              <a:t>Driving</a:t>
            </a:r>
            <a:endParaRPr dirty="0"/>
          </a:p>
          <a:p>
            <a:pPr>
              <a:spcAft>
                <a:spcPts val="800"/>
              </a:spcAft>
              <a:defRPr sz="1300">
                <a:solidFill>
                  <a:srgbClr val="1E293B"/>
                </a:solidFill>
                <a:latin typeface="Arial"/>
              </a:defRPr>
            </a:pPr>
            <a:r>
              <a:rPr dirty="0"/>
              <a:t>• Left Stick Y: Tank Drive Left Side Output</a:t>
            </a:r>
          </a:p>
          <a:p>
            <a:pPr>
              <a:spcAft>
                <a:spcPts val="800"/>
              </a:spcAft>
              <a:defRPr sz="1300">
                <a:solidFill>
                  <a:srgbClr val="1E293B"/>
                </a:solidFill>
                <a:latin typeface="Arial"/>
              </a:defRPr>
            </a:pPr>
            <a:r>
              <a:rPr dirty="0"/>
              <a:t>• Right Stick Y: Tank Drive Right Side Output</a:t>
            </a:r>
          </a:p>
          <a:p>
            <a:pPr>
              <a:spcAft>
                <a:spcPts val="800"/>
              </a:spcAft>
              <a:defRPr sz="1300">
                <a:solidFill>
                  <a:srgbClr val="1E293B"/>
                </a:solidFill>
                <a:latin typeface="Arial"/>
              </a:defRPr>
            </a:pPr>
            <a:r>
              <a:rPr dirty="0"/>
              <a:t>• Right Bumper (Held): Slow Drive Mode (20% Speed Scale)</a:t>
            </a:r>
          </a:p>
          <a:p>
            <a:pPr>
              <a:spcAft>
                <a:spcPts val="800"/>
              </a:spcAft>
              <a:defRPr sz="1300">
                <a:solidFill>
                  <a:srgbClr val="1E293B"/>
                </a:solidFill>
                <a:latin typeface="Arial"/>
              </a:defRPr>
            </a:pPr>
            <a:r>
              <a:rPr dirty="0"/>
              <a:t>• Code Reference: </a:t>
            </a:r>
            <a:r>
              <a:rPr dirty="0" err="1"/>
              <a:t>driverController</a:t>
            </a:r>
            <a:r>
              <a:rPr dirty="0"/>
              <a:t> = new </a:t>
            </a:r>
            <a:r>
              <a:rPr dirty="0" err="1"/>
              <a:t>CommandXboxController</a:t>
            </a:r>
            <a:r>
              <a:rPr dirty="0"/>
              <a:t>(0)</a:t>
            </a:r>
          </a:p>
        </p:txBody>
      </p:sp>
      <p:sp>
        <p:nvSpPr>
          <p:cNvPr id="6" name="Rounded Rectangle 5"/>
          <p:cNvSpPr/>
          <p:nvPr/>
        </p:nvSpPr>
        <p:spPr>
          <a:xfrm>
            <a:off x="6217920" y="1645920"/>
            <a:ext cx="521208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200"/>
              </a:spcAft>
              <a:defRPr sz="1600" b="1">
                <a:solidFill>
                  <a:srgbClr val="0F766E"/>
                </a:solidFill>
                <a:latin typeface="Arial"/>
              </a:defRPr>
            </a:pPr>
            <a:r>
              <a:rPr dirty="0"/>
              <a:t>OPERATOR CONTROLLER (USB PORT 1)</a:t>
            </a:r>
          </a:p>
          <a:p>
            <a:pPr>
              <a:spcAft>
                <a:spcPts val="800"/>
              </a:spcAft>
              <a:defRPr sz="1300">
                <a:solidFill>
                  <a:srgbClr val="1E293B"/>
                </a:solidFill>
                <a:latin typeface="Arial"/>
              </a:defRPr>
            </a:pPr>
            <a:r>
              <a:rPr dirty="0"/>
              <a:t>• Primary Focus: Ball Transport, Scoring &amp; Endgame Lift</a:t>
            </a:r>
          </a:p>
          <a:p>
            <a:pPr>
              <a:spcAft>
                <a:spcPts val="800"/>
              </a:spcAft>
              <a:defRPr sz="1300">
                <a:solidFill>
                  <a:srgbClr val="1E293B"/>
                </a:solidFill>
                <a:latin typeface="Arial"/>
              </a:defRPr>
            </a:pPr>
            <a:r>
              <a:rPr dirty="0"/>
              <a:t>• Button A (Held): Belt In Command (Intake Power Cells)</a:t>
            </a:r>
          </a:p>
          <a:p>
            <a:pPr>
              <a:spcAft>
                <a:spcPts val="800"/>
              </a:spcAft>
              <a:defRPr sz="1300">
                <a:solidFill>
                  <a:srgbClr val="1E293B"/>
                </a:solidFill>
                <a:latin typeface="Arial"/>
              </a:defRPr>
            </a:pPr>
            <a:r>
              <a:rPr dirty="0"/>
              <a:t>• Button B (Held): Belt Out Command (Eject / Clear Jam)</a:t>
            </a:r>
          </a:p>
          <a:p>
            <a:pPr>
              <a:spcAft>
                <a:spcPts val="800"/>
              </a:spcAft>
              <a:defRPr sz="1300">
                <a:solidFill>
                  <a:srgbClr val="1E293B"/>
                </a:solidFill>
                <a:latin typeface="Arial"/>
              </a:defRPr>
            </a:pPr>
            <a:r>
              <a:rPr dirty="0"/>
              <a:t>• Button X (Held): Scoring Roller Command (</a:t>
            </a:r>
            <a:r>
              <a:rPr lang="en-US" dirty="0"/>
              <a:t>Power Cell</a:t>
            </a:r>
            <a:r>
              <a:rPr dirty="0"/>
              <a:t> Eject)</a:t>
            </a:r>
          </a:p>
          <a:p>
            <a:pPr>
              <a:spcAft>
                <a:spcPts val="800"/>
              </a:spcAft>
              <a:defRPr sz="1300">
                <a:solidFill>
                  <a:srgbClr val="1E293B"/>
                </a:solidFill>
                <a:latin typeface="Arial"/>
              </a:defRPr>
            </a:pPr>
            <a:r>
              <a:rPr dirty="0"/>
              <a:t>• Button Y (Pressed): Toggle Climber Arms (Extend / Retract)</a:t>
            </a:r>
          </a:p>
          <a:p>
            <a:pPr>
              <a:spcAft>
                <a:spcPts val="800"/>
              </a:spcAft>
              <a:defRPr sz="1300">
                <a:solidFill>
                  <a:srgbClr val="1E293B"/>
                </a:solidFill>
                <a:latin typeface="Arial"/>
              </a:defRPr>
            </a:pPr>
            <a:r>
              <a:rPr dirty="0"/>
              <a:t>• Code Reference: </a:t>
            </a:r>
            <a:r>
              <a:rPr dirty="0" err="1"/>
              <a:t>operatorController</a:t>
            </a:r>
            <a:r>
              <a:rPr dirty="0"/>
              <a:t> = new </a:t>
            </a:r>
            <a:r>
              <a:rPr dirty="0" err="1"/>
              <a:t>CommandXboxController</a:t>
            </a:r>
            <a:r>
              <a:rPr dirty="0"/>
              <a:t>(1)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56BC98D8-5B35-62AF-71EE-D0491EC4D4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5B0155-5C8B-FBE9-8AFA-0D12CC28DA50}"/>
              </a:ext>
            </a:extLst>
          </p:cNvPr>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a:extLst>
              <a:ext uri="{FF2B5EF4-FFF2-40B4-BE49-F238E27FC236}">
                <a16:creationId xmlns:a16="http://schemas.microsoft.com/office/drawing/2014/main" id="{45A319F8-A2C8-E324-3CB7-1BB1F13D02BC}"/>
              </a:ext>
            </a:extLst>
          </p:cNvPr>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Driver Station Controller Diagnostics</a:t>
            </a:r>
            <a:endParaRPr/>
          </a:p>
        </p:txBody>
      </p:sp>
      <p:sp>
        <p:nvSpPr>
          <p:cNvPr id="4" name="Rectangle 3">
            <a:extLst>
              <a:ext uri="{FF2B5EF4-FFF2-40B4-BE49-F238E27FC236}">
                <a16:creationId xmlns:a16="http://schemas.microsoft.com/office/drawing/2014/main" id="{88BFE886-A5FE-36C5-807F-202C18EA49DF}"/>
              </a:ext>
            </a:extLst>
          </p:cNvPr>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reenshot_2026-10-05_185315.png">
            <a:extLst>
              <a:ext uri="{FF2B5EF4-FFF2-40B4-BE49-F238E27FC236}">
                <a16:creationId xmlns:a16="http://schemas.microsoft.com/office/drawing/2014/main" id="{EED6F693-6532-FB37-2F44-A71AF98E8706}"/>
              </a:ext>
            </a:extLst>
          </p:cNvPr>
          <p:cNvPicPr>
            <a:picLocks noChangeAspect="1"/>
          </p:cNvPicPr>
          <p:nvPr/>
        </p:nvPicPr>
        <p:blipFill>
          <a:blip r:embed="rId2"/>
          <a:stretch>
            <a:fillRect/>
          </a:stretch>
        </p:blipFill>
        <p:spPr>
          <a:xfrm>
            <a:off x="731520" y="1645920"/>
            <a:ext cx="5669280" cy="2756402"/>
          </a:xfrm>
          <a:prstGeom prst="rect">
            <a:avLst/>
          </a:prstGeom>
        </p:spPr>
      </p:pic>
      <p:sp>
        <p:nvSpPr>
          <p:cNvPr id="6" name="Rounded Rectangle 5">
            <a:extLst>
              <a:ext uri="{FF2B5EF4-FFF2-40B4-BE49-F238E27FC236}">
                <a16:creationId xmlns:a16="http://schemas.microsoft.com/office/drawing/2014/main" id="{372906D5-5559-7445-3D7E-2479C8FEF486}"/>
              </a:ext>
            </a:extLst>
          </p:cNvPr>
          <p:cNvSpPr/>
          <p:nvPr/>
        </p:nvSpPr>
        <p:spPr>
          <a:xfrm>
            <a:off x="6675120" y="1645920"/>
            <a:ext cx="475488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500" b="1">
                <a:solidFill>
                  <a:srgbClr val="0284C7"/>
                </a:solidFill>
                <a:latin typeface="Arial"/>
              </a:defRPr>
            </a:pPr>
            <a:r>
              <a:t>DRIVER STATION USB VERIFICATION</a:t>
            </a:r>
          </a:p>
          <a:p>
            <a:pPr>
              <a:spcAft>
                <a:spcPts val="800"/>
              </a:spcAft>
              <a:defRPr sz="1100">
                <a:solidFill>
                  <a:srgbClr val="1E293B"/>
                </a:solidFill>
                <a:latin typeface="Arial"/>
              </a:defRPr>
            </a:pPr>
            <a:r>
              <a:t>1. Port Slot Verification:</a:t>
            </a:r>
            <a:br/>
            <a:r>
              <a:t>Verify USB Port 0 is Driver Xbox Controller and USB Port 1 is Operator Xbox Controller.</a:t>
            </a:r>
          </a:p>
          <a:p>
            <a:pPr>
              <a:spcAft>
                <a:spcPts val="800"/>
              </a:spcAft>
              <a:defRPr sz="1100">
                <a:solidFill>
                  <a:srgbClr val="1E293B"/>
                </a:solidFill>
                <a:latin typeface="Arial"/>
              </a:defRPr>
            </a:pPr>
            <a:r>
              <a:t>2. Live Indicator Grid:</a:t>
            </a:r>
            <a:br/>
            <a:r>
              <a:t>Pressing Button X lights up Button 3 bright green in the USB Setup tab telemetry grid.</a:t>
            </a:r>
          </a:p>
          <a:p>
            <a:pPr>
              <a:spcAft>
                <a:spcPts val="800"/>
              </a:spcAft>
              <a:defRPr sz="1100">
                <a:solidFill>
                  <a:srgbClr val="1E293B"/>
                </a:solidFill>
                <a:latin typeface="Arial"/>
              </a:defRPr>
            </a:pPr>
            <a:r>
              <a:t>3. Port Conflict Diagnosis:</a:t>
            </a:r>
            <a:br/>
            <a:r>
              <a:t>If Button X is pressed on Slot 0 instead of Slot 1, Java routes the input to DriverController (which has no Button X binding) -&gt; Motor stays off!</a:t>
            </a:r>
          </a:p>
          <a:p>
            <a:pPr>
              <a:spcAft>
                <a:spcPts val="800"/>
              </a:spcAft>
              <a:defRPr sz="1100">
                <a:solidFill>
                  <a:srgbClr val="1E293B"/>
                </a:solidFill>
                <a:latin typeface="Arial"/>
              </a:defRPr>
            </a:pPr>
            <a:r>
              <a:t>4. Pre-Match Check:</a:t>
            </a:r>
            <a:br/>
            <a:r>
              <a:t>Always verify USB port order before loading code to prevent control swaps on the field.</a:t>
            </a:r>
          </a:p>
        </p:txBody>
      </p:sp>
    </p:spTree>
    <p:extLst>
      <p:ext uri="{BB962C8B-B14F-4D97-AF65-F5344CB8AC3E}">
        <p14:creationId xmlns:p14="http://schemas.microsoft.com/office/powerpoint/2010/main" val="422973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Button A Reaches PWM Port 5</a:t>
            </a:r>
            <a:endParaRPr dirty="0"/>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2011680"/>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400" b="1">
                <a:solidFill>
                  <a:srgbClr val="0284C7"/>
                </a:solidFill>
                <a:latin typeface="Arial"/>
              </a:defRPr>
            </a:pPr>
            <a:r>
              <a:t>1. Human Action</a:t>
            </a:r>
          </a:p>
          <a:p>
            <a:pPr>
              <a:defRPr sz="1200">
                <a:solidFill>
                  <a:srgbClr val="1E293B"/>
                </a:solidFill>
                <a:latin typeface="Arial"/>
              </a:defRPr>
            </a:pPr>
            <a:r>
              <a:t>Operator presses</a:t>
            </a:r>
            <a:br/>
            <a:r>
              <a:t>Button A on Xbox</a:t>
            </a:r>
            <a:br/>
            <a:r>
              <a:t>Controller Port 1</a:t>
            </a:r>
          </a:p>
        </p:txBody>
      </p:sp>
      <p:sp>
        <p:nvSpPr>
          <p:cNvPr id="6" name="Rounded Rectangle 5"/>
          <p:cNvSpPr/>
          <p:nvPr/>
        </p:nvSpPr>
        <p:spPr>
          <a:xfrm>
            <a:off x="2907791" y="2011680"/>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400" b="1">
                <a:solidFill>
                  <a:srgbClr val="0284C7"/>
                </a:solidFill>
                <a:latin typeface="Arial"/>
              </a:defRPr>
            </a:pPr>
            <a:r>
              <a:t>2. USB HID Packet</a:t>
            </a:r>
          </a:p>
          <a:p>
            <a:pPr>
              <a:defRPr sz="1200">
                <a:solidFill>
                  <a:srgbClr val="1E293B"/>
                </a:solidFill>
                <a:latin typeface="Arial"/>
              </a:defRPr>
            </a:pPr>
            <a:r>
              <a:t>Windows Driver Station</a:t>
            </a:r>
            <a:br/>
            <a:r>
              <a:t>encodes button press into</a:t>
            </a:r>
            <a:br/>
            <a:r>
              <a:t>20ms UDP packet</a:t>
            </a:r>
          </a:p>
        </p:txBody>
      </p:sp>
      <p:sp>
        <p:nvSpPr>
          <p:cNvPr id="7" name="Rounded Rectangle 6"/>
          <p:cNvSpPr/>
          <p:nvPr/>
        </p:nvSpPr>
        <p:spPr>
          <a:xfrm>
            <a:off x="5084064" y="2011680"/>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400" b="1">
                <a:solidFill>
                  <a:srgbClr val="0284C7"/>
                </a:solidFill>
                <a:latin typeface="Arial"/>
              </a:defRPr>
            </a:pPr>
            <a:r>
              <a:rPr dirty="0"/>
              <a:t>3. </a:t>
            </a:r>
            <a:r>
              <a:rPr dirty="0" err="1"/>
              <a:t>roboRIO</a:t>
            </a:r>
            <a:r>
              <a:rPr dirty="0"/>
              <a:t> Ingestion</a:t>
            </a:r>
          </a:p>
          <a:p>
            <a:pPr>
              <a:defRPr sz="1200">
                <a:solidFill>
                  <a:srgbClr val="1E293B"/>
                </a:solidFill>
                <a:latin typeface="Arial"/>
              </a:defRPr>
            </a:pPr>
            <a:r>
              <a:rPr lang="en-US" dirty="0"/>
              <a:t>robot</a:t>
            </a:r>
            <a:r>
              <a:rPr dirty="0"/>
              <a:t> receives network</a:t>
            </a:r>
            <a:br>
              <a:rPr dirty="0"/>
            </a:br>
            <a:r>
              <a:rPr dirty="0"/>
              <a:t>packet &amp; passes to</a:t>
            </a:r>
            <a:br>
              <a:rPr dirty="0"/>
            </a:br>
            <a:r>
              <a:rPr dirty="0" err="1"/>
              <a:t>WPILib</a:t>
            </a:r>
            <a:r>
              <a:rPr dirty="0"/>
              <a:t> </a:t>
            </a:r>
            <a:r>
              <a:rPr dirty="0" err="1"/>
              <a:t>DriverStation</a:t>
            </a:r>
            <a:r>
              <a:rPr dirty="0"/>
              <a:t> API</a:t>
            </a:r>
          </a:p>
        </p:txBody>
      </p:sp>
      <p:sp>
        <p:nvSpPr>
          <p:cNvPr id="8" name="Rounded Rectangle 7"/>
          <p:cNvSpPr/>
          <p:nvPr/>
        </p:nvSpPr>
        <p:spPr>
          <a:xfrm>
            <a:off x="7260336" y="2011680"/>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400" b="1">
                <a:solidFill>
                  <a:srgbClr val="0284C7"/>
                </a:solidFill>
                <a:latin typeface="Arial"/>
              </a:defRPr>
            </a:pPr>
            <a:r>
              <a:t>4. Java Routing</a:t>
            </a:r>
          </a:p>
          <a:p>
            <a:pPr>
              <a:defRPr sz="1200">
                <a:solidFill>
                  <a:srgbClr val="1E293B"/>
                </a:solidFill>
                <a:latin typeface="Arial"/>
              </a:defRPr>
            </a:pPr>
            <a:r>
              <a:t>CommandScheduler</a:t>
            </a:r>
            <a:br/>
            <a:r>
              <a:t>evaluates trigger &amp; runs</a:t>
            </a:r>
            <a:br/>
            <a:r>
              <a:t>BeltInCommand</a:t>
            </a:r>
          </a:p>
        </p:txBody>
      </p:sp>
      <p:sp>
        <p:nvSpPr>
          <p:cNvPr id="9" name="Rounded Rectangle 8"/>
          <p:cNvSpPr/>
          <p:nvPr/>
        </p:nvSpPr>
        <p:spPr>
          <a:xfrm>
            <a:off x="9436608" y="2011680"/>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400" b="1">
                <a:solidFill>
                  <a:srgbClr val="0284C7"/>
                </a:solidFill>
                <a:latin typeface="Arial"/>
              </a:defRPr>
            </a:pPr>
            <a:r>
              <a:t>5. Hardware Output</a:t>
            </a:r>
          </a:p>
          <a:p>
            <a:pPr>
              <a:defRPr sz="1200">
                <a:solidFill>
                  <a:srgbClr val="1E293B"/>
                </a:solidFill>
                <a:latin typeface="Arial"/>
              </a:defRPr>
            </a:pPr>
            <a:r>
              <a:t>roboRIO sends PWM pulse</a:t>
            </a:r>
            <a:br/>
            <a:r>
              <a:t>to Port 5 (Talon SRX)</a:t>
            </a:r>
            <a:br/>
            <a:r>
              <a:t>-&gt; +12V to Belt Motor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Two Commands Request the Belt</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12064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200"/>
              </a:spcAft>
              <a:defRPr sz="1500" b="1">
                <a:solidFill>
                  <a:srgbClr val="0F766E"/>
                </a:solidFill>
                <a:latin typeface="Arial"/>
              </a:defRPr>
            </a:pPr>
            <a:r>
              <a:rPr lang="en-US"/>
              <a:t>BUTTON A: BELT IN
Holding Button A schedules BeltInCommand.
The command requests positive motor output through BeltSubsystem.
The belt moves power cells toward the scoring mechanism.</a:t>
            </a:r>
            <a:endParaRPr dirty="0"/>
          </a:p>
        </p:txBody>
      </p:sp>
      <p:sp>
        <p:nvSpPr>
          <p:cNvPr id="6" name="Rounded Rectangle 5"/>
          <p:cNvSpPr/>
          <p:nvPr/>
        </p:nvSpPr>
        <p:spPr>
          <a:xfrm>
            <a:off x="6217920" y="1645920"/>
            <a:ext cx="521208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200"/>
              </a:spcAft>
              <a:defRPr sz="1500" b="1">
                <a:solidFill>
                  <a:srgbClr val="0284C7"/>
                </a:solidFill>
                <a:latin typeface="Arial"/>
              </a:defRPr>
            </a:pPr>
            <a:r>
              <a:rPr lang="en-US"/>
              <a:t>BUTTON B: BELT OUT
Holding Button B schedules BeltOutCommand.
The command requests negative motor output through the same BeltSubsystem.
If both buttons are held, which command owns the belt motor?</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dirty="0"/>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Subsystems and Commands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12064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600" b="1">
                <a:solidFill>
                  <a:srgbClr val="0284C7"/>
                </a:solidFill>
                <a:latin typeface="Arial"/>
              </a:defRPr>
            </a:pPr>
            <a:r>
              <a:t>SUBSYSTEMS (SubsystemBase)</a:t>
            </a:r>
          </a:p>
          <a:p>
            <a:pPr>
              <a:spcAft>
                <a:spcPts val="800"/>
              </a:spcAft>
              <a:defRPr sz="1300">
                <a:solidFill>
                  <a:srgbClr val="1E293B"/>
                </a:solidFill>
                <a:latin typeface="Arial"/>
              </a:defRPr>
            </a:pPr>
            <a:r>
              <a:t>• Definition: Physical mechanisms on the robot.</a:t>
            </a:r>
          </a:p>
          <a:p>
            <a:pPr>
              <a:spcAft>
                <a:spcPts val="800"/>
              </a:spcAft>
              <a:defRPr sz="1300">
                <a:solidFill>
                  <a:srgbClr val="1E293B"/>
                </a:solidFill>
                <a:latin typeface="Arial"/>
              </a:defRPr>
            </a:pPr>
            <a:r>
              <a:t>• Core Role: Encapsulate hardware (motors, solenoids, sensors) in private fields.</a:t>
            </a:r>
          </a:p>
          <a:p>
            <a:pPr>
              <a:spcAft>
                <a:spcPts val="800"/>
              </a:spcAft>
              <a:defRPr sz="1300">
                <a:solidFill>
                  <a:srgbClr val="1E293B"/>
                </a:solidFill>
                <a:latin typeface="Arial"/>
              </a:defRPr>
            </a:pPr>
            <a:r>
              <a:t>• Responsibility: Define HOW actions occur via public API methods.</a:t>
            </a:r>
          </a:p>
          <a:p>
            <a:pPr>
              <a:spcAft>
                <a:spcPts val="800"/>
              </a:spcAft>
              <a:defRPr sz="1300">
                <a:solidFill>
                  <a:srgbClr val="1E293B"/>
                </a:solidFill>
                <a:latin typeface="Arial"/>
              </a:defRPr>
            </a:pPr>
            <a:r>
              <a:t>• Example Methods: run(speed), stop(), toggle()</a:t>
            </a:r>
          </a:p>
          <a:p>
            <a:pPr>
              <a:spcAft>
                <a:spcPts val="800"/>
              </a:spcAft>
              <a:defRPr sz="1300">
                <a:solidFill>
                  <a:srgbClr val="1E293B"/>
                </a:solidFill>
                <a:latin typeface="Arial"/>
              </a:defRPr>
            </a:pPr>
            <a:r>
              <a:t>• Rule: Subsystems NEVER decide when actions happen!</a:t>
            </a:r>
          </a:p>
        </p:txBody>
      </p:sp>
      <p:sp>
        <p:nvSpPr>
          <p:cNvPr id="6" name="Rounded Rectangle 5"/>
          <p:cNvSpPr/>
          <p:nvPr/>
        </p:nvSpPr>
        <p:spPr>
          <a:xfrm>
            <a:off x="6217920" y="1645920"/>
            <a:ext cx="521208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600" b="1">
                <a:solidFill>
                  <a:srgbClr val="0F766E"/>
                </a:solidFill>
                <a:latin typeface="Arial"/>
              </a:defRPr>
            </a:pPr>
            <a:r>
              <a:t>COMMANDS (Command)</a:t>
            </a:r>
          </a:p>
          <a:p>
            <a:pPr>
              <a:spcAft>
                <a:spcPts val="800"/>
              </a:spcAft>
              <a:defRPr sz="1300">
                <a:solidFill>
                  <a:srgbClr val="1E293B"/>
                </a:solidFill>
                <a:latin typeface="Arial"/>
              </a:defRPr>
            </a:pPr>
            <a:r>
              <a:t>• Definition: Action instructions and behavioral logic.</a:t>
            </a:r>
          </a:p>
          <a:p>
            <a:pPr>
              <a:spcAft>
                <a:spcPts val="800"/>
              </a:spcAft>
              <a:defRPr sz="1300">
                <a:solidFill>
                  <a:srgbClr val="1E293B"/>
                </a:solidFill>
                <a:latin typeface="Arial"/>
              </a:defRPr>
            </a:pPr>
            <a:r>
              <a:t>• Core Role: Manage execution state and timing hooks.</a:t>
            </a:r>
          </a:p>
          <a:p>
            <a:pPr>
              <a:spcAft>
                <a:spcPts val="800"/>
              </a:spcAft>
              <a:defRPr sz="1300">
                <a:solidFill>
                  <a:srgbClr val="1E293B"/>
                </a:solidFill>
                <a:latin typeface="Arial"/>
              </a:defRPr>
            </a:pPr>
            <a:r>
              <a:t>• Responsibility: Define WHEN actions occur and reserve hardware.</a:t>
            </a:r>
          </a:p>
          <a:p>
            <a:pPr>
              <a:spcAft>
                <a:spcPts val="800"/>
              </a:spcAft>
              <a:defRPr sz="1300">
                <a:solidFill>
                  <a:srgbClr val="1E293B"/>
                </a:solidFill>
                <a:latin typeface="Arial"/>
              </a:defRPr>
            </a:pPr>
            <a:r>
              <a:t>• Resource Guard: Calls addRequirements(subsystem) in constructor.</a:t>
            </a:r>
          </a:p>
          <a:p>
            <a:pPr>
              <a:spcAft>
                <a:spcPts val="800"/>
              </a:spcAft>
              <a:defRPr sz="1300">
                <a:solidFill>
                  <a:srgbClr val="1E293B"/>
                </a:solidFill>
                <a:latin typeface="Arial"/>
              </a:defRPr>
            </a:pPr>
            <a:r>
              <a:t>• Rule: Commands NEVER access motor controllers directly!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One Subsystem, One Active Command</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10728655"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200"/>
              </a:spcAft>
              <a:defRPr sz="1600" b="1">
                <a:solidFill>
                  <a:srgbClr val="0284C7"/>
                </a:solidFill>
                <a:latin typeface="Arial"/>
              </a:defRPr>
            </a:pPr>
            <a:r>
              <a:rPr lang="en-US"/>
              <a:t>HOW addRequirements() CONTROLS OWNERSHIP
1. BeltInCommand and BeltOutCommand both call addRequirements(beltSubsystem).
2. CommandScheduler allows only one scheduled command to require BeltSubsystem at a time.
3. When a conflicting command is scheduled, the scheduler interrupts the current owner.
4. The interrupted command's end(true) method stops the belt before ownership changes.
5. The newly scheduled command then controls the subsystem.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Controller Bindings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E293B"/>
                </a:solidFill>
                <a:latin typeface="Arial"/>
              </a:defRPr>
            </a:pPr>
            <a:r>
              <a:t>Momentary Commands</a:t>
            </a:r>
          </a:p>
          <a:p>
            <a:pPr>
              <a:spcAft>
                <a:spcPts val="400"/>
              </a:spcAft>
              <a:defRPr sz="1200" b="1">
                <a:solidFill>
                  <a:srgbClr val="0284C7"/>
                </a:solidFill>
                <a:latin typeface="Courier New"/>
              </a:defRPr>
            </a:pPr>
            <a:r>
              <a:t>whileTrue(command)</a:t>
            </a:r>
          </a:p>
          <a:p>
            <a:pPr>
              <a:defRPr sz="1100">
                <a:solidFill>
                  <a:srgbClr val="64748B"/>
                </a:solidFill>
                <a:latin typeface="Arial"/>
              </a:defRPr>
            </a:pPr>
            <a:r>
              <a:t>Schedules command while button is held.</a:t>
            </a:r>
            <a:br/>
            <a:r>
              <a:t>When released, command is cancelled and end(true) stops motor.</a:t>
            </a:r>
            <a:br/>
            <a:r>
              <a:t>Example: BeltInCommand, RollerCommand</a:t>
            </a:r>
          </a:p>
        </p:txBody>
      </p:sp>
      <p:sp>
        <p:nvSpPr>
          <p:cNvPr id="6" name="Rounded Rectangle 5"/>
          <p:cNvSpPr/>
          <p:nvPr/>
        </p:nvSpPr>
        <p:spPr>
          <a:xfrm>
            <a:off x="6126480" y="164592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E293B"/>
                </a:solidFill>
                <a:latin typeface="Arial"/>
              </a:defRPr>
            </a:pPr>
            <a:r>
              <a:t>One-Shot Instant Commands</a:t>
            </a:r>
          </a:p>
          <a:p>
            <a:pPr>
              <a:spcAft>
                <a:spcPts val="400"/>
              </a:spcAft>
              <a:defRPr sz="1200" b="1">
                <a:solidFill>
                  <a:srgbClr val="0284C7"/>
                </a:solidFill>
                <a:latin typeface="Courier New"/>
              </a:defRPr>
            </a:pPr>
            <a:r>
              <a:t>onTrue(command)</a:t>
            </a:r>
          </a:p>
          <a:p>
            <a:pPr>
              <a:defRPr sz="1100">
                <a:solidFill>
                  <a:srgbClr val="64748B"/>
                </a:solidFill>
                <a:latin typeface="Arial"/>
              </a:defRPr>
            </a:pPr>
            <a:r>
              <a:t>Schedules command once upon button press.</a:t>
            </a:r>
            <a:br/>
            <a:r>
              <a:t>Completes instantly (isFinished=true).</a:t>
            </a:r>
            <a:br/>
            <a:r>
              <a:t>Example: ToggleClimberArmsCommand</a:t>
            </a:r>
          </a:p>
        </p:txBody>
      </p:sp>
      <p:sp>
        <p:nvSpPr>
          <p:cNvPr id="7" name="Rounded Rectangle 6"/>
          <p:cNvSpPr/>
          <p:nvPr/>
        </p:nvSpPr>
        <p:spPr>
          <a:xfrm>
            <a:off x="731520" y="402336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E293B"/>
                </a:solidFill>
                <a:latin typeface="Arial"/>
              </a:defRPr>
            </a:pPr>
            <a:r>
              <a:t>State Modifiers</a:t>
            </a:r>
          </a:p>
          <a:p>
            <a:pPr>
              <a:spcAft>
                <a:spcPts val="400"/>
              </a:spcAft>
              <a:defRPr sz="1200" b="1">
                <a:solidFill>
                  <a:srgbClr val="0284C7"/>
                </a:solidFill>
                <a:latin typeface="Courier New"/>
              </a:defRPr>
            </a:pPr>
            <a:r>
              <a:t>whileTrue(slowDriveCommand)</a:t>
            </a:r>
          </a:p>
          <a:p>
            <a:pPr>
              <a:defRPr sz="1100">
                <a:solidFill>
                  <a:srgbClr val="64748B"/>
                </a:solidFill>
                <a:latin typeface="Arial"/>
              </a:defRPr>
            </a:pPr>
            <a:r>
              <a:t>Alters subsystem state parameters (e.g., speed scaling) while active.</a:t>
            </a:r>
            <a:br/>
            <a:r>
              <a:t>Reverts state on release.</a:t>
            </a:r>
            <a:br/>
            <a:r>
              <a:t>Example: SlowDriveCommand</a:t>
            </a:r>
          </a:p>
        </p:txBody>
      </p:sp>
      <p:sp>
        <p:nvSpPr>
          <p:cNvPr id="8" name="Rounded Rectangle 7"/>
          <p:cNvSpPr/>
          <p:nvPr/>
        </p:nvSpPr>
        <p:spPr>
          <a:xfrm>
            <a:off x="6126480" y="402336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1E293B"/>
                </a:solidFill>
                <a:latin typeface="Arial"/>
              </a:defRPr>
            </a:pPr>
            <a:r>
              <a:t>Default Commands</a:t>
            </a:r>
          </a:p>
          <a:p>
            <a:pPr>
              <a:spcAft>
                <a:spcPts val="400"/>
              </a:spcAft>
              <a:defRPr sz="1200" b="1">
                <a:solidFill>
                  <a:srgbClr val="0284C7"/>
                </a:solidFill>
                <a:latin typeface="Courier New"/>
              </a:defRPr>
            </a:pPr>
            <a:r>
              <a:t>setDefaultCommand(command)</a:t>
            </a:r>
          </a:p>
          <a:p>
            <a:pPr>
              <a:defRPr sz="1100">
                <a:solidFill>
                  <a:srgbClr val="64748B"/>
                </a:solidFill>
                <a:latin typeface="Arial"/>
              </a:defRPr>
            </a:pPr>
            <a:r>
              <a:t>Runs continuously whenever no other command claims the subsystem.</a:t>
            </a:r>
            <a:br/>
            <a:r>
              <a:t>Example: DriveTeleopCommand on DriveSubsystem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Command Lifecycle Methods</a:t>
            </a:r>
            <a:endParaRPr dirty="0"/>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256032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284C7"/>
                </a:solidFill>
                <a:latin typeface="Courier New"/>
              </a:defRPr>
            </a:pPr>
            <a:r>
              <a:t>initialize()</a:t>
            </a:r>
          </a:p>
          <a:p>
            <a:pPr>
              <a:spcAft>
                <a:spcPts val="1000"/>
              </a:spcAft>
              <a:defRPr sz="1200" b="1">
                <a:solidFill>
                  <a:srgbClr val="0F766E"/>
                </a:solidFill>
                <a:latin typeface="Arial"/>
              </a:defRPr>
            </a:pPr>
            <a:r>
              <a:t>Run Once on Schedule</a:t>
            </a:r>
          </a:p>
          <a:p>
            <a:pPr>
              <a:defRPr sz="1100">
                <a:solidFill>
                  <a:srgbClr val="1E293B"/>
                </a:solidFill>
                <a:latin typeface="Arial"/>
              </a:defRPr>
            </a:pPr>
            <a:r>
              <a:t>Called exactly once when command transitions from inactive to active.</a:t>
            </a:r>
            <a:br/>
            <a:r>
              <a:t>Use for setup, timer resets, or solenoid toggles.</a:t>
            </a:r>
          </a:p>
        </p:txBody>
      </p:sp>
      <p:sp>
        <p:nvSpPr>
          <p:cNvPr id="6" name="Rounded Rectangle 5"/>
          <p:cNvSpPr/>
          <p:nvPr/>
        </p:nvSpPr>
        <p:spPr>
          <a:xfrm>
            <a:off x="3456432" y="1645920"/>
            <a:ext cx="256032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284C7"/>
                </a:solidFill>
                <a:latin typeface="Courier New"/>
              </a:defRPr>
            </a:pPr>
            <a:r>
              <a:t>execute()</a:t>
            </a:r>
          </a:p>
          <a:p>
            <a:pPr>
              <a:spcAft>
                <a:spcPts val="1000"/>
              </a:spcAft>
              <a:defRPr sz="1200" b="1">
                <a:solidFill>
                  <a:srgbClr val="0F766E"/>
                </a:solidFill>
                <a:latin typeface="Arial"/>
              </a:defRPr>
            </a:pPr>
            <a:r>
              <a:t>Run Every 20ms</a:t>
            </a:r>
          </a:p>
          <a:p>
            <a:pPr>
              <a:defRPr sz="1100">
                <a:solidFill>
                  <a:srgbClr val="1E293B"/>
                </a:solidFill>
                <a:latin typeface="Arial"/>
              </a:defRPr>
            </a:pPr>
            <a:r>
              <a:t>Called repeatedly every 20ms while command is active.</a:t>
            </a:r>
            <a:br/>
            <a:r>
              <a:t>Use for continuous motor speed commands or PID updates.</a:t>
            </a:r>
          </a:p>
        </p:txBody>
      </p:sp>
      <p:sp>
        <p:nvSpPr>
          <p:cNvPr id="7" name="Rounded Rectangle 6"/>
          <p:cNvSpPr/>
          <p:nvPr/>
        </p:nvSpPr>
        <p:spPr>
          <a:xfrm>
            <a:off x="6181344" y="1645920"/>
            <a:ext cx="256032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284C7"/>
                </a:solidFill>
                <a:latin typeface="Courier New"/>
              </a:defRPr>
            </a:pPr>
            <a:r>
              <a:t>isFinished()</a:t>
            </a:r>
          </a:p>
          <a:p>
            <a:pPr>
              <a:spcAft>
                <a:spcPts val="1000"/>
              </a:spcAft>
              <a:defRPr sz="1200" b="1">
                <a:solidFill>
                  <a:srgbClr val="0F766E"/>
                </a:solidFill>
                <a:latin typeface="Arial"/>
              </a:defRPr>
            </a:pPr>
            <a:r>
              <a:t>Evaluated Every 20ms</a:t>
            </a:r>
          </a:p>
          <a:p>
            <a:pPr>
              <a:defRPr sz="1100">
                <a:solidFill>
                  <a:srgbClr val="1E293B"/>
                </a:solidFill>
                <a:latin typeface="Arial"/>
              </a:defRPr>
            </a:pPr>
            <a:r>
              <a:t>Returns boolean indicating if command has completed.</a:t>
            </a:r>
            <a:br/>
            <a:r>
              <a:t>Momentary commands return false; One-shot commands return true.</a:t>
            </a:r>
          </a:p>
        </p:txBody>
      </p:sp>
      <p:sp>
        <p:nvSpPr>
          <p:cNvPr id="8" name="Rounded Rectangle 7"/>
          <p:cNvSpPr/>
          <p:nvPr/>
        </p:nvSpPr>
        <p:spPr>
          <a:xfrm>
            <a:off x="8906256" y="1645920"/>
            <a:ext cx="2560320"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284C7"/>
                </a:solidFill>
                <a:latin typeface="Courier New"/>
              </a:defRPr>
            </a:pPr>
            <a:r>
              <a:t>end(interrupted)</a:t>
            </a:r>
          </a:p>
          <a:p>
            <a:pPr>
              <a:spcAft>
                <a:spcPts val="1000"/>
              </a:spcAft>
              <a:defRPr sz="1200" b="1">
                <a:solidFill>
                  <a:srgbClr val="0F766E"/>
                </a:solidFill>
                <a:latin typeface="Arial"/>
              </a:defRPr>
            </a:pPr>
            <a:r>
              <a:t>Run Once on Completion</a:t>
            </a:r>
          </a:p>
          <a:p>
            <a:pPr>
              <a:defRPr sz="1100">
                <a:solidFill>
                  <a:srgbClr val="1E293B"/>
                </a:solidFill>
                <a:latin typeface="Arial"/>
              </a:defRPr>
            </a:pPr>
            <a:r>
              <a:t>Called once when command finishes or is cancelled.</a:t>
            </a:r>
            <a:br/>
            <a:r>
              <a:t>Use to safely stop motors (beltSubsystem.stop())!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The CommandScheduler Loop</a:t>
            </a:r>
            <a:endParaRPr dirty="0"/>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4702" y="3014505"/>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300" b="1">
                <a:solidFill>
                  <a:srgbClr val="0284C7"/>
                </a:solidFill>
                <a:latin typeface="Arial"/>
              </a:defRPr>
            </a:pPr>
            <a:r>
              <a:rPr dirty="0"/>
              <a:t>Step 1: Poll Buttons</a:t>
            </a:r>
          </a:p>
          <a:p>
            <a:pPr>
              <a:defRPr sz="1100">
                <a:solidFill>
                  <a:srgbClr val="1E293B"/>
                </a:solidFill>
                <a:latin typeface="Arial"/>
              </a:defRPr>
            </a:pPr>
            <a:r>
              <a:rPr dirty="0"/>
              <a:t>Check physical status of all registered Xbox triggers &amp; buttons.</a:t>
            </a:r>
          </a:p>
        </p:txBody>
      </p:sp>
      <p:sp>
        <p:nvSpPr>
          <p:cNvPr id="6" name="Rounded Rectangle 5"/>
          <p:cNvSpPr/>
          <p:nvPr/>
        </p:nvSpPr>
        <p:spPr>
          <a:xfrm>
            <a:off x="2907791" y="3017520"/>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300" b="1">
                <a:solidFill>
                  <a:srgbClr val="0284C7"/>
                </a:solidFill>
                <a:latin typeface="Arial"/>
              </a:defRPr>
            </a:pPr>
            <a:r>
              <a:t>Step 2: Check Finished</a:t>
            </a:r>
          </a:p>
          <a:p>
            <a:pPr>
              <a:defRPr sz="1100">
                <a:solidFill>
                  <a:srgbClr val="1E293B"/>
                </a:solidFill>
                <a:latin typeface="Arial"/>
              </a:defRPr>
            </a:pPr>
            <a:r>
              <a:t>Call isFinished() on all active commands; schedule end() for completed ones.</a:t>
            </a:r>
          </a:p>
        </p:txBody>
      </p:sp>
      <p:sp>
        <p:nvSpPr>
          <p:cNvPr id="7" name="Rounded Rectangle 6"/>
          <p:cNvSpPr/>
          <p:nvPr/>
        </p:nvSpPr>
        <p:spPr>
          <a:xfrm>
            <a:off x="5074920" y="3017520"/>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300" b="1">
                <a:solidFill>
                  <a:srgbClr val="0284C7"/>
                </a:solidFill>
                <a:latin typeface="Arial"/>
              </a:defRPr>
            </a:pPr>
            <a:r>
              <a:t>Step 3: Resolve Conflicts</a:t>
            </a:r>
          </a:p>
          <a:p>
            <a:pPr>
              <a:defRPr sz="1100">
                <a:solidFill>
                  <a:srgbClr val="1E293B"/>
                </a:solidFill>
                <a:latin typeface="Arial"/>
              </a:defRPr>
            </a:pPr>
            <a:r>
              <a:t>Check newly triggered commands, evaluate addRequirements(), interrupt conflicting commands.</a:t>
            </a:r>
          </a:p>
        </p:txBody>
      </p:sp>
      <p:sp>
        <p:nvSpPr>
          <p:cNvPr id="8" name="Rounded Rectangle 7"/>
          <p:cNvSpPr/>
          <p:nvPr/>
        </p:nvSpPr>
        <p:spPr>
          <a:xfrm>
            <a:off x="7278960" y="3021539"/>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300" b="1">
                <a:solidFill>
                  <a:srgbClr val="0284C7"/>
                </a:solidFill>
                <a:latin typeface="Arial"/>
              </a:defRPr>
            </a:pPr>
            <a:r>
              <a:t>Step 4: Execute Commands</a:t>
            </a:r>
          </a:p>
          <a:p>
            <a:pPr>
              <a:defRPr sz="1100">
                <a:solidFill>
                  <a:srgbClr val="1E293B"/>
                </a:solidFill>
                <a:latin typeface="Arial"/>
              </a:defRPr>
            </a:pPr>
            <a:r>
              <a:t>Call execute() on all active scheduled commands single-threaded.</a:t>
            </a:r>
          </a:p>
        </p:txBody>
      </p:sp>
      <p:sp>
        <p:nvSpPr>
          <p:cNvPr id="9" name="Rounded Rectangle 8"/>
          <p:cNvSpPr/>
          <p:nvPr/>
        </p:nvSpPr>
        <p:spPr>
          <a:xfrm>
            <a:off x="9535618" y="3021539"/>
            <a:ext cx="2011680" cy="34747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0"/>
              </a:spcAft>
              <a:defRPr sz="1300" b="1">
                <a:solidFill>
                  <a:srgbClr val="0284C7"/>
                </a:solidFill>
                <a:latin typeface="Arial"/>
              </a:defRPr>
            </a:pPr>
            <a:r>
              <a:t>Step 5: Subsystem Periodic</a:t>
            </a:r>
          </a:p>
          <a:p>
            <a:pPr>
              <a:defRPr sz="1100">
                <a:solidFill>
                  <a:srgbClr val="1E293B"/>
                </a:solidFill>
                <a:latin typeface="Arial"/>
              </a:defRPr>
            </a:pPr>
            <a:r>
              <a:t>Call periodic() on all registered Subsystems for telemetry &amp; sensor updates.</a:t>
            </a:r>
          </a:p>
        </p:txBody>
      </p:sp>
      <p:sp>
        <p:nvSpPr>
          <p:cNvPr id="11" name="TextBox 10">
            <a:extLst>
              <a:ext uri="{FF2B5EF4-FFF2-40B4-BE49-F238E27FC236}">
                <a16:creationId xmlns:a16="http://schemas.microsoft.com/office/drawing/2014/main" id="{A35ABC05-58BA-1257-2EC1-0A3B826BEB8D}"/>
              </a:ext>
            </a:extLst>
          </p:cNvPr>
          <p:cNvSpPr txBox="1"/>
          <p:nvPr/>
        </p:nvSpPr>
        <p:spPr>
          <a:xfrm>
            <a:off x="1449475" y="2004814"/>
            <a:ext cx="6094324" cy="646331"/>
          </a:xfrm>
          <a:prstGeom prst="rect">
            <a:avLst/>
          </a:prstGeom>
          <a:noFill/>
        </p:spPr>
        <p:txBody>
          <a:bodyPr wrap="square">
            <a:spAutoFit/>
          </a:bodyPr>
          <a:lstStyle/>
          <a:p>
            <a:pPr marL="285750" indent="-285750">
              <a:buFont typeface="Arial" panose="020B0604020202020204" pitchFamily="34" charset="0"/>
              <a:buChar char="•"/>
            </a:pPr>
            <a:r>
              <a:rPr lang="en-US" dirty="0" err="1"/>
              <a:t>CommandScheduler</a:t>
            </a:r>
            <a:r>
              <a:rPr lang="en-US" dirty="0"/>
              <a:t> runs every 20ms (50 Hz) </a:t>
            </a:r>
          </a:p>
          <a:p>
            <a:pPr marL="285750" indent="-285750">
              <a:buFont typeface="Arial" panose="020B0604020202020204" pitchFamily="34" charset="0"/>
              <a:buChar char="•"/>
            </a:pPr>
            <a:r>
              <a:rPr lang="en-US" dirty="0"/>
              <a:t>Called from our code in </a:t>
            </a:r>
            <a:r>
              <a:rPr lang="en-US" dirty="0" err="1"/>
              <a:t>robotPeriodic</a:t>
            </a:r>
            <a:r>
              <a:rPr lang="en-US" dirty="0"/>
              <a:t> in Robot.java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Releasing Button A Stops the Belt</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10728655"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600" b="1">
                <a:solidFill>
                  <a:srgbClr val="0284C7"/>
                </a:solidFill>
                <a:latin typeface="Arial"/>
              </a:defRPr>
            </a:pPr>
            <a:r>
              <a:rPr lang="en-US"/>
              <a:t>BUTTON A RELEASE TRACE
1. CommandScheduler detects that operatorController.a() changed from pressed to released.
2. The whileTrue() binding cancels BeltInCommand.
3. CommandScheduler calls BeltInCommand.end(true).
4. end(true) calls beltSubsystem.stop().
5. BeltSubsystem calls run(0), which commands zero output on PWM Port 5 and releases the subsystem for another command.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Project Source Files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tIns="101600" bIns="101600" rtlCol="0" anchor="t">
            <a:noAutofit/>
          </a:bodyPr>
          <a:lstStyle/>
          <a:p>
            <a:pPr algn="ctr">
              <a:defRPr sz="1100">
                <a:solidFill>
                  <a:srgbClr val="F8FAFC"/>
                </a:solidFill>
                <a:latin typeface="Courier New"/>
              </a:defRPr>
            </a:pPr>
            <a:r>
              <a:rPr sz="1100"/>
              <a:t>src/main/java/frc/robot/</a:t>
            </a:r>
            <a:br>
              <a:rPr sz="1100"/>
            </a:br>
            <a:r>
              <a:rPr sz="1100"/>
              <a:t>├── Main.java                &lt;- Entry point; launches Robot instance</a:t>
            </a:r>
            <a:br>
              <a:rPr sz="1100"/>
            </a:br>
            <a:r>
              <a:rPr sz="1100"/>
              <a:t>├── Robot.java               &lt;- TimedRobot lifecycle; calls CommandScheduler.getInstance().run()</a:t>
            </a:r>
            <a:br>
              <a:rPr sz="1100"/>
            </a:br>
            <a:r>
              <a:rPr sz="1100"/>
              <a:t>├── RobotContainer.java      &lt;- Central wiring hub; instantiates Subsystems &amp; configures bindings</a:t>
            </a:r>
            <a:br>
              <a:rPr sz="1100"/>
            </a:br>
            <a:r>
              <a:rPr sz="1100"/>
              <a:t>├── Constants.java           &lt;- Configuration constants (Hardware PWM/PCM ports, USB slots, Tuning)</a:t>
            </a:r>
            <a:br>
              <a:rPr sz="1100"/>
            </a:br>
            <a:r>
              <a:rPr sz="1100"/>
              <a:t>├── subsystems/</a:t>
            </a:r>
            <a:br>
              <a:rPr sz="1100"/>
            </a:br>
            <a:r>
              <a:rPr sz="1100"/>
              <a:t>│   ├── DriveSubsystem.java  &lt;- 4-motor differential drive encapsulation</a:t>
            </a:r>
            <a:br>
              <a:rPr sz="1100"/>
            </a:br>
            <a:r>
              <a:rPr sz="1100"/>
              <a:t>│   ├── BeltSubsystem.java   &lt;- PWM Port 5 ball transport belt encapsulation</a:t>
            </a:r>
            <a:br>
              <a:rPr sz="1100"/>
            </a:br>
            <a:r>
              <a:rPr sz="1100"/>
              <a:t>│   ├── RollerSubsystem.java &lt;- PWM Port 4 outtake roller encapsulation</a:t>
            </a:r>
            <a:br>
              <a:rPr sz="1100"/>
            </a:br>
            <a:r>
              <a:rPr sz="1100"/>
              <a:t>│   └── ClimberSubsystem.java&lt;- CTRE PCM double solenoid climber encapsulation</a:t>
            </a:r>
            <a:br>
              <a:rPr sz="1100"/>
            </a:br>
            <a:r>
              <a:rPr sz="1100"/>
              <a:t>└── commands/</a:t>
            </a:r>
            <a:br>
              <a:rPr sz="1100"/>
            </a:br>
            <a:r>
              <a:rPr sz="1100"/>
              <a:t>    ├── BeltInCommand.java   &lt;- Momentary command for intake</a:t>
            </a:r>
            <a:br>
              <a:rPr sz="1100"/>
            </a:br>
            <a:r>
              <a:rPr sz="1100"/>
              <a:t>    ├── BeltOutCommand.java  &lt;- Momentary command for ejection</a:t>
            </a:r>
            <a:br>
              <a:rPr sz="1100"/>
            </a:br>
            <a:r>
              <a:rPr sz="1100"/>
              <a:t>    ├── RollerCommand.java   &lt;- Momentary command for scoring roller</a:t>
            </a:r>
            <a:br>
              <a:rPr sz="1100"/>
            </a:br>
            <a:r>
              <a:rPr sz="1100"/>
              <a:t>    ├── SlowDriveCommand.java&lt;- Momentary speed scaler for driver</a:t>
            </a:r>
            <a:br>
              <a:rPr sz="1100"/>
            </a:br>
            <a:r>
              <a:rPr sz="1100"/>
              <a:t>    ├── ToggleClimberArmsCommand.java &lt;- One-shot instant command for climber</a:t>
            </a:r>
            <a:br>
              <a:rPr sz="1100"/>
            </a:br>
            <a:r>
              <a:rPr sz="1100"/>
              <a:t>    └── DriveTeleopCommand.java &lt;- Default command for tank drive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Hardware and Tuning Constants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tIns="101600" bIns="101600" rtlCol="0" anchor="t">
            <a:noAutofit/>
          </a:bodyPr>
          <a:lstStyle/>
          <a:p>
            <a:pPr algn="ctr">
              <a:defRPr sz="1100">
                <a:solidFill>
                  <a:srgbClr val="F8FAFC"/>
                </a:solidFill>
                <a:latin typeface="Courier New"/>
              </a:defRPr>
            </a:pPr>
            <a:r>
              <a:rPr lang="en-US" sz="1000"/>
              <a:t>package frc.robot;
// Presentation excerpt: open Constants.java in VS Code for the full required
// class headers, comments, and hardware configuration.
public final class Constants {
    public static final class Hardware {
        public static final int PWM_FRONT_LEFT_DRIVE = 0;
        public static final int PWM_BACK_LEFT_DRIVE = 1;
        public static final int PWM_BACK_RIGHT_DRIVE = 2;
        public static final int PWM_FRONT_RIGHT_DRIVE = 3;
        public static final int PWM_ROLLER = 4;
        public static final int PWM_BELT = 5;
        public static final int PCM = 0;
    }
    public static final class Operator {
        public static final int DRIVER_CONTROLLER = 0;
        public static final int OPERATOR_CONTROLLER = 1;
    }
    public static final class Tuning {
        public static final double BELT_SPEED = 1.0;
        public static final double DRIVE_DEADBAND = 0.08;
        public static final double NORMAL_DRIVE_SCALE = 0.40;
        public static final double SLOW_DRIVE_SCALE = 0.20;
    }
}</a:t>
            </a:r>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BeltSubsystem Owns the Belt Motor</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tIns="101600" bIns="101600" rtlCol="0" anchor="t">
            <a:noAutofit/>
          </a:bodyPr>
          <a:lstStyle/>
          <a:p>
            <a:pPr algn="ctr">
              <a:defRPr sz="1200">
                <a:solidFill>
                  <a:srgbClr val="F8FAFC"/>
                </a:solidFill>
                <a:latin typeface="Courier New"/>
              </a:defRPr>
            </a:pPr>
            <a:r>
              <a:rPr lang="en-US" sz="1100"/>
              <a:t>package frc.robot.subsystems;
import edu.wpi.first.wpilibj.motorcontrol.Talon;
import edu.wpi.first.wpilibj2.command.SubsystemBase;
import frc.robot.Constants;
// Presentation excerpt: open BeltSubsystem.java in VS Code for the full
// required NAME, DESCRIPTION, and method comments.
public class BeltSubsystem extends SubsystemBase {
    private final Talon beltMotor;
    public BeltSubsystem() {
        beltMotor = new Talon(Constants.Hardware.PWM_BELT);
    }
    public void run(double speed) {
        beltMotor.set(speed);
    }
    public void stop() {
        run(0);
    }
}</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BeltInCommand Runs the Belt</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tIns="101600" bIns="101600" rtlCol="0" anchor="t">
            <a:noAutofit/>
          </a:bodyPr>
          <a:lstStyle/>
          <a:p>
            <a:pPr algn="ctr">
              <a:defRPr sz="1100">
                <a:solidFill>
                  <a:srgbClr val="F8FAFC"/>
                </a:solidFill>
                <a:latin typeface="Courier New"/>
              </a:defRPr>
            </a:pPr>
            <a:r>
              <a:rPr lang="en-US" sz="1000"/>
              <a:t>package frc.robot.commands;
import edu.wpi.first.wpilibj2.command.Command;
import frc.robot.Constants;
import frc.robot.subsystems.BeltSubsystem;
// Presentation excerpt: open BeltInCommand.java in VS Code for the full
// required NAME, DESCRIPTION, PARAMETERS, and RETURNS comments.
public class BeltInCommand extends Command {
    private final BeltSubsystem beltSubsystem;
    public BeltInCommand(BeltSubsystem beltSubsystem) {
        this.beltSubsystem = beltSubsystem;
        addRequirements(beltSubsystem);
    }
    @Override
    public void execute() {
        beltSubsystem.run(Constants.Tuning.BELT_SPEED);
    }
    @Override
    public void end(boolean interrupted) {
        beltSubsystem.stop();
    }
    @Override
    public boolean isFinished() {
        return false;
    }
}</a:t>
            </a:r>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RobotContainer Connects Buttons to Commands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10728655" cy="4754880"/>
          </a:xfrm>
          <a:prstGeom prst="rect">
            <a:avLst/>
          </a:prstGeom>
          <a:solidFill>
            <a:srgbClr val="0F172A"/>
          </a:solidFill>
        </p:spPr>
        <p:style>
          <a:lnRef idx="1">
            <a:schemeClr val="accent1"/>
          </a:lnRef>
          <a:fillRef idx="3">
            <a:schemeClr val="accent1"/>
          </a:fillRef>
          <a:effectRef idx="2">
            <a:schemeClr val="accent1"/>
          </a:effectRef>
          <a:fontRef idx="minor">
            <a:schemeClr val="lt1"/>
          </a:fontRef>
        </p:style>
        <p:txBody>
          <a:bodyPr wrap="square" tIns="101600" bIns="101600" rtlCol="0" anchor="t">
            <a:noAutofit/>
          </a:bodyPr>
          <a:lstStyle/>
          <a:p>
            <a:pPr algn="ctr">
              <a:defRPr sz="1100">
                <a:solidFill>
                  <a:srgbClr val="F8FAFC"/>
                </a:solidFill>
                <a:latin typeface="Courier New"/>
              </a:defRPr>
            </a:pPr>
            <a:r>
              <a:rPr lang="en-US" sz="1100"/>
              <a:t>public class RobotContainer {
    // Presentation excerpt: controllers and subsystems are created once in
    // the constructor. Open RobotContainer.java in VS Code for full comments.
    /** NAME: configureBindings - maps controller buttons to commands. */
    private void configureBindings() {
        operatorController.y()
            .onTrue(new ToggleClimberArmsCommand(climberSubsystem));
        operatorController.a()
            .whileTrue(new BeltInCommand(beltSubsystem));
        operatorController.b()
            .whileTrue(new BeltOutCommand(beltSubsystem));
        operatorController.x()
            .whileTrue(new RollerCommand(rollerSubsystem));
        driverController.rightBumper()
            .whileTrue(new SlowDriveCommand(driveSpeedMode));
    }
}</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Button A Across the Java Files</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10728655" cy="475488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600" b="1">
                <a:solidFill>
                  <a:srgbClr val="0284C7"/>
                </a:solidFill>
                <a:latin typeface="Arial"/>
              </a:defRPr>
            </a:pPr>
            <a:r>
              <a:rPr lang="en-US"/>
              <a:t>BUTTON A CODE TRACE
1. RobotContainer.java binds operatorController.a().whileTrue(...) to a BeltInCommand.
2. BeltInCommand.java calls addRequirements(beltSubsystem) in its constructor.
3. Robot.java calls CommandScheduler.getInstance().run() from robotPeriodic().
4. While Button A is held, BeltInCommand.execute() calls beltSubsystem.run(Constants.Tuning.BELT_SPEED).
5. BeltSubsystem.java sends that output to the Talon on Constants.Hardware.PWM_BELT (PWM Port 5).</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Trace Another Control</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500" b="1">
                <a:solidFill>
                  <a:srgbClr val="0284C7"/>
                </a:solidFill>
                <a:latin typeface="Arial"/>
              </a:defRPr>
            </a:pPr>
            <a:r>
              <a:rPr lang="en-US"/>
              <a:t>BUTTON A
Trace a press from the physical controller to PWM Port 5, then trace the release back to zero output.</a:t>
            </a:r>
            <a:endParaRPr/>
          </a:p>
        </p:txBody>
      </p:sp>
      <p:sp>
        <p:nvSpPr>
          <p:cNvPr id="6" name="Rounded Rectangle 5"/>
          <p:cNvSpPr/>
          <p:nvPr/>
        </p:nvSpPr>
        <p:spPr>
          <a:xfrm>
            <a:off x="6126480" y="164592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500" b="1">
                <a:solidFill>
                  <a:srgbClr val="0284C7"/>
                </a:solidFill>
                <a:latin typeface="Arial"/>
              </a:defRPr>
            </a:pPr>
            <a:r>
              <a:rPr lang="en-US"/>
              <a:t>BUTTONS A + B
Trace what happens when both belt buttons are held. Identify the scheduled command and subsystem owner.</a:t>
            </a:r>
            <a:endParaRPr/>
          </a:p>
        </p:txBody>
      </p:sp>
      <p:sp>
        <p:nvSpPr>
          <p:cNvPr id="7" name="Rounded Rectangle 6"/>
          <p:cNvSpPr/>
          <p:nvPr/>
        </p:nvSpPr>
        <p:spPr>
          <a:xfrm>
            <a:off x="731520" y="402336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500" b="1">
                <a:solidFill>
                  <a:srgbClr val="0284C7"/>
                </a:solidFill>
                <a:latin typeface="Arial"/>
              </a:defRPr>
            </a:pPr>
            <a:r>
              <a:rPr lang="en-US"/>
              <a:t>BUTTON Y
Compare onTrue(ToggleClimberArmsCommand) with the belt's whileTrue binding and lifecycle.</a:t>
            </a:r>
            <a:endParaRPr/>
          </a:p>
        </p:txBody>
      </p:sp>
      <p:sp>
        <p:nvSpPr>
          <p:cNvPr id="8" name="Rounded Rectangle 7"/>
          <p:cNvSpPr/>
          <p:nvPr/>
        </p:nvSpPr>
        <p:spPr>
          <a:xfrm>
            <a:off x="6126480" y="4023360"/>
            <a:ext cx="5120640" cy="2103120"/>
          </a:xfrm>
          <a:prstGeom prst="roundRect">
            <a:avLst/>
          </a:prstGeom>
          <a:solidFill>
            <a:srgbClr val="FFFFFF"/>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600"/>
              </a:spcAft>
              <a:defRPr sz="1500" b="1">
                <a:solidFill>
                  <a:srgbClr val="0284C7"/>
                </a:solidFill>
                <a:latin typeface="Arial"/>
              </a:defRPr>
            </a:pPr>
            <a:r>
              <a:rPr lang="en-US"/>
              <a:t>BUTTON X
Diagnose a roller that does not run by checking Driver Station USB assignment, binding, command, and PWM Port 4.</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61610"/>
          </a:xfrm>
          <a:prstGeom prst="rect">
            <a:avLst/>
          </a:prstGeom>
          <a:noFill/>
        </p:spPr>
        <p:txBody>
          <a:bodyPr wrap="square">
            <a:spAutoFit/>
          </a:bodyPr>
          <a:lstStyle/>
          <a:p>
            <a:pPr>
              <a:defRPr sz="1100" b="1">
                <a:solidFill>
                  <a:srgbClr val="0284C7"/>
                </a:solidFill>
                <a:latin typeface="Arial"/>
              </a:defRPr>
            </a:pPr>
            <a:endParaRPr/>
          </a:p>
        </p:txBody>
      </p:sp>
      <p:sp>
        <p:nvSpPr>
          <p:cNvPr id="3" name="TextBox 2"/>
          <p:cNvSpPr txBox="1"/>
          <p:nvPr/>
        </p:nvSpPr>
        <p:spPr>
          <a:xfrm>
            <a:off x="731520" y="640080"/>
            <a:ext cx="10698480" cy="461665"/>
          </a:xfrm>
          <a:prstGeom prst="rect">
            <a:avLst/>
          </a:prstGeom>
          <a:noFill/>
        </p:spPr>
        <p:txBody>
          <a:bodyPr wrap="square">
            <a:spAutoFit/>
          </a:bodyPr>
          <a:lstStyle/>
          <a:p>
            <a:pPr>
              <a:defRPr sz="2400" b="1">
                <a:solidFill>
                  <a:srgbClr val="1E293B"/>
                </a:solidFill>
                <a:latin typeface="Georgia"/>
              </a:defRPr>
            </a:pPr>
            <a:r>
              <a:rPr lang="en-US"/>
              <a:t>PWM and CAN Motor Control</a:t>
            </a:r>
            <a:endParaRPr/>
          </a:p>
        </p:txBody>
      </p:sp>
      <p:sp>
        <p:nvSpPr>
          <p:cNvPr id="4" name="Rectangle 3"/>
          <p:cNvSpPr/>
          <p:nvPr/>
        </p:nvSpPr>
        <p:spPr>
          <a:xfrm>
            <a:off x="731520" y="1371600"/>
            <a:ext cx="10728655" cy="25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45920"/>
          <a:ext cx="10728655" cy="45720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681935">
                  <a:extLst>
                    <a:ext uri="{9D8B030D-6E8A-4147-A177-3AD203B41FA5}">
                      <a16:colId xmlns:a16="http://schemas.microsoft.com/office/drawing/2014/main" val="20003"/>
                    </a:ext>
                  </a:extLst>
                </a:gridCol>
              </a:tblGrid>
              <a:tr h="914400">
                <a:tc>
                  <a:txBody>
                    <a:bodyPr/>
                    <a:lstStyle/>
                    <a:p>
                      <a:pPr>
                        <a:defRPr sz="1300" b="1">
                          <a:solidFill>
                            <a:srgbClr val="FFFFFF"/>
                          </a:solidFill>
                          <a:latin typeface="Arial"/>
                        </a:defRPr>
                      </a:pPr>
                      <a:r>
                        <a:t>Feature / Dimension</a:t>
                      </a:r>
                    </a:p>
                  </a:txBody>
                  <a:tcPr>
                    <a:solidFill>
                      <a:srgbClr val="0284C7"/>
                    </a:solidFill>
                  </a:tcPr>
                </a:tc>
                <a:tc>
                  <a:txBody>
                    <a:bodyPr/>
                    <a:lstStyle/>
                    <a:p>
                      <a:pPr>
                        <a:defRPr sz="1300" b="1">
                          <a:solidFill>
                            <a:srgbClr val="FFFFFF"/>
                          </a:solidFill>
                          <a:latin typeface="Arial"/>
                        </a:defRPr>
                      </a:pPr>
                      <a:r>
                        <a:t>PWM Signal (Standard Talons)</a:t>
                      </a:r>
                    </a:p>
                  </a:txBody>
                  <a:tcPr>
                    <a:solidFill>
                      <a:srgbClr val="0284C7"/>
                    </a:solidFill>
                  </a:tcPr>
                </a:tc>
                <a:tc>
                  <a:txBody>
                    <a:bodyPr/>
                    <a:lstStyle/>
                    <a:p>
                      <a:pPr>
                        <a:defRPr sz="1300" b="1">
                          <a:solidFill>
                            <a:srgbClr val="FFFFFF"/>
                          </a:solidFill>
                          <a:latin typeface="Arial"/>
                        </a:defRPr>
                      </a:pPr>
                      <a:r>
                        <a:t>CAN Bus (Talon SRX / CANSparkMax)</a:t>
                      </a:r>
                    </a:p>
                  </a:txBody>
                  <a:tcPr>
                    <a:solidFill>
                      <a:srgbClr val="0284C7"/>
                    </a:solidFill>
                  </a:tcPr>
                </a:tc>
                <a:tc>
                  <a:txBody>
                    <a:bodyPr/>
                    <a:lstStyle/>
                    <a:p>
                      <a:pPr>
                        <a:defRPr sz="1300" b="1">
                          <a:solidFill>
                            <a:srgbClr val="FFFFFF"/>
                          </a:solidFill>
                          <a:latin typeface="Arial"/>
                        </a:defRPr>
                      </a:pPr>
                      <a:r>
                        <a:t>Robot Application</a:t>
                      </a:r>
                    </a:p>
                  </a:txBody>
                  <a:tcPr>
                    <a:solidFill>
                      <a:srgbClr val="0284C7"/>
                    </a:solidFill>
                  </a:tcPr>
                </a:tc>
                <a:extLst>
                  <a:ext uri="{0D108BD9-81ED-4DB2-BD59-A6C34878D82A}">
                    <a16:rowId xmlns:a16="http://schemas.microsoft.com/office/drawing/2014/main" val="10000"/>
                  </a:ext>
                </a:extLst>
              </a:tr>
              <a:tr h="914400">
                <a:tc>
                  <a:txBody>
                    <a:bodyPr/>
                    <a:lstStyle/>
                    <a:p>
                      <a:pPr>
                        <a:defRPr sz="1100">
                          <a:solidFill>
                            <a:srgbClr val="1E293B"/>
                          </a:solidFill>
                          <a:latin typeface="Arial"/>
                        </a:defRPr>
                      </a:pPr>
                      <a:r>
                        <a:t>Wiring Topology</a:t>
                      </a:r>
                    </a:p>
                  </a:txBody>
                  <a:tcPr>
                    <a:solidFill>
                      <a:srgbClr val="FFFFFF"/>
                    </a:solidFill>
                  </a:tcPr>
                </a:tc>
                <a:tc>
                  <a:txBody>
                    <a:bodyPr/>
                    <a:lstStyle/>
                    <a:p>
                      <a:pPr>
                        <a:defRPr sz="1100">
                          <a:solidFill>
                            <a:srgbClr val="1E293B"/>
                          </a:solidFill>
                          <a:latin typeface="Arial"/>
                        </a:defRPr>
                      </a:pPr>
                      <a:r>
                        <a:t>Point-to-point 3-pin cable from roboRIO</a:t>
                      </a:r>
                    </a:p>
                  </a:txBody>
                  <a:tcPr>
                    <a:solidFill>
                      <a:srgbClr val="FFFFFF"/>
                    </a:solidFill>
                  </a:tcPr>
                </a:tc>
                <a:tc>
                  <a:txBody>
                    <a:bodyPr/>
                    <a:lstStyle/>
                    <a:p>
                      <a:pPr>
                        <a:defRPr sz="1100">
                          <a:solidFill>
                            <a:srgbClr val="1E293B"/>
                          </a:solidFill>
                          <a:latin typeface="Arial"/>
                        </a:defRPr>
                      </a:pPr>
                      <a:r>
                        <a:t>Daisy-chained 2-wire bus across entire robot</a:t>
                      </a:r>
                    </a:p>
                  </a:txBody>
                  <a:tcPr>
                    <a:solidFill>
                      <a:srgbClr val="FFFFFF"/>
                    </a:solidFill>
                  </a:tcPr>
                </a:tc>
                <a:tc>
                  <a:txBody>
                    <a:bodyPr/>
                    <a:lstStyle/>
                    <a:p>
                      <a:pPr>
                        <a:defRPr sz="1100">
                          <a:solidFill>
                            <a:srgbClr val="1E293B"/>
                          </a:solidFill>
                          <a:latin typeface="Arial"/>
                        </a:defRPr>
                      </a:pPr>
                      <a:r>
                        <a:t>CAN reduces roboRIO wiring clutter</a:t>
                      </a:r>
                    </a:p>
                  </a:txBody>
                  <a:tcPr>
                    <a:solidFill>
                      <a:srgbClr val="FFFFFF"/>
                    </a:solidFill>
                  </a:tcPr>
                </a:tc>
                <a:extLst>
                  <a:ext uri="{0D108BD9-81ED-4DB2-BD59-A6C34878D82A}">
                    <a16:rowId xmlns:a16="http://schemas.microsoft.com/office/drawing/2014/main" val="10001"/>
                  </a:ext>
                </a:extLst>
              </a:tr>
              <a:tr h="914400">
                <a:tc>
                  <a:txBody>
                    <a:bodyPr/>
                    <a:lstStyle/>
                    <a:p>
                      <a:pPr>
                        <a:defRPr sz="1100">
                          <a:solidFill>
                            <a:srgbClr val="1E293B"/>
                          </a:solidFill>
                          <a:latin typeface="Arial"/>
                        </a:defRPr>
                      </a:pPr>
                      <a:r>
                        <a:t>Feedback &amp; Telemetry</a:t>
                      </a:r>
                    </a:p>
                  </a:txBody>
                  <a:tcPr>
                    <a:solidFill>
                      <a:srgbClr val="F8F9FA"/>
                    </a:solidFill>
                  </a:tcPr>
                </a:tc>
                <a:tc>
                  <a:txBody>
                    <a:bodyPr/>
                    <a:lstStyle/>
                    <a:p>
                      <a:pPr>
                        <a:defRPr sz="1100">
                          <a:solidFill>
                            <a:srgbClr val="1E293B"/>
                          </a:solidFill>
                          <a:latin typeface="Arial"/>
                        </a:defRPr>
                      </a:pPr>
                      <a:r>
                        <a:t>One-way command signal (0V to 5V pulse)</a:t>
                      </a:r>
                    </a:p>
                  </a:txBody>
                  <a:tcPr>
                    <a:solidFill>
                      <a:srgbClr val="F8F9FA"/>
                    </a:solidFill>
                  </a:tcPr>
                </a:tc>
                <a:tc>
                  <a:txBody>
                    <a:bodyPr/>
                    <a:lstStyle/>
                    <a:p>
                      <a:pPr>
                        <a:defRPr sz="1100">
                          <a:solidFill>
                            <a:srgbClr val="1E293B"/>
                          </a:solidFill>
                          <a:latin typeface="Arial"/>
                        </a:defRPr>
                      </a:pPr>
                      <a:r>
                        <a:t>Bi-directional (Current, Voltage, RPM, Encoder)</a:t>
                      </a:r>
                    </a:p>
                  </a:txBody>
                  <a:tcPr>
                    <a:solidFill>
                      <a:srgbClr val="F8F9FA"/>
                    </a:solidFill>
                  </a:tcPr>
                </a:tc>
                <a:tc>
                  <a:txBody>
                    <a:bodyPr/>
                    <a:lstStyle/>
                    <a:p>
                      <a:pPr>
                        <a:defRPr sz="1100">
                          <a:solidFill>
                            <a:srgbClr val="1E293B"/>
                          </a:solidFill>
                          <a:latin typeface="Arial"/>
                        </a:defRPr>
                      </a:pPr>
                      <a:r>
                        <a:t>CAN enables closed-loop PID control</a:t>
                      </a:r>
                    </a:p>
                  </a:txBody>
                  <a:tcPr>
                    <a:solidFill>
                      <a:srgbClr val="F8F9FA"/>
                    </a:solidFill>
                  </a:tcPr>
                </a:tc>
                <a:extLst>
                  <a:ext uri="{0D108BD9-81ED-4DB2-BD59-A6C34878D82A}">
                    <a16:rowId xmlns:a16="http://schemas.microsoft.com/office/drawing/2014/main" val="10002"/>
                  </a:ext>
                </a:extLst>
              </a:tr>
              <a:tr h="914400">
                <a:tc>
                  <a:txBody>
                    <a:bodyPr/>
                    <a:lstStyle/>
                    <a:p>
                      <a:pPr>
                        <a:defRPr sz="1100">
                          <a:solidFill>
                            <a:srgbClr val="1E293B"/>
                          </a:solidFill>
                          <a:latin typeface="Arial"/>
                        </a:defRPr>
                      </a:pPr>
                      <a:r>
                        <a:t>WPILib Class</a:t>
                      </a:r>
                    </a:p>
                  </a:txBody>
                  <a:tcPr>
                    <a:solidFill>
                      <a:srgbClr val="FFFFFF"/>
                    </a:solidFill>
                  </a:tcPr>
                </a:tc>
                <a:tc>
                  <a:txBody>
                    <a:bodyPr/>
                    <a:lstStyle/>
                    <a:p>
                      <a:pPr>
                        <a:defRPr sz="1100">
                          <a:solidFill>
                            <a:srgbClr val="1E293B"/>
                          </a:solidFill>
                          <a:latin typeface="Arial"/>
                        </a:defRPr>
                      </a:pPr>
                      <a:r>
                        <a:t>edu.wpi.first.wpilibj.motorcontrol.Talon</a:t>
                      </a:r>
                    </a:p>
                  </a:txBody>
                  <a:tcPr>
                    <a:solidFill>
                      <a:srgbClr val="FFFFFF"/>
                    </a:solidFill>
                  </a:tcPr>
                </a:tc>
                <a:tc>
                  <a:txBody>
                    <a:bodyPr/>
                    <a:lstStyle/>
                    <a:p>
                      <a:pPr>
                        <a:defRPr sz="1100">
                          <a:solidFill>
                            <a:srgbClr val="1E293B"/>
                          </a:solidFill>
                          <a:latin typeface="Arial"/>
                        </a:defRPr>
                      </a:pPr>
                      <a:r>
                        <a:t>com.ctre.phoenix.motorcontrol.can.WPI_TalonSRX</a:t>
                      </a:r>
                    </a:p>
                  </a:txBody>
                  <a:tcPr>
                    <a:solidFill>
                      <a:srgbClr val="FFFFFF"/>
                    </a:solidFill>
                  </a:tcPr>
                </a:tc>
                <a:tc>
                  <a:txBody>
                    <a:bodyPr/>
                    <a:lstStyle/>
                    <a:p>
                      <a:pPr>
                        <a:defRPr sz="1100">
                          <a:solidFill>
                            <a:srgbClr val="1E293B"/>
                          </a:solidFill>
                          <a:latin typeface="Arial"/>
                        </a:defRPr>
                      </a:pPr>
                      <a:r>
                        <a:t>2020 codebase uses PWM Talons for simplicity</a:t>
                      </a:r>
                    </a:p>
                  </a:txBody>
                  <a:tcPr>
                    <a:solidFill>
                      <a:srgbClr val="FFFFFF"/>
                    </a:solidFill>
                  </a:tcPr>
                </a:tc>
                <a:extLst>
                  <a:ext uri="{0D108BD9-81ED-4DB2-BD59-A6C34878D82A}">
                    <a16:rowId xmlns:a16="http://schemas.microsoft.com/office/drawing/2014/main" val="10003"/>
                  </a:ext>
                </a:extLst>
              </a:tr>
              <a:tr h="914400">
                <a:tc>
                  <a:txBody>
                    <a:bodyPr/>
                    <a:lstStyle/>
                    <a:p>
                      <a:pPr>
                        <a:defRPr sz="1100">
                          <a:solidFill>
                            <a:srgbClr val="1E293B"/>
                          </a:solidFill>
                          <a:latin typeface="Arial"/>
                        </a:defRPr>
                      </a:pPr>
                      <a:r>
                        <a:t>Configuration</a:t>
                      </a:r>
                    </a:p>
                  </a:txBody>
                  <a:tcPr>
                    <a:solidFill>
                      <a:srgbClr val="F8F9FA"/>
                    </a:solidFill>
                  </a:tcPr>
                </a:tc>
                <a:tc>
                  <a:txBody>
                    <a:bodyPr/>
                    <a:lstStyle/>
                    <a:p>
                      <a:pPr>
                        <a:defRPr sz="1100">
                          <a:solidFill>
                            <a:srgbClr val="1E293B"/>
                          </a:solidFill>
                          <a:latin typeface="Arial"/>
                        </a:defRPr>
                      </a:pPr>
                      <a:r>
                        <a:t>PWM channel number (0..5)</a:t>
                      </a:r>
                    </a:p>
                  </a:txBody>
                  <a:tcPr>
                    <a:solidFill>
                      <a:srgbClr val="F8F9FA"/>
                    </a:solidFill>
                  </a:tcPr>
                </a:tc>
                <a:tc>
                  <a:txBody>
                    <a:bodyPr/>
                    <a:lstStyle/>
                    <a:p>
                      <a:pPr>
                        <a:defRPr sz="1100">
                          <a:solidFill>
                            <a:srgbClr val="1E293B"/>
                          </a:solidFill>
                          <a:latin typeface="Arial"/>
                        </a:defRPr>
                      </a:pPr>
                      <a:r>
                        <a:t>CAN Device ID (0..63)</a:t>
                      </a:r>
                    </a:p>
                  </a:txBody>
                  <a:tcPr>
                    <a:solidFill>
                      <a:srgbClr val="F8F9FA"/>
                    </a:solidFill>
                  </a:tcPr>
                </a:tc>
                <a:tc>
                  <a:txBody>
                    <a:bodyPr/>
                    <a:lstStyle/>
                    <a:p>
                      <a:pPr>
                        <a:defRPr sz="1100">
                          <a:solidFill>
                            <a:srgbClr val="1E293B"/>
                          </a:solidFill>
                          <a:latin typeface="Arial"/>
                        </a:defRPr>
                      </a:pPr>
                      <a:r>
                        <a:t>Constants.java stores port mapping</a:t>
                      </a:r>
                    </a:p>
                  </a:txBody>
                  <a:tcPr>
                    <a:solidFill>
                      <a:srgbClr val="F8F9FA"/>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TotalTime>
  <Words>3117</Words>
  <Application>Microsoft Office PowerPoint</Application>
  <PresentationFormat>Widescreen</PresentationFormat>
  <Paragraphs>149</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MONACHELLO</cp:lastModifiedBy>
  <cp:revision>5</cp:revision>
  <dcterms:created xsi:type="dcterms:W3CDTF">2013-01-27T09:14:16Z</dcterms:created>
  <dcterms:modified xsi:type="dcterms:W3CDTF">2026-10-07T07:07:05Z</dcterms:modified>
  <cp:category/>
</cp:coreProperties>
</file>