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be3521c13ce4fc5" /><Relationship Type="http://schemas.openxmlformats.org/officeDocument/2006/relationships/extended-properties" Target="/docProps/app.xml" Id="R73a4ea376510447c" /><Relationship Type="http://schemas.openxmlformats.org/officeDocument/2006/relationships/officeDocument" Target="/ppt/presentation.xml" Id="R418c94e9c2c34b8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404e892c5894d73"/>
  </p:sldMasterIdLst>
  <p:notesMasterIdLst>
    <p:notesMasterId xmlns:r="http://schemas.openxmlformats.org/officeDocument/2006/relationships" r:id="Rb6f1dc2da730465c"/>
  </p:notesMasterIdLst>
  <p:sldIdLst>
    <p:sldId xmlns:r="http://schemas.openxmlformats.org/officeDocument/2006/relationships" id="256" r:id="Rd643c5261e304ec3"/>
    <p:sldId xmlns:r="http://schemas.openxmlformats.org/officeDocument/2006/relationships" id="257" r:id="R7e654739212f4736"/>
    <p:sldId xmlns:r="http://schemas.openxmlformats.org/officeDocument/2006/relationships" id="258" r:id="R944e26e380764bbb"/>
    <p:sldId xmlns:r="http://schemas.openxmlformats.org/officeDocument/2006/relationships" id="259" r:id="R6c40fe962e724aab"/>
    <p:sldId xmlns:r="http://schemas.openxmlformats.org/officeDocument/2006/relationships" id="260" r:id="R8cd388f4df1b40c1"/>
    <p:sldId xmlns:r="http://schemas.openxmlformats.org/officeDocument/2006/relationships" id="261" r:id="R3b48d0f5f0984a4c"/>
    <p:sldId xmlns:r="http://schemas.openxmlformats.org/officeDocument/2006/relationships" id="262" r:id="R652cfd1741b24220"/>
    <p:sldId xmlns:r="http://schemas.openxmlformats.org/officeDocument/2006/relationships" id="263" r:id="Rac6a779c70824bb9"/>
    <p:sldId xmlns:r="http://schemas.openxmlformats.org/officeDocument/2006/relationships" id="264" r:id="R8919e691537446e8"/>
    <p:sldId xmlns:r="http://schemas.openxmlformats.org/officeDocument/2006/relationships" id="265" r:id="R245eb602970044ea"/>
    <p:sldId xmlns:r="http://schemas.openxmlformats.org/officeDocument/2006/relationships" id="266" r:id="Rb275f192b6e045cd"/>
    <p:sldId xmlns:r="http://schemas.openxmlformats.org/officeDocument/2006/relationships" id="267" r:id="R9932f6f6353444ed"/>
    <p:sldId xmlns:r="http://schemas.openxmlformats.org/officeDocument/2006/relationships" id="268" r:id="R604f311c1f414d64"/>
    <p:sldId xmlns:r="http://schemas.openxmlformats.org/officeDocument/2006/relationships" id="269" r:id="Rdb99e889e1974372"/>
    <p:sldId xmlns:r="http://schemas.openxmlformats.org/officeDocument/2006/relationships" id="270" r:id="Ra6401c4d6eea451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1ba00837f9f49f4" /><Relationship Type="http://schemas.openxmlformats.org/officeDocument/2006/relationships/slideMaster" Target="/ppt/slideMasters/slideMaster1.xml" Id="Rc404e892c5894d73" /><Relationship Type="http://schemas.openxmlformats.org/officeDocument/2006/relationships/notesMaster" Target="/ppt/notesMasters/notesMaster1.xml" Id="Rb6f1dc2da730465c" /><Relationship Type="http://schemas.openxmlformats.org/officeDocument/2006/relationships/presProps" Target="/ppt/presProps.xml" Id="R271b5f4a4db84148" /><Relationship Type="http://schemas.openxmlformats.org/officeDocument/2006/relationships/tableStyles" Target="/ppt/tableStyles.xml" Id="R1f9583363b4a4642" /><Relationship Type="http://schemas.openxmlformats.org/officeDocument/2006/relationships/slide" Target="/ppt/slides/slide1.xml" Id="Rd643c5261e304ec3" /><Relationship Type="http://schemas.openxmlformats.org/officeDocument/2006/relationships/slide" Target="/ppt/slides/slide2.xml" Id="R7e654739212f4736" /><Relationship Type="http://schemas.openxmlformats.org/officeDocument/2006/relationships/slide" Target="/ppt/slides/slide3.xml" Id="R944e26e380764bbb" /><Relationship Type="http://schemas.openxmlformats.org/officeDocument/2006/relationships/slide" Target="/ppt/slides/slide4.xml" Id="R6c40fe962e724aab" /><Relationship Type="http://schemas.openxmlformats.org/officeDocument/2006/relationships/slide" Target="/ppt/slides/slide5.xml" Id="R8cd388f4df1b40c1" /><Relationship Type="http://schemas.openxmlformats.org/officeDocument/2006/relationships/slide" Target="/ppt/slides/slide6.xml" Id="R3b48d0f5f0984a4c" /><Relationship Type="http://schemas.openxmlformats.org/officeDocument/2006/relationships/slide" Target="/ppt/slides/slide7.xml" Id="R652cfd1741b24220" /><Relationship Type="http://schemas.openxmlformats.org/officeDocument/2006/relationships/slide" Target="/ppt/slides/slide8.xml" Id="Rac6a779c70824bb9" /><Relationship Type="http://schemas.openxmlformats.org/officeDocument/2006/relationships/slide" Target="/ppt/slides/slide9.xml" Id="R8919e691537446e8" /><Relationship Type="http://schemas.openxmlformats.org/officeDocument/2006/relationships/slide" Target="/ppt/slides/slide10.xml" Id="R245eb602970044ea" /><Relationship Type="http://schemas.openxmlformats.org/officeDocument/2006/relationships/slide" Target="/ppt/slides/slide11.xml" Id="Rb275f192b6e045cd" /><Relationship Type="http://schemas.openxmlformats.org/officeDocument/2006/relationships/slide" Target="/ppt/slides/slide12.xml" Id="R9932f6f6353444ed" /><Relationship Type="http://schemas.openxmlformats.org/officeDocument/2006/relationships/slide" Target="/ppt/slides/slide13.xml" Id="R604f311c1f414d64" /><Relationship Type="http://schemas.openxmlformats.org/officeDocument/2006/relationships/slide" Target="/ppt/slides/slide14.xml" Id="Rdb99e889e1974372" /><Relationship Type="http://schemas.openxmlformats.org/officeDocument/2006/relationships/slide" Target="/ppt/slides/slide15.xml" Id="Ra6401c4d6eea451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34e0e74b0de472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f6fbd3ba33f49b7" /><Relationship Type="http://schemas.openxmlformats.org/officeDocument/2006/relationships/notesMaster" Target="/ppt/notesMasters/notesMaster1.xml" Id="R9e09a1ebf041461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516f38e8ac444e4" /><Relationship Type="http://schemas.openxmlformats.org/officeDocument/2006/relationships/notesMaster" Target="/ppt/notesMasters/notesMaster1.xml" Id="R6a6e8bfc290a461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f3dc2cb3a0144be" /><Relationship Type="http://schemas.openxmlformats.org/officeDocument/2006/relationships/notesMaster" Target="/ppt/notesMasters/notesMaster1.xml" Id="R44ea47cc55b747c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8b86e08223a4c46" /><Relationship Type="http://schemas.openxmlformats.org/officeDocument/2006/relationships/notesMaster" Target="/ppt/notesMasters/notesMaster1.xml" Id="R7cda33a94cb4445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1b81aa599234cc5" /><Relationship Type="http://schemas.openxmlformats.org/officeDocument/2006/relationships/notesMaster" Target="/ppt/notesMasters/notesMaster1.xml" Id="Red14e6570dcb4d9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c5a3bd9f3d740c1" /><Relationship Type="http://schemas.openxmlformats.org/officeDocument/2006/relationships/notesMaster" Target="/ppt/notesMasters/notesMaster1.xml" Id="R1db49bd463004a0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b7f1990590e4184" /><Relationship Type="http://schemas.openxmlformats.org/officeDocument/2006/relationships/notesMaster" Target="/ppt/notesMasters/notesMaster1.xml" Id="R48a2d67bcaeb44f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0ca759b0e9b454c" /><Relationship Type="http://schemas.openxmlformats.org/officeDocument/2006/relationships/notesMaster" Target="/ppt/notesMasters/notesMaster1.xml" Id="Rda36572a0ca2496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93e93408c984fb4" /><Relationship Type="http://schemas.openxmlformats.org/officeDocument/2006/relationships/notesMaster" Target="/ppt/notesMasters/notesMaster1.xml" Id="Rc755c91fbe164d8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ec2c5b931fd48f8" /><Relationship Type="http://schemas.openxmlformats.org/officeDocument/2006/relationships/notesMaster" Target="/ppt/notesMasters/notesMaster1.xml" Id="Rd6354f327d6a44b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abb31558f5c49b0" /><Relationship Type="http://schemas.openxmlformats.org/officeDocument/2006/relationships/notesMaster" Target="/ppt/notesMasters/notesMaster1.xml" Id="Rb0cdc65e543541a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20392337d1344eb" /><Relationship Type="http://schemas.openxmlformats.org/officeDocument/2006/relationships/notesMaster" Target="/ppt/notesMasters/notesMaster1.xml" Id="R155f7559e6444bc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b0c15bb0b05453d" /><Relationship Type="http://schemas.openxmlformats.org/officeDocument/2006/relationships/notesMaster" Target="/ppt/notesMasters/notesMaster1.xml" Id="Rdc4eba53467c4d8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6f1c5a4ef984d1e" /><Relationship Type="http://schemas.openxmlformats.org/officeDocument/2006/relationships/notesMaster" Target="/ppt/notesMasters/notesMaster1.xml" Id="R53dd41294f9a4f7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7e3459fd610427a" /><Relationship Type="http://schemas.openxmlformats.org/officeDocument/2006/relationships/notesMaster" Target="/ppt/notesMasters/notesMaster1.xml" Id="Rbe625485b22c430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deck describes the checked-in implementation as a working system. It does not cover the history of how the code reached this structure.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C:/Users/dmona/2020FrcRobotCode/2020v2/2020/src/main/java/frc/robot/</a:t>
            </a:r>
          </a:p>
          <a:p xmlns:a="http://schemas.openxmlformats.org/drawingml/2006/main">
            <a:r>
              <a:t>- C:/Users/dmona/Downloads/Blueprint_to_Codebase.pdf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four domains align with DriveSubsystem, BeltSubsystem, RollerSubsystem, and ClimberSubsystem.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C:/Users/dmona/2020FrcRobotCode/2020v2/2020/src/main/java/frc/robot/RobotContainer.java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right drivetrain motor pair is inverted once inside DriveSubsystem. Belt and roller use distinct PWM channels and distinct subsystems.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C:/Users/dmona/2020FrcRobotCode/2020v2/2020/src/main/java/frc/robot/Constants.java</a:t>
            </a:r>
          </a:p>
          <a:p xmlns:a="http://schemas.openxmlformats.org/drawingml/2006/main">
            <a:r>
              <a:t>- C:/Users/dmona/2020FrcRobotCode/2020v2/2020/src/main/java/frc/robot/subsystems/DriveSubsystem.java</a:t>
            </a:r>
          </a:p>
          <a:p xmlns:a="http://schemas.openxmlformats.org/drawingml/2006/main">
            <a:r>
              <a:t>- C:/Users/dmona/2020FrcRobotCode/2020v2/2020/src/main/java/frc/robot/subsystems/ClimberSubsystem.java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revised operator mapping is roller 2, climber 3, belt in 4, and belt out 5. Slow drive remains button 2 on USB port 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C:/Users/dmona/2020FrcRobotCode/2020v2/2020/src/main/java/frc/robot/Constants.java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RobotContainer is the composition root. Commands depend on subsystems, while subsystems depend on WPILib hardware classes.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C:/Users/dmona/2020FrcRobotCode/2020v2/2020/src/main/java/frc/robot/RobotContainer.java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Construction happens once during robot initialization. The scheduler later uses the registered defaults and triggers.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C:/Users/dmona/2020FrcRobotCode/2020v2/2020/src/main/java/frc/robot/Robot.java</a:t>
            </a:r>
          </a:p>
          <a:p xmlns:a="http://schemas.openxmlformats.org/drawingml/2006/main">
            <a:r>
              <a:t>- C:/Users/dmona/2020FrcRobotCode/2020v2/2020/src/main/java/frc/robot/RobotContainer.java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scheduler runs on the robot thread. A blocking loop inside execute prevents later scheduler work from running.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https://docs.wpilib.org/en/latest/docs/software/commandbased/command-scheduler.html</a:t>
            </a:r>
          </a:p>
          <a:p xmlns:a="http://schemas.openxmlformats.org/drawingml/2006/main">
            <a:r>
              <a:t>- C:/Users/dmona/2020FrcRobotCode/2020v2/2020/src/main/java/frc/robot/Robot.java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Held commands return false from isFinished and rely on trigger cancellation. The one-shot climber command returns true after initialize.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https://docs.wpilib.org/en/latest/docs/software/commandbased/commands.html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belt and roller are separate scheduler resources, so intake and scoring mechanisms may operate concurrently.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C:/Users/dmona/2020FrcRobotCode/2020v2/2020/src/main/java/frc/robot/commands/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DriveTeleopCommand requires DriveSubsystem and never finishes on its own. WPILib schedules it whenever the drive subsystem is unclaimed.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C:/Users/dmona/2020FrcRobotCode/2020v2/2020/src/main/java/frc/robot/commands/DriveTeleopCommand.java</a:t>
            </a:r>
          </a:p>
          <a:p xmlns:a="http://schemas.openxmlformats.org/drawingml/2006/main">
            <a:r>
              <a:t>- C:/Users/dmona/2020FrcRobotCode/2020v2/2020/src/main/java/frc/robot/commands/SlowDriveCommand.java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BeltInCommand and BeltOutCommand compete for BeltSubsystem. RollerCommand uses RollerSubsystem, so it can run with either belt command.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C:/Users/dmona/2020FrcRobotCode/2020v2/2020/src/main/java/frc/robot/commands/BeltInCommand.java</a:t>
            </a:r>
          </a:p>
          <a:p xmlns:a="http://schemas.openxmlformats.org/drawingml/2006/main">
            <a:r>
              <a:t>- C:/Users/dmona/2020FrcRobotCode/2020v2/2020/src/main/java/frc/robot/commands/BeltOutCommand.java</a:t>
            </a:r>
          </a:p>
          <a:p xmlns:a="http://schemas.openxmlformats.org/drawingml/2006/main">
            <a:r>
              <a:t>- C:/Users/dmona/2020FrcRobotCode/2020v2/2020/src/main/java/frc/robot/commands/RollerCommand.java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Button 3 uses onTrue, so holding the button does not toggle repeatedly. Each new press changes the stored arm state once.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C:/Users/dmona/2020FrcRobotCode/2020v2/2020/src/main/java/frc/robot/commands/ToggleClimberArmsCommand.java</a:t>
            </a:r>
          </a:p>
          <a:p xmlns:a="http://schemas.openxmlformats.org/drawingml/2006/main">
            <a:r>
              <a:t>- C:/Users/dmona/2020FrcRobotCode/2020v2/2020/src/main/java/frc/robot/subsystems/ClimberSubsystem.java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numeric button values live in Constants.Operator. RobotContainer uses their names, so the intent remains readable after remapping.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C:/Users/dmona/2020FrcRobotCode/2020v2/2020/src/main/java/frc/robot/RobotContainer.java</a:t>
            </a:r>
          </a:p>
          <a:p xmlns:a="http://schemas.openxmlformats.org/drawingml/2006/main">
            <a:r>
              <a:t>- C:/Users/dmona/2020FrcRobotCode/2020v2/2020/src/main/java/frc/robot/Constants.java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input uses the revised operator button 4 mapping. BeltInCommand remains active until whileTrue cancels it on release.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C:/Users/dmona/2020FrcRobotCode/2020v2/2020/src/main/java/frc/robot/RobotContainer.java</a:t>
            </a:r>
          </a:p>
          <a:p xmlns:a="http://schemas.openxmlformats.org/drawingml/2006/main">
            <a:r>
              <a:t>- C:/Users/dmona/2020FrcRobotCode/2020v2/2020/src/main/java/frc/robot/commands/BeltInCommand.java</a:t>
            </a:r>
          </a:p>
          <a:p xmlns:a="http://schemas.openxmlformats.org/drawingml/2006/main">
            <a:r>
              <a:t>- C:/Users/dmona/2020FrcRobotCode/2020v2/2020/src/main/java/frc/robot/subsystems/BeltSubsystem.java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repeating the concrete reading path rather than summarizing the development process.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C:/Users/dmona/2020FrcRobotCode/2020v2/2020/src/main/java/frc/robot/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8e5db5ae64412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69a37b54a4344d9" /><Relationship Type="http://schemas.openxmlformats.org/officeDocument/2006/relationships/slideLayout" Target="/ppt/slideLayouts/slideLayout1.xml" Id="R4c19c975bf7946a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c19c975bf7946a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79d14377d440cd" /><Relationship Type="http://schemas.openxmlformats.org/officeDocument/2006/relationships/notesSlide" Target="/ppt/notesSlides/notesSlide1.xml" Id="R7a43e0f076e74e0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867f944ea646e7" /><Relationship Type="http://schemas.openxmlformats.org/officeDocument/2006/relationships/notesSlide" Target="/ppt/notesSlides/notesSlide2.xml" Id="R62547b3affa3403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f6c1682cae45ca" /><Relationship Type="http://schemas.openxmlformats.org/officeDocument/2006/relationships/notesSlide" Target="/ppt/notesSlides/notesSlide3.xml" Id="Ra9d69e6ffe154a2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37a158df4a4fb6" /><Relationship Type="http://schemas.openxmlformats.org/officeDocument/2006/relationships/notesSlide" Target="/ppt/notesSlides/notesSlide4.xml" Id="R3a4b5c236c4241d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36c17e214d4c4d" /><Relationship Type="http://schemas.openxmlformats.org/officeDocument/2006/relationships/notesSlide" Target="/ppt/notesSlides/notesSlide5.xml" Id="R43778caa05fd4b3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4878f8eb194875" /><Relationship Type="http://schemas.openxmlformats.org/officeDocument/2006/relationships/notesSlide" Target="/ppt/notesSlides/notesSlide6.xml" Id="R63eff6f7eac4485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6abac064d44c7d" /><Relationship Type="http://schemas.openxmlformats.org/officeDocument/2006/relationships/notesSlide" Target="/ppt/notesSlides/notesSlide7.xml" Id="R2d9a250b4f0b4ca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450403eb394dc2" /><Relationship Type="http://schemas.openxmlformats.org/officeDocument/2006/relationships/notesSlide" Target="/ppt/notesSlides/notesSlide8.xml" Id="Rec30c2679ed24c2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d36c5e0a144fcb" /><Relationship Type="http://schemas.openxmlformats.org/officeDocument/2006/relationships/notesSlide" Target="/ppt/notesSlides/notesSlide9.xml" Id="Rb403c28da10a4ad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5ec10793084b3c" /><Relationship Type="http://schemas.openxmlformats.org/officeDocument/2006/relationships/notesSlide" Target="/ppt/notesSlides/notesSlide10.xml" Id="Reb5a53362daf4fe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d837c2bfd843b0" /><Relationship Type="http://schemas.openxmlformats.org/officeDocument/2006/relationships/notesSlide" Target="/ppt/notesSlides/notesSlide11.xml" Id="R8440c3d36e0147b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0c5be34fe34da4" /><Relationship Type="http://schemas.openxmlformats.org/officeDocument/2006/relationships/notesSlide" Target="/ppt/notesSlides/notesSlide12.xml" Id="R88993ce836524f0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aa5fe9b2114727" /><Relationship Type="http://schemas.openxmlformats.org/officeDocument/2006/relationships/notesSlide" Target="/ppt/notesSlides/notesSlide13.xml" Id="R6d1e232129ef4af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9b0de05d594b3b" /><Relationship Type="http://schemas.openxmlformats.org/officeDocument/2006/relationships/notesSlide" Target="/ppt/notesSlides/notesSlide14.xml" Id="R8952f8d02cd34f1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7692faa7604af0" /><Relationship Type="http://schemas.openxmlformats.org/officeDocument/2006/relationships/notesSlide" Target="/ppt/notesSlides/notesSlide15.xml" Id="R809a5041be474b5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38A124-D1EA-4DE7-A661-E5756A5CE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FRC ROBOT SOFTWARE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F6DE1D-E2E0-4270-8D35-B58DE85E2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7239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9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The finished command-based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39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robot implementation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D5F32E-A4DF-4A94-8E76-A9060344D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666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Hardware, operator controls, subsystem ownership, commands, and the scheduler loop</a:t>
            </a:r>
          </a:p>
        </p:txBody>
      </p:sp>
      <p:sp>
        <p:nvSpPr>
          <p:cNvPr id="4" name="architecture-panel">
            <a:extLst xmlns:a="http://schemas.openxmlformats.org/drawingml/2006/main">
              <a:ext uri="{FF2B5EF4-FFF2-40B4-BE49-F238E27FC236}">
                <a16:creationId xmlns:a16="http://schemas.microsoft.com/office/drawing/2014/main" id="{7183396E-3FF3-4395-8840-D2A05F511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066800"/>
            <a:ext cx="2952750" cy="4000500"/>
          </a:xfrm>
          <a:prstGeom xmlns:a="http://schemas.openxmlformats.org/drawingml/2006/main" prst="roundRect">
            <a:avLst>
              <a:gd name="adj" fmla="val 5806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A906FD-D4F0-4A99-B450-31B007904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466850"/>
            <a:ext cx="2133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FFB64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B64D"/>
                </a:solidFill>
                <a:latin typeface="Aptos"/>
                <a:ea typeface="Aptos"/>
                <a:cs typeface="Aptos"/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D385A6-3032-4401-B6CD-B2EFB96F2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8288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5E7188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1753BB-68E3-4475-B2E1-44FC68694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305050"/>
            <a:ext cx="2133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COMMANDS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9D31C3-E416-49C0-97F2-A9510567C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6670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5E7188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7B3FD6-1BB9-43CF-BA99-92AD8A021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143250"/>
            <a:ext cx="2133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62D48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2D48A"/>
                </a:solidFill>
                <a:latin typeface="Aptos"/>
                <a:ea typeface="Aptos"/>
                <a:cs typeface="Aptos"/>
              </a:rPr>
              <a:t>SUBSYSTEMS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4E171E-1B60-4124-87AB-A5A8B7BC6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5052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5E7188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D472FD-713A-4C23-8316-9844D67AF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981450"/>
            <a:ext cx="2133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HARDWARE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C08C96-3D5E-4836-BD01-634782CE4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FFB64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B64D"/>
                </a:solidFill>
                <a:latin typeface="Aptos"/>
                <a:ea typeface="Aptos"/>
                <a:cs typeface="Aptos"/>
              </a:rPr>
              <a:t>WPILib 2026.2.1</a:t>
            </a:r>
          </a:p>
        </p:txBody>
      </p:sp>
      <p:sp>
        <p:nvSpPr>
          <p:cNvPr id="1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730E9125-7A65-4727-9BFE-4D45A12CC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7188"/>
                </a:solidFill>
                <a:latin typeface="Aptos"/>
                <a:ea typeface="Aptos"/>
                <a:cs typeface="Aptos"/>
              </a:rPr>
              <a:t>2020 FRC robot | command-based implementation</a:t>
            </a:r>
          </a:p>
        </p:txBody>
      </p:sp>
      <p:sp>
        <p:nvSpPr>
          <p:cNvPr id="14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681E125B-081A-4A64-95F0-82D8AE150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718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539364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B920366A-E87B-4EE0-9356-6CBC40741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SYSTEM OVERVIEW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59923DF-0FEC-4EEC-A188-6111374A1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6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Four control domains share one command scheduler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FFE2078-C5DF-4DD3-9467-723396BA2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Each domain owns separate hardware, so the driver can operate several mechanisms at once.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68D85D80-AE19-45D8-8B3A-55BA2ADD4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2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domain-0">
            <a:extLst xmlns:a="http://schemas.openxmlformats.org/drawingml/2006/main">
              <a:ext uri="{FF2B5EF4-FFF2-40B4-BE49-F238E27FC236}">
                <a16:creationId xmlns:a16="http://schemas.microsoft.com/office/drawing/2014/main" id="{9E6DD2E8-DF25-415B-9AFD-86725B104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2400300" cy="281940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42C6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9B387F-8D24-4CBB-A29C-B833B1B71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24100"/>
            <a:ext cx="196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Drive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018474-D259-44EE-9715-94197C6F0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48000"/>
            <a:ext cx="1962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4 Talon motor controllers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C5241D-340E-4DDE-8AF9-AECFFC968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95750"/>
            <a:ext cx="1962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Default command</a:t>
            </a:r>
          </a:p>
        </p:txBody>
      </p:sp>
      <p:sp>
        <p:nvSpPr>
          <p:cNvPr id="9" name="domain-1">
            <a:extLst xmlns:a="http://schemas.openxmlformats.org/drawingml/2006/main">
              <a:ext uri="{FF2B5EF4-FFF2-40B4-BE49-F238E27FC236}">
                <a16:creationId xmlns:a16="http://schemas.microsoft.com/office/drawing/2014/main" id="{48FA02EF-F5E9-4E1A-8C21-E5403B448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076450"/>
            <a:ext cx="2400300" cy="281940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FFB64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FCFB05-27B0-4030-B138-50E1D81C4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324100"/>
            <a:ext cx="196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FFB64D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B64D"/>
                </a:solidFill>
                <a:latin typeface="Aptos"/>
                <a:ea typeface="Aptos"/>
                <a:cs typeface="Aptos"/>
              </a:rPr>
              <a:t>Ball belt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8620C2-346C-4676-BDE9-8D3CFE6F9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048000"/>
            <a:ext cx="1962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1 Talon motor controller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A912F1-6850-4B91-A49B-3381464A9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095750"/>
            <a:ext cx="1962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Held commands</a:t>
            </a:r>
          </a:p>
        </p:txBody>
      </p:sp>
      <p:sp>
        <p:nvSpPr>
          <p:cNvPr id="13" name="domain-2">
            <a:extLst xmlns:a="http://schemas.openxmlformats.org/drawingml/2006/main">
              <a:ext uri="{FF2B5EF4-FFF2-40B4-BE49-F238E27FC236}">
                <a16:creationId xmlns:a16="http://schemas.microsoft.com/office/drawing/2014/main" id="{3DFF3078-97FB-4122-A512-3D3B66413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76450"/>
            <a:ext cx="2400300" cy="281940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62D48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EC537E-191D-429B-82E6-EE0F30E94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24100"/>
            <a:ext cx="196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62D48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62D48A"/>
                </a:solidFill>
                <a:latin typeface="Aptos"/>
                <a:ea typeface="Aptos"/>
                <a:cs typeface="Aptos"/>
              </a:rPr>
              <a:t>Scoring roller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8439AC-21B0-41B6-81A3-F188D6AE7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48000"/>
            <a:ext cx="1962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1 Talon motor controller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5DAE41-8C58-4DE0-8A68-2785CFE55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95750"/>
            <a:ext cx="1962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Held command</a:t>
            </a:r>
          </a:p>
        </p:txBody>
      </p:sp>
      <p:sp>
        <p:nvSpPr>
          <p:cNvPr id="17" name="domain-3">
            <a:extLst xmlns:a="http://schemas.openxmlformats.org/drawingml/2006/main">
              <a:ext uri="{FF2B5EF4-FFF2-40B4-BE49-F238E27FC236}">
                <a16:creationId xmlns:a16="http://schemas.microsoft.com/office/drawing/2014/main" id="{F127421D-DD7B-4160-BC18-9E57ED126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076450"/>
            <a:ext cx="2400300" cy="281940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FF7A7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605E0B-4AAC-4D98-B33C-B5B38EAE2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324100"/>
            <a:ext cx="196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FF7A7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7A7A"/>
                </a:solidFill>
                <a:latin typeface="Aptos"/>
                <a:ea typeface="Aptos"/>
                <a:cs typeface="Aptos"/>
              </a:rPr>
              <a:t>Climber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5C76EB-9132-4548-BCD2-D1203F03A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048000"/>
            <a:ext cx="1962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2 double solenoids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7E9AAD-F899-47AD-ACBA-54E919019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095750"/>
            <a:ext cx="1962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One-shot command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87A41E-F3AF-4289-88C8-1E1E339D5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334000"/>
            <a:ext cx="8229600" cy="5334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16294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A2436F-5E24-489F-9173-AFE398BEB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467350"/>
            <a:ext cx="7696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RobotContainer constructs the domains. CommandScheduler coordinates them.</a:t>
            </a:r>
          </a:p>
        </p:txBody>
      </p:sp>
      <p:sp>
        <p:nvSpPr>
          <p:cNvPr id="2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FB17E4CA-9F57-4189-BAA8-8714306BC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7188"/>
                </a:solidFill>
                <a:latin typeface="Aptos"/>
                <a:ea typeface="Aptos"/>
                <a:cs typeface="Aptos"/>
              </a:rPr>
              <a:t>2020 FRC robot | command-based implementation</a:t>
            </a:r>
          </a:p>
        </p:txBody>
      </p:sp>
      <p:sp>
        <p:nvSpPr>
          <p:cNvPr id="24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3E2E5D3D-D9D0-46D4-964E-46A3B713A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718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4351070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4E20D447-86AE-4008-99FF-64CF9A9D8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HARDWARE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E5CB98C-3708-48EB-B1DE-07F79B89D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6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The software map follows the robot's actuator wiring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B052F71-2B50-4B69-9E15-E65119EEB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PWM channels drive the motors. PCM module 0 controls both climber cylinders.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C73538AE-2D8B-4D57-9D05-2F085FD1D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2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hardware-table-cell-0-0">
            <a:extLst xmlns:a="http://schemas.openxmlformats.org/drawingml/2006/main">
              <a:ext uri="{FF2B5EF4-FFF2-40B4-BE49-F238E27FC236}">
                <a16:creationId xmlns:a16="http://schemas.microsoft.com/office/drawing/2014/main" id="{7BAA3EE5-76E4-4ABF-84DB-11361DF6D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94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6" name="hardware-table-text-0-0">
            <a:extLst xmlns:a="http://schemas.openxmlformats.org/drawingml/2006/main">
              <a:ext uri="{FF2B5EF4-FFF2-40B4-BE49-F238E27FC236}">
                <a16:creationId xmlns:a16="http://schemas.microsoft.com/office/drawing/2014/main" id="{06D55707-6D09-4BF5-BA4E-7C0821908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2152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Mechanism</a:t>
            </a:r>
          </a:p>
        </p:txBody>
      </p:sp>
      <p:sp>
        <p:nvSpPr>
          <p:cNvPr id="7" name="hardware-table-cell-0-1">
            <a:extLst xmlns:a="http://schemas.openxmlformats.org/drawingml/2006/main">
              <a:ext uri="{FF2B5EF4-FFF2-40B4-BE49-F238E27FC236}">
                <a16:creationId xmlns:a16="http://schemas.microsoft.com/office/drawing/2014/main" id="{D5A06C51-9865-4126-9C7C-D8A81AFB0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79070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94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8" name="hardware-table-text-0-1">
            <a:extLst xmlns:a="http://schemas.openxmlformats.org/drawingml/2006/main">
              <a:ext uri="{FF2B5EF4-FFF2-40B4-BE49-F238E27FC236}">
                <a16:creationId xmlns:a16="http://schemas.microsoft.com/office/drawing/2014/main" id="{F4E261B0-E0E4-4309-9FC1-8F2CF8738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866900"/>
            <a:ext cx="2152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Actuator</a:t>
            </a:r>
          </a:p>
        </p:txBody>
      </p:sp>
      <p:sp>
        <p:nvSpPr>
          <p:cNvPr id="9" name="hardware-table-cell-0-2">
            <a:extLst xmlns:a="http://schemas.openxmlformats.org/drawingml/2006/main">
              <a:ext uri="{FF2B5EF4-FFF2-40B4-BE49-F238E27FC236}">
                <a16:creationId xmlns:a16="http://schemas.microsoft.com/office/drawing/2014/main" id="{2C54FB0E-4F68-49AE-9186-9A9ADF636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1790700"/>
            <a:ext cx="247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94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10" name="hardware-table-text-0-2">
            <a:extLst xmlns:a="http://schemas.openxmlformats.org/drawingml/2006/main">
              <a:ext uri="{FF2B5EF4-FFF2-40B4-BE49-F238E27FC236}">
                <a16:creationId xmlns:a16="http://schemas.microsoft.com/office/drawing/2014/main" id="{3E94B4B7-3879-49A9-BC98-1A2BB66A0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866900"/>
            <a:ext cx="2247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Channel</a:t>
            </a:r>
          </a:p>
        </p:txBody>
      </p:sp>
      <p:sp>
        <p:nvSpPr>
          <p:cNvPr id="11" name="hardware-table-cell-0-3">
            <a:extLst xmlns:a="http://schemas.openxmlformats.org/drawingml/2006/main">
              <a:ext uri="{FF2B5EF4-FFF2-40B4-BE49-F238E27FC236}">
                <a16:creationId xmlns:a16="http://schemas.microsoft.com/office/drawing/2014/main" id="{0B12315B-A574-4D6A-BD76-F1887CD10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790700"/>
            <a:ext cx="3733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94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12" name="hardware-table-text-0-3">
            <a:extLst xmlns:a="http://schemas.openxmlformats.org/drawingml/2006/main">
              <a:ext uri="{FF2B5EF4-FFF2-40B4-BE49-F238E27FC236}">
                <a16:creationId xmlns:a16="http://schemas.microsoft.com/office/drawing/2014/main" id="{776294A6-CCFC-46EC-BD7F-6C1CB6B37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866900"/>
            <a:ext cx="3505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Implementation detail</a:t>
            </a:r>
          </a:p>
        </p:txBody>
      </p:sp>
      <p:sp>
        <p:nvSpPr>
          <p:cNvPr id="13" name="hardware-table-cell-1-0">
            <a:extLst xmlns:a="http://schemas.openxmlformats.org/drawingml/2006/main">
              <a:ext uri="{FF2B5EF4-FFF2-40B4-BE49-F238E27FC236}">
                <a16:creationId xmlns:a16="http://schemas.microsoft.com/office/drawing/2014/main" id="{99D8FA02-60DE-4BFE-97DD-E6B6150AA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2381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14" name="hardware-table-text-1-0">
            <a:extLst xmlns:a="http://schemas.openxmlformats.org/drawingml/2006/main">
              <a:ext uri="{FF2B5EF4-FFF2-40B4-BE49-F238E27FC236}">
                <a16:creationId xmlns:a16="http://schemas.microsoft.com/office/drawing/2014/main" id="{0545CC51-D78A-4B5C-9F00-4B1D03C2E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2152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Left drivetrain</a:t>
            </a:r>
          </a:p>
        </p:txBody>
      </p:sp>
      <p:sp>
        <p:nvSpPr>
          <p:cNvPr id="15" name="hardware-table-cell-1-1">
            <a:extLst xmlns:a="http://schemas.openxmlformats.org/drawingml/2006/main">
              <a:ext uri="{FF2B5EF4-FFF2-40B4-BE49-F238E27FC236}">
                <a16:creationId xmlns:a16="http://schemas.microsoft.com/office/drawing/2014/main" id="{C424B944-56B6-4F99-A187-702E40576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305050"/>
            <a:ext cx="2381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16" name="hardware-table-text-1-1">
            <a:extLst xmlns:a="http://schemas.openxmlformats.org/drawingml/2006/main">
              <a:ext uri="{FF2B5EF4-FFF2-40B4-BE49-F238E27FC236}">
                <a16:creationId xmlns:a16="http://schemas.microsoft.com/office/drawing/2014/main" id="{D1B796CB-4039-4862-A14A-4F1A53E40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381250"/>
            <a:ext cx="2152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2 PWM Talons</a:t>
            </a:r>
          </a:p>
        </p:txBody>
      </p:sp>
      <p:sp>
        <p:nvSpPr>
          <p:cNvPr id="17" name="hardware-table-cell-1-2">
            <a:extLst xmlns:a="http://schemas.openxmlformats.org/drawingml/2006/main">
              <a:ext uri="{FF2B5EF4-FFF2-40B4-BE49-F238E27FC236}">
                <a16:creationId xmlns:a16="http://schemas.microsoft.com/office/drawing/2014/main" id="{E8ADBBB4-8720-4CDB-A566-F5D96559C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305050"/>
            <a:ext cx="2476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18" name="hardware-table-text-1-2">
            <a:extLst xmlns:a="http://schemas.openxmlformats.org/drawingml/2006/main">
              <a:ext uri="{FF2B5EF4-FFF2-40B4-BE49-F238E27FC236}">
                <a16:creationId xmlns:a16="http://schemas.microsoft.com/office/drawing/2014/main" id="{1A16BF7A-1949-44DA-ACD3-9DBC35B27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381250"/>
            <a:ext cx="2247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PWM 0 and 1</a:t>
            </a:r>
          </a:p>
        </p:txBody>
      </p:sp>
      <p:sp>
        <p:nvSpPr>
          <p:cNvPr id="19" name="hardware-table-cell-1-3">
            <a:extLst xmlns:a="http://schemas.openxmlformats.org/drawingml/2006/main">
              <a:ext uri="{FF2B5EF4-FFF2-40B4-BE49-F238E27FC236}">
                <a16:creationId xmlns:a16="http://schemas.microsoft.com/office/drawing/2014/main" id="{A74491D3-683E-432E-9358-AE2F21A22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05050"/>
            <a:ext cx="37338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20" name="hardware-table-text-1-3">
            <a:extLst xmlns:a="http://schemas.openxmlformats.org/drawingml/2006/main">
              <a:ext uri="{FF2B5EF4-FFF2-40B4-BE49-F238E27FC236}">
                <a16:creationId xmlns:a16="http://schemas.microsoft.com/office/drawing/2014/main" id="{70A3D022-BF48-4BBC-B2C3-77D424F51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381250"/>
            <a:ext cx="3505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One output is sent to both motors</a:t>
            </a:r>
          </a:p>
        </p:txBody>
      </p:sp>
      <p:sp>
        <p:nvSpPr>
          <p:cNvPr id="21" name="hardware-table-cell-2-0">
            <a:extLst xmlns:a="http://schemas.openxmlformats.org/drawingml/2006/main">
              <a:ext uri="{FF2B5EF4-FFF2-40B4-BE49-F238E27FC236}">
                <a16:creationId xmlns:a16="http://schemas.microsoft.com/office/drawing/2014/main" id="{74BE3E48-3070-409E-8A40-5437408D7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2381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B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22" name="hardware-table-text-2-0">
            <a:extLst xmlns:a="http://schemas.openxmlformats.org/drawingml/2006/main">
              <a:ext uri="{FF2B5EF4-FFF2-40B4-BE49-F238E27FC236}">
                <a16:creationId xmlns:a16="http://schemas.microsoft.com/office/drawing/2014/main" id="{428E62EE-153F-4780-B861-57F6AD43F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05150"/>
            <a:ext cx="2152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Right drivetrain</a:t>
            </a:r>
          </a:p>
        </p:txBody>
      </p:sp>
      <p:sp>
        <p:nvSpPr>
          <p:cNvPr id="23" name="hardware-table-cell-2-1">
            <a:extLst xmlns:a="http://schemas.openxmlformats.org/drawingml/2006/main">
              <a:ext uri="{FF2B5EF4-FFF2-40B4-BE49-F238E27FC236}">
                <a16:creationId xmlns:a16="http://schemas.microsoft.com/office/drawing/2014/main" id="{D2872D21-CC3F-4725-BA6A-0FDAE9F31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028950"/>
            <a:ext cx="2381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B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24" name="hardware-table-text-2-1">
            <a:extLst xmlns:a="http://schemas.openxmlformats.org/drawingml/2006/main">
              <a:ext uri="{FF2B5EF4-FFF2-40B4-BE49-F238E27FC236}">
                <a16:creationId xmlns:a16="http://schemas.microsoft.com/office/drawing/2014/main" id="{1BD5C605-0A45-41A4-87E2-6EB359669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105150"/>
            <a:ext cx="2152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2 PWM Talons</a:t>
            </a:r>
          </a:p>
        </p:txBody>
      </p:sp>
      <p:sp>
        <p:nvSpPr>
          <p:cNvPr id="25" name="hardware-table-cell-2-2">
            <a:extLst xmlns:a="http://schemas.openxmlformats.org/drawingml/2006/main">
              <a:ext uri="{FF2B5EF4-FFF2-40B4-BE49-F238E27FC236}">
                <a16:creationId xmlns:a16="http://schemas.microsoft.com/office/drawing/2014/main" id="{05C53C54-BB41-4810-85FB-C1296C7CD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028950"/>
            <a:ext cx="2476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B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26" name="hardware-table-text-2-2">
            <a:extLst xmlns:a="http://schemas.openxmlformats.org/drawingml/2006/main">
              <a:ext uri="{FF2B5EF4-FFF2-40B4-BE49-F238E27FC236}">
                <a16:creationId xmlns:a16="http://schemas.microsoft.com/office/drawing/2014/main" id="{B4AB9608-8FF4-42C4-B717-05811B063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105150"/>
            <a:ext cx="2247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PWM 3 and 2</a:t>
            </a:r>
          </a:p>
        </p:txBody>
      </p:sp>
      <p:sp>
        <p:nvSpPr>
          <p:cNvPr id="27" name="hardware-table-cell-2-3">
            <a:extLst xmlns:a="http://schemas.openxmlformats.org/drawingml/2006/main">
              <a:ext uri="{FF2B5EF4-FFF2-40B4-BE49-F238E27FC236}">
                <a16:creationId xmlns:a16="http://schemas.microsoft.com/office/drawing/2014/main" id="{EE80474A-119F-44A5-8BC6-9B83A503C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028950"/>
            <a:ext cx="37338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B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28" name="hardware-table-text-2-3">
            <a:extLst xmlns:a="http://schemas.openxmlformats.org/drawingml/2006/main">
              <a:ext uri="{FF2B5EF4-FFF2-40B4-BE49-F238E27FC236}">
                <a16:creationId xmlns:a16="http://schemas.microsoft.com/office/drawing/2014/main" id="{BAC00BEA-6282-4918-A627-34C503664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105150"/>
            <a:ext cx="3505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The right pair is inverted in software</a:t>
            </a:r>
          </a:p>
        </p:txBody>
      </p:sp>
      <p:sp>
        <p:nvSpPr>
          <p:cNvPr id="29" name="hardware-table-cell-3-0">
            <a:extLst xmlns:a="http://schemas.openxmlformats.org/drawingml/2006/main">
              <a:ext uri="{FF2B5EF4-FFF2-40B4-BE49-F238E27FC236}">
                <a16:creationId xmlns:a16="http://schemas.microsoft.com/office/drawing/2014/main" id="{EB938E54-A612-4ED0-8FC0-A7949DC46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2850"/>
            <a:ext cx="2381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30" name="hardware-table-text-3-0">
            <a:extLst xmlns:a="http://schemas.openxmlformats.org/drawingml/2006/main">
              <a:ext uri="{FF2B5EF4-FFF2-40B4-BE49-F238E27FC236}">
                <a16:creationId xmlns:a16="http://schemas.microsoft.com/office/drawing/2014/main" id="{DE2B1139-8024-40F7-A0F1-F51231347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29050"/>
            <a:ext cx="2152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Ball belt</a:t>
            </a:r>
          </a:p>
        </p:txBody>
      </p:sp>
      <p:sp>
        <p:nvSpPr>
          <p:cNvPr id="31" name="hardware-table-cell-3-1">
            <a:extLst xmlns:a="http://schemas.openxmlformats.org/drawingml/2006/main">
              <a:ext uri="{FF2B5EF4-FFF2-40B4-BE49-F238E27FC236}">
                <a16:creationId xmlns:a16="http://schemas.microsoft.com/office/drawing/2014/main" id="{5495E842-27D4-46C9-A3AF-28A36EB70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752850"/>
            <a:ext cx="2381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32" name="hardware-table-text-3-1">
            <a:extLst xmlns:a="http://schemas.openxmlformats.org/drawingml/2006/main">
              <a:ext uri="{FF2B5EF4-FFF2-40B4-BE49-F238E27FC236}">
                <a16:creationId xmlns:a16="http://schemas.microsoft.com/office/drawing/2014/main" id="{2F18A062-608A-41C9-9C9F-B428E60B6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829050"/>
            <a:ext cx="2152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1 PWM Talon</a:t>
            </a:r>
          </a:p>
        </p:txBody>
      </p:sp>
      <p:sp>
        <p:nvSpPr>
          <p:cNvPr id="33" name="hardware-table-cell-3-2">
            <a:extLst xmlns:a="http://schemas.openxmlformats.org/drawingml/2006/main">
              <a:ext uri="{FF2B5EF4-FFF2-40B4-BE49-F238E27FC236}">
                <a16:creationId xmlns:a16="http://schemas.microsoft.com/office/drawing/2014/main" id="{ED4B427D-7087-4898-BB97-1E59AFC2C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752850"/>
            <a:ext cx="2476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34" name="hardware-table-text-3-2">
            <a:extLst xmlns:a="http://schemas.openxmlformats.org/drawingml/2006/main">
              <a:ext uri="{FF2B5EF4-FFF2-40B4-BE49-F238E27FC236}">
                <a16:creationId xmlns:a16="http://schemas.microsoft.com/office/drawing/2014/main" id="{A654D651-884A-4B98-A4E4-7282444C8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829050"/>
            <a:ext cx="2247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PWM 5</a:t>
            </a:r>
          </a:p>
        </p:txBody>
      </p:sp>
      <p:sp>
        <p:nvSpPr>
          <p:cNvPr id="35" name="hardware-table-cell-3-3">
            <a:extLst xmlns:a="http://schemas.openxmlformats.org/drawingml/2006/main">
              <a:ext uri="{FF2B5EF4-FFF2-40B4-BE49-F238E27FC236}">
                <a16:creationId xmlns:a16="http://schemas.microsoft.com/office/drawing/2014/main" id="{381868D2-61A2-471A-AA87-130CA1535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752850"/>
            <a:ext cx="37338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36" name="hardware-table-text-3-3">
            <a:extLst xmlns:a="http://schemas.openxmlformats.org/drawingml/2006/main">
              <a:ext uri="{FF2B5EF4-FFF2-40B4-BE49-F238E27FC236}">
                <a16:creationId xmlns:a16="http://schemas.microsoft.com/office/drawing/2014/main" id="{D0E96814-6AA1-4492-ADCA-7843F87BB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29050"/>
            <a:ext cx="3505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Positive output moves the belt inward</a:t>
            </a:r>
          </a:p>
        </p:txBody>
      </p:sp>
      <p:sp>
        <p:nvSpPr>
          <p:cNvPr id="37" name="hardware-table-cell-4-0">
            <a:extLst xmlns:a="http://schemas.openxmlformats.org/drawingml/2006/main">
              <a:ext uri="{FF2B5EF4-FFF2-40B4-BE49-F238E27FC236}">
                <a16:creationId xmlns:a16="http://schemas.microsoft.com/office/drawing/2014/main" id="{09E9F3E1-592F-43AD-BF31-DADFFCE12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2381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B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38" name="hardware-table-text-4-0">
            <a:extLst xmlns:a="http://schemas.openxmlformats.org/drawingml/2006/main">
              <a:ext uri="{FF2B5EF4-FFF2-40B4-BE49-F238E27FC236}">
                <a16:creationId xmlns:a16="http://schemas.microsoft.com/office/drawing/2014/main" id="{CEB804B6-EF5F-4C25-8838-FFCD23557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52950"/>
            <a:ext cx="2152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Scoring roller</a:t>
            </a:r>
          </a:p>
        </p:txBody>
      </p:sp>
      <p:sp>
        <p:nvSpPr>
          <p:cNvPr id="39" name="hardware-table-cell-4-1">
            <a:extLst xmlns:a="http://schemas.openxmlformats.org/drawingml/2006/main">
              <a:ext uri="{FF2B5EF4-FFF2-40B4-BE49-F238E27FC236}">
                <a16:creationId xmlns:a16="http://schemas.microsoft.com/office/drawing/2014/main" id="{EDFB9A88-A1C7-4727-952C-D072E63FC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476750"/>
            <a:ext cx="2381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B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40" name="hardware-table-text-4-1">
            <a:extLst xmlns:a="http://schemas.openxmlformats.org/drawingml/2006/main">
              <a:ext uri="{FF2B5EF4-FFF2-40B4-BE49-F238E27FC236}">
                <a16:creationId xmlns:a16="http://schemas.microsoft.com/office/drawing/2014/main" id="{2303308D-9807-42CE-B7B4-410958440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552950"/>
            <a:ext cx="2152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1 PWM Talon</a:t>
            </a:r>
          </a:p>
        </p:txBody>
      </p:sp>
      <p:sp>
        <p:nvSpPr>
          <p:cNvPr id="41" name="hardware-table-cell-4-2">
            <a:extLst xmlns:a="http://schemas.openxmlformats.org/drawingml/2006/main">
              <a:ext uri="{FF2B5EF4-FFF2-40B4-BE49-F238E27FC236}">
                <a16:creationId xmlns:a16="http://schemas.microsoft.com/office/drawing/2014/main" id="{A2B7564F-58BC-4266-8EBF-68C75D499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476750"/>
            <a:ext cx="2476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B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42" name="hardware-table-text-4-2">
            <a:extLst xmlns:a="http://schemas.openxmlformats.org/drawingml/2006/main">
              <a:ext uri="{FF2B5EF4-FFF2-40B4-BE49-F238E27FC236}">
                <a16:creationId xmlns:a16="http://schemas.microsoft.com/office/drawing/2014/main" id="{2C935CBD-8249-40E4-B177-1CBF52DC7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552950"/>
            <a:ext cx="2247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PWM 4</a:t>
            </a:r>
          </a:p>
        </p:txBody>
      </p:sp>
      <p:sp>
        <p:nvSpPr>
          <p:cNvPr id="43" name="hardware-table-cell-4-3">
            <a:extLst xmlns:a="http://schemas.openxmlformats.org/drawingml/2006/main">
              <a:ext uri="{FF2B5EF4-FFF2-40B4-BE49-F238E27FC236}">
                <a16:creationId xmlns:a16="http://schemas.microsoft.com/office/drawing/2014/main" id="{F3B41151-1B9F-4641-BDF6-704838157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476750"/>
            <a:ext cx="37338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B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44" name="hardware-table-text-4-3">
            <a:extLst xmlns:a="http://schemas.openxmlformats.org/drawingml/2006/main">
              <a:ext uri="{FF2B5EF4-FFF2-40B4-BE49-F238E27FC236}">
                <a16:creationId xmlns:a16="http://schemas.microsoft.com/office/drawing/2014/main" id="{94866AD6-FA20-4481-A100-1C5409BF5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552950"/>
            <a:ext cx="3505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Runs independently from the belt</a:t>
            </a:r>
          </a:p>
        </p:txBody>
      </p:sp>
      <p:sp>
        <p:nvSpPr>
          <p:cNvPr id="45" name="hardware-table-cell-5-0">
            <a:extLst xmlns:a="http://schemas.openxmlformats.org/drawingml/2006/main">
              <a:ext uri="{FF2B5EF4-FFF2-40B4-BE49-F238E27FC236}">
                <a16:creationId xmlns:a16="http://schemas.microsoft.com/office/drawing/2014/main" id="{19E6A5FA-6300-4DA3-9016-EF8C49F0C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00650"/>
            <a:ext cx="2381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46" name="hardware-table-text-5-0">
            <a:extLst xmlns:a="http://schemas.openxmlformats.org/drawingml/2006/main">
              <a:ext uri="{FF2B5EF4-FFF2-40B4-BE49-F238E27FC236}">
                <a16:creationId xmlns:a16="http://schemas.microsoft.com/office/drawing/2014/main" id="{80477EB4-8832-4FD6-B7B4-42C75405C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76850"/>
            <a:ext cx="2152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Climber</a:t>
            </a:r>
          </a:p>
        </p:txBody>
      </p:sp>
      <p:sp>
        <p:nvSpPr>
          <p:cNvPr id="47" name="hardware-table-cell-5-1">
            <a:extLst xmlns:a="http://schemas.openxmlformats.org/drawingml/2006/main">
              <a:ext uri="{FF2B5EF4-FFF2-40B4-BE49-F238E27FC236}">
                <a16:creationId xmlns:a16="http://schemas.microsoft.com/office/drawing/2014/main" id="{84D09468-D468-4832-9E20-8DA3B7921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200650"/>
            <a:ext cx="2381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48" name="hardware-table-text-5-1">
            <a:extLst xmlns:a="http://schemas.openxmlformats.org/drawingml/2006/main">
              <a:ext uri="{FF2B5EF4-FFF2-40B4-BE49-F238E27FC236}">
                <a16:creationId xmlns:a16="http://schemas.microsoft.com/office/drawing/2014/main" id="{CBE5D07E-F41B-4453-BE23-7C782C0AE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276850"/>
            <a:ext cx="2152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2 DoubleSolenoids</a:t>
            </a:r>
          </a:p>
        </p:txBody>
      </p:sp>
      <p:sp>
        <p:nvSpPr>
          <p:cNvPr id="49" name="hardware-table-cell-5-2">
            <a:extLst xmlns:a="http://schemas.openxmlformats.org/drawingml/2006/main">
              <a:ext uri="{FF2B5EF4-FFF2-40B4-BE49-F238E27FC236}">
                <a16:creationId xmlns:a16="http://schemas.microsoft.com/office/drawing/2014/main" id="{3EAB05C8-E4AA-4E21-922B-8A3FD3EE9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5200650"/>
            <a:ext cx="247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50" name="hardware-table-text-5-2">
            <a:extLst xmlns:a="http://schemas.openxmlformats.org/drawingml/2006/main">
              <a:ext uri="{FF2B5EF4-FFF2-40B4-BE49-F238E27FC236}">
                <a16:creationId xmlns:a16="http://schemas.microsoft.com/office/drawing/2014/main" id="{4ED71D25-0619-4138-828C-D357447AF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5276850"/>
            <a:ext cx="2247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PCM 0, ports 0/1 and 2/3</a:t>
            </a:r>
          </a:p>
        </p:txBody>
      </p:sp>
      <p:sp>
        <p:nvSpPr>
          <p:cNvPr id="51" name="hardware-table-cell-5-3">
            <a:extLst xmlns:a="http://schemas.openxmlformats.org/drawingml/2006/main">
              <a:ext uri="{FF2B5EF4-FFF2-40B4-BE49-F238E27FC236}">
                <a16:creationId xmlns:a16="http://schemas.microsoft.com/office/drawing/2014/main" id="{BA930FD5-88A8-42F0-9A87-B30E64CCF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00650"/>
            <a:ext cx="37338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52" name="hardware-table-text-5-3">
            <a:extLst xmlns:a="http://schemas.openxmlformats.org/drawingml/2006/main">
              <a:ext uri="{FF2B5EF4-FFF2-40B4-BE49-F238E27FC236}">
                <a16:creationId xmlns:a16="http://schemas.microsoft.com/office/drawing/2014/main" id="{D8DCA310-092D-49F4-8B0D-827F724A7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276850"/>
            <a:ext cx="350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Both cylinders change position together</a:t>
            </a:r>
          </a:p>
        </p:txBody>
      </p:sp>
      <p:sp>
        <p:nvSpPr>
          <p:cNvPr id="5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004FD0F5-181B-452F-BAF0-4BEF9CEDE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7188"/>
                </a:solidFill>
                <a:latin typeface="Aptos"/>
                <a:ea typeface="Aptos"/>
                <a:cs typeface="Aptos"/>
              </a:rPr>
              <a:t>2020 FRC robot | command-based implementation</a:t>
            </a:r>
          </a:p>
        </p:txBody>
      </p:sp>
      <p:sp>
        <p:nvSpPr>
          <p:cNvPr id="54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15761F37-6636-4C42-AC49-A7B869527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718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9264568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43181964-3E45-474D-BE42-948B7E36C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OPERATOR CONTROLS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974E52D-6971-42F7-BC5F-56AE5204F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6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Two Xbox controllers separate driving from mechanism control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AB3037E-20E3-451C-9B2D-3E4EEE648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The driver owns tank drive; the operator owns the belt, roller, and climber.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76D9933A-AE42-4682-88BE-99B4D2F74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2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ntroller-0">
            <a:extLst xmlns:a="http://schemas.openxmlformats.org/drawingml/2006/main">
              <a:ext uri="{FF2B5EF4-FFF2-40B4-BE49-F238E27FC236}">
                <a16:creationId xmlns:a16="http://schemas.microsoft.com/office/drawing/2014/main" id="{BDDA0BB5-C205-4A06-BF92-374502868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3200400" cy="34290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42C6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CAE05B-D352-450F-B294-C8A7FE7DE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526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USB 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AF192F-D7D4-48FC-9DC1-25ABE4D78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Driver Xbox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E15923-DFBD-46BA-9A84-60069B046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5755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Left stick 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F0A51C-08EF-4F51-9AB8-50849F407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3380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Left drive output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2B469C-1C02-4A21-A62E-67A24B5BF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1005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Right stick 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226596-231B-4D9B-B9DE-D40291611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8630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Right drive output</a:t>
            </a:r>
          </a:p>
        </p:txBody>
      </p:sp>
      <p:sp>
        <p:nvSpPr>
          <p:cNvPr id="12" name="controller-1">
            <a:extLst xmlns:a="http://schemas.openxmlformats.org/drawingml/2006/main">
              <a:ext uri="{FF2B5EF4-FFF2-40B4-BE49-F238E27FC236}">
                <a16:creationId xmlns:a16="http://schemas.microsoft.com/office/drawing/2014/main" id="{6781C98F-FB9E-42A2-B83C-D79856A35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924050"/>
            <a:ext cx="3200400" cy="34290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FFB64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394BAC-5A3C-41C1-8D55-3FC779BB0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1526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FFB64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B64D"/>
                </a:solidFill>
                <a:latin typeface="Aptos"/>
                <a:ea typeface="Aptos"/>
                <a:cs typeface="Aptos"/>
              </a:rPr>
              <a:t>MODE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27C287-92F7-4149-9F3B-3ED7B25AE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Slow drive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4074D2-B2E5-417C-AA60-98A25E9E1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25755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Right bumper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43BBA4-F2F6-4710-9889-E45412A31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73380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Hold for 0.4 scale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4A77BD-3880-4554-AD02-DC15FC57E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21005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Release for 0.8 scale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B979E3-1DBC-4EC5-89B7-9FD3D31A3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68630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Driver control only</a:t>
            </a:r>
          </a:p>
        </p:txBody>
      </p:sp>
      <p:sp>
        <p:nvSpPr>
          <p:cNvPr id="19" name="controller-2">
            <a:extLst xmlns:a="http://schemas.openxmlformats.org/drawingml/2006/main">
              <a:ext uri="{FF2B5EF4-FFF2-40B4-BE49-F238E27FC236}">
                <a16:creationId xmlns:a16="http://schemas.microsoft.com/office/drawing/2014/main" id="{732220BA-CD98-431D-953C-825CB8E79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924050"/>
            <a:ext cx="3200400" cy="34290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62D48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BF343E-B5C4-4975-8516-3194B5199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526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62D48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62D48A"/>
                </a:solidFill>
                <a:latin typeface="Aptos"/>
                <a:ea typeface="Aptos"/>
                <a:cs typeface="Aptos"/>
              </a:rPr>
              <a:t>USB 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CBC0E1-953A-4FDC-A7B6-75ECB5CBD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5717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Operator Xbox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448B75-D61C-4159-AAC2-E7F4C94F2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25755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A   Belt in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41C420-D430-4464-BBC5-CE9AF7C54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73380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B   Belt out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9A6295-11C2-44A4-BEA4-7E4F14BB6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21005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X   Roller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6E3896-0184-46C2-96ED-75074A0C3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8630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Y   Climber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27864C6-A955-4D08-9F50-67AF910BC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FB64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B64D"/>
                </a:solidFill>
                <a:latin typeface="Aptos"/>
                <a:ea typeface="Aptos"/>
                <a:cs typeface="Aptos"/>
              </a:rPr>
              <a:t>Two named controller objects keep driver and operator bindings distinct.</a:t>
            </a:r>
          </a:p>
        </p:txBody>
      </p:sp>
      <p:sp>
        <p:nvSpPr>
          <p:cNvPr id="2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AAD3B33E-5BD9-4BA3-8494-A6A40C704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7188"/>
                </a:solidFill>
                <a:latin typeface="Aptos"/>
                <a:ea typeface="Aptos"/>
                <a:cs typeface="Aptos"/>
              </a:rPr>
              <a:t>2020 FRC robot | command-based implementation</a:t>
            </a:r>
          </a:p>
        </p:txBody>
      </p:sp>
      <p:sp>
        <p:nvSpPr>
          <p:cNvPr id="28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2FDC2AC1-D5CE-4190-914F-172FFABB6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7188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7877183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B24DB374-6C07-4362-9FC7-2476C9E6C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SOFTWARE ARCHITECTURE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D681DA6-E408-4CCF-9B4A-AC37B4DF7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6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Subsystems define how; commands define when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A2A3396-EB74-4B95-8B73-64E4A9BCC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RobotContainer connects operator input to commands, and the scheduler controls when those commands run.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E8000023-3791-46DE-83AA-B539182C6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2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layer-0">
            <a:extLst xmlns:a="http://schemas.openxmlformats.org/drawingml/2006/main">
              <a:ext uri="{FF2B5EF4-FFF2-40B4-BE49-F238E27FC236}">
                <a16:creationId xmlns:a16="http://schemas.microsoft.com/office/drawing/2014/main" id="{66D249D3-2432-4ADF-86A6-01A36826B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1885950" cy="2076450"/>
          </a:xfrm>
          <a:prstGeom xmlns:a="http://schemas.openxmlformats.org/drawingml/2006/main" prst="roundRect">
            <a:avLst>
              <a:gd name="adj" fmla="val 7071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FFB64D"/>
            </a:solidFill>
            <a:prstDash val="solid"/>
          </a:ln>
        </p:spPr>
      </p:sp>
      <p:sp>
        <p:nvSpPr>
          <p:cNvPr id="6" name="layer-1">
            <a:extLst xmlns:a="http://schemas.openxmlformats.org/drawingml/2006/main">
              <a:ext uri="{FF2B5EF4-FFF2-40B4-BE49-F238E27FC236}">
                <a16:creationId xmlns:a16="http://schemas.microsoft.com/office/drawing/2014/main" id="{EFFDCADA-846E-497F-AB5F-7721B0537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400300"/>
            <a:ext cx="1885950" cy="2076450"/>
          </a:xfrm>
          <a:prstGeom xmlns:a="http://schemas.openxmlformats.org/drawingml/2006/main" prst="roundRect">
            <a:avLst>
              <a:gd name="adj" fmla="val 7071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42C6FF"/>
            </a:solidFill>
            <a:prstDash val="solid"/>
          </a:ln>
        </p:spPr>
      </p:sp>
      <p:sp>
        <p:nvSpPr>
          <p:cNvPr id="7" name="layer-2">
            <a:extLst xmlns:a="http://schemas.openxmlformats.org/drawingml/2006/main">
              <a:ext uri="{FF2B5EF4-FFF2-40B4-BE49-F238E27FC236}">
                <a16:creationId xmlns:a16="http://schemas.microsoft.com/office/drawing/2014/main" id="{98B48D6F-3334-45BF-81FB-7E74E7725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400300"/>
            <a:ext cx="1885950" cy="2076450"/>
          </a:xfrm>
          <a:prstGeom xmlns:a="http://schemas.openxmlformats.org/drawingml/2006/main" prst="roundRect">
            <a:avLst>
              <a:gd name="adj" fmla="val 7071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42C6FF"/>
            </a:solidFill>
            <a:prstDash val="solid"/>
          </a:ln>
        </p:spPr>
      </p:sp>
      <p:sp>
        <p:nvSpPr>
          <p:cNvPr id="8" name="layer-3">
            <a:extLst xmlns:a="http://schemas.openxmlformats.org/drawingml/2006/main">
              <a:ext uri="{FF2B5EF4-FFF2-40B4-BE49-F238E27FC236}">
                <a16:creationId xmlns:a16="http://schemas.microsoft.com/office/drawing/2014/main" id="{45EB9CE4-6ACB-4E79-A545-B5506FBB2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400300"/>
            <a:ext cx="1885950" cy="2076450"/>
          </a:xfrm>
          <a:prstGeom xmlns:a="http://schemas.openxmlformats.org/drawingml/2006/main" prst="roundRect">
            <a:avLst>
              <a:gd name="adj" fmla="val 7071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42C6FF"/>
            </a:solidFill>
            <a:prstDash val="solid"/>
          </a:ln>
        </p:spPr>
      </p:sp>
      <p:sp>
        <p:nvSpPr>
          <p:cNvPr id="9" name="layer-4">
            <a:extLst xmlns:a="http://schemas.openxmlformats.org/drawingml/2006/main">
              <a:ext uri="{FF2B5EF4-FFF2-40B4-BE49-F238E27FC236}">
                <a16:creationId xmlns:a16="http://schemas.microsoft.com/office/drawing/2014/main" id="{E51159AA-54CD-44A8-A4E8-5F41B635D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400300"/>
            <a:ext cx="1885950" cy="2076450"/>
          </a:xfrm>
          <a:prstGeom xmlns:a="http://schemas.openxmlformats.org/drawingml/2006/main" prst="roundRect">
            <a:avLst>
              <a:gd name="adj" fmla="val 7071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62D48A"/>
            </a:solidFill>
            <a:prstDash val="solid"/>
          </a:ln>
        </p:spPr>
      </p:sp>
      <p:cxnSp>
        <p:nvCxnSpPr>
          <p:cNvPr id="68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495550" y="343852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7188"/>
            </a:solidFill>
            <a:prstDash val="solid"/>
            <a:tailEnd type="arrow" w="sm" len="sm"/>
          </a:ln>
        </p:spPr>
      </p:cxnSp>
      <p:cxnSp>
        <p:nvCxnSpPr>
          <p:cNvPr id="69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686300" y="343852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7188"/>
            </a:solidFill>
            <a:prstDash val="solid"/>
            <a:tailEnd type="arrow" w="sm" len="sm"/>
          </a:ln>
        </p:spPr>
      </p:cxnSp>
      <p:cxnSp>
        <p:nvCxnSpPr>
          <p:cNvPr id="70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6877050" y="343852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7188"/>
            </a:solidFill>
            <a:prstDash val="solid"/>
            <a:tailEnd type="arrow" w="sm" len="sm"/>
          </a:ln>
        </p:spPr>
      </p:cxnSp>
      <p:cxnSp>
        <p:nvCxnSpPr>
          <p:cNvPr id="71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9067800" y="343852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7188"/>
            </a:solidFill>
            <a:prstDash val="solid"/>
            <a:tailEnd type="arrow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20038E-8AB1-47DB-B65C-77446EEDC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908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FFB64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B64D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157FB7-8EEC-44F8-AA74-013E202FC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05150"/>
            <a:ext cx="1543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Controllers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C6C23D-D900-4B0D-9029-7293117D3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43350"/>
            <a:ext cx="1543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Axes and buttons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74DCD4-DA49-4921-941E-FFEA5744C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5908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C79FAB-D810-48A1-9A84-31FE26106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105150"/>
            <a:ext cx="1543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RobotContainer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FB9313-30FA-4610-B987-C70A2F9B7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943350"/>
            <a:ext cx="1543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Objects and bindings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AD9195-9F78-4EB3-9B0F-BD075E3D6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5908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B70B2E-A2ED-46E9-BF73-B09F224A8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105150"/>
            <a:ext cx="1543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Commands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9D0D6A-F970-415C-9F27-EF2FC8AFE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943350"/>
            <a:ext cx="1543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Scheduled behavior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A74869-8F3C-4BCF-9DB6-D83619BFB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5908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EB0B8C-23EB-4A0E-9F48-2549F3793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105150"/>
            <a:ext cx="1543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Subsystems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1EBB5C-BBC4-4461-BB58-BF44A59F2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943350"/>
            <a:ext cx="1543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Hardware ownership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22F443-99A4-4283-9B8F-179613194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5908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62D48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2D48A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947573-9F9C-4F34-9595-20E60B40E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105150"/>
            <a:ext cx="1543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WPILib HAL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92685E8-5456-4323-B881-200FA5E01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943350"/>
            <a:ext cx="1543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PWM and pneumatics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DEAAB91-8319-494B-808E-911D98777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86350"/>
            <a:ext cx="952500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16294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ED95920-A743-42BE-BF9A-1F14048D4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238750"/>
            <a:ext cx="902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CommandScheduler controls timing and subsystem access between the middle layers.</a:t>
            </a:r>
          </a:p>
        </p:txBody>
      </p:sp>
      <p:sp>
        <p:nvSpPr>
          <p:cNvPr id="31" name="footer-left">
            <a:extLst xmlns:a="http://schemas.openxmlformats.org/drawingml/2006/main">
              <a:ext uri="{FF2B5EF4-FFF2-40B4-BE49-F238E27FC236}">
                <a16:creationId xmlns:a16="http://schemas.microsoft.com/office/drawing/2014/main" id="{0D5B8A41-BA19-4B49-8803-F34C64557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7188"/>
                </a:solidFill>
                <a:latin typeface="Aptos"/>
                <a:ea typeface="Aptos"/>
                <a:cs typeface="Aptos"/>
              </a:rPr>
              <a:t>2020 FRC robot | command-based implementation</a:t>
            </a:r>
          </a:p>
        </p:txBody>
      </p:sp>
      <p:sp>
        <p:nvSpPr>
          <p:cNvPr id="32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475FB84C-5A8B-406B-8587-779499354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7188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53419684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98C6D8DB-FA3C-4E56-AAD5-5C237223C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STARTUP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1C1F82E-5F59-4444-BF94-999C94854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6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RobotContainer assembles the live robot once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CE56417-A938-4757-B75C-33797ACB7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robotInit() constructs the container, which then creates controls, subsystems, camera capture, defaults, and bindings.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E87BEB88-6838-49B3-8546-093415058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2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artup-code-panel">
            <a:extLst xmlns:a="http://schemas.openxmlformats.org/drawingml/2006/main">
              <a:ext uri="{FF2B5EF4-FFF2-40B4-BE49-F238E27FC236}">
                <a16:creationId xmlns:a16="http://schemas.microsoft.com/office/drawing/2014/main" id="{97488220-CE1C-4B8C-841F-51D996865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6096000" cy="43434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0C1727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6" name="startup-code-accent">
            <a:extLst xmlns:a="http://schemas.openxmlformats.org/drawingml/2006/main">
              <a:ext uri="{FF2B5EF4-FFF2-40B4-BE49-F238E27FC236}">
                <a16:creationId xmlns:a16="http://schemas.microsoft.com/office/drawing/2014/main" id="{7AA02527-D4CF-48A7-BF64-2E35FAA77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57150" cy="434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2D4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tartup-code-title">
            <a:extLst xmlns:a="http://schemas.openxmlformats.org/drawingml/2006/main">
              <a:ext uri="{FF2B5EF4-FFF2-40B4-BE49-F238E27FC236}">
                <a16:creationId xmlns:a16="http://schemas.microsoft.com/office/drawing/2014/main" id="{D8FB77EF-27CA-4269-9FA6-797B3D241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24050"/>
            <a:ext cx="5695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62D48A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62D48A"/>
                </a:solidFill>
                <a:latin typeface="Consolas"/>
                <a:ea typeface="Consolas"/>
                <a:cs typeface="Consolas"/>
              </a:rPr>
              <a:t>STARTUP PATH</a:t>
            </a:r>
          </a:p>
        </p:txBody>
      </p:sp>
      <p:sp>
        <p:nvSpPr>
          <p:cNvPr id="8" name="startup-code-text">
            <a:extLst xmlns:a="http://schemas.openxmlformats.org/drawingml/2006/main">
              <a:ext uri="{FF2B5EF4-FFF2-40B4-BE49-F238E27FC236}">
                <a16:creationId xmlns:a16="http://schemas.microsoft.com/office/drawing/2014/main" id="{D4D5D7BE-FF62-4011-8C15-20F2A20F2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47900"/>
            <a:ext cx="5695950" cy="3752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public void robotInit() {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robotContainer = new RobotContainer();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public RobotContainer() {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driverController = new CommandXboxController(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    Constants.Operator.DRIVER_CONTROLLER);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operatorController = new CommandXboxController(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    Constants.Operator.OPERATOR_CONTROLLER);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driveSubsystem = new DriveSubsystem();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climberSubsystem = new ClimberSubsystem();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beltSubsystem = new BeltSubsystem();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rollerSubsystem = new RollerSubsystem();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CameraServer.startAutomaticCapture(0);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configureDefaultCommands();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configureBindings();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8D3E44-A434-4BEC-835F-21EF0F882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03835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After construction</a:t>
            </a:r>
          </a:p>
        </p:txBody>
      </p:sp>
      <p:sp>
        <p:nvSpPr>
          <p:cNvPr id="10" name="bullets-dot-0">
            <a:extLst xmlns:a="http://schemas.openxmlformats.org/drawingml/2006/main">
              <a:ext uri="{FF2B5EF4-FFF2-40B4-BE49-F238E27FC236}">
                <a16:creationId xmlns:a16="http://schemas.microsoft.com/office/drawing/2014/main" id="{DF1B579D-7541-4A53-85A3-FE7624093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289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2D4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ullets-0">
            <a:extLst xmlns:a="http://schemas.openxmlformats.org/drawingml/2006/main">
              <a:ext uri="{FF2B5EF4-FFF2-40B4-BE49-F238E27FC236}">
                <a16:creationId xmlns:a16="http://schemas.microsoft.com/office/drawing/2014/main" id="{493AEF60-9BAC-471B-9AB2-19BDD9997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743200"/>
            <a:ext cx="3771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Every actuator has exactly one subsystem owner.</a:t>
            </a:r>
          </a:p>
        </p:txBody>
      </p:sp>
      <p:sp>
        <p:nvSpPr>
          <p:cNvPr id="12" name="bullets-dot-1">
            <a:extLst xmlns:a="http://schemas.openxmlformats.org/drawingml/2006/main">
              <a:ext uri="{FF2B5EF4-FFF2-40B4-BE49-F238E27FC236}">
                <a16:creationId xmlns:a16="http://schemas.microsoft.com/office/drawing/2014/main" id="{0CDC4D25-84A8-41AD-9BFB-3F400729F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766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2D4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ullets-1">
            <a:extLst xmlns:a="http://schemas.openxmlformats.org/drawingml/2006/main">
              <a:ext uri="{FF2B5EF4-FFF2-40B4-BE49-F238E27FC236}">
                <a16:creationId xmlns:a16="http://schemas.microsoft.com/office/drawing/2014/main" id="{C88A7CBF-A562-4116-B733-A39FE8D70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390900"/>
            <a:ext cx="3771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The drive default command is ready.</a:t>
            </a:r>
          </a:p>
        </p:txBody>
      </p:sp>
      <p:sp>
        <p:nvSpPr>
          <p:cNvPr id="14" name="bullets-dot-2">
            <a:extLst xmlns:a="http://schemas.openxmlformats.org/drawingml/2006/main">
              <a:ext uri="{FF2B5EF4-FFF2-40B4-BE49-F238E27FC236}">
                <a16:creationId xmlns:a16="http://schemas.microsoft.com/office/drawing/2014/main" id="{306980A9-2F16-4A39-BBC7-B5E76E11A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243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2D4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ullets-2">
            <a:extLst xmlns:a="http://schemas.openxmlformats.org/drawingml/2006/main">
              <a:ext uri="{FF2B5EF4-FFF2-40B4-BE49-F238E27FC236}">
                <a16:creationId xmlns:a16="http://schemas.microsoft.com/office/drawing/2014/main" id="{E3AD8519-D25F-444D-B799-D6FB5D653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038600"/>
            <a:ext cx="3771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Button triggers are registered.</a:t>
            </a:r>
          </a:p>
        </p:txBody>
      </p:sp>
      <p:sp>
        <p:nvSpPr>
          <p:cNvPr id="16" name="bullets-dot-3">
            <a:extLst xmlns:a="http://schemas.openxmlformats.org/drawingml/2006/main">
              <a:ext uri="{FF2B5EF4-FFF2-40B4-BE49-F238E27FC236}">
                <a16:creationId xmlns:a16="http://schemas.microsoft.com/office/drawing/2014/main" id="{3DEBDA4E-BE39-4184-AFF4-783C61C61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7720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2D4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ullets-3">
            <a:extLst xmlns:a="http://schemas.openxmlformats.org/drawingml/2006/main">
              <a:ext uri="{FF2B5EF4-FFF2-40B4-BE49-F238E27FC236}">
                <a16:creationId xmlns:a16="http://schemas.microsoft.com/office/drawing/2014/main" id="{EDB4BF54-5826-420F-B931-33F33628A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686300"/>
            <a:ext cx="3771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The USB camera is streaming.</a:t>
            </a:r>
          </a:p>
        </p:txBody>
      </p:sp>
      <p:sp>
        <p:nvSpPr>
          <p:cNvPr id="1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765919B9-3FDA-4EC5-8A38-08BDFEE0F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7188"/>
                </a:solidFill>
                <a:latin typeface="Aptos"/>
                <a:ea typeface="Aptos"/>
                <a:cs typeface="Aptos"/>
              </a:rPr>
              <a:t>2020 FRC robot | command-based implementation</a:t>
            </a:r>
          </a:p>
        </p:txBody>
      </p:sp>
      <p:sp>
        <p:nvSpPr>
          <p:cNvPr id="19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0BC99321-7EB7-4FA0-91F5-11D056986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7188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5946970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6B6CA672-3E18-400E-8C44-275ADD1E1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SCHEDULER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67B59BF-3F15-4996-B3B0-CBA25E290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6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robotPeriodic() advances the command system once per robot packet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2441B6C-72B5-4AAF-85C4-1AFACC533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The normal TimedRobot period is 20 ms, which produces about 50 scheduler passes per second.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60636830-9B53-4B1B-857D-BC9EDA2D8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2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cheduler-code-panel">
            <a:extLst xmlns:a="http://schemas.openxmlformats.org/drawingml/2006/main">
              <a:ext uri="{FF2B5EF4-FFF2-40B4-BE49-F238E27FC236}">
                <a16:creationId xmlns:a16="http://schemas.microsoft.com/office/drawing/2014/main" id="{8C4FF6E5-0EE2-497A-93E8-687E7C60B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4381500" cy="1905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0C1727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6" name="scheduler-code-accent">
            <a:extLst xmlns:a="http://schemas.openxmlformats.org/drawingml/2006/main">
              <a:ext uri="{FF2B5EF4-FFF2-40B4-BE49-F238E27FC236}">
                <a16:creationId xmlns:a16="http://schemas.microsoft.com/office/drawing/2014/main" id="{A9C63144-90C0-42D9-9500-63B788D02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57150" cy="1905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2D4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cheduler-code-title">
            <a:extLst xmlns:a="http://schemas.openxmlformats.org/drawingml/2006/main">
              <a:ext uri="{FF2B5EF4-FFF2-40B4-BE49-F238E27FC236}">
                <a16:creationId xmlns:a16="http://schemas.microsoft.com/office/drawing/2014/main" id="{2AE696D0-D50D-42DF-AFCB-0BB2BFF2B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33600"/>
            <a:ext cx="398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62D48A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62D48A"/>
                </a:solidFill>
                <a:latin typeface="Consolas"/>
                <a:ea typeface="Consolas"/>
                <a:cs typeface="Consolas"/>
              </a:rPr>
              <a:t>Robot.java</a:t>
            </a:r>
          </a:p>
        </p:txBody>
      </p:sp>
      <p:sp>
        <p:nvSpPr>
          <p:cNvPr id="8" name="scheduler-code-text">
            <a:extLst xmlns:a="http://schemas.openxmlformats.org/drawingml/2006/main">
              <a:ext uri="{FF2B5EF4-FFF2-40B4-BE49-F238E27FC236}">
                <a16:creationId xmlns:a16="http://schemas.microsoft.com/office/drawing/2014/main" id="{F7DE9472-004B-486E-9934-20C495447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57450"/>
            <a:ext cx="39814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@Override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public void robotPeriodic() {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CommandScheduler.getInstance().run();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3C8115-3A77-4D0A-BF48-4B952F1A8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98120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FFB64D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B64D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8032AA-B71D-4511-B332-06B596F60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885950"/>
            <a:ext cx="2362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Run subsystem periodic methods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F63DBC-AAF8-4B1C-9E94-18046FBCB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98120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FFB64D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B64D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FA9CD3-24E9-4D27-B8F2-1F1ECEB1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885950"/>
            <a:ext cx="2362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Poll buttons and triggers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89D4E6-5B0F-4C97-8437-CC488EDC6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25755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FFB64D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B64D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178100-FB58-4A8D-B823-29D68C3B7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162300"/>
            <a:ext cx="2362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Schedule and cancel commands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C17761-05C2-4D3E-B4AD-8EF0EB283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25755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DDFB60-4A7F-4B44-A725-A8F2A4C5A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162300"/>
            <a:ext cx="2362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Execute active commands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925BDD-CEF4-45AF-808D-FA681ACF5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53390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FFB64D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B64D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78EBEA-C83F-4BEE-A4A9-FC3BE7057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438650"/>
            <a:ext cx="2362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Check completion and call end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3095B7-16AB-49E8-8F32-D1227F2C6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53390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FFB64D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B64D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368E4E-E15F-4C0E-97A1-8BE920567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438650"/>
            <a:ext cx="2362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Start defaults on free subsystems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91B893-B570-487F-B426-6C8D0F7F4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9728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6294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1C5E99-E644-4EF2-A4FA-0AFCC0DBE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29250"/>
            <a:ext cx="1043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FFB64D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B64D"/>
                </a:solidFill>
                <a:latin typeface="Aptos"/>
                <a:ea typeface="Aptos"/>
                <a:cs typeface="Aptos"/>
              </a:rPr>
              <a:t>Every command must return promptly so the scheduler can run the rest of the robot.</a:t>
            </a:r>
          </a:p>
        </p:txBody>
      </p:sp>
      <p:sp>
        <p:nvSpPr>
          <p:cNvPr id="2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E5C17B1F-140B-4DD7-ACF8-21EF376B6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7188"/>
                </a:solidFill>
                <a:latin typeface="Aptos"/>
                <a:ea typeface="Aptos"/>
                <a:cs typeface="Aptos"/>
              </a:rPr>
              <a:t>2020 FRC robot | command-based implementation</a:t>
            </a:r>
          </a:p>
        </p:txBody>
      </p:sp>
      <p:sp>
        <p:nvSpPr>
          <p:cNvPr id="24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7D28AF44-E9D4-4434-A61E-3E10AAFEB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7188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43249300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E0BE5B55-5AD8-4040-B6D4-9FCF0B1C9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COMMAND LIFECYCLE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E9F8DC2-C8AD-44CE-9CF1-126E1070C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6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Commands run one small step on each scheduler pass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38113A1-37AC-491B-9236-0C26A63AA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The lifecycle separates setup, repeated work, completion, and cleanup.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5588F431-AE58-4BD7-A253-2CB745894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2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lifecycle-0">
            <a:extLst xmlns:a="http://schemas.openxmlformats.org/drawingml/2006/main">
              <a:ext uri="{FF2B5EF4-FFF2-40B4-BE49-F238E27FC236}">
                <a16:creationId xmlns:a16="http://schemas.microsoft.com/office/drawing/2014/main" id="{DB41D1DC-0214-4F94-93F9-579489386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34290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FFB6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88CA02-4DEE-43B7-A844-536C449F8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71675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FFB64D"/>
                </a:solidFill>
                <a:latin typeface="Consolas"/>
                <a:ea typeface="Consolas"/>
                <a:cs typeface="Consolas"/>
              </a:defRPr>
            </a:pPr>
            <a:r>
              <a:rPr sz="1800" b="1">
                <a:solidFill>
                  <a:srgbClr val="FFB64D"/>
                </a:solidFill>
                <a:latin typeface="Consolas"/>
                <a:ea typeface="Consolas"/>
                <a:cs typeface="Consolas"/>
              </a:rPr>
              <a:t>initialize()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730BBC-4DDE-47D0-B149-CECF68798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9812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Once when scheduled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30DAC0-8885-45C0-9BE1-1C9ED8469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4955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5E7188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9" name="lifecycle-1">
            <a:extLst xmlns:a="http://schemas.openxmlformats.org/drawingml/2006/main">
              <a:ext uri="{FF2B5EF4-FFF2-40B4-BE49-F238E27FC236}">
                <a16:creationId xmlns:a16="http://schemas.microsoft.com/office/drawing/2014/main" id="{1C22FF74-69FE-4513-85E4-E7C20132D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62250"/>
            <a:ext cx="34290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42C6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21B98C-311D-4049-A710-85CEAD4B7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24175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42C6FF"/>
                </a:solidFill>
                <a:latin typeface="Consolas"/>
                <a:ea typeface="Consolas"/>
                <a:cs typeface="Consolas"/>
              </a:defRPr>
            </a:pPr>
            <a:r>
              <a:rPr sz="1800" b="1">
                <a:solidFill>
                  <a:srgbClr val="42C6FF"/>
                </a:solidFill>
                <a:latin typeface="Consolas"/>
                <a:ea typeface="Consolas"/>
                <a:cs typeface="Consolas"/>
              </a:rPr>
              <a:t>execute()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6CE4A3-0929-4E48-BEC0-906EC9D74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9337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Once per scheduler pass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4A14AE-E845-497C-B095-3035D1000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4480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5E7188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13" name="lifecycle-2">
            <a:extLst xmlns:a="http://schemas.openxmlformats.org/drawingml/2006/main">
              <a:ext uri="{FF2B5EF4-FFF2-40B4-BE49-F238E27FC236}">
                <a16:creationId xmlns:a16="http://schemas.microsoft.com/office/drawing/2014/main" id="{BAE93C62-2D62-435F-946F-B2ACA9EDA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14750"/>
            <a:ext cx="34290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42C6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E3A5A1-6E43-46FF-A40A-E3132EFD4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76675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42C6FF"/>
                </a:solidFill>
                <a:latin typeface="Consolas"/>
                <a:ea typeface="Consolas"/>
                <a:cs typeface="Consolas"/>
              </a:defRPr>
            </a:pPr>
            <a:r>
              <a:rPr sz="1800" b="1">
                <a:solidFill>
                  <a:srgbClr val="42C6FF"/>
                </a:solidFill>
                <a:latin typeface="Consolas"/>
                <a:ea typeface="Consolas"/>
                <a:cs typeface="Consolas"/>
              </a:rPr>
              <a:t>isFinished()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983D53-A06F-4C29-9CA7-776926052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8862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Checked after execution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04A347-69BB-4B6B-91C9-6F78B5AD5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4005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5E7188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17" name="lifecycle-3">
            <a:extLst xmlns:a="http://schemas.openxmlformats.org/drawingml/2006/main">
              <a:ext uri="{FF2B5EF4-FFF2-40B4-BE49-F238E27FC236}">
                <a16:creationId xmlns:a16="http://schemas.microsoft.com/office/drawing/2014/main" id="{0476A1ED-E625-414C-BACF-4F4C2CC83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67250"/>
            <a:ext cx="34290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62D48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644EC6-5ACA-401C-9EEB-2A80AD44F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29175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62D48A"/>
                </a:solidFill>
                <a:latin typeface="Consolas"/>
                <a:ea typeface="Consolas"/>
                <a:cs typeface="Consolas"/>
              </a:defRPr>
            </a:pPr>
            <a:r>
              <a:rPr sz="1800" b="1">
                <a:solidFill>
                  <a:srgbClr val="62D48A"/>
                </a:solidFill>
                <a:latin typeface="Consolas"/>
                <a:ea typeface="Consolas"/>
                <a:cs typeface="Consolas"/>
              </a:rPr>
              <a:t>end(interrupted)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19021E-FE0E-41AF-BF22-6FD2FBF13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8387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Once on finish or cancellation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43787C-381C-4F45-9F44-3FEE97FE9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667000"/>
            <a:ext cx="2838450" cy="895350"/>
          </a:xfrm>
          <a:prstGeom xmlns:a="http://schemas.openxmlformats.org/drawingml/2006/main" prst="roundRect">
            <a:avLst>
              <a:gd name="adj" fmla="val 10638"/>
            </a:avLst>
          </a:prstGeom>
          <a:solidFill xmlns:a="http://schemas.openxmlformats.org/drawingml/2006/main">
            <a:srgbClr val="162941"/>
          </a:solidFill>
          <a:ln xmlns:a="http://schemas.openxmlformats.org/drawingml/2006/main" w="9525">
            <a:solidFill>
              <a:srgbClr val="42C6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7EBBAF-37E0-4710-B732-F4AAF43FA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384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false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DC01D7-4477-4941-9B40-668BF4219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432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Stay scheduled and execute again.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ED0CFB-8E50-450B-97B6-790536303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848100"/>
            <a:ext cx="2838450" cy="895350"/>
          </a:xfrm>
          <a:prstGeom xmlns:a="http://schemas.openxmlformats.org/drawingml/2006/main" prst="roundRect">
            <a:avLst>
              <a:gd name="adj" fmla="val 10638"/>
            </a:avLst>
          </a:prstGeom>
          <a:solidFill xmlns:a="http://schemas.openxmlformats.org/drawingml/2006/main">
            <a:srgbClr val="162941"/>
          </a:solidFill>
          <a:ln xmlns:a="http://schemas.openxmlformats.org/drawingml/2006/main" w="9525">
            <a:solidFill>
              <a:srgbClr val="62D48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326972-E41E-4280-AC95-4F701435A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0195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62D48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2D48A"/>
                </a:solidFill>
                <a:latin typeface="Aptos"/>
                <a:ea typeface="Aptos"/>
                <a:cs typeface="Aptos"/>
              </a:rPr>
              <a:t>true or canceled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5AAF75-A61C-4AE4-9568-7868E63E9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3243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Call end(interrupted) once.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5DA5CD-99F7-4546-9824-C829B126A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5219700"/>
            <a:ext cx="3600450" cy="628650"/>
          </a:xfrm>
          <a:prstGeom xmlns:a="http://schemas.openxmlformats.org/drawingml/2006/main" prst="roundRect">
            <a:avLst>
              <a:gd name="adj" fmla="val 15152"/>
            </a:avLst>
          </a:prstGeom>
          <a:solidFill xmlns:a="http://schemas.openxmlformats.org/drawingml/2006/main">
            <a:srgbClr val="162941"/>
          </a:solidFill>
          <a:ln xmlns:a="http://schemas.openxmlformats.org/drawingml/2006/main" w="9525">
            <a:solidFill>
              <a:srgbClr val="FFB64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3057AE-0150-437F-A304-7860774E7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391150"/>
            <a:ext cx="320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FB64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B64D"/>
                </a:solidFill>
                <a:latin typeface="Aptos"/>
                <a:ea typeface="Aptos"/>
                <a:cs typeface="Aptos"/>
              </a:rPr>
              <a:t>A loop that never returns stops the scheduler.</a:t>
            </a:r>
          </a:p>
        </p:txBody>
      </p:sp>
      <p:sp>
        <p:nvSpPr>
          <p:cNvPr id="2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819CDDE7-E0F7-4665-BBB7-E0EF0A2C6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7188"/>
                </a:solidFill>
                <a:latin typeface="Aptos"/>
                <a:ea typeface="Aptos"/>
                <a:cs typeface="Aptos"/>
              </a:rPr>
              <a:t>2020 FRC robot | command-based implementation</a:t>
            </a:r>
          </a:p>
        </p:txBody>
      </p:sp>
      <p:sp>
        <p:nvSpPr>
          <p:cNvPr id="29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B4561E7E-4C35-47EB-8397-FF5883805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7188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94182093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C328C5C8-4509-4B7A-9B7A-60015F9D3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SUBSYSTEM OWNERSHIP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71FB856-49F8-4288-ABCD-559EC9BA3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6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Requirements keep competing commands off the same hardware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FBBB983-BCE5-420B-8C58-AC3283907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Commands on different subsystems may run together because they do not compete for the same resource.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27B3D766-6A9E-4297-8D2A-76AC0CD13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2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equirements-table-cell-0-0">
            <a:extLst xmlns:a="http://schemas.openxmlformats.org/drawingml/2006/main">
              <a:ext uri="{FF2B5EF4-FFF2-40B4-BE49-F238E27FC236}">
                <a16:creationId xmlns:a16="http://schemas.microsoft.com/office/drawing/2014/main" id="{7D7CCBCB-5C40-4C88-94F3-C84CFC0A1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285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94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6" name="requirements-table-text-0-0">
            <a:extLst xmlns:a="http://schemas.openxmlformats.org/drawingml/2006/main">
              <a:ext uri="{FF2B5EF4-FFF2-40B4-BE49-F238E27FC236}">
                <a16:creationId xmlns:a16="http://schemas.microsoft.com/office/drawing/2014/main" id="{DB4E4978-FB94-4BC3-BEFE-473402C59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24050"/>
            <a:ext cx="2628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Subsystem</a:t>
            </a:r>
          </a:p>
        </p:txBody>
      </p:sp>
      <p:sp>
        <p:nvSpPr>
          <p:cNvPr id="7" name="requirements-table-cell-0-1">
            <a:extLst xmlns:a="http://schemas.openxmlformats.org/drawingml/2006/main">
              <a:ext uri="{FF2B5EF4-FFF2-40B4-BE49-F238E27FC236}">
                <a16:creationId xmlns:a16="http://schemas.microsoft.com/office/drawing/2014/main" id="{4EA9EBB5-F1B5-40CA-898E-D25FF898E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847850"/>
            <a:ext cx="3238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94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8" name="requirements-table-text-0-1">
            <a:extLst xmlns:a="http://schemas.openxmlformats.org/drawingml/2006/main">
              <a:ext uri="{FF2B5EF4-FFF2-40B4-BE49-F238E27FC236}">
                <a16:creationId xmlns:a16="http://schemas.microsoft.com/office/drawing/2014/main" id="{6AC12618-FEFB-4FF7-95D1-2025AB4B7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924050"/>
            <a:ext cx="3009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Commands that require it</a:t>
            </a:r>
          </a:p>
        </p:txBody>
      </p:sp>
      <p:sp>
        <p:nvSpPr>
          <p:cNvPr id="9" name="requirements-table-cell-0-2">
            <a:extLst xmlns:a="http://schemas.openxmlformats.org/drawingml/2006/main">
              <a:ext uri="{FF2B5EF4-FFF2-40B4-BE49-F238E27FC236}">
                <a16:creationId xmlns:a16="http://schemas.microsoft.com/office/drawing/2014/main" id="{A9D30643-F72A-4B7C-891F-BE3A37FBC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847850"/>
            <a:ext cx="487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94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10" name="requirements-table-text-0-2">
            <a:extLst xmlns:a="http://schemas.openxmlformats.org/drawingml/2006/main">
              <a:ext uri="{FF2B5EF4-FFF2-40B4-BE49-F238E27FC236}">
                <a16:creationId xmlns:a16="http://schemas.microsoft.com/office/drawing/2014/main" id="{BA584B76-C1F6-423A-9E89-0C8D3457D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924050"/>
            <a:ext cx="4648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Scheduler result</a:t>
            </a:r>
          </a:p>
        </p:txBody>
      </p:sp>
      <p:sp>
        <p:nvSpPr>
          <p:cNvPr id="11" name="requirements-table-cell-1-0">
            <a:extLst xmlns:a="http://schemas.openxmlformats.org/drawingml/2006/main">
              <a:ext uri="{FF2B5EF4-FFF2-40B4-BE49-F238E27FC236}">
                <a16:creationId xmlns:a16="http://schemas.microsoft.com/office/drawing/2014/main" id="{C31A64CF-A83F-4230-9358-54A9920EC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2857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12" name="requirements-table-text-1-0">
            <a:extLst xmlns:a="http://schemas.openxmlformats.org/drawingml/2006/main">
              <a:ext uri="{FF2B5EF4-FFF2-40B4-BE49-F238E27FC236}">
                <a16:creationId xmlns:a16="http://schemas.microsoft.com/office/drawing/2014/main" id="{F6894ED5-A61D-433D-8732-EDA0D6CEF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2628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DriveSubsystem</a:t>
            </a:r>
          </a:p>
        </p:txBody>
      </p:sp>
      <p:sp>
        <p:nvSpPr>
          <p:cNvPr id="13" name="requirements-table-cell-1-1">
            <a:extLst xmlns:a="http://schemas.openxmlformats.org/drawingml/2006/main">
              <a:ext uri="{FF2B5EF4-FFF2-40B4-BE49-F238E27FC236}">
                <a16:creationId xmlns:a16="http://schemas.microsoft.com/office/drawing/2014/main" id="{53309AED-5C53-4C88-9A43-20E10BFF5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381250"/>
            <a:ext cx="3238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14" name="requirements-table-text-1-1">
            <a:extLst xmlns:a="http://schemas.openxmlformats.org/drawingml/2006/main">
              <a:ext uri="{FF2B5EF4-FFF2-40B4-BE49-F238E27FC236}">
                <a16:creationId xmlns:a16="http://schemas.microsoft.com/office/drawing/2014/main" id="{7BF42DD1-B4A7-4CBB-B97B-B79B884EF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457450"/>
            <a:ext cx="3009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DriveTeleopCommand</a:t>
            </a:r>
          </a:p>
        </p:txBody>
      </p:sp>
      <p:sp>
        <p:nvSpPr>
          <p:cNvPr id="15" name="requirements-table-cell-1-2">
            <a:extLst xmlns:a="http://schemas.openxmlformats.org/drawingml/2006/main">
              <a:ext uri="{FF2B5EF4-FFF2-40B4-BE49-F238E27FC236}">
                <a16:creationId xmlns:a16="http://schemas.microsoft.com/office/drawing/2014/main" id="{F9293554-3C9C-4259-822D-FA7E33E1A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81250"/>
            <a:ext cx="4876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16" name="requirements-table-text-1-2">
            <a:extLst xmlns:a="http://schemas.openxmlformats.org/drawingml/2006/main">
              <a:ext uri="{FF2B5EF4-FFF2-40B4-BE49-F238E27FC236}">
                <a16:creationId xmlns:a16="http://schemas.microsoft.com/office/drawing/2014/main" id="{BA100EBF-21CA-465A-B161-B46752FD3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457450"/>
            <a:ext cx="4648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Runs as the default whenever drive is free</a:t>
            </a:r>
          </a:p>
        </p:txBody>
      </p:sp>
      <p:sp>
        <p:nvSpPr>
          <p:cNvPr id="17" name="requirements-table-cell-2-0">
            <a:extLst xmlns:a="http://schemas.openxmlformats.org/drawingml/2006/main">
              <a:ext uri="{FF2B5EF4-FFF2-40B4-BE49-F238E27FC236}">
                <a16:creationId xmlns:a16="http://schemas.microsoft.com/office/drawing/2014/main" id="{362945F9-A213-450B-AF63-902279B4B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2857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B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18" name="requirements-table-text-2-0">
            <a:extLst xmlns:a="http://schemas.openxmlformats.org/drawingml/2006/main">
              <a:ext uri="{FF2B5EF4-FFF2-40B4-BE49-F238E27FC236}">
                <a16:creationId xmlns:a16="http://schemas.microsoft.com/office/drawing/2014/main" id="{D7688C8C-F8A3-4EC2-90DE-24BD40093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00400"/>
            <a:ext cx="2628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BeltSubsystem</a:t>
            </a:r>
          </a:p>
        </p:txBody>
      </p:sp>
      <p:sp>
        <p:nvSpPr>
          <p:cNvPr id="19" name="requirements-table-cell-2-1">
            <a:extLst xmlns:a="http://schemas.openxmlformats.org/drawingml/2006/main">
              <a:ext uri="{FF2B5EF4-FFF2-40B4-BE49-F238E27FC236}">
                <a16:creationId xmlns:a16="http://schemas.microsoft.com/office/drawing/2014/main" id="{9C48E87F-9112-4649-8127-76480365F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124200"/>
            <a:ext cx="3238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B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20" name="requirements-table-text-2-1">
            <a:extLst xmlns:a="http://schemas.openxmlformats.org/drawingml/2006/main">
              <a:ext uri="{FF2B5EF4-FFF2-40B4-BE49-F238E27FC236}">
                <a16:creationId xmlns:a16="http://schemas.microsoft.com/office/drawing/2014/main" id="{049F3DCD-13B7-4FB9-8345-4AF28B319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200400"/>
            <a:ext cx="3009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BeltInCommand, BeltOutCommand</a:t>
            </a:r>
          </a:p>
        </p:txBody>
      </p:sp>
      <p:sp>
        <p:nvSpPr>
          <p:cNvPr id="21" name="requirements-table-cell-2-2">
            <a:extLst xmlns:a="http://schemas.openxmlformats.org/drawingml/2006/main">
              <a:ext uri="{FF2B5EF4-FFF2-40B4-BE49-F238E27FC236}">
                <a16:creationId xmlns:a16="http://schemas.microsoft.com/office/drawing/2014/main" id="{5AE81665-81D9-410D-9F15-4F4AC5552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24200"/>
            <a:ext cx="4876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B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22" name="requirements-table-text-2-2">
            <a:extLst xmlns:a="http://schemas.openxmlformats.org/drawingml/2006/main">
              <a:ext uri="{FF2B5EF4-FFF2-40B4-BE49-F238E27FC236}">
                <a16:creationId xmlns:a16="http://schemas.microsoft.com/office/drawing/2014/main" id="{8F05F6F4-6762-4398-A258-5556C56EB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200400"/>
            <a:ext cx="4648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Only one belt direction can own the motor</a:t>
            </a:r>
          </a:p>
        </p:txBody>
      </p:sp>
      <p:sp>
        <p:nvSpPr>
          <p:cNvPr id="23" name="requirements-table-cell-3-0">
            <a:extLst xmlns:a="http://schemas.openxmlformats.org/drawingml/2006/main">
              <a:ext uri="{FF2B5EF4-FFF2-40B4-BE49-F238E27FC236}">
                <a16:creationId xmlns:a16="http://schemas.microsoft.com/office/drawing/2014/main" id="{4879FB25-CFC7-4D16-BC3B-77DD60958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2857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24" name="requirements-table-text-3-0">
            <a:extLst xmlns:a="http://schemas.openxmlformats.org/drawingml/2006/main">
              <a:ext uri="{FF2B5EF4-FFF2-40B4-BE49-F238E27FC236}">
                <a16:creationId xmlns:a16="http://schemas.microsoft.com/office/drawing/2014/main" id="{D1B64BD8-5760-4867-A239-67D637586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43350"/>
            <a:ext cx="2628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RollerSubsystem</a:t>
            </a:r>
          </a:p>
        </p:txBody>
      </p:sp>
      <p:sp>
        <p:nvSpPr>
          <p:cNvPr id="25" name="requirements-table-cell-3-1">
            <a:extLst xmlns:a="http://schemas.openxmlformats.org/drawingml/2006/main">
              <a:ext uri="{FF2B5EF4-FFF2-40B4-BE49-F238E27FC236}">
                <a16:creationId xmlns:a16="http://schemas.microsoft.com/office/drawing/2014/main" id="{C1C25BDF-8EED-4DF9-8EBB-C74EE4870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867150"/>
            <a:ext cx="3238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26" name="requirements-table-text-3-1">
            <a:extLst xmlns:a="http://schemas.openxmlformats.org/drawingml/2006/main">
              <a:ext uri="{FF2B5EF4-FFF2-40B4-BE49-F238E27FC236}">
                <a16:creationId xmlns:a16="http://schemas.microsoft.com/office/drawing/2014/main" id="{BA80EA7E-6497-42A5-810F-39FBCCD6E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943350"/>
            <a:ext cx="3009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RollerCommand</a:t>
            </a:r>
          </a:p>
        </p:txBody>
      </p:sp>
      <p:sp>
        <p:nvSpPr>
          <p:cNvPr id="27" name="requirements-table-cell-3-2">
            <a:extLst xmlns:a="http://schemas.openxmlformats.org/drawingml/2006/main">
              <a:ext uri="{FF2B5EF4-FFF2-40B4-BE49-F238E27FC236}">
                <a16:creationId xmlns:a16="http://schemas.microsoft.com/office/drawing/2014/main" id="{3D9AA109-5617-4566-AC62-183FEF461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867150"/>
            <a:ext cx="4876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28" name="requirements-table-text-3-2">
            <a:extLst xmlns:a="http://schemas.openxmlformats.org/drawingml/2006/main">
              <a:ext uri="{FF2B5EF4-FFF2-40B4-BE49-F238E27FC236}">
                <a16:creationId xmlns:a16="http://schemas.microsoft.com/office/drawing/2014/main" id="{3850F517-AAF6-43B5-B62A-914254060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43350"/>
            <a:ext cx="4648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May run at the same time as the belt</a:t>
            </a:r>
          </a:p>
        </p:txBody>
      </p:sp>
      <p:sp>
        <p:nvSpPr>
          <p:cNvPr id="29" name="requirements-table-cell-4-0">
            <a:extLst xmlns:a="http://schemas.openxmlformats.org/drawingml/2006/main">
              <a:ext uri="{FF2B5EF4-FFF2-40B4-BE49-F238E27FC236}">
                <a16:creationId xmlns:a16="http://schemas.microsoft.com/office/drawing/2014/main" id="{7A4F42D8-CFBF-40DA-B330-CBB9FB3C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0100"/>
            <a:ext cx="2857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B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30" name="requirements-table-text-4-0">
            <a:extLst xmlns:a="http://schemas.openxmlformats.org/drawingml/2006/main">
              <a:ext uri="{FF2B5EF4-FFF2-40B4-BE49-F238E27FC236}">
                <a16:creationId xmlns:a16="http://schemas.microsoft.com/office/drawing/2014/main" id="{499182B3-3D22-4FC7-ABB9-067058BA4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86300"/>
            <a:ext cx="2628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ClimberSubsystem</a:t>
            </a:r>
          </a:p>
        </p:txBody>
      </p:sp>
      <p:sp>
        <p:nvSpPr>
          <p:cNvPr id="31" name="requirements-table-cell-4-1">
            <a:extLst xmlns:a="http://schemas.openxmlformats.org/drawingml/2006/main">
              <a:ext uri="{FF2B5EF4-FFF2-40B4-BE49-F238E27FC236}">
                <a16:creationId xmlns:a16="http://schemas.microsoft.com/office/drawing/2014/main" id="{6BFC1AC2-1FE0-4124-A4CA-D0060052B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610100"/>
            <a:ext cx="3238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B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32" name="requirements-table-text-4-1">
            <a:extLst xmlns:a="http://schemas.openxmlformats.org/drawingml/2006/main">
              <a:ext uri="{FF2B5EF4-FFF2-40B4-BE49-F238E27FC236}">
                <a16:creationId xmlns:a16="http://schemas.microsoft.com/office/drawing/2014/main" id="{C8391D65-7295-4108-8EA9-A281EF39A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686300"/>
            <a:ext cx="3009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ToggleClimberArmsCommand</a:t>
            </a:r>
          </a:p>
        </p:txBody>
      </p:sp>
      <p:sp>
        <p:nvSpPr>
          <p:cNvPr id="33" name="requirements-table-cell-4-2">
            <a:extLst xmlns:a="http://schemas.openxmlformats.org/drawingml/2006/main">
              <a:ext uri="{FF2B5EF4-FFF2-40B4-BE49-F238E27FC236}">
                <a16:creationId xmlns:a16="http://schemas.microsoft.com/office/drawing/2014/main" id="{2E4F7549-00D3-4EEF-9DCF-D74479596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10100"/>
            <a:ext cx="4876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B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34" name="requirements-table-text-4-2">
            <a:extLst xmlns:a="http://schemas.openxmlformats.org/drawingml/2006/main">
              <a:ext uri="{FF2B5EF4-FFF2-40B4-BE49-F238E27FC236}">
                <a16:creationId xmlns:a16="http://schemas.microsoft.com/office/drawing/2014/main" id="{386782FC-3FC9-4E22-9A9F-4B4388F35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686300"/>
            <a:ext cx="4648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The toggle has exclusive access while it runs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7694FD3-362D-4274-8054-1E8E0598D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109728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6294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0E8BB89-1014-46D1-A397-6A3971BB2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10200"/>
            <a:ext cx="10439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FFB64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B64D"/>
                </a:solidFill>
                <a:latin typeface="Aptos"/>
                <a:ea typeface="Aptos"/>
                <a:cs typeface="Aptos"/>
              </a:rPr>
              <a:t>addRequirements(subsystem) declares ownership. Saving a subsystem in a field only gives the command access to it.</a:t>
            </a:r>
          </a:p>
        </p:txBody>
      </p:sp>
      <p:sp>
        <p:nvSpPr>
          <p:cNvPr id="3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0F6987EA-5E8D-42BC-B7C0-B0E823771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7188"/>
                </a:solidFill>
                <a:latin typeface="Aptos"/>
                <a:ea typeface="Aptos"/>
                <a:cs typeface="Aptos"/>
              </a:rPr>
              <a:t>2020 FRC robot | command-based implementation</a:t>
            </a:r>
          </a:p>
        </p:txBody>
      </p:sp>
      <p:sp>
        <p:nvSpPr>
          <p:cNvPr id="38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15DE3CE8-E4F5-477A-B604-9063EC618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7188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65420673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2226F70C-8AC6-4193-BA4B-1A78C1F50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DRIVING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C675548-2E7F-4EEA-A787-8CFD10C78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6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The default command turns two Xbox stick axes into tank-drive outputs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79FA1B1-C0D7-4D9E-A8E8-72988763D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A 0.08 deadband filters stick drift; holding the right bumper changes the scale from 0.8 to 0.4.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F38A7261-2132-4565-BDCA-6B5FC9FA6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2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drive-code-panel">
            <a:extLst xmlns:a="http://schemas.openxmlformats.org/drawingml/2006/main">
              <a:ext uri="{FF2B5EF4-FFF2-40B4-BE49-F238E27FC236}">
                <a16:creationId xmlns:a16="http://schemas.microsoft.com/office/drawing/2014/main" id="{2B715ACE-5F0B-4411-9391-9178163BC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6096000" cy="4076700"/>
          </a:xfrm>
          <a:prstGeom xmlns:a="http://schemas.openxmlformats.org/drawingml/2006/main" prst="roundRect">
            <a:avLst>
              <a:gd name="adj" fmla="val 2804"/>
            </a:avLst>
          </a:prstGeom>
          <a:solidFill xmlns:a="http://schemas.openxmlformats.org/drawingml/2006/main">
            <a:srgbClr val="0C1727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6" name="drive-code-accent">
            <a:extLst xmlns:a="http://schemas.openxmlformats.org/drawingml/2006/main">
              <a:ext uri="{FF2B5EF4-FFF2-40B4-BE49-F238E27FC236}">
                <a16:creationId xmlns:a16="http://schemas.microsoft.com/office/drawing/2014/main" id="{C109C886-F043-441F-B6C6-2B4B0AD0B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57150" cy="407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2C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drive-code-title">
            <a:extLst xmlns:a="http://schemas.openxmlformats.org/drawingml/2006/main">
              <a:ext uri="{FF2B5EF4-FFF2-40B4-BE49-F238E27FC236}">
                <a16:creationId xmlns:a16="http://schemas.microsoft.com/office/drawing/2014/main" id="{8834B537-1098-4BC1-9187-06D1D767D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62150"/>
            <a:ext cx="5695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42C6FF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42C6FF"/>
                </a:solidFill>
                <a:latin typeface="Consolas"/>
                <a:ea typeface="Consolas"/>
                <a:cs typeface="Consolas"/>
              </a:rPr>
              <a:t>DriveTeleopCommand.java</a:t>
            </a:r>
          </a:p>
        </p:txBody>
      </p:sp>
      <p:sp>
        <p:nvSpPr>
          <p:cNvPr id="8" name="drive-code-text">
            <a:extLst xmlns:a="http://schemas.openxmlformats.org/drawingml/2006/main">
              <a:ext uri="{FF2B5EF4-FFF2-40B4-BE49-F238E27FC236}">
                <a16:creationId xmlns:a16="http://schemas.microsoft.com/office/drawing/2014/main" id="{522324BF-7F22-42BB-BDD9-9EF278FF7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5695950" cy="3486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public void execute() {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driveSubsystem.drive(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    scale(leftDriveSupplier.getAsDouble()),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    scale(rightDriveSupplier.getAsDouble()));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private double scale(double joystickValue) {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double driveScale = driveSpeedMode.isSlow()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    ? Constants.Tuning.SLOW_DRIVE_SCALE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    : Constants.Tuning.NORMAL_DRIVE_SCALE;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return joystickValue * driveScale;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D9D3CB-5FEC-4EBB-9A3D-617ABFA7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95500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62D48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62D48A"/>
                </a:solidFill>
                <a:latin typeface="Aptos"/>
                <a:ea typeface="Aptos"/>
                <a:cs typeface="Aptos"/>
              </a:rPr>
              <a:t>USB 0 left 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C71874-7161-4789-81CF-F07F3EBCB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9555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Left output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0F06CD-A2C0-47C0-89A0-DA94B11AA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219450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62D48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62D48A"/>
                </a:solidFill>
                <a:latin typeface="Aptos"/>
                <a:ea typeface="Aptos"/>
                <a:cs typeface="Aptos"/>
              </a:rPr>
              <a:t>USB 0 right 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747D24-22C1-4F50-AC1B-2DE4C0F6A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61950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Right 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D31822-DD05-4C7B-BA7D-2299AE5F2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343400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FB64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B64D"/>
                </a:solidFill>
                <a:latin typeface="Aptos"/>
                <a:ea typeface="Aptos"/>
                <a:cs typeface="Aptos"/>
              </a:rPr>
              <a:t>Right bumper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DB647B-43DF-46E5-8132-AC9713D58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74345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0.4 scale while held</a:t>
            </a:r>
          </a:p>
        </p:txBody>
      </p:sp>
      <p:sp>
        <p:nvSpPr>
          <p:cNvPr id="1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ACCD2178-227F-4C9C-B511-7FBB18D74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7188"/>
                </a:solidFill>
                <a:latin typeface="Aptos"/>
                <a:ea typeface="Aptos"/>
                <a:cs typeface="Aptos"/>
              </a:rPr>
              <a:t>2020 FRC robot | command-based implementation</a:t>
            </a:r>
          </a:p>
        </p:txBody>
      </p:sp>
      <p:sp>
        <p:nvSpPr>
          <p:cNvPr id="1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B1B51E0B-89E8-4042-B443-14C5B03AC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7188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5056488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E4FCE25D-270C-411A-B6F8-08CB06186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BELT AND ROLLER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4955D7D-7F6E-4D72-A489-736352016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6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whileTrue converts a held button into continuous motor output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647BEC5-9E2D-436C-800A-4E5794E57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Press schedules the command. Release cancels it, and end() stops the motor.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465D6A07-9204-41CD-B8B3-AC891FED5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2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held-table-cell-0-0">
            <a:extLst xmlns:a="http://schemas.openxmlformats.org/drawingml/2006/main">
              <a:ext uri="{FF2B5EF4-FFF2-40B4-BE49-F238E27FC236}">
                <a16:creationId xmlns:a16="http://schemas.microsoft.com/office/drawing/2014/main" id="{612B6E6D-B4FC-4B7C-B4C0-72D072946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94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6" name="held-table-text-0-0">
            <a:extLst xmlns:a="http://schemas.openxmlformats.org/drawingml/2006/main">
              <a:ext uri="{FF2B5EF4-FFF2-40B4-BE49-F238E27FC236}">
                <a16:creationId xmlns:a16="http://schemas.microsoft.com/office/drawing/2014/main" id="{4D1112F2-30E1-4E20-8490-5D1B62565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62150"/>
            <a:ext cx="1581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Button</a:t>
            </a:r>
          </a:p>
        </p:txBody>
      </p:sp>
      <p:sp>
        <p:nvSpPr>
          <p:cNvPr id="7" name="held-table-cell-0-1">
            <a:extLst xmlns:a="http://schemas.openxmlformats.org/drawingml/2006/main">
              <a:ext uri="{FF2B5EF4-FFF2-40B4-BE49-F238E27FC236}">
                <a16:creationId xmlns:a16="http://schemas.microsoft.com/office/drawing/2014/main" id="{4377ED71-D4E9-4A7A-B3C0-57D4D7F5A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885950"/>
            <a:ext cx="200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94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8" name="held-table-text-0-1">
            <a:extLst xmlns:a="http://schemas.openxmlformats.org/drawingml/2006/main">
              <a:ext uri="{FF2B5EF4-FFF2-40B4-BE49-F238E27FC236}">
                <a16:creationId xmlns:a16="http://schemas.microsoft.com/office/drawing/2014/main" id="{217C789D-1139-4BD8-901A-A40E0E339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962150"/>
            <a:ext cx="1771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Command</a:t>
            </a:r>
          </a:p>
        </p:txBody>
      </p:sp>
      <p:sp>
        <p:nvSpPr>
          <p:cNvPr id="9" name="held-table-cell-0-2">
            <a:extLst xmlns:a="http://schemas.openxmlformats.org/drawingml/2006/main">
              <a:ext uri="{FF2B5EF4-FFF2-40B4-BE49-F238E27FC236}">
                <a16:creationId xmlns:a16="http://schemas.microsoft.com/office/drawing/2014/main" id="{6D5ACBB7-19E1-4408-BB1C-B228D8985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885950"/>
            <a:ext cx="285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94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10" name="held-table-text-0-2">
            <a:extLst xmlns:a="http://schemas.openxmlformats.org/drawingml/2006/main">
              <a:ext uri="{FF2B5EF4-FFF2-40B4-BE49-F238E27FC236}">
                <a16:creationId xmlns:a16="http://schemas.microsoft.com/office/drawing/2014/main" id="{E20C907C-6DC6-4956-A0FA-6D14132BD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962150"/>
            <a:ext cx="2628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Output while held</a:t>
            </a:r>
          </a:p>
        </p:txBody>
      </p:sp>
      <p:sp>
        <p:nvSpPr>
          <p:cNvPr id="11" name="held-table-cell-0-3">
            <a:extLst xmlns:a="http://schemas.openxmlformats.org/drawingml/2006/main">
              <a:ext uri="{FF2B5EF4-FFF2-40B4-BE49-F238E27FC236}">
                <a16:creationId xmlns:a16="http://schemas.microsoft.com/office/drawing/2014/main" id="{4C74E0B0-BC5B-4998-9FF9-7AFD4326C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885950"/>
            <a:ext cx="4305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94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12" name="held-table-text-0-3">
            <a:extLst xmlns:a="http://schemas.openxmlformats.org/drawingml/2006/main">
              <a:ext uri="{FF2B5EF4-FFF2-40B4-BE49-F238E27FC236}">
                <a16:creationId xmlns:a16="http://schemas.microsoft.com/office/drawing/2014/main" id="{BF8F735E-F4C5-49D8-976C-20D3B50BB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962150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Release behavior</a:t>
            </a:r>
          </a:p>
        </p:txBody>
      </p:sp>
      <p:sp>
        <p:nvSpPr>
          <p:cNvPr id="13" name="held-table-cell-1-0">
            <a:extLst xmlns:a="http://schemas.openxmlformats.org/drawingml/2006/main">
              <a:ext uri="{FF2B5EF4-FFF2-40B4-BE49-F238E27FC236}">
                <a16:creationId xmlns:a16="http://schemas.microsoft.com/office/drawing/2014/main" id="{3D4B2E9B-9347-44B3-93F8-427989689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1809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14" name="held-table-text-1-0">
            <a:extLst xmlns:a="http://schemas.openxmlformats.org/drawingml/2006/main">
              <a:ext uri="{FF2B5EF4-FFF2-40B4-BE49-F238E27FC236}">
                <a16:creationId xmlns:a16="http://schemas.microsoft.com/office/drawing/2014/main" id="{E7DFC77D-7374-43C3-94B6-8B28B2568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95550"/>
            <a:ext cx="1581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Operator A</a:t>
            </a:r>
          </a:p>
        </p:txBody>
      </p:sp>
      <p:sp>
        <p:nvSpPr>
          <p:cNvPr id="15" name="held-table-cell-1-1">
            <a:extLst xmlns:a="http://schemas.openxmlformats.org/drawingml/2006/main">
              <a:ext uri="{FF2B5EF4-FFF2-40B4-BE49-F238E27FC236}">
                <a16:creationId xmlns:a16="http://schemas.microsoft.com/office/drawing/2014/main" id="{AA41A189-3228-4C5D-AF0F-5F9D59895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419350"/>
            <a:ext cx="2000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16" name="held-table-text-1-1">
            <a:extLst xmlns:a="http://schemas.openxmlformats.org/drawingml/2006/main">
              <a:ext uri="{FF2B5EF4-FFF2-40B4-BE49-F238E27FC236}">
                <a16:creationId xmlns:a16="http://schemas.microsoft.com/office/drawing/2014/main" id="{FE866565-58C8-4DAE-9DBE-FDD39AA94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495550"/>
            <a:ext cx="1771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BeltInCommand</a:t>
            </a:r>
          </a:p>
        </p:txBody>
      </p:sp>
      <p:sp>
        <p:nvSpPr>
          <p:cNvPr id="17" name="held-table-cell-1-2">
            <a:extLst xmlns:a="http://schemas.openxmlformats.org/drawingml/2006/main">
              <a:ext uri="{FF2B5EF4-FFF2-40B4-BE49-F238E27FC236}">
                <a16:creationId xmlns:a16="http://schemas.microsoft.com/office/drawing/2014/main" id="{D3D5C92D-74BB-4AE9-BF5A-E6F7AA584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419350"/>
            <a:ext cx="2857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18" name="held-table-text-1-2">
            <a:extLst xmlns:a="http://schemas.openxmlformats.org/drawingml/2006/main">
              <a:ext uri="{FF2B5EF4-FFF2-40B4-BE49-F238E27FC236}">
                <a16:creationId xmlns:a16="http://schemas.microsoft.com/office/drawing/2014/main" id="{FA9B8AD7-ACF0-4861-BD01-DC5807DDB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95550"/>
            <a:ext cx="2628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BeltSubsystem.run(+1.0)</a:t>
            </a:r>
          </a:p>
        </p:txBody>
      </p:sp>
      <p:sp>
        <p:nvSpPr>
          <p:cNvPr id="19" name="held-table-cell-1-3">
            <a:extLst xmlns:a="http://schemas.openxmlformats.org/drawingml/2006/main">
              <a:ext uri="{FF2B5EF4-FFF2-40B4-BE49-F238E27FC236}">
                <a16:creationId xmlns:a16="http://schemas.microsoft.com/office/drawing/2014/main" id="{1067A8A4-963A-4B35-B252-FBC131860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419350"/>
            <a:ext cx="43053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20" name="held-table-text-1-3">
            <a:extLst xmlns:a="http://schemas.openxmlformats.org/drawingml/2006/main">
              <a:ext uri="{FF2B5EF4-FFF2-40B4-BE49-F238E27FC236}">
                <a16:creationId xmlns:a16="http://schemas.microsoft.com/office/drawing/2014/main" id="{D446120D-B8C2-493E-9093-67078B262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495550"/>
            <a:ext cx="4076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Cancel command, then stop PWM 5</a:t>
            </a:r>
          </a:p>
        </p:txBody>
      </p:sp>
      <p:sp>
        <p:nvSpPr>
          <p:cNvPr id="21" name="held-table-cell-2-0">
            <a:extLst xmlns:a="http://schemas.openxmlformats.org/drawingml/2006/main">
              <a:ext uri="{FF2B5EF4-FFF2-40B4-BE49-F238E27FC236}">
                <a16:creationId xmlns:a16="http://schemas.microsoft.com/office/drawing/2014/main" id="{9BA8C3EE-CF28-4043-BF1F-67CC2E43B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1809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B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22" name="held-table-text-2-0">
            <a:extLst xmlns:a="http://schemas.openxmlformats.org/drawingml/2006/main">
              <a:ext uri="{FF2B5EF4-FFF2-40B4-BE49-F238E27FC236}">
                <a16:creationId xmlns:a16="http://schemas.microsoft.com/office/drawing/2014/main" id="{B6603208-9F55-47B6-B649-807EC6A20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71850"/>
            <a:ext cx="1581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Operator B</a:t>
            </a:r>
          </a:p>
        </p:txBody>
      </p:sp>
      <p:sp>
        <p:nvSpPr>
          <p:cNvPr id="23" name="held-table-cell-2-1">
            <a:extLst xmlns:a="http://schemas.openxmlformats.org/drawingml/2006/main">
              <a:ext uri="{FF2B5EF4-FFF2-40B4-BE49-F238E27FC236}">
                <a16:creationId xmlns:a16="http://schemas.microsoft.com/office/drawing/2014/main" id="{778F21E1-DA33-4277-A219-04B2070D7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295650"/>
            <a:ext cx="2000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B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24" name="held-table-text-2-1">
            <a:extLst xmlns:a="http://schemas.openxmlformats.org/drawingml/2006/main">
              <a:ext uri="{FF2B5EF4-FFF2-40B4-BE49-F238E27FC236}">
                <a16:creationId xmlns:a16="http://schemas.microsoft.com/office/drawing/2014/main" id="{172202B7-F623-4FA0-8399-3249845F4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371850"/>
            <a:ext cx="1771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BeltOutCommand</a:t>
            </a:r>
          </a:p>
        </p:txBody>
      </p:sp>
      <p:sp>
        <p:nvSpPr>
          <p:cNvPr id="25" name="held-table-cell-2-2">
            <a:extLst xmlns:a="http://schemas.openxmlformats.org/drawingml/2006/main">
              <a:ext uri="{FF2B5EF4-FFF2-40B4-BE49-F238E27FC236}">
                <a16:creationId xmlns:a16="http://schemas.microsoft.com/office/drawing/2014/main" id="{FD4B0990-DDC9-4B45-A4CC-A211A37E2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295650"/>
            <a:ext cx="2857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B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26" name="held-table-text-2-2">
            <a:extLst xmlns:a="http://schemas.openxmlformats.org/drawingml/2006/main">
              <a:ext uri="{FF2B5EF4-FFF2-40B4-BE49-F238E27FC236}">
                <a16:creationId xmlns:a16="http://schemas.microsoft.com/office/drawing/2014/main" id="{B69DF735-F0B2-45C0-9E84-1A5E62716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371850"/>
            <a:ext cx="2628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BeltSubsystem.run(-1.0)</a:t>
            </a:r>
          </a:p>
        </p:txBody>
      </p:sp>
      <p:sp>
        <p:nvSpPr>
          <p:cNvPr id="27" name="held-table-cell-2-3">
            <a:extLst xmlns:a="http://schemas.openxmlformats.org/drawingml/2006/main">
              <a:ext uri="{FF2B5EF4-FFF2-40B4-BE49-F238E27FC236}">
                <a16:creationId xmlns:a16="http://schemas.microsoft.com/office/drawing/2014/main" id="{37B70818-25B0-4069-950B-21D3DA8D1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295650"/>
            <a:ext cx="43053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B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28" name="held-table-text-2-3">
            <a:extLst xmlns:a="http://schemas.openxmlformats.org/drawingml/2006/main">
              <a:ext uri="{FF2B5EF4-FFF2-40B4-BE49-F238E27FC236}">
                <a16:creationId xmlns:a16="http://schemas.microsoft.com/office/drawing/2014/main" id="{7599E073-135B-4819-9EE5-F493CDB02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371850"/>
            <a:ext cx="4076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Cancel command, then stop PWM 5</a:t>
            </a:r>
          </a:p>
        </p:txBody>
      </p:sp>
      <p:sp>
        <p:nvSpPr>
          <p:cNvPr id="29" name="held-table-cell-3-0">
            <a:extLst xmlns:a="http://schemas.openxmlformats.org/drawingml/2006/main">
              <a:ext uri="{FF2B5EF4-FFF2-40B4-BE49-F238E27FC236}">
                <a16:creationId xmlns:a16="http://schemas.microsoft.com/office/drawing/2014/main" id="{C7768ABE-4DF8-4203-B296-2B0FA8CE1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1809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30" name="held-table-text-3-0">
            <a:extLst xmlns:a="http://schemas.openxmlformats.org/drawingml/2006/main">
              <a:ext uri="{FF2B5EF4-FFF2-40B4-BE49-F238E27FC236}">
                <a16:creationId xmlns:a16="http://schemas.microsoft.com/office/drawing/2014/main" id="{8C8900C2-8F30-414C-A1FB-B804ABD4D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48150"/>
            <a:ext cx="1581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Operator X</a:t>
            </a:r>
          </a:p>
        </p:txBody>
      </p:sp>
      <p:sp>
        <p:nvSpPr>
          <p:cNvPr id="31" name="held-table-cell-3-1">
            <a:extLst xmlns:a="http://schemas.openxmlformats.org/drawingml/2006/main">
              <a:ext uri="{FF2B5EF4-FFF2-40B4-BE49-F238E27FC236}">
                <a16:creationId xmlns:a16="http://schemas.microsoft.com/office/drawing/2014/main" id="{AFAD78BA-A2B1-438C-AF2D-9CC476B9D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171950"/>
            <a:ext cx="2000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32" name="held-table-text-3-1">
            <a:extLst xmlns:a="http://schemas.openxmlformats.org/drawingml/2006/main">
              <a:ext uri="{FF2B5EF4-FFF2-40B4-BE49-F238E27FC236}">
                <a16:creationId xmlns:a16="http://schemas.microsoft.com/office/drawing/2014/main" id="{3683C9FC-E1DD-4531-9D10-03597BBE2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248150"/>
            <a:ext cx="1771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RollerCommand</a:t>
            </a:r>
          </a:p>
        </p:txBody>
      </p:sp>
      <p:sp>
        <p:nvSpPr>
          <p:cNvPr id="33" name="held-table-cell-3-2">
            <a:extLst xmlns:a="http://schemas.openxmlformats.org/drawingml/2006/main">
              <a:ext uri="{FF2B5EF4-FFF2-40B4-BE49-F238E27FC236}">
                <a16:creationId xmlns:a16="http://schemas.microsoft.com/office/drawing/2014/main" id="{BDA31B48-68DE-4FCC-A181-55704FDF1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171950"/>
            <a:ext cx="2857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34" name="held-table-text-3-2">
            <a:extLst xmlns:a="http://schemas.openxmlformats.org/drawingml/2006/main">
              <a:ext uri="{FF2B5EF4-FFF2-40B4-BE49-F238E27FC236}">
                <a16:creationId xmlns:a16="http://schemas.microsoft.com/office/drawing/2014/main" id="{408E3A11-CBAC-4D6E-B665-091AFC33A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248150"/>
            <a:ext cx="2628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RollerSubsystem.run(+1.0)</a:t>
            </a:r>
          </a:p>
        </p:txBody>
      </p:sp>
      <p:sp>
        <p:nvSpPr>
          <p:cNvPr id="35" name="held-table-cell-3-3">
            <a:extLst xmlns:a="http://schemas.openxmlformats.org/drawingml/2006/main">
              <a:ext uri="{FF2B5EF4-FFF2-40B4-BE49-F238E27FC236}">
                <a16:creationId xmlns:a16="http://schemas.microsoft.com/office/drawing/2014/main" id="{5D18C96D-184C-4A20-94D6-AD7721077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171950"/>
            <a:ext cx="43053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36" name="held-table-text-3-3">
            <a:extLst xmlns:a="http://schemas.openxmlformats.org/drawingml/2006/main">
              <a:ext uri="{FF2B5EF4-FFF2-40B4-BE49-F238E27FC236}">
                <a16:creationId xmlns:a16="http://schemas.microsoft.com/office/drawing/2014/main" id="{6E47D6AF-3A1D-4AEC-8257-5E724D79D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248150"/>
            <a:ext cx="4076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Cancel command, then stop PWM 4</a:t>
            </a:r>
          </a:p>
        </p:txBody>
      </p:sp>
      <p:sp>
        <p:nvSpPr>
          <p:cNvPr id="37" name="held-pattern-panel">
            <a:extLst xmlns:a="http://schemas.openxmlformats.org/drawingml/2006/main">
              <a:ext uri="{FF2B5EF4-FFF2-40B4-BE49-F238E27FC236}">
                <a16:creationId xmlns:a16="http://schemas.microsoft.com/office/drawing/2014/main" id="{ABF20861-0D03-40C1-9DB3-9D8026D70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991100"/>
            <a:ext cx="75057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C1727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38" name="held-pattern-accent">
            <a:extLst xmlns:a="http://schemas.openxmlformats.org/drawingml/2006/main">
              <a:ext uri="{FF2B5EF4-FFF2-40B4-BE49-F238E27FC236}">
                <a16:creationId xmlns:a16="http://schemas.microsoft.com/office/drawing/2014/main" id="{8CF8DAA8-3B64-4B09-8FD2-4DC9E84D7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991100"/>
            <a:ext cx="57150" cy="1200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2C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held-pattern-title">
            <a:extLst xmlns:a="http://schemas.openxmlformats.org/drawingml/2006/main">
              <a:ext uri="{FF2B5EF4-FFF2-40B4-BE49-F238E27FC236}">
                <a16:creationId xmlns:a16="http://schemas.microsoft.com/office/drawing/2014/main" id="{995348AA-9DD5-4CC7-AAB0-E60C74F51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124450"/>
            <a:ext cx="7105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42C6FF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42C6FF"/>
                </a:solidFill>
                <a:latin typeface="Consolas"/>
                <a:ea typeface="Consolas"/>
                <a:cs typeface="Consolas"/>
              </a:rPr>
              <a:t>SHARED COMMAND PATTERN</a:t>
            </a:r>
          </a:p>
        </p:txBody>
      </p:sp>
      <p:sp>
        <p:nvSpPr>
          <p:cNvPr id="40" name="held-pattern-text">
            <a:extLst xmlns:a="http://schemas.openxmlformats.org/drawingml/2006/main">
              <a:ext uri="{FF2B5EF4-FFF2-40B4-BE49-F238E27FC236}">
                <a16:creationId xmlns:a16="http://schemas.microsoft.com/office/drawing/2014/main" id="{D8CC0642-8DD0-42F5-BF5D-54480F465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448300"/>
            <a:ext cx="7105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execute()     -&gt; subsystem.run(speed)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isFinished()  -&gt; false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end(...)      -&gt; subsystem.stop()</a:t>
            </a:r>
          </a:p>
        </p:txBody>
      </p:sp>
      <p:sp>
        <p:nvSpPr>
          <p:cNvPr id="41" name="footer-left">
            <a:extLst xmlns:a="http://schemas.openxmlformats.org/drawingml/2006/main">
              <a:ext uri="{FF2B5EF4-FFF2-40B4-BE49-F238E27FC236}">
                <a16:creationId xmlns:a16="http://schemas.microsoft.com/office/drawing/2014/main" id="{94115B8A-D5A0-4429-AF4E-A754C50F4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7188"/>
                </a:solidFill>
                <a:latin typeface="Aptos"/>
                <a:ea typeface="Aptos"/>
                <a:cs typeface="Aptos"/>
              </a:rPr>
              <a:t>2020 FRC robot | command-based implementation</a:t>
            </a:r>
          </a:p>
        </p:txBody>
      </p:sp>
      <p:sp>
        <p:nvSpPr>
          <p:cNvPr id="42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305A034F-0958-41D6-9E0B-291304A10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7188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59914682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23804CE4-0C2E-4711-BEED-6B96ACCC7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CLIMBER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DD6D136-C7F6-4B8A-9010-E3F1D892B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6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onTrue performs one pneumatic state change per button press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B042098-7923-4B53-A5B5-9E41601D8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Operator Y schedules the command once; initialize() toggles both cylinders and then finishes.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32A6F104-FE71-4F12-8113-4C36AF604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2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limber-command-panel">
            <a:extLst xmlns:a="http://schemas.openxmlformats.org/drawingml/2006/main">
              <a:ext uri="{FF2B5EF4-FFF2-40B4-BE49-F238E27FC236}">
                <a16:creationId xmlns:a16="http://schemas.microsoft.com/office/drawing/2014/main" id="{2E405B21-EE5F-4C28-82CE-1B50DA86C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4953000" cy="302895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0C1727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6" name="climber-command-accent">
            <a:extLst xmlns:a="http://schemas.openxmlformats.org/drawingml/2006/main">
              <a:ext uri="{FF2B5EF4-FFF2-40B4-BE49-F238E27FC236}">
                <a16:creationId xmlns:a16="http://schemas.microsoft.com/office/drawing/2014/main" id="{DE33761D-0E14-49AE-900B-E1C061DA4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57150" cy="3028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6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limber-command-title">
            <a:extLst xmlns:a="http://schemas.openxmlformats.org/drawingml/2006/main">
              <a:ext uri="{FF2B5EF4-FFF2-40B4-BE49-F238E27FC236}">
                <a16:creationId xmlns:a16="http://schemas.microsoft.com/office/drawing/2014/main" id="{FB9F4AC4-B3CB-45D4-AEDC-F074089B8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57400"/>
            <a:ext cx="455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FFB64D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FFB64D"/>
                </a:solidFill>
                <a:latin typeface="Consolas"/>
                <a:ea typeface="Consolas"/>
                <a:cs typeface="Consolas"/>
              </a:rPr>
              <a:t>ToggleClimberArmsCommand.java</a:t>
            </a:r>
          </a:p>
        </p:txBody>
      </p:sp>
      <p:sp>
        <p:nvSpPr>
          <p:cNvPr id="8" name="climber-command-text">
            <a:extLst xmlns:a="http://schemas.openxmlformats.org/drawingml/2006/main">
              <a:ext uri="{FF2B5EF4-FFF2-40B4-BE49-F238E27FC236}">
                <a16:creationId xmlns:a16="http://schemas.microsoft.com/office/drawing/2014/main" id="{B3AEF23D-1673-4D9A-B5BF-1DAB408DF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81250"/>
            <a:ext cx="4552950" cy="243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@Override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public void initialize() {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climberSubsystem.toggleArms();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@Override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public boolean isFinished() {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return true;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CE702E-50AA-4E66-97C5-940F3ADD9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0764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State transition</a:t>
            </a:r>
          </a:p>
        </p:txBody>
      </p:sp>
      <p:sp>
        <p:nvSpPr>
          <p:cNvPr id="10" name="retracted">
            <a:extLst xmlns:a="http://schemas.openxmlformats.org/drawingml/2006/main">
              <a:ext uri="{FF2B5EF4-FFF2-40B4-BE49-F238E27FC236}">
                <a16:creationId xmlns:a16="http://schemas.microsoft.com/office/drawing/2014/main" id="{06725329-7245-4CEF-9779-5B966EE85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57500"/>
            <a:ext cx="2000250" cy="9144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42C6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7D4A34-7EA3-4DAF-A8E0-F200D346B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143250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Retracted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D417DB-A950-476A-A3AB-0858B9056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861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250" b="1">
                <a:solidFill>
                  <a:srgbClr val="FFB64D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B64D"/>
                </a:solidFill>
                <a:latin typeface="Aptos"/>
                <a:ea typeface="Aptos"/>
                <a:cs typeface="Aptos"/>
              </a:rPr>
              <a:t>⇄</a:t>
            </a:r>
          </a:p>
        </p:txBody>
      </p:sp>
      <p:sp>
        <p:nvSpPr>
          <p:cNvPr id="13" name="extended">
            <a:extLst xmlns:a="http://schemas.openxmlformats.org/drawingml/2006/main">
              <a:ext uri="{FF2B5EF4-FFF2-40B4-BE49-F238E27FC236}">
                <a16:creationId xmlns:a16="http://schemas.microsoft.com/office/drawing/2014/main" id="{FA3A52C7-9E53-4B16-834D-981226801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857500"/>
            <a:ext cx="2000250" cy="9144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62D48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C7C917-04E5-49C2-96AC-7D4C58F88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143250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62D48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62D48A"/>
                </a:solidFill>
                <a:latin typeface="Aptos"/>
                <a:ea typeface="Aptos"/>
                <a:cs typeface="Aptos"/>
              </a:rPr>
              <a:t>Extended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B895A1-41EF-4C75-9541-CF2827C39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438650"/>
            <a:ext cx="51816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62941"/>
          </a:solidFill>
          <a:ln xmlns:a="http://schemas.openxmlformats.org/drawingml/2006/main" w="9525">
            <a:solidFill>
              <a:srgbClr val="FFB64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81F09B-AD18-4CAD-AD7D-3AAD8851D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482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FFB64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B64D"/>
                </a:solidFill>
                <a:latin typeface="Aptos"/>
                <a:ea typeface="Aptos"/>
                <a:cs typeface="Aptos"/>
              </a:rPr>
              <a:t>Startup assumption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DCB721-C61A-449D-9859-BD90F0B50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91100"/>
            <a:ext cx="4629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The code starts with armsExtended = false. The physical arms must begin retracted.</a:t>
            </a:r>
          </a:p>
        </p:txBody>
      </p:sp>
      <p:sp>
        <p:nvSpPr>
          <p:cNvPr id="1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816F9F98-B1A5-453A-8C60-9B090580A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7188"/>
                </a:solidFill>
                <a:latin typeface="Aptos"/>
                <a:ea typeface="Aptos"/>
                <a:cs typeface="Aptos"/>
              </a:rPr>
              <a:t>2020 FRC robot | command-based implementation</a:t>
            </a:r>
          </a:p>
        </p:txBody>
      </p:sp>
      <p:sp>
        <p:nvSpPr>
          <p:cNvPr id="19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97552D68-DC7B-4359-ACDD-8488FF489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7188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60309114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42B54514-A799-4817-B075-E7ED1588F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BINDINGS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6051818-DD80-4FD5-8D68-D53D698BF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6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RobotContainer states the operator interface in one place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5EF3E47-731F-488A-A095-45449514D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The binding type matches the behavior: held motor action or one-time pneumatic action.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FADF2E6C-6A6A-4FD5-8710-35D3BA08C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2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indings-code-panel">
            <a:extLst xmlns:a="http://schemas.openxmlformats.org/drawingml/2006/main">
              <a:ext uri="{FF2B5EF4-FFF2-40B4-BE49-F238E27FC236}">
                <a16:creationId xmlns:a16="http://schemas.microsoft.com/office/drawing/2014/main" id="{607E770A-F445-4C41-BC92-7F4BBF424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7543800" cy="44577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0C1727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6" name="bindings-code-accent">
            <a:extLst xmlns:a="http://schemas.openxmlformats.org/drawingml/2006/main">
              <a:ext uri="{FF2B5EF4-FFF2-40B4-BE49-F238E27FC236}">
                <a16:creationId xmlns:a16="http://schemas.microsoft.com/office/drawing/2014/main" id="{297170B0-4D88-4702-81A2-10E07A8A2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57150" cy="4457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2C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indings-code-title">
            <a:extLst xmlns:a="http://schemas.openxmlformats.org/drawingml/2006/main">
              <a:ext uri="{FF2B5EF4-FFF2-40B4-BE49-F238E27FC236}">
                <a16:creationId xmlns:a16="http://schemas.microsoft.com/office/drawing/2014/main" id="{588A010C-5B8B-4B1F-87BD-37E10AB40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859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42C6FF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42C6FF"/>
                </a:solidFill>
                <a:latin typeface="Consolas"/>
                <a:ea typeface="Consolas"/>
                <a:cs typeface="Consolas"/>
              </a:rPr>
              <a:t>RobotContainer.configureBindings()</a:t>
            </a:r>
          </a:p>
        </p:txBody>
      </p:sp>
      <p:sp>
        <p:nvSpPr>
          <p:cNvPr id="8" name="bindings-code-text">
            <a:extLst xmlns:a="http://schemas.openxmlformats.org/drawingml/2006/main">
              <a:ext uri="{FF2B5EF4-FFF2-40B4-BE49-F238E27FC236}">
                <a16:creationId xmlns:a16="http://schemas.microsoft.com/office/drawing/2014/main" id="{EF00A080-A30C-4173-B0D1-7DD336748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09800"/>
            <a:ext cx="7143750" cy="386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operatorController.y()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.onTrue(new ToggleClimberArmsCommand(climberSubsystem));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operatorController.a()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.whileTrue(new BeltInCommand(beltSubsystem));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operatorController.b()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.whileTrue(new BeltOutCommand(beltSubsystem));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operatorController.x()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.whileTrue(new RollerCommand(rollerSubsystem));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driverController.rightBumper()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.whileTrue(new SlowDriveCommand(driveSpeedMode));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ED68B0-6AED-4F27-AFD8-07D5D189A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000250"/>
            <a:ext cx="266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Read a binding as a sentence</a:t>
            </a:r>
          </a:p>
        </p:txBody>
      </p:sp>
      <p:sp>
        <p:nvSpPr>
          <p:cNvPr id="10" name="bullets-dot-0">
            <a:extLst xmlns:a="http://schemas.openxmlformats.org/drawingml/2006/main">
              <a:ext uri="{FF2B5EF4-FFF2-40B4-BE49-F238E27FC236}">
                <a16:creationId xmlns:a16="http://schemas.microsoft.com/office/drawing/2014/main" id="{31F340F6-C4AD-48C5-A73D-D3A45FA33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0575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6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ullets-0">
            <a:extLst xmlns:a="http://schemas.openxmlformats.org/drawingml/2006/main">
              <a:ext uri="{FF2B5EF4-FFF2-40B4-BE49-F238E27FC236}">
                <a16:creationId xmlns:a16="http://schemas.microsoft.com/office/drawing/2014/main" id="{A8F1F9BF-1E87-44E5-8D18-2040E499A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971800"/>
            <a:ext cx="243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Which controller?</a:t>
            </a:r>
          </a:p>
        </p:txBody>
      </p:sp>
      <p:sp>
        <p:nvSpPr>
          <p:cNvPr id="12" name="bullets-dot-1">
            <a:extLst xmlns:a="http://schemas.openxmlformats.org/drawingml/2006/main">
              <a:ext uri="{FF2B5EF4-FFF2-40B4-BE49-F238E27FC236}">
                <a16:creationId xmlns:a16="http://schemas.microsoft.com/office/drawing/2014/main" id="{C8434011-AD61-43AB-9F99-05A7E2BE4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909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6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ullets-1">
            <a:extLst xmlns:a="http://schemas.openxmlformats.org/drawingml/2006/main">
              <a:ext uri="{FF2B5EF4-FFF2-40B4-BE49-F238E27FC236}">
                <a16:creationId xmlns:a16="http://schemas.microsoft.com/office/drawing/2014/main" id="{3AC8DECD-3536-49AF-860E-585DE1541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505200"/>
            <a:ext cx="243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Which button?</a:t>
            </a:r>
          </a:p>
        </p:txBody>
      </p:sp>
      <p:sp>
        <p:nvSpPr>
          <p:cNvPr id="14" name="bullets-dot-2">
            <a:extLst xmlns:a="http://schemas.openxmlformats.org/drawingml/2006/main">
              <a:ext uri="{FF2B5EF4-FFF2-40B4-BE49-F238E27FC236}">
                <a16:creationId xmlns:a16="http://schemas.microsoft.com/office/drawing/2014/main" id="{F153759E-68D7-4B8A-82A3-1AA531976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1243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6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ullets-2">
            <a:extLst xmlns:a="http://schemas.openxmlformats.org/drawingml/2006/main">
              <a:ext uri="{FF2B5EF4-FFF2-40B4-BE49-F238E27FC236}">
                <a16:creationId xmlns:a16="http://schemas.microsoft.com/office/drawing/2014/main" id="{12573C50-FA7F-4223-8714-297BDFD90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38600"/>
            <a:ext cx="243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Which trigger rule?</a:t>
            </a:r>
          </a:p>
        </p:txBody>
      </p:sp>
      <p:sp>
        <p:nvSpPr>
          <p:cNvPr id="16" name="bullets-dot-3">
            <a:extLst xmlns:a="http://schemas.openxmlformats.org/drawingml/2006/main">
              <a:ext uri="{FF2B5EF4-FFF2-40B4-BE49-F238E27FC236}">
                <a16:creationId xmlns:a16="http://schemas.microsoft.com/office/drawing/2014/main" id="{AF5647DA-E1E1-4BA4-A335-54DB13E21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6577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6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ullets-3">
            <a:extLst xmlns:a="http://schemas.openxmlformats.org/drawingml/2006/main">
              <a:ext uri="{FF2B5EF4-FFF2-40B4-BE49-F238E27FC236}">
                <a16:creationId xmlns:a16="http://schemas.microsoft.com/office/drawing/2014/main" id="{FCFE8678-7B5A-44B6-BF3D-3F1B3E8A9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572000"/>
            <a:ext cx="243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Which command?</a:t>
            </a:r>
          </a:p>
        </p:txBody>
      </p:sp>
      <p:sp>
        <p:nvSpPr>
          <p:cNvPr id="18" name="bullets-dot-4">
            <a:extLst xmlns:a="http://schemas.openxmlformats.org/drawingml/2006/main">
              <a:ext uri="{FF2B5EF4-FFF2-40B4-BE49-F238E27FC236}">
                <a16:creationId xmlns:a16="http://schemas.microsoft.com/office/drawing/2014/main" id="{E7F7AFD8-85B4-4674-ACFF-441ACF7B7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1911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6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ullets-4">
            <a:extLst xmlns:a="http://schemas.openxmlformats.org/drawingml/2006/main">
              <a:ext uri="{FF2B5EF4-FFF2-40B4-BE49-F238E27FC236}">
                <a16:creationId xmlns:a16="http://schemas.microsoft.com/office/drawing/2014/main" id="{EB914C49-B3DF-4726-A19D-02251033B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105400"/>
            <a:ext cx="243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Which subsystem does it require?</a:t>
            </a:r>
          </a:p>
        </p:txBody>
      </p:sp>
      <p:sp>
        <p:nvSpPr>
          <p:cNvPr id="20" name="footer-left">
            <a:extLst xmlns:a="http://schemas.openxmlformats.org/drawingml/2006/main">
              <a:ext uri="{FF2B5EF4-FFF2-40B4-BE49-F238E27FC236}">
                <a16:creationId xmlns:a16="http://schemas.microsoft.com/office/drawing/2014/main" id="{8490A991-5C70-46F3-8694-6B238E0CB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7188"/>
                </a:solidFill>
                <a:latin typeface="Aptos"/>
                <a:ea typeface="Aptos"/>
                <a:cs typeface="Aptos"/>
              </a:rPr>
              <a:t>2020 FRC robot | command-based implementation</a:t>
            </a:r>
          </a:p>
        </p:txBody>
      </p:sp>
      <p:sp>
        <p:nvSpPr>
          <p:cNvPr id="21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509CA46F-78FB-4B67-B062-AB9DFB485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7188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02285927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F4E8EAE9-13C5-4B74-8136-7FAECFB00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END-TO-END TRACE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F78FB1B-F911-435C-ABF8-8FCC994E4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6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Operator A reaches the belt motor through six explicit steps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E68879B-17A3-4D45-A2BE-700E7A711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Every step can be located in the checked-in Java source.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B417F015-FF77-4362-B02C-5E5FAD220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2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ignal-0">
            <a:extLst xmlns:a="http://schemas.openxmlformats.org/drawingml/2006/main">
              <a:ext uri="{FF2B5EF4-FFF2-40B4-BE49-F238E27FC236}">
                <a16:creationId xmlns:a16="http://schemas.microsoft.com/office/drawing/2014/main" id="{E90E4718-EC8D-4FDA-9927-83753EECC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543050" cy="1866900"/>
          </a:xfrm>
          <a:prstGeom xmlns:a="http://schemas.openxmlformats.org/drawingml/2006/main" prst="roundRect">
            <a:avLst>
              <a:gd name="adj" fmla="val 8642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FFB64D"/>
            </a:solidFill>
            <a:prstDash val="solid"/>
          </a:ln>
        </p:spPr>
      </p:sp>
      <p:sp>
        <p:nvSpPr>
          <p:cNvPr id="6" name="signal-1">
            <a:extLst xmlns:a="http://schemas.openxmlformats.org/drawingml/2006/main">
              <a:ext uri="{FF2B5EF4-FFF2-40B4-BE49-F238E27FC236}">
                <a16:creationId xmlns:a16="http://schemas.microsoft.com/office/drawing/2014/main" id="{50AB8F99-0978-4B26-B491-32EF18933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324100"/>
            <a:ext cx="1543050" cy="1866900"/>
          </a:xfrm>
          <a:prstGeom xmlns:a="http://schemas.openxmlformats.org/drawingml/2006/main" prst="roundRect">
            <a:avLst>
              <a:gd name="adj" fmla="val 8642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42C6FF"/>
            </a:solidFill>
            <a:prstDash val="solid"/>
          </a:ln>
        </p:spPr>
      </p:sp>
      <p:sp>
        <p:nvSpPr>
          <p:cNvPr id="7" name="signal-2">
            <a:extLst xmlns:a="http://schemas.openxmlformats.org/drawingml/2006/main">
              <a:ext uri="{FF2B5EF4-FFF2-40B4-BE49-F238E27FC236}">
                <a16:creationId xmlns:a16="http://schemas.microsoft.com/office/drawing/2014/main" id="{EAA20C9B-8E87-4492-ABEB-A0AD3E2EF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24100"/>
            <a:ext cx="1543050" cy="1866900"/>
          </a:xfrm>
          <a:prstGeom xmlns:a="http://schemas.openxmlformats.org/drawingml/2006/main" prst="roundRect">
            <a:avLst>
              <a:gd name="adj" fmla="val 8642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42C6FF"/>
            </a:solidFill>
            <a:prstDash val="solid"/>
          </a:ln>
        </p:spPr>
      </p:sp>
      <p:sp>
        <p:nvSpPr>
          <p:cNvPr id="8" name="signal-3">
            <a:extLst xmlns:a="http://schemas.openxmlformats.org/drawingml/2006/main">
              <a:ext uri="{FF2B5EF4-FFF2-40B4-BE49-F238E27FC236}">
                <a16:creationId xmlns:a16="http://schemas.microsoft.com/office/drawing/2014/main" id="{B72E2251-8288-4329-B092-913222EFC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324100"/>
            <a:ext cx="1543050" cy="1866900"/>
          </a:xfrm>
          <a:prstGeom xmlns:a="http://schemas.openxmlformats.org/drawingml/2006/main" prst="roundRect">
            <a:avLst>
              <a:gd name="adj" fmla="val 8642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42C6FF"/>
            </a:solidFill>
            <a:prstDash val="solid"/>
          </a:ln>
        </p:spPr>
      </p:sp>
      <p:sp>
        <p:nvSpPr>
          <p:cNvPr id="9" name="signal-4">
            <a:extLst xmlns:a="http://schemas.openxmlformats.org/drawingml/2006/main">
              <a:ext uri="{FF2B5EF4-FFF2-40B4-BE49-F238E27FC236}">
                <a16:creationId xmlns:a16="http://schemas.microsoft.com/office/drawing/2014/main" id="{D8D4C14E-3971-41A1-AE04-4F09062EA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24100"/>
            <a:ext cx="1543050" cy="1866900"/>
          </a:xfrm>
          <a:prstGeom xmlns:a="http://schemas.openxmlformats.org/drawingml/2006/main" prst="roundRect">
            <a:avLst>
              <a:gd name="adj" fmla="val 8642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42C6FF"/>
            </a:solidFill>
            <a:prstDash val="solid"/>
          </a:ln>
        </p:spPr>
      </p:sp>
      <p:sp>
        <p:nvSpPr>
          <p:cNvPr id="10" name="signal-5">
            <a:extLst xmlns:a="http://schemas.openxmlformats.org/drawingml/2006/main">
              <a:ext uri="{FF2B5EF4-FFF2-40B4-BE49-F238E27FC236}">
                <a16:creationId xmlns:a16="http://schemas.microsoft.com/office/drawing/2014/main" id="{EADC7288-97AF-4892-AF49-B40152EB4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324100"/>
            <a:ext cx="1543050" cy="1866900"/>
          </a:xfrm>
          <a:prstGeom xmlns:a="http://schemas.openxmlformats.org/drawingml/2006/main" prst="roundRect">
            <a:avLst>
              <a:gd name="adj" fmla="val 8642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62D48A"/>
            </a:solidFill>
            <a:prstDash val="solid"/>
          </a:ln>
        </p:spPr>
      </p:sp>
      <p:cxnSp>
        <p:nvCxnSpPr>
          <p:cNvPr id="79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152650" y="325755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7188"/>
            </a:solidFill>
            <a:prstDash val="solid"/>
            <a:tailEnd type="arrow" w="sm" len="sm"/>
          </a:ln>
        </p:spPr>
      </p:cxnSp>
      <p:cxnSp>
        <p:nvCxnSpPr>
          <p:cNvPr id="8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962400" y="325755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7188"/>
            </a:solidFill>
            <a:prstDash val="solid"/>
            <a:tailEnd type="arrow" w="sm" len="sm"/>
          </a:ln>
        </p:spPr>
      </p:cxnSp>
      <p:cxnSp>
        <p:nvCxnSpPr>
          <p:cNvPr id="8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772150" y="325755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7188"/>
            </a:solidFill>
            <a:prstDash val="solid"/>
            <a:tailEnd type="arrow" w="sm" len="sm"/>
          </a:ln>
        </p:spPr>
      </p:cxnSp>
      <p:cxnSp>
        <p:nvCxnSpPr>
          <p:cNvPr id="82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581900" y="325755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7188"/>
            </a:solidFill>
            <a:prstDash val="solid"/>
            <a:tailEnd type="arrow" w="sm" len="sm"/>
          </a:ln>
        </p:spPr>
      </p:cxnSp>
      <p:cxnSp>
        <p:nvCxnSpPr>
          <p:cNvPr id="83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9391650" y="325755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7188"/>
            </a:solidFill>
            <a:prstDash val="solid"/>
            <a:tailEnd type="arrow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72A7B5-FFE0-486F-B62B-4943B5B20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FFB64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B64D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C18DDA-1958-4888-A093-4F230DACE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Operator Xbox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E2DA2D-3096-49D1-855A-BEAF94E99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1219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A becomes true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5947ED-16DF-4EF5-9E8D-CA67FE9EB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5146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3AC0C8-4B62-4A4A-94D6-B882543D0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990850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Trigger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77B55D-A460-429A-B8F5-DA1740E0A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543300"/>
            <a:ext cx="1219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whileTrue schedules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631DD9-034C-432F-A4AD-6D9F7F73E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5146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2B9286-3E55-4ABE-93F5-B4E3DA130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990850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Scheduler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047B10-3CEE-4518-8F52-E0668DD99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543300"/>
            <a:ext cx="1219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Claims BeltSubsystem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7F06DB-955C-4868-A478-618B95922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5146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90D2CB-2E1F-4D3F-B321-CE96C3235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990850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Command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726BE99-584D-4F65-B3EF-65677FB45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543300"/>
            <a:ext cx="1219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execute() runs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899B91-F3A6-4B99-A1C5-79417C0AC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146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2BF2F66-2A25-41AE-A82E-BEE1CC696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990850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Subsystem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3214C94-7CED-49BC-9886-C7C5481FA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543300"/>
            <a:ext cx="1219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run(+1.0)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6474C8F-D5EF-4986-8F5A-A9F7E8FDA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5146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62D48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2D48A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D184F6C-693C-469B-893F-CC0161BCF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990850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Talon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57B663E-DA99-4A15-9F04-0131F1F61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543300"/>
            <a:ext cx="1219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PWM 5 drives belt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8C7157A-0577-459D-9D50-8B45660EE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5918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16294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BC3A10D-40C8-4B70-83E3-681A024DA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530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FB64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B64D"/>
                </a:solidFill>
                <a:latin typeface="Aptos"/>
                <a:ea typeface="Aptos"/>
                <a:cs typeface="Aptos"/>
              </a:rPr>
              <a:t>Release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772393D-8772-44A6-A01A-B98F1C5AB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93395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A false -&gt; cancel -&gt; end(true) -&gt; beltSubsystem.stop() -&gt; PWM 5 output becomes zero</a:t>
            </a:r>
          </a:p>
        </p:txBody>
      </p:sp>
      <p:sp>
        <p:nvSpPr>
          <p:cNvPr id="3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372CA0D6-30ED-4698-94C3-0DC0179BF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7188"/>
                </a:solidFill>
                <a:latin typeface="Aptos"/>
                <a:ea typeface="Aptos"/>
                <a:cs typeface="Aptos"/>
              </a:rPr>
              <a:t>2020 FRC robot | command-based implementation</a:t>
            </a:r>
          </a:p>
        </p:txBody>
      </p:sp>
      <p:sp>
        <p:nvSpPr>
          <p:cNvPr id="38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D1D7236B-C0F9-44FF-B172-925F775E8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7188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36795035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F8E905C3-6A65-483A-8FDC-E5D9FF260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OPERATING MODEL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42DE5D7-B9CB-48DA-8785-45EDEDAA3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6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Each responsibility has one clear home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E8D871E-690D-4CAF-BE31-729AC1CD5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Follow the same path when reading, testing, or debugging any robot action.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1A6BAAE3-9D18-4287-800D-2B53BC44F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2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A0090B-1475-4C3B-8615-11BB01ABB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4310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>
                <a:solidFill>
                  <a:srgbClr val="62D48A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62D48A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6" name="reading-step-0">
            <a:extLst xmlns:a="http://schemas.openxmlformats.org/drawingml/2006/main">
              <a:ext uri="{FF2B5EF4-FFF2-40B4-BE49-F238E27FC236}">
                <a16:creationId xmlns:a16="http://schemas.microsoft.com/office/drawing/2014/main" id="{A570236A-B06A-4B8C-84E0-2731C115F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809750"/>
            <a:ext cx="95250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62D48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E93EAB-5C6A-4F55-8103-194A4C0FC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9621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Start with the hardware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6A51B8-EC3F-4738-961E-0A0BAAA6A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962150"/>
            <a:ext cx="628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Identify the actuator and its subsystem owner.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9AADFD-895A-44EA-A65B-93F4C6EC6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3370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>
                <a:solidFill>
                  <a:srgbClr val="FFB64D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B64D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0" name="reading-step-1">
            <a:extLst xmlns:a="http://schemas.openxmlformats.org/drawingml/2006/main">
              <a:ext uri="{FF2B5EF4-FFF2-40B4-BE49-F238E27FC236}">
                <a16:creationId xmlns:a16="http://schemas.microsoft.com/office/drawing/2014/main" id="{289831E4-91F7-49F7-9B4F-9325705A6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00350"/>
            <a:ext cx="95250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FFB64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293625-95CB-4006-AC10-1808045C7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9527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Find the binding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E18444-7946-4E1A-BBD9-907BA6751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952750"/>
            <a:ext cx="628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Locate the controller, button, and trigger rule.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5DFCA8-3FC0-4881-9A87-D25A9E472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2430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4" name="reading-step-2">
            <a:extLst xmlns:a="http://schemas.openxmlformats.org/drawingml/2006/main">
              <a:ext uri="{FF2B5EF4-FFF2-40B4-BE49-F238E27FC236}">
                <a16:creationId xmlns:a16="http://schemas.microsoft.com/office/drawing/2014/main" id="{F6F99C5C-9579-40DE-9E6C-7F4CC8ABA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90950"/>
            <a:ext cx="95250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42C6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C59C9E-7E8C-4C33-A720-82D8DA935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9433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Read the command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A857BA-9DAD-4354-B164-D5DD66F7A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943350"/>
            <a:ext cx="628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Check requirements, lifecycle methods, and completion.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0082A3-2AE3-4907-9E03-76F786C66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>
                <a:solidFill>
                  <a:srgbClr val="62D48A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62D48A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8" name="reading-step-3">
            <a:extLst xmlns:a="http://schemas.openxmlformats.org/drawingml/2006/main">
              <a:ext uri="{FF2B5EF4-FFF2-40B4-BE49-F238E27FC236}">
                <a16:creationId xmlns:a16="http://schemas.microsoft.com/office/drawing/2014/main" id="{C17373F7-7279-4FA6-A55A-233282166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81550"/>
            <a:ext cx="95250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62D48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E17DAD-487A-4992-B302-AE433DB98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9339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Trace the output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2895D6-6530-4285-B834-38536445C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933950"/>
            <a:ext cx="628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Follow the subsystem method to the WPILib hardware object.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086076-4ED3-4936-8B4F-82B0CC727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867400"/>
            <a:ext cx="9525000" cy="41910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16294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EED18F-0687-481B-B352-44FA347A7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962650"/>
            <a:ext cx="9124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One scheduler coordinates the robot, but each subsystem remains responsible for its own hardware.</a:t>
            </a:r>
          </a:p>
        </p:txBody>
      </p:sp>
      <p:sp>
        <p:nvSpPr>
          <p:cNvPr id="2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00879ACD-A1CF-4029-8075-BF35C2780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7188"/>
                </a:solidFill>
                <a:latin typeface="Aptos"/>
                <a:ea typeface="Aptos"/>
                <a:cs typeface="Aptos"/>
              </a:rPr>
              <a:t>2020 FRC robot | command-based implementation</a:t>
            </a:r>
          </a:p>
        </p:txBody>
      </p:sp>
      <p:sp>
        <p:nvSpPr>
          <p:cNvPr id="24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06317ED2-F3E0-4C6D-9156-81D5FA23F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7188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9691130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2026-09-18T21:12:29.3720000Z</dcterms:created>
  <dcterms:modified xsi:type="dcterms:W3CDTF">2026-09-18T21:12:29.3720000Z</dcterms:modified>
</coreProperties>
</file>