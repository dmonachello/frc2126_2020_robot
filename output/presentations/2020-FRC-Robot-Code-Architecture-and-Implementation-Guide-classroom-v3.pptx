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86" r:id="rId5"/>
    <p:sldId id="259" r:id="rId6"/>
    <p:sldId id="260" r:id="rId7"/>
    <p:sldId id="261" r:id="rId8"/>
    <p:sldId id="287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E6F646-81A8-4A6F-8AE0-E0B133C49EF2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C32082-48E1-4C1C-8467-280D9FC99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100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Talking points
- Introduce the robot as one connected system: hardware channels, operator controls, command scheduling, and Java files.
- Explain that the presentation starts with direct hardware control, then adds the command framework, then traces the same behavior through the repository.
Ask the room
- Which part feels less familiar right now: wiring, WPILib, or Java?
Watch out for
- This is a guide to this robot. Other teams may use different ports, motor controllers, or pneumatic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32082-48E1-4C1C-8467-280D9FC99A4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94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Talking points
- The first section answers two questions: what mechanisms exist, and which roboRIO or PCM channels reach them?
- Tell students that every software object shown later must eventually produce a physical electrical or pneumatic output.
Ask the room
- Before looking at code, what information would you need to make one motor move safely?
Watch out for
- Keep this transition short. The mechanism slides carry the technical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32082-48E1-4C1C-8467-280D9FC99A4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2914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Talking points
- Walk across the table one mechanism at a time.
- The drivetrain uses PWM ports 0 through 3. The roller uses port 4. The belt uses port 5.
- The climber uses one double-solenoid valve on PCM channels 0 and 1. Pneumatic tees let that valve control both cylinders.
- Explain why the left drivetrain side needs inversion.
Ask the room
- If the belt does not move, which single channel would you inspect first?
Watch out for
- A channel number identifies an electrical connection. It does not identify the mechanism unless the wiring and constants agree.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32082-48E1-4C1C-8467-280D9FC99A4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651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Talking points
- Follow each colored line from a roboRIO PWM output to its Talon SRX.
- The Talon SRXs in this project receive motor commands through PWM.
- The PCM has a separate CAN connection. The presence of CAN-capable Talon SRXs does not mean this project controls them through CAN.
Ask the room
- Which port would you inspect for a roller problem? Which ports belong to the right drive?
Watch out for
- Do not describe PWM as motor power. PWM is the control signal. The motor controller switches battery power to the motor.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32082-48E1-4C1C-8467-280D9FC99A4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7913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Talking points
- This TimedRobot example removes controllers and commands. Enabling teleop repeatedly calls teleopPeriodic().
- The Talon object maps directly to PWM port 5.
- A value of 0.25 requests 25 percent output.
Ask the room
- What line would you change to reverse the belt?
Watch out for
- Driver Station disable prevents motor output. Avoid describing the disabled PWM signal as a guaranteed literal zero-volt waveform.
VS Code
- Open the small belt demonstration project if available, then compare it with BeltSubsystem.java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32082-48E1-4C1C-8467-280D9FC99A4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737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Talking points
- The roller example repeats the same motor-control pattern on PWM port 4.
- Point out that learning one motor API transfers directly to the next mechanism.
Ask the room
- Which two code tokens changed from the belt example?
Watch out for
- The repeated pattern is the lesson here. Move quickly once students identify the port and variable-name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32082-48E1-4C1C-8467-280D9FC99A4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9217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Talking points
- One DoubleSolenoid object represents one physical valve with forward and reverse coils.
- PCM channels 0 and 1 energize those coils.
- The pneumatic plumbing splits both valve outputs so the two cylinders receive the same command.
- The detailed code header documents that shared-valve assumption.
Ask the room
- Why does the Java program need only one DoubleSolenoid even though the robot has two cylinders?
Watch out for
- The software reports the commanded valve state, not measured arm position. Without sensors, it cannot prove that both cylinders 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32082-48E1-4C1C-8467-280D9FC99A4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6980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Talking points
- Read the top row as electrical control and the bottom row as airflow.
- The roboRIO sends CAN messages to PCM ID 0. PCM channels 0 and 1 energize the valve coils.
- Air comes from the compressor, storage tank, and regulator. The valve routes that air through tees to both cylinders.
Ask the room
- Which path still exists if the robot has air pressure but loses the electrical command?
Watch out for
- The PCM does not create compressed air. It controls the compressor and valve coils.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32082-48E1-4C1C-8467-280D9FC99A4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0198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Talking points
- Put the robot securely on blocks before enabling this direct drivetrain test.
- Four Talon objects map to PWM ports 0 through 3.
- Opposite signs compensate for mirrored drivetrain mechanics.
Ask the room
- What physical behavior would tell you that one side needs inversion?
Watch out for
- Start with low output. Verify wheel direction before placing the robot on the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32082-48E1-4C1C-8467-280D9FC99A4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3083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Talking points
- Direct hardware examples are excellent for verifying wiring and direction.
- A complete robot needs coordination when several controls can request the same hardware.
- Use the belt-in and belt-out conflict as the concrete reason for subsystem ownership.
Ask the room
- What happens in a large teleopPeriodic() method when two independent if statements set opposite belt speeds?
Watch out for
- Avoid claiming direct TimedRobot code is inherently unsafe. The issue is that coordination becomes harder to reason about as behavior grows.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32082-48E1-4C1C-8467-280D9FC99A4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3990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Talking points
- The driver controller occupies USB slot 0. The operator controller occupies USB slot 1.
- The driver uses two stick axes and the right bumper.
- The operator controls the belt, roller, and shared climber valve.
Ask the room
- Which controls should continue while held, and which control should act once per press?
Watch out for
- Button labels describe intent only after RobotContainer binds them to commands.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32082-48E1-4C1C-8467-280D9FC99A4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153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Talking points
- Driver Station USB slot order must match Constants.Operator.
- Use the live button grid before enabling the robot.
- A working controller in the wrong slot can look like a software failure.
Ask the room
- If Button X lights up under USB slot 0, what configuration problem do you have?
Watch out for
- Diagnose input first. Do not enable mechanisms merely to discover which controller object is reading a button.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32082-48E1-4C1C-8467-280D9FC99A4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573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Talking points
- Trace Button A from the operator's hand to PWM port 5.
- Separate physical transport from Java routing: USB and Driver Station carry the state, then RobotContainer and the scheduler select the command.
- BeltSubsystem owns the final Talon call.
Ask the room
- At which step does Button A become a BeltInCommand rather than a generic controller value?
Watch out for
- The numbered labels summarize layers, not separate threads or separate 20 ms loops.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32082-48E1-4C1C-8467-280D9FC99A4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2756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Talking points
- The command section adds ownership, lifecycle, and trigger semantics to the hardware knowledge from Section 1.
- Tell students that the belt conflict will anchor the next several slides.
Ask the room
- What should decide which command controls the belt motor?
Watch out for
- Do not introduce commands as background threads. WPILib runs normal commands synchronously from the robot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32082-48E1-4C1C-8467-280D9FC99A4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1418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Talking points
- BeltInCommand requests positive output. BeltOutCommand requests negative output.
- Both commands target one physical Talon on PWM port 5.
- The scheduler needs explicit ownership information to resolve that conflict.
Ask the room
- If both commands start, should their outputs be averaged, should the first command win, or should one interrupt the other?
Watch out for
- The result depends on scheduling order and interruption behavior. The core guarantee is that two scheduled commands cannot own the same required subsystem simultaneously.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32082-48E1-4C1C-8467-280D9FC99A4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8194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Talking points
- Point directly to addRequirements(beltSubsystem).
- The line does not lock an operating-system mutex. It declares ownership to CommandScheduler.
- When another command needs BeltSubsystem, the scheduler interrupts the current owner before starting the new owner.
Ask the room
- What failure becomes possible if BeltOutCommand forgets this line?
Watch out for
- addRequirements protects scheduler-managed command ownership only. Code outside the subsystem can still create bad behavior if it accesses the same hardware directly.
VS Code
- Open BeltInCommand.java and BeltOutCommand.java. Compare their constructors.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32082-48E1-4C1C-8467-280D9FC99A4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6254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Talking points
- A subsystem owns hardware objects and exposes mechanism operations.
- A command decides when to call those operations.
- RobotContainer connects human inputs to command objects.
Ask the room
- Where should a raw Talon object live? Where should the decision to run it on Button A live?
Watch out for
- "Subsystems know how, commands know when" is a useful rule, not a ban on all state inside subsystems. Sensors and mechanism state often belong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32082-48E1-4C1C-8467-280D9FC99A4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7069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Talking points
- whileTrue schedules on the press and cancels on the release.
- onTrue schedules once when the trigger changes from false to true.
- onTrue does not make a command instant. ToggleClimberArmsCommand finishes quickly because its own isFinished() returns true.
- A default command runs whenever its subsystem has no other scheduled owner.
Ask the room
- What would happen if a long-running command were bound with onTrue?
Watch out for
- Do not teach binding type and command duration as the same concept.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32082-48E1-4C1C-8467-280D9FC99A4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4839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Talking points
- initialize() runs once when scheduling succeeds.
- execute() runs during scheduler passes while the command remains scheduled.
- isFinished() decides normal completion.
- end(false) follows normal completion. end(true) follows cancellation or interruption.
Ask the room
- Which method should stop a motor so both completion paths are safe?
Watch out for
- A command can be interrupted before its next execute() call. Cleanup belongs in end(), not after a blocking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32082-48E1-4C1C-8467-280D9FC99A4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5472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Talking points
- Read the boxes in the documented scheduler order.
- Subsystem periodic methods run first, then button bindings, command execution, finish checks, and default-command scheduling.
- The cycle repeats at the TimedRobot period, normally about 20 ms.
Ask the room
- If execute() calls Thread.sleep(500), which later stages must wait?
Watch out for
- The five stages do not own fixed 4 ms time slices. Their duration depends on the code executed during that cycle.
Source
- WPILib 2026 CommandScheduler API: https://github.wpilib.org/allwpilib/docs/release/java/edu/wpi/first/wpilibj2/command/CommandScheduler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32082-48E1-4C1C-8467-280D9FC99A4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0039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Talking points
- Releasing Button A changes the trigger from true to false.
- whileTrue cancels BeltInCommand.
- The scheduler calls end(true), and end() calls beltSubsystem.stop().
- BeltSubsystem sends zero output to the Talon on PWM port 5.
Ask the room
- Which method provides the safety behavior on release: execute(), isFinished(), or end()?
Watch out for
- The release does not wait for isFinished() to return true. The trigger cancels the command.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32082-48E1-4C1C-8467-280D9FC99A4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5721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Talking points
- The repository section maps the runtime behavior onto actual Java files.
- Keep VS Code open beside the slides and jump to the named file when a slide shows an excerpt.
Ask the room
- Which file would you open first to find a Button A binding?
Watch out for
- The slides show excerpts. Treat the repository as the source of truth for complete comments and current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32082-48E1-4C1C-8467-280D9FC99A4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0139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Talking points
- Main.java launches the program. Robot.java owns the TimedRobot lifecycle.
- RobotContainer creates and connects controllers, subsystems, and commands.
- Constants names hardware channels and tuning values.
- ClimberSubsystem now owns one valve that controls two cylinders.
Ask the room
- Which folders contain hardware ownership? Which folder contains actions?
VS Code
- Expand src/main/java/frc/robot and match the Explorer tree to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32082-48E1-4C1C-8467-280D9FC99A4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0181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Talking points
- Constants replaces unexplained numbers with names that express hardware intent.
- The climber uses one forward channel, one reverse channel, and two named valve states.
- A channel constant describes wiring. A Value constant describes the requested valve direction.
Ask the room
- Why is CLIMBER_ARMS_OUT clearer than placing Value.kForward throughout the subsystem?
Watch out for
- Changing a constant cannot repair incorrect physical wiring. Software and wiring must describe the same robot.
VS Code
- Open Constants.java and show the additional hardware and tuning values omitted from the slide excerpt.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32082-48E1-4C1C-8467-280D9FC99A4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565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Talking points
- BeltSubsystem is the only class that owns the belt Talon.
- Commands call run(speed) and stop() instead of touching PWM hardware.
- stop() delegates to run(0), keeping motor output in one code path.
Ask the room
- What new test or safety rule becomes easier when all belt output passes through this subsystem?
Watch out for
- Encapsulation depends on keeping beltMotor private and avoiding a second Talon object for PWM port 5.
VS Code
- Open BeltSubsystem.java and compare the slide excerpt with the full NAME and DESCRIPTION comments.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32082-48E1-4C1C-8467-280D9FC99A4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7884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Talking points
- The constructor stores the subsystem and declares its requirement.
- execute() sends the configured inward speed.
- isFinished() remains false, so the trigger controls cancellation.
- The highlighted stop call handles release and interruption.
Ask the room
- Which two lines distinguish BeltInCommand from BeltOutCommand?
Watch out for
- A false isFinished() does not create an infinite blocking loop. It tells the scheduler to keep the command scheduled across normal cycles.
VS Code
- Open BeltInCommand.java and identify each lifecycle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32082-48E1-4C1C-8467-280D9FC99A4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4380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Talking points
- RobotContainer creates the controller objects and mechanism subsystems once.
- configureBindings maps buttons to command instances.
- The highlighted whileTrue calls encode press and release behavior.
- The right bumper controls DriveSpeedMode rather than requiring DriveSubsystem directly.
Ask the room
- Why do the belt and roller use whileTrue while the climber uses onTrue?
Watch out for
- The slide is an excerpt. Use the live file to show constructor initialization and the default drive command.
VS Code
- Open RobotContainer.java and trace operatorController.a() through its command constructor.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32082-48E1-4C1C-8467-280D9FC99A4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2753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Talking points
- This is the third Button A visit. Students now know the hardware path and scheduler lifecycle, so trace the exact files.
- RobotContainer creates the trigger, BeltInCommand expresses the action, and BeltSubsystem owns PWM port 5.
Ask the room
- If the belt runs but does not stop on release, which file and method would you inspect first?
Watch out for
- Keep the trace directional. Do not read every line of every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32082-48E1-4C1C-8467-280D9FC99A4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14452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Talking points
- The final section asks students to apply the model instead of repeating definitions.
- Explain that the next slide contains intentionally broken code.
Ask the room
- Which failure would you rather diagnose first: ownership, cleanup, or controller mapping?
Watch out for
- Give students time to predict behavior before revealing the fixes.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32082-48E1-4C1C-8467-280D9FC99A4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9552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Talking points
- Bug 1 omits addRequirements(), so the scheduler does not know the command claims BeltSubsystem.
- Bug 2 omits motor cleanup from end().
- Bug 3 assigns both controller objects to USB slot 0.
- Pause after each card and ask for a predicted robot symptom.
Ask the room
- Name the visible symptom, then name the missing or incorrect line.
Watch out for
- Do not reveal the answers while presenting this slide. Advance only after students commit to a diagnosis.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32082-48E1-4C1C-8467-280D9FC99A4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2759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Talking points
- Match each fix to the symptom students predicted.
- addRequirements restores scheduler ownership.
- beltSubsystem.stop() returns the motor to zero output.
- Separate USB constants restore the intended driver and operator mappings.
Ask the room
- Which fix prevents a dangerous physical behavior, and which fix repairs input routing?
Watch out for
- The corrected lines work because the surrounding classes follow the same subsystem and command design shown earlier.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32082-48E1-4C1C-8467-280D9FC99A4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15075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Talking points
- PWM sends a control pulse through individual roboRIO ports.
- CAN carries addressed messages across a shared bus.
- This project controls the Talon SRXs through PWM and connects the PCM through CAN.
- Use the table as a comparison, not as a claim that the current motor code uses both protocols.
Ask the room
- What would need to change in the software and wiring to move a Talon SRX from PWM control to CAN control?
Watch out for
- CAN capability in the hardware does not prove that CAN control is configured in this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32082-48E1-4C1C-8467-280D9FC99A4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181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8F5EE"/>
                </a:solidFill>
                <a:latin typeface="Georgia"/>
              </a:defRPr>
            </a:pPr>
            <a:r>
              <a:t>2020 FRC Robot Code Architecture &amp;</a:t>
            </a:r>
            <a:br/>
            <a:r>
              <a:t>Implementation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3192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1D5DB"/>
                </a:solidFill>
                <a:latin typeface="Verdana"/>
              </a:defRPr>
            </a:pPr>
            <a:r>
              <a:t>A Technical Guide to Robot Hardware, WPILib Command-Based Architecture, and Java Code</a:t>
            </a:r>
            <a:br/>
            <a:r>
              <a:t>Case Study: 4-Talon Drivetrain, Belt/Roller Transport, CTRE PCM Climber, and Dual CommandXboxControllers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Verdana"/>
              </a:defRPr>
            </a:pPr>
            <a:r>
              <a:t>SECTION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5EE"/>
                </a:solidFill>
                <a:latin typeface="Georgia"/>
              </a:defRPr>
            </a:pPr>
            <a:r>
              <a:t>Robot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1D5DB"/>
                </a:solidFill>
                <a:latin typeface="Verdana"/>
              </a:defRPr>
            </a:pPr>
            <a:r>
              <a:t>Exploring physical mechanisms, PWM motor channels, pneumatics, and direct hardware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ROBOT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Physical Hardware Inventory &amp; Actuator Channel Map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523158"/>
              </p:ext>
            </p:extLst>
          </p:nvPr>
        </p:nvGraphicFramePr>
        <p:xfrm>
          <a:off x="731520" y="146304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5EE"/>
                          </a:solidFill>
                          <a:latin typeface="Verdana"/>
                        </a:defRPr>
                      </a:pPr>
                      <a:r>
                        <a:t>Mechanism</a:t>
                      </a:r>
                    </a:p>
                  </a:txBody>
                  <a:tcPr>
                    <a:solidFill>
                      <a:srgbClr val="1E2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5EE"/>
                          </a:solidFill>
                          <a:latin typeface="Verdana"/>
                        </a:defRPr>
                      </a:pPr>
                      <a:r>
                        <a:t>Hardware Device</a:t>
                      </a:r>
                    </a:p>
                  </a:txBody>
                  <a:tcPr>
                    <a:solidFill>
                      <a:srgbClr val="1E2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5EE"/>
                          </a:solidFill>
                          <a:latin typeface="Verdana"/>
                        </a:defRPr>
                      </a:pPr>
                      <a:r>
                        <a:t>Bus / Channel</a:t>
                      </a:r>
                    </a:p>
                  </a:txBody>
                  <a:tcPr>
                    <a:solidFill>
                      <a:srgbClr val="1E2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5EE"/>
                          </a:solidFill>
                          <a:latin typeface="Verdana"/>
                        </a:defRPr>
                      </a:pPr>
                      <a:r>
                        <a:t>Configuration Notes</a:t>
                      </a:r>
                    </a:p>
                  </a:txBody>
                  <a:tcPr>
                    <a:solidFill>
                      <a:srgbClr val="1E22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Drivetrain (4 Motors)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4x Talon SRX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PWM 0, 1 (Left)</a:t>
                      </a:r>
                    </a:p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PWM 2, 3 (Right)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Tank Drive. Left-side motors inverted due to mechanical mounting.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Ball Transport Belt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1x Talon SRX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PWM Port 5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Feeds balls inward/outward through indexer.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Outtake Roller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1x Talon SRX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PWM Port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High-speed ball ejection roller.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Climber Arms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rPr lang="en-US"/>
                        <a:t>1x Double Solenoid Valve</a:t>
                      </a:r>
                      <a:endParaRPr/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rPr lang="en-US"/>
                        <a:t>CTRE PCM ID 0</a:t>
                      </a:r>
                    </a:p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rPr lang="en-US"/>
                        <a:t>Channels 0/1</a:t>
                      </a:r>
                      <a:endParaRPr/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rPr lang="en-US"/>
                        <a:t>One valve feeds both cylinders through split air lines.</a:t>
                      </a:r>
                      <a:endParaRPr/>
                    </a:p>
                  </a:txBody>
                  <a:tcPr>
                    <a:solidFill>
                      <a:srgbClr val="F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7548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Verdana"/>
              </a:defRPr>
            </a:pPr>
            <a:r>
              <a:t>Hardware Inversion Note:</a:t>
            </a:r>
          </a:p>
          <a:p>
            <a:pPr>
              <a:defRPr sz="1100">
                <a:solidFill>
                  <a:srgbClr val="1E222A"/>
                </a:solidFill>
                <a:latin typeface="Verdana"/>
              </a:defRPr>
            </a:pPr>
            <a:r>
              <a:t>Because the left and right drive gearboxes are mounted symmetrically facing opposite directions, positive voltage on both sides drives left forward and right backward. The left-side motors must be inverted in software (leftDriveMotors.setInverted(true)) so positive speed drives both sides forward.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ROBOT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29719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rPr lang="en-US"/>
              <a:t>PWM wiring from the roboRIO to the motors</a:t>
            </a:r>
            <a:endParaRPr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8227C50-6DED-1BD1-3FB6-3C44DF6357DE}"/>
              </a:ext>
            </a:extLst>
          </p:cNvPr>
          <p:cNvSpPr/>
          <p:nvPr/>
        </p:nvSpPr>
        <p:spPr>
          <a:xfrm>
            <a:off x="736600" y="1803400"/>
            <a:ext cx="2222500" cy="2095500"/>
          </a:xfrm>
          <a:prstGeom prst="roundRect">
            <a:avLst/>
          </a:prstGeom>
          <a:gradFill flip="none" rotWithShape="1">
            <a:gsLst>
              <a:gs pos="0">
                <a:srgbClr val="20242C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5875"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roboRIO
PWM outputs
Ports 0 through 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B236F5B-97C4-E2A3-8EDC-D197ED25BABC}"/>
              </a:ext>
            </a:extLst>
          </p:cNvPr>
          <p:cNvSpPr/>
          <p:nvPr/>
        </p:nvSpPr>
        <p:spPr>
          <a:xfrm>
            <a:off x="4635500" y="1524000"/>
            <a:ext cx="2857500" cy="914400"/>
          </a:xfrm>
          <a:prstGeom prst="roundRect">
            <a:avLst/>
          </a:prstGeom>
          <a:gradFill flip="none" rotWithShape="1">
            <a:gsLst>
              <a:gs pos="0">
                <a:srgbClr val="FFFF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5875">
            <a:solidFill>
              <a:srgbClr val="2A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sz="1500" b="1">
                <a:solidFill>
                  <a:srgbClr val="20242C"/>
                </a:solidFill>
                <a:latin typeface="Aptos" panose="020B0004020202020204" pitchFamily="34" charset="0"/>
              </a:rPr>
              <a:t>PWM 0 and 1
Left drive Talons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266B681-4923-83DD-BC4D-4F7E9A32EA5C}"/>
              </a:ext>
            </a:extLst>
          </p:cNvPr>
          <p:cNvSpPr/>
          <p:nvPr/>
        </p:nvSpPr>
        <p:spPr>
          <a:xfrm>
            <a:off x="4635500" y="2628900"/>
            <a:ext cx="2857500" cy="914400"/>
          </a:xfrm>
          <a:prstGeom prst="roundRect">
            <a:avLst/>
          </a:prstGeom>
          <a:gradFill flip="none" rotWithShape="1">
            <a:gsLst>
              <a:gs pos="0">
                <a:srgbClr val="FFFF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5875">
            <a:solidFill>
              <a:srgbClr val="2A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sz="1500" b="1">
                <a:solidFill>
                  <a:srgbClr val="20242C"/>
                </a:solidFill>
                <a:latin typeface="Aptos" panose="020B0004020202020204" pitchFamily="34" charset="0"/>
              </a:rPr>
              <a:t>PWM 2 and 3
Right drive Talons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2F3CE0A-0768-E232-BF2A-1416D33BD8D6}"/>
              </a:ext>
            </a:extLst>
          </p:cNvPr>
          <p:cNvSpPr/>
          <p:nvPr/>
        </p:nvSpPr>
        <p:spPr>
          <a:xfrm>
            <a:off x="4635500" y="3733800"/>
            <a:ext cx="2857500" cy="914400"/>
          </a:xfrm>
          <a:prstGeom prst="roundRect">
            <a:avLst/>
          </a:prstGeom>
          <a:gradFill flip="none" rotWithShape="1">
            <a:gsLst>
              <a:gs pos="0">
                <a:srgbClr val="FFFF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5875">
            <a:solidFill>
              <a:srgbClr val="D5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sz="1500" b="1">
                <a:solidFill>
                  <a:srgbClr val="20242C"/>
                </a:solidFill>
                <a:latin typeface="Aptos" panose="020B0004020202020204" pitchFamily="34" charset="0"/>
              </a:rPr>
              <a:t>PWM 4
Roller Talon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DA2196F-29B6-D092-4591-2BEBC9D06CF1}"/>
              </a:ext>
            </a:extLst>
          </p:cNvPr>
          <p:cNvSpPr/>
          <p:nvPr/>
        </p:nvSpPr>
        <p:spPr>
          <a:xfrm>
            <a:off x="4635500" y="4838700"/>
            <a:ext cx="2857500" cy="914400"/>
          </a:xfrm>
          <a:prstGeom prst="roundRect">
            <a:avLst/>
          </a:prstGeom>
          <a:gradFill flip="none" rotWithShape="1">
            <a:gsLst>
              <a:gs pos="0">
                <a:srgbClr val="FFFF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5875">
            <a:solidFill>
              <a:srgbClr val="D5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sz="1500" b="1">
                <a:solidFill>
                  <a:srgbClr val="20242C"/>
                </a:solidFill>
                <a:latin typeface="Aptos" panose="020B0004020202020204" pitchFamily="34" charset="0"/>
              </a:rPr>
              <a:t>PWM 5
Belt Talon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BBD5A5A-EF0C-C0DD-7B4E-1CD50F9C9982}"/>
              </a:ext>
            </a:extLst>
          </p:cNvPr>
          <p:cNvCxnSpPr/>
          <p:nvPr/>
        </p:nvCxnSpPr>
        <p:spPr>
          <a:xfrm flipV="1">
            <a:off x="2959100" y="1981200"/>
            <a:ext cx="1676400" cy="228600"/>
          </a:xfrm>
          <a:prstGeom prst="straightConnector1">
            <a:avLst/>
          </a:prstGeom>
          <a:ln w="38100">
            <a:solidFill>
              <a:srgbClr val="2A62D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9640FD9-A9DB-2EB2-7044-6EB747E671F2}"/>
              </a:ext>
            </a:extLst>
          </p:cNvPr>
          <p:cNvCxnSpPr/>
          <p:nvPr/>
        </p:nvCxnSpPr>
        <p:spPr>
          <a:xfrm>
            <a:off x="2959100" y="2616200"/>
            <a:ext cx="1676400" cy="469900"/>
          </a:xfrm>
          <a:prstGeom prst="straightConnector1">
            <a:avLst/>
          </a:prstGeom>
          <a:ln w="38100">
            <a:solidFill>
              <a:srgbClr val="2A62D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65463F8-9404-E916-8044-B81C8C02AF33}"/>
              </a:ext>
            </a:extLst>
          </p:cNvPr>
          <p:cNvCxnSpPr/>
          <p:nvPr/>
        </p:nvCxnSpPr>
        <p:spPr>
          <a:xfrm>
            <a:off x="2959100" y="3022600"/>
            <a:ext cx="1676400" cy="1168400"/>
          </a:xfrm>
          <a:prstGeom prst="straightConnector1">
            <a:avLst/>
          </a:prstGeom>
          <a:ln w="38100">
            <a:solidFill>
              <a:srgbClr val="D569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4655BC2-00CC-10BA-2CEC-14FF3561D8B1}"/>
              </a:ext>
            </a:extLst>
          </p:cNvPr>
          <p:cNvCxnSpPr/>
          <p:nvPr/>
        </p:nvCxnSpPr>
        <p:spPr>
          <a:xfrm>
            <a:off x="2959100" y="3429000"/>
            <a:ext cx="1676400" cy="1866900"/>
          </a:xfrm>
          <a:prstGeom prst="straightConnector1">
            <a:avLst/>
          </a:prstGeom>
          <a:ln w="38100">
            <a:solidFill>
              <a:srgbClr val="D569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CE40AD4-E0F7-8EF9-DE7A-5BB235BCCF82}"/>
              </a:ext>
            </a:extLst>
          </p:cNvPr>
          <p:cNvSpPr/>
          <p:nvPr/>
        </p:nvSpPr>
        <p:spPr>
          <a:xfrm>
            <a:off x="8458200" y="1955800"/>
            <a:ext cx="2971800" cy="1193800"/>
          </a:xfrm>
          <a:prstGeom prst="roundRect">
            <a:avLst/>
          </a:prstGeom>
          <a:gradFill flip="none" rotWithShape="1">
            <a:gsLst>
              <a:gs pos="0">
                <a:srgbClr val="20242C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5875"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Talon SRX motor controllers
translate PWM commands into motor voltage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5B98541-9910-4FC1-0692-0098F51D5A44}"/>
              </a:ext>
            </a:extLst>
          </p:cNvPr>
          <p:cNvSpPr/>
          <p:nvPr/>
        </p:nvSpPr>
        <p:spPr>
          <a:xfrm>
            <a:off x="8458200" y="3810000"/>
            <a:ext cx="2971800" cy="1193800"/>
          </a:xfrm>
          <a:prstGeom prst="roundRect">
            <a:avLst/>
          </a:prstGeom>
          <a:gradFill flip="none" rotWithShape="1">
            <a:gsLst>
              <a:gs pos="0">
                <a:srgbClr val="FFFF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5875">
            <a:solidFill>
              <a:srgbClr val="D5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sz="1400" b="1">
                <a:solidFill>
                  <a:srgbClr val="20242C"/>
                </a:solidFill>
                <a:latin typeface="Aptos" panose="020B0004020202020204" pitchFamily="34" charset="0"/>
              </a:rPr>
              <a:t>Separate CAN connection
roboRIO CAN bus to PCM ID 0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900568-66F8-1CC3-05ED-3A45CA7D2528}"/>
              </a:ext>
            </a:extLst>
          </p:cNvPr>
          <p:cNvCxnSpPr/>
          <p:nvPr/>
        </p:nvCxnSpPr>
        <p:spPr>
          <a:xfrm flipV="1">
            <a:off x="7493000" y="2552700"/>
            <a:ext cx="965200" cy="533400"/>
          </a:xfrm>
          <a:prstGeom prst="straightConnector1">
            <a:avLst/>
          </a:prstGeom>
          <a:ln w="31750">
            <a:solidFill>
              <a:srgbClr val="2A62D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C05C7F3-83DC-D2BB-C75A-77CB6C61DBD8}"/>
              </a:ext>
            </a:extLst>
          </p:cNvPr>
          <p:cNvCxnSpPr/>
          <p:nvPr/>
        </p:nvCxnSpPr>
        <p:spPr>
          <a:xfrm flipV="1">
            <a:off x="7493000" y="2552700"/>
            <a:ext cx="965200" cy="1638300"/>
          </a:xfrm>
          <a:prstGeom prst="straightConnector1">
            <a:avLst/>
          </a:prstGeom>
          <a:ln w="31750">
            <a:solidFill>
              <a:srgbClr val="D569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5B25397-371D-AC19-CB4E-1B09141798AB}"/>
              </a:ext>
            </a:extLst>
          </p:cNvPr>
          <p:cNvCxnSpPr/>
          <p:nvPr/>
        </p:nvCxnSpPr>
        <p:spPr>
          <a:xfrm flipV="1">
            <a:off x="7493000" y="2552700"/>
            <a:ext cx="965200" cy="2743200"/>
          </a:xfrm>
          <a:prstGeom prst="straightConnector1">
            <a:avLst/>
          </a:prstGeom>
          <a:ln w="31750">
            <a:solidFill>
              <a:srgbClr val="D569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8C35C3B-229E-5B07-8251-499A582AD575}"/>
              </a:ext>
            </a:extLst>
          </p:cNvPr>
          <p:cNvSpPr txBox="1"/>
          <p:nvPr/>
        </p:nvSpPr>
        <p:spPr>
          <a:xfrm>
            <a:off x="8255000" y="5232400"/>
            <a:ext cx="3302000" cy="446276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pPr algn="ctr"/>
            <a:r>
              <a:rPr lang="en-US" sz="1200" b="1">
                <a:solidFill>
                  <a:srgbClr val="D56900"/>
                </a:solidFill>
                <a:latin typeface="Aptos" panose="020B0004020202020204" pitchFamily="34" charset="0"/>
              </a:rPr>
              <a:t>This robot controls its Talon SRXs through PWM. The PCM uses CAN.</a:t>
            </a:r>
          </a:p>
        </p:txBody>
      </p:sp>
    </p:spTree>
    <p:extLst>
      <p:ext uri="{BB962C8B-B14F-4D97-AF65-F5344CB8AC3E}">
        <p14:creationId xmlns:p14="http://schemas.microsoft.com/office/powerpoint/2010/main" val="426484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ROBOT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Running the belt motor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latin typeface="Verdana"/>
              </a:defRPr>
            </a:pPr>
            <a:r>
              <a:t>Bare-Minimum Belt Control Program:</a:t>
            </a:r>
          </a:p>
          <a:p>
            <a:pPr>
              <a:spcBef>
                <a:spcPts val="800"/>
              </a:spcBef>
              <a:defRPr sz="1200">
                <a:latin typeface="Verdana"/>
              </a:defRPr>
            </a:pPr>
            <a:r>
              <a:t>• Direct Hardware Actuation: Uses WPILib's Talon class on PWM Port 5 directly inside a TimedRobot program.</a:t>
            </a:r>
          </a:p>
          <a:p>
            <a:pPr>
              <a:spcBef>
                <a:spcPts val="800"/>
              </a:spcBef>
              <a:defRPr sz="1200">
                <a:latin typeface="Verdana"/>
              </a:defRPr>
            </a:pPr>
            <a:r>
              <a:t>• Continuous Teleop Execution: teleopPeriodic() runs continuously every 20ms while teleop is enabled.</a:t>
            </a:r>
          </a:p>
          <a:p>
            <a:pPr>
              <a:spcBef>
                <a:spcPts val="800"/>
              </a:spcBef>
              <a:defRPr sz="1200">
                <a:latin typeface="Verdana"/>
              </a:defRPr>
            </a:pPr>
            <a:r>
              <a:t>• Constant Power Output: Calls beltMotor.set(0.25) to run the belt at 25% power.</a:t>
            </a:r>
          </a:p>
          <a:p>
            <a:pPr>
              <a:spcBef>
                <a:spcPts val="800"/>
              </a:spcBef>
              <a:defRPr sz="1200">
                <a:latin typeface="Verdana"/>
              </a:defRPr>
            </a:pPr>
            <a:r>
              <a:t>• Automatic Safety Shutdown: Disabling the robot instantly cuts the roboRIO PWM signal to 0V, stopping the motor.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463040"/>
            <a:ext cx="5394960" cy="4754880"/>
          </a:xfrm>
          <a:prstGeom prst="rect">
            <a:avLst/>
          </a:prstGeom>
          <a:solidFill>
            <a:srgbClr val="282C34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tlCol="0" anchor="ctr"/>
          <a:lstStyle/>
          <a:p>
            <a:pPr algn="l">
              <a:defRPr sz="1100">
                <a:solidFill>
                  <a:srgbClr val="ABB2BF"/>
                </a:solidFill>
                <a:latin typeface="Consolas"/>
              </a:defRPr>
            </a:pPr>
            <a:r>
              <a:rPr b="1">
                <a:solidFill>
                  <a:srgbClr val="D56900"/>
                </a:solidFill>
              </a:rPr>
              <a:t>package</a:t>
            </a:r>
            <a:r>
              <a:t> frc.robot;</a:t>
            </a:r>
            <a:br/>
            <a:br/>
            <a:r>
              <a:rPr b="1">
                <a:solidFill>
                  <a:srgbClr val="D56900"/>
                </a:solidFill>
              </a:rPr>
              <a:t>import</a:t>
            </a:r>
            <a:r>
              <a:t> edu.wpi.first.wpilibj.TimedRobot;</a:t>
            </a:r>
            <a:br/>
            <a:r>
              <a:rPr b="1">
                <a:solidFill>
                  <a:srgbClr val="D56900"/>
                </a:solidFill>
              </a:rPr>
              <a:t>import</a:t>
            </a:r>
            <a:r>
              <a:t> edu.wpi.first.wpilibj.motorcontrol.Talon;</a:t>
            </a:r>
            <a:br/>
            <a:br/>
            <a:r>
              <a:rPr b="1">
                <a:solidFill>
                  <a:srgbClr val="D56900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D56900"/>
                </a:solidFill>
              </a:rPr>
              <a:t>class</a:t>
            </a:r>
            <a:r>
              <a:t> Robot </a:t>
            </a:r>
            <a:r>
              <a:rPr b="1">
                <a:solidFill>
                  <a:srgbClr val="D56900"/>
                </a:solidFill>
              </a:rPr>
              <a:t>extends</a:t>
            </a:r>
            <a:r>
              <a:t> TimedRobot {</a:t>
            </a:r>
            <a:br/>
            <a:r>
              <a:t>    // Talon motor controller on PWM Port 5</a:t>
            </a:r>
            <a:br/>
            <a:r>
              <a:t>    </a:t>
            </a:r>
            <a:r>
              <a:rPr b="1">
                <a:solidFill>
                  <a:srgbClr val="D56900"/>
                </a:solidFill>
              </a:rPr>
              <a:t>private</a:t>
            </a:r>
            <a:r>
              <a:t> </a:t>
            </a:r>
            <a:r>
              <a:rPr b="1">
                <a:solidFill>
                  <a:srgbClr val="D56900"/>
                </a:solidFill>
              </a:rPr>
              <a:t>final</a:t>
            </a:r>
            <a:r>
              <a:t> Talon beltMotor = </a:t>
            </a:r>
            <a:r>
              <a:rPr b="1">
                <a:solidFill>
                  <a:srgbClr val="D56900"/>
                </a:solidFill>
              </a:rPr>
              <a:t>new</a:t>
            </a:r>
            <a:r>
              <a:t> Talon(5);</a:t>
            </a:r>
            <a:br/>
            <a:br/>
            <a:r>
              <a:t>    @Override</a:t>
            </a:r>
            <a:br/>
            <a:r>
              <a:t>    </a:t>
            </a:r>
            <a:r>
              <a:rPr b="1">
                <a:solidFill>
                  <a:srgbClr val="D56900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D56900"/>
                </a:solidFill>
              </a:rPr>
              <a:t>void</a:t>
            </a:r>
            <a:r>
              <a:t> teleopPeriodic() {</a:t>
            </a:r>
            <a:br/>
            <a:r>
              <a:t>        // Runs belt at 25% output continuously</a:t>
            </a:r>
            <a:br/>
            <a:r>
              <a:t>        beltMotor.</a:t>
            </a:r>
            <a:r>
              <a:rPr>
                <a:solidFill>
                  <a:srgbClr val="66BB6A"/>
                </a:solidFill>
              </a:rPr>
              <a:t>set</a:t>
            </a:r>
            <a:r>
              <a:t>(0.25);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ROBOT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Roller Challenge: Running the Roller Motor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latin typeface="Verdana"/>
              </a:defRPr>
            </a:pPr>
            <a:r>
              <a:t>What Changes From the Belt Program?</a:t>
            </a:r>
          </a:p>
          <a:p>
            <a:pPr>
              <a:spcBef>
                <a:spcPts val="800"/>
              </a:spcBef>
              <a:defRPr sz="1200">
                <a:latin typeface="Verdana"/>
              </a:defRPr>
            </a:pPr>
            <a:r>
              <a:t>• Identical Pattern, Different Channel: Operating the roller requires only changing the PWM channel and instance name.</a:t>
            </a:r>
          </a:p>
          <a:p>
            <a:pPr>
              <a:spcBef>
                <a:spcPts val="800"/>
              </a:spcBef>
              <a:defRPr sz="1200">
                <a:latin typeface="Verdana"/>
              </a:defRPr>
            </a:pPr>
            <a:r>
              <a:t>• PWM Port 4: The outtake roller is wired to PWM Port 4 (Talon rollerMotor = new Talon(4)).</a:t>
            </a:r>
          </a:p>
          <a:p>
            <a:pPr>
              <a:spcBef>
                <a:spcPts val="800"/>
              </a:spcBef>
              <a:defRPr sz="1200">
                <a:latin typeface="Verdana"/>
              </a:defRPr>
            </a:pPr>
            <a:r>
              <a:t>• Direct Actuation: rollerMotor.set(0.25) runs the outtake roller at 25% speed.</a:t>
            </a:r>
          </a:p>
          <a:p>
            <a:pPr>
              <a:spcBef>
                <a:spcPts val="800"/>
              </a:spcBef>
              <a:defRPr sz="1200">
                <a:latin typeface="Verdana"/>
              </a:defRPr>
            </a:pPr>
            <a:r>
              <a:t>• Key Observation: Every motor controller in WPILib uses the exact same set(double speed) API call.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463040"/>
            <a:ext cx="5394960" cy="4754880"/>
          </a:xfrm>
          <a:prstGeom prst="rect">
            <a:avLst/>
          </a:prstGeom>
          <a:solidFill>
            <a:srgbClr val="282C34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tlCol="0" anchor="ctr"/>
          <a:lstStyle/>
          <a:p>
            <a:pPr algn="l">
              <a:defRPr sz="1100">
                <a:solidFill>
                  <a:srgbClr val="ABB2BF"/>
                </a:solidFill>
                <a:latin typeface="Consolas"/>
              </a:defRPr>
            </a:pPr>
            <a:r>
              <a:rPr b="1">
                <a:solidFill>
                  <a:srgbClr val="D56900"/>
                </a:solidFill>
              </a:rPr>
              <a:t>package</a:t>
            </a:r>
            <a:r>
              <a:t> frc.robot;</a:t>
            </a:r>
            <a:br/>
            <a:br/>
            <a:r>
              <a:rPr b="1">
                <a:solidFill>
                  <a:srgbClr val="D56900"/>
                </a:solidFill>
              </a:rPr>
              <a:t>import</a:t>
            </a:r>
            <a:r>
              <a:t> edu.wpi.first.wpilibj.TimedRobot;</a:t>
            </a:r>
            <a:br/>
            <a:r>
              <a:rPr b="1">
                <a:solidFill>
                  <a:srgbClr val="D56900"/>
                </a:solidFill>
              </a:rPr>
              <a:t>import</a:t>
            </a:r>
            <a:r>
              <a:t> edu.wpi.first.wpilibj.motorcontrol.Talon;</a:t>
            </a:r>
            <a:br/>
            <a:br/>
            <a:r>
              <a:rPr b="1">
                <a:solidFill>
                  <a:srgbClr val="D56900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D56900"/>
                </a:solidFill>
              </a:rPr>
              <a:t>class</a:t>
            </a:r>
            <a:r>
              <a:t> Robot </a:t>
            </a:r>
            <a:r>
              <a:rPr b="1">
                <a:solidFill>
                  <a:srgbClr val="D56900"/>
                </a:solidFill>
              </a:rPr>
              <a:t>extends</a:t>
            </a:r>
            <a:r>
              <a:t> TimedRobot {</a:t>
            </a:r>
            <a:br/>
            <a:r>
              <a:t>    // Roller motor controller on PWM Port 4</a:t>
            </a:r>
            <a:br/>
            <a:r>
              <a:t>    </a:t>
            </a:r>
            <a:r>
              <a:rPr b="1">
                <a:solidFill>
                  <a:srgbClr val="D56900"/>
                </a:solidFill>
              </a:rPr>
              <a:t>private</a:t>
            </a:r>
            <a:r>
              <a:t> </a:t>
            </a:r>
            <a:r>
              <a:rPr b="1">
                <a:solidFill>
                  <a:srgbClr val="D56900"/>
                </a:solidFill>
              </a:rPr>
              <a:t>final</a:t>
            </a:r>
            <a:r>
              <a:t> Talon rollerMotor = </a:t>
            </a:r>
            <a:r>
              <a:rPr b="1">
                <a:solidFill>
                  <a:srgbClr val="D56900"/>
                </a:solidFill>
              </a:rPr>
              <a:t>new</a:t>
            </a:r>
            <a:r>
              <a:t> Talon(4);</a:t>
            </a:r>
            <a:br/>
            <a:br/>
            <a:r>
              <a:t>    @Override</a:t>
            </a:r>
            <a:br/>
            <a:r>
              <a:t>    </a:t>
            </a:r>
            <a:r>
              <a:rPr b="1">
                <a:solidFill>
                  <a:srgbClr val="D56900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D56900"/>
                </a:solidFill>
              </a:rPr>
              <a:t>void</a:t>
            </a:r>
            <a:r>
              <a:t> teleopPeriodic() {</a:t>
            </a:r>
            <a:br/>
            <a:r>
              <a:t>        // Runs roller at 25% output continuously</a:t>
            </a:r>
            <a:br/>
            <a:r>
              <a:t>        rollerMotor.</a:t>
            </a:r>
            <a:r>
              <a:rPr>
                <a:solidFill>
                  <a:srgbClr val="66BB6A"/>
                </a:solidFill>
              </a:rPr>
              <a:t>set</a:t>
            </a:r>
            <a:r>
              <a:t>(0.25);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ROBOT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Pneumatic Climber Arms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latin typeface="Verdana"/>
              </a:defRPr>
            </a:pPr>
            <a:r>
              <a:rPr lang="en-US"/>
              <a:t>One Valve Controls Both Arms
• One DoubleSolenoid: A single valve on CTRE PCM ID 0 controls the climber.
• PCM Channels 0 and 1: The forward and reverse coils use one channel pair.
• Split Air Lines: Each valve output splits to the matching port on both cylinders, so both pistons receive the same command.
• Shared Motion: kForward extends both arms. kReverse retracts both arms.</a:t>
            </a:r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35040" y="1463040"/>
            <a:ext cx="5394960" cy="4754880"/>
          </a:xfrm>
          <a:prstGeom prst="rect">
            <a:avLst/>
          </a:prstGeom>
          <a:solidFill>
            <a:srgbClr val="282C34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bIns="101600" rtlCol="0" anchor="t">
            <a:noAutofit/>
          </a:bodyPr>
          <a:lstStyle/>
          <a:p>
            <a:pPr algn="l">
              <a:defRPr sz="1050">
                <a:solidFill>
                  <a:srgbClr val="ABB2BF"/>
                </a:solidFill>
                <a:latin typeface="Consolas"/>
              </a:defRPr>
            </a:pPr>
            <a:r>
              <a:rPr lang="en-US" sz="1000" b="1">
                <a:solidFill>
                  <a:srgbClr val="D56900"/>
                </a:solidFill>
              </a:rPr>
              <a:t>package</a:t>
            </a:r>
            <a:r>
              <a:rPr lang="en-US" sz="1000"/>
              <a:t> frc.robot;
</a:t>
            </a:r>
            <a:r>
              <a:rPr lang="en-US" sz="1000" b="1">
                <a:solidFill>
                  <a:srgbClr val="D56900"/>
                </a:solidFill>
              </a:rPr>
              <a:t>import</a:t>
            </a:r>
            <a:r>
              <a:rPr lang="en-US" sz="1000"/>
              <a:t> edu.wpi.first.wpilibj.</a:t>
            </a:r>
            <a:r>
              <a:rPr lang="en-US" sz="1000">
                <a:solidFill>
                  <a:srgbClr val="66BB6A"/>
                </a:solidFill>
              </a:rPr>
              <a:t>DoubleSolenoid</a:t>
            </a:r>
            <a:r>
              <a:rPr lang="en-US" sz="1000"/>
              <a:t>;
</a:t>
            </a:r>
            <a:r>
              <a:rPr lang="en-US" sz="1000" b="1">
                <a:solidFill>
                  <a:srgbClr val="D56900"/>
                </a:solidFill>
              </a:rPr>
              <a:t>import</a:t>
            </a:r>
            <a:r>
              <a:rPr lang="en-US" sz="1000"/>
              <a:t> edu.wpi.first.wpilibj.PneumaticsModuleType;
</a:t>
            </a:r>
            <a:r>
              <a:rPr lang="en-US" sz="1000" b="1">
                <a:solidFill>
                  <a:srgbClr val="D56900"/>
                </a:solidFill>
              </a:rPr>
              <a:t>import</a:t>
            </a:r>
            <a:r>
              <a:rPr lang="en-US" sz="1000"/>
              <a:t> edu.wpi.first.wpilibj.TimedRobot;
/**
 * NAME
 *     Robot - </a:t>
            </a:r>
            <a:r>
              <a:rPr lang="en-US" sz="1000" b="1">
                <a:solidFill>
                  <a:srgbClr val="D56900"/>
                </a:solidFill>
              </a:rPr>
              <a:t>extends</a:t>
            </a:r>
            <a:r>
              <a:rPr lang="en-US" sz="1000"/>
              <a:t> both climber arms through one valve.
 *
 * DESCRIPTION
 *     One double-solenoid valve feeds both cylinders.
 */
</a:t>
            </a:r>
            <a:r>
              <a:rPr lang="en-US" sz="1000" b="1">
                <a:solidFill>
                  <a:srgbClr val="D56900"/>
                </a:solidFill>
              </a:rPr>
              <a:t>public</a:t>
            </a:r>
            <a:r>
              <a:rPr lang="en-US" sz="1000"/>
              <a:t> </a:t>
            </a:r>
            <a:r>
              <a:rPr lang="en-US" sz="1000" b="1">
                <a:solidFill>
                  <a:srgbClr val="D56900"/>
                </a:solidFill>
              </a:rPr>
              <a:t>class</a:t>
            </a:r>
            <a:r>
              <a:rPr lang="en-US" sz="1000"/>
              <a:t> Robot </a:t>
            </a:r>
            <a:r>
              <a:rPr lang="en-US" sz="1000" b="1">
                <a:solidFill>
                  <a:srgbClr val="D56900"/>
                </a:solidFill>
              </a:rPr>
              <a:t>extends</a:t>
            </a:r>
            <a:r>
              <a:rPr lang="en-US" sz="1000"/>
              <a:t> TimedRobot {
    </a:t>
            </a:r>
            <a:r>
              <a:rPr lang="en-US" sz="1000" b="1">
                <a:solidFill>
                  <a:srgbClr val="D56900"/>
                </a:solidFill>
              </a:rPr>
              <a:t>private</a:t>
            </a:r>
            <a:r>
              <a:rPr lang="en-US" sz="1000"/>
              <a:t> </a:t>
            </a:r>
            <a:r>
              <a:rPr lang="en-US" sz="1000" b="1">
                <a:solidFill>
                  <a:srgbClr val="D56900"/>
                </a:solidFill>
              </a:rPr>
              <a:t>final</a:t>
            </a:r>
            <a:r>
              <a:rPr lang="en-US" sz="1000"/>
              <a:t> </a:t>
            </a:r>
            <a:r>
              <a:rPr lang="en-US" sz="1000">
                <a:solidFill>
                  <a:srgbClr val="66BB6A"/>
                </a:solidFill>
              </a:rPr>
              <a:t>DoubleSolenoid</a:t>
            </a:r>
            <a:r>
              <a:rPr lang="en-US" sz="1000"/>
              <a:t> climberSolenoid =
        </a:t>
            </a:r>
            <a:r>
              <a:rPr lang="en-US" sz="1000" b="1">
                <a:solidFill>
                  <a:srgbClr val="D56900"/>
                </a:solidFill>
              </a:rPr>
              <a:t>new</a:t>
            </a:r>
            <a:r>
              <a:rPr lang="en-US" sz="1000"/>
              <a:t> </a:t>
            </a:r>
            <a:r>
              <a:rPr lang="en-US" sz="1000">
                <a:solidFill>
                  <a:srgbClr val="66BB6A"/>
                </a:solidFill>
              </a:rPr>
              <a:t>DoubleSolenoid</a:t>
            </a:r>
            <a:r>
              <a:rPr lang="en-US" sz="1000"/>
              <a:t>(
            0, PneumaticsModuleType.CTREPCM, 0, 1);
    @Override
    </a:t>
            </a:r>
            <a:r>
              <a:rPr lang="en-US" sz="1000" b="1">
                <a:solidFill>
                  <a:srgbClr val="D56900"/>
                </a:solidFill>
              </a:rPr>
              <a:t>public</a:t>
            </a:r>
            <a:r>
              <a:rPr lang="en-US" sz="1000"/>
              <a:t> </a:t>
            </a:r>
            <a:r>
              <a:rPr lang="en-US" sz="1000" b="1">
                <a:solidFill>
                  <a:srgbClr val="D56900"/>
                </a:solidFill>
              </a:rPr>
              <a:t>void</a:t>
            </a:r>
            <a:r>
              <a:rPr lang="en-US" sz="1000"/>
              <a:t> teleopPeriodic() {
        climberSolenoid.</a:t>
            </a:r>
            <a:r>
              <a:rPr lang="en-US" sz="1000">
                <a:solidFill>
                  <a:srgbClr val="66BB6A"/>
                </a:solidFill>
              </a:rPr>
              <a:t>set</a:t>
            </a:r>
            <a:r>
              <a:rPr lang="en-US" sz="1000"/>
              <a:t>(
            </a:t>
            </a:r>
            <a:r>
              <a:rPr lang="en-US" sz="1000">
                <a:solidFill>
                  <a:srgbClr val="66BB6A"/>
                </a:solidFill>
              </a:rPr>
              <a:t>DoubleSolenoid</a:t>
            </a:r>
            <a:r>
              <a:rPr lang="en-US" sz="1000"/>
              <a:t>.Value.kForward);
    }
}</a:t>
            </a: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ROBOT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646042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rPr lang="en-US"/>
              <a:t>One valve moves both climber cylinders</a:t>
            </a: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EE1AAB-51EF-531E-C591-2600E62C6FB3}"/>
              </a:ext>
            </a:extLst>
          </p:cNvPr>
          <p:cNvSpPr txBox="1"/>
          <p:nvPr/>
        </p:nvSpPr>
        <p:spPr>
          <a:xfrm>
            <a:off x="736600" y="1422400"/>
            <a:ext cx="2794000" cy="276999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en-US" sz="1300" b="1">
                <a:solidFill>
                  <a:srgbClr val="D56900"/>
                </a:solidFill>
                <a:latin typeface="Aptos" panose="020B0004020202020204" pitchFamily="34" charset="0"/>
              </a:rPr>
              <a:t>ELECTRICAL CONTROL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D435EF-BE70-A473-C9A9-24B0BD6D2A0D}"/>
              </a:ext>
            </a:extLst>
          </p:cNvPr>
          <p:cNvSpPr/>
          <p:nvPr/>
        </p:nvSpPr>
        <p:spPr>
          <a:xfrm>
            <a:off x="736600" y="1841500"/>
            <a:ext cx="1905000" cy="889000"/>
          </a:xfrm>
          <a:prstGeom prst="roundRect">
            <a:avLst/>
          </a:prstGeom>
          <a:gradFill flip="none" rotWithShape="1">
            <a:gsLst>
              <a:gs pos="0">
                <a:srgbClr val="20242C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5875"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roboRIO
CAN bus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F712B5C-BD04-3CF9-CFAC-6BF7398CA118}"/>
              </a:ext>
            </a:extLst>
          </p:cNvPr>
          <p:cNvSpPr/>
          <p:nvPr/>
        </p:nvSpPr>
        <p:spPr>
          <a:xfrm>
            <a:off x="3657600" y="1841500"/>
            <a:ext cx="2159000" cy="889000"/>
          </a:xfrm>
          <a:prstGeom prst="roundRect">
            <a:avLst/>
          </a:prstGeom>
          <a:gradFill flip="none" rotWithShape="1">
            <a:gsLst>
              <a:gs pos="0">
                <a:srgbClr val="FFFF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5875">
            <a:solidFill>
              <a:srgbClr val="D5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sz="1500" b="1">
                <a:solidFill>
                  <a:srgbClr val="20242C"/>
                </a:solidFill>
                <a:latin typeface="Aptos" panose="020B0004020202020204" pitchFamily="34" charset="0"/>
              </a:rPr>
              <a:t>PCM ID 0
channels 0 and 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6D677E0-FA08-7B88-89BA-41D9BEE22B44}"/>
              </a:ext>
            </a:extLst>
          </p:cNvPr>
          <p:cNvSpPr/>
          <p:nvPr/>
        </p:nvSpPr>
        <p:spPr>
          <a:xfrm>
            <a:off x="6832600" y="1676400"/>
            <a:ext cx="2413000" cy="1219200"/>
          </a:xfrm>
          <a:prstGeom prst="roundRect">
            <a:avLst/>
          </a:prstGeom>
          <a:gradFill flip="none" rotWithShape="1">
            <a:gsLst>
              <a:gs pos="0">
                <a:srgbClr val="FFFF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5875">
            <a:solidFill>
              <a:srgbClr val="D5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sz="1500" b="1">
                <a:solidFill>
                  <a:srgbClr val="20242C"/>
                </a:solidFill>
                <a:latin typeface="Aptos" panose="020B0004020202020204" pitchFamily="34" charset="0"/>
              </a:rPr>
              <a:t>One DoubleSolenoid valve
forward and reverse coils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31E5D9B-2FF5-42A3-3965-8A100DA72569}"/>
              </a:ext>
            </a:extLst>
          </p:cNvPr>
          <p:cNvCxnSpPr/>
          <p:nvPr/>
        </p:nvCxnSpPr>
        <p:spPr>
          <a:xfrm>
            <a:off x="2641600" y="2286000"/>
            <a:ext cx="1016000" cy="0"/>
          </a:xfrm>
          <a:prstGeom prst="straightConnector1">
            <a:avLst/>
          </a:prstGeom>
          <a:ln w="38100">
            <a:solidFill>
              <a:srgbClr val="D569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39E7A91-5A6B-9766-99FC-E9557642025D}"/>
              </a:ext>
            </a:extLst>
          </p:cNvPr>
          <p:cNvCxnSpPr/>
          <p:nvPr/>
        </p:nvCxnSpPr>
        <p:spPr>
          <a:xfrm>
            <a:off x="5816600" y="2286000"/>
            <a:ext cx="1016000" cy="0"/>
          </a:xfrm>
          <a:prstGeom prst="straightConnector1">
            <a:avLst/>
          </a:prstGeom>
          <a:ln w="38100">
            <a:solidFill>
              <a:srgbClr val="D569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D04C2A2-60D8-D0CD-F656-D02C8B2B5644}"/>
              </a:ext>
            </a:extLst>
          </p:cNvPr>
          <p:cNvSpPr txBox="1"/>
          <p:nvPr/>
        </p:nvSpPr>
        <p:spPr>
          <a:xfrm>
            <a:off x="736600" y="3530600"/>
            <a:ext cx="2794000" cy="276999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en-US" sz="1300" b="1">
                <a:solidFill>
                  <a:srgbClr val="2A62D2"/>
                </a:solidFill>
                <a:latin typeface="Aptos" panose="020B0004020202020204" pitchFamily="34" charset="0"/>
              </a:rPr>
              <a:t>PNEUMATIC AIRFLOW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AEAEA09-9041-B17D-10FB-0424CE063125}"/>
              </a:ext>
            </a:extLst>
          </p:cNvPr>
          <p:cNvSpPr/>
          <p:nvPr/>
        </p:nvSpPr>
        <p:spPr>
          <a:xfrm>
            <a:off x="736600" y="4013200"/>
            <a:ext cx="2413000" cy="1041400"/>
          </a:xfrm>
          <a:prstGeom prst="roundRect">
            <a:avLst/>
          </a:prstGeom>
          <a:gradFill flip="none" rotWithShape="1">
            <a:gsLst>
              <a:gs pos="0">
                <a:srgbClr val="20242C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5875"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Compressor, tank,
and regulator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9EC0A33-AFC9-C7F6-1D3A-EAA025AD5EA9}"/>
              </a:ext>
            </a:extLst>
          </p:cNvPr>
          <p:cNvCxnSpPr/>
          <p:nvPr/>
        </p:nvCxnSpPr>
        <p:spPr>
          <a:xfrm>
            <a:off x="3149600" y="4533900"/>
            <a:ext cx="3683000" cy="0"/>
          </a:xfrm>
          <a:prstGeom prst="straightConnector1">
            <a:avLst/>
          </a:prstGeom>
          <a:ln w="38100">
            <a:solidFill>
              <a:srgbClr val="2A62D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0957FB3-421B-6A59-1BA7-7462F7D3107B}"/>
              </a:ext>
            </a:extLst>
          </p:cNvPr>
          <p:cNvSpPr/>
          <p:nvPr/>
        </p:nvSpPr>
        <p:spPr>
          <a:xfrm>
            <a:off x="6832600" y="3937000"/>
            <a:ext cx="2413000" cy="1193800"/>
          </a:xfrm>
          <a:prstGeom prst="roundRect">
            <a:avLst/>
          </a:prstGeom>
          <a:gradFill flip="none" rotWithShape="1">
            <a:gsLst>
              <a:gs pos="0">
                <a:srgbClr val="FFFF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5875">
            <a:solidFill>
              <a:srgbClr val="2A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sz="1400" b="1">
                <a:solidFill>
                  <a:srgbClr val="20242C"/>
                </a:solidFill>
                <a:latin typeface="Aptos" panose="020B0004020202020204" pitchFamily="34" charset="0"/>
              </a:rPr>
              <a:t>The same valve
routes air to both
cylinder ports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3F4C71F-4C5F-A050-187B-EB8D35176B2A}"/>
              </a:ext>
            </a:extLst>
          </p:cNvPr>
          <p:cNvCxnSpPr/>
          <p:nvPr/>
        </p:nvCxnSpPr>
        <p:spPr>
          <a:xfrm flipV="1">
            <a:off x="9245600" y="3937000"/>
            <a:ext cx="1168400" cy="330200"/>
          </a:xfrm>
          <a:prstGeom prst="straightConnector1">
            <a:avLst/>
          </a:prstGeom>
          <a:ln w="38100">
            <a:solidFill>
              <a:srgbClr val="2A62D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9FC12FD-36FF-4E84-8F20-281F0C6D5E4D}"/>
              </a:ext>
            </a:extLst>
          </p:cNvPr>
          <p:cNvCxnSpPr/>
          <p:nvPr/>
        </p:nvCxnSpPr>
        <p:spPr>
          <a:xfrm>
            <a:off x="9245600" y="4800600"/>
            <a:ext cx="1168400" cy="457200"/>
          </a:xfrm>
          <a:prstGeom prst="straightConnector1">
            <a:avLst/>
          </a:prstGeom>
          <a:ln w="38100">
            <a:solidFill>
              <a:srgbClr val="2A62D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461B3A8-4647-2F9C-3636-12D62F35131D}"/>
              </a:ext>
            </a:extLst>
          </p:cNvPr>
          <p:cNvSpPr/>
          <p:nvPr/>
        </p:nvSpPr>
        <p:spPr>
          <a:xfrm>
            <a:off x="10414000" y="3429000"/>
            <a:ext cx="1206500" cy="914400"/>
          </a:xfrm>
          <a:prstGeom prst="roundRect">
            <a:avLst/>
          </a:prstGeom>
          <a:gradFill flip="none" rotWithShape="1">
            <a:gsLst>
              <a:gs pos="0">
                <a:srgbClr val="FFFF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5875">
            <a:solidFill>
              <a:srgbClr val="2A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sz="1400" b="1">
                <a:solidFill>
                  <a:srgbClr val="20242C"/>
                </a:solidFill>
                <a:latin typeface="Aptos" panose="020B0004020202020204" pitchFamily="34" charset="0"/>
              </a:rPr>
              <a:t>Left
cylinder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3124949-0719-5DC5-F6FF-52836B87ABE8}"/>
              </a:ext>
            </a:extLst>
          </p:cNvPr>
          <p:cNvSpPr/>
          <p:nvPr/>
        </p:nvSpPr>
        <p:spPr>
          <a:xfrm>
            <a:off x="10414000" y="5054600"/>
            <a:ext cx="1206500" cy="914400"/>
          </a:xfrm>
          <a:prstGeom prst="roundRect">
            <a:avLst/>
          </a:prstGeom>
          <a:gradFill flip="none" rotWithShape="1">
            <a:gsLst>
              <a:gs pos="0">
                <a:srgbClr val="FFFF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5875">
            <a:solidFill>
              <a:srgbClr val="2A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sz="1400" b="1">
                <a:solidFill>
                  <a:srgbClr val="20242C"/>
                </a:solidFill>
                <a:latin typeface="Aptos" panose="020B0004020202020204" pitchFamily="34" charset="0"/>
              </a:rPr>
              <a:t>Right
cylinder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00877B-4799-5C2F-D2E3-B38CD4322037}"/>
              </a:ext>
            </a:extLst>
          </p:cNvPr>
          <p:cNvSpPr txBox="1"/>
          <p:nvPr/>
        </p:nvSpPr>
        <p:spPr>
          <a:xfrm>
            <a:off x="3454400" y="5461000"/>
            <a:ext cx="6350000" cy="477054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pPr algn="ctr"/>
            <a:r>
              <a:rPr lang="en-US" sz="1300" b="1">
                <a:solidFill>
                  <a:srgbClr val="20242C"/>
                </a:solidFill>
                <a:latin typeface="Aptos" panose="020B0004020202020204" pitchFamily="34" charset="0"/>
              </a:rPr>
              <a:t>A tee in each valve output sends the same extend or retract pressure to both cylinders.</a:t>
            </a:r>
          </a:p>
        </p:txBody>
      </p:sp>
    </p:spTree>
    <p:extLst>
      <p:ext uri="{BB962C8B-B14F-4D97-AF65-F5344CB8AC3E}">
        <p14:creationId xmlns:p14="http://schemas.microsoft.com/office/powerpoint/2010/main" val="3517119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ROBOT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4-Motor Drivetrain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914400"/>
          </a:xfrm>
          <a:prstGeom prst="roundRect">
            <a:avLst/>
          </a:prstGeom>
          <a:solidFill>
            <a:srgbClr val="FEF2F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991B1B"/>
                </a:solidFill>
                <a:latin typeface="Verdana"/>
              </a:defRPr>
            </a:pPr>
            <a:r>
              <a:t>SAFETY WARNING:</a:t>
            </a:r>
            <a:br/>
            <a:r>
              <a:t>Place the robot securely on blocks off the floor before enabling this test program.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>
                <a:latin typeface="Verdana"/>
              </a:defRPr>
            </a:pPr>
            <a:r>
              <a:t>• 4 Motors Across PWM 0..3: Front-left (PWM 0), Back-left (PWM 1), Back-right (PWM 2), Front-right (PWM 3).</a:t>
            </a:r>
          </a:p>
          <a:p>
            <a:pPr>
              <a:spcBef>
                <a:spcPts val="800"/>
              </a:spcBef>
              <a:defRPr sz="1200">
                <a:latin typeface="Verdana"/>
              </a:defRPr>
            </a:pPr>
            <a:r>
              <a:t>• Sign Inversion (-0.15 vs +0.15): Drives left side at -0.15 and right side at +0.15 to account for left-side motor inversion.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463040"/>
            <a:ext cx="5394960" cy="4754880"/>
          </a:xfrm>
          <a:prstGeom prst="rect">
            <a:avLst/>
          </a:prstGeom>
          <a:solidFill>
            <a:srgbClr val="282C34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tlCol="0" anchor="ctr"/>
          <a:lstStyle/>
          <a:p>
            <a:pPr algn="l">
              <a:defRPr sz="1050">
                <a:solidFill>
                  <a:srgbClr val="ABB2BF"/>
                </a:solidFill>
                <a:latin typeface="Consolas"/>
              </a:defRPr>
            </a:pPr>
            <a:r>
              <a:rPr b="1">
                <a:solidFill>
                  <a:srgbClr val="D56900"/>
                </a:solidFill>
              </a:rPr>
              <a:t>package</a:t>
            </a:r>
            <a:r>
              <a:t> frc.robot;</a:t>
            </a:r>
            <a:br/>
            <a:br/>
            <a:r>
              <a:rPr b="1">
                <a:solidFill>
                  <a:srgbClr val="D56900"/>
                </a:solidFill>
              </a:rPr>
              <a:t>import</a:t>
            </a:r>
            <a:r>
              <a:t> edu.wpi.first.wpilibj.TimedRobot;</a:t>
            </a:r>
            <a:br/>
            <a:r>
              <a:rPr b="1">
                <a:solidFill>
                  <a:srgbClr val="D56900"/>
                </a:solidFill>
              </a:rPr>
              <a:t>import</a:t>
            </a:r>
            <a:r>
              <a:t> edu.wpi.first.wpilibj.motorcontrol.Talon;</a:t>
            </a:r>
            <a:br/>
            <a:br/>
            <a:r>
              <a:rPr b="1">
                <a:solidFill>
                  <a:srgbClr val="D56900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D56900"/>
                </a:solidFill>
              </a:rPr>
              <a:t>class</a:t>
            </a:r>
            <a:r>
              <a:t> Robot </a:t>
            </a:r>
            <a:r>
              <a:rPr b="1">
                <a:solidFill>
                  <a:srgbClr val="D56900"/>
                </a:solidFill>
              </a:rPr>
              <a:t>extends</a:t>
            </a:r>
            <a:r>
              <a:t> TimedRobot {</a:t>
            </a:r>
            <a:br/>
            <a:r>
              <a:t>    </a:t>
            </a:r>
            <a:r>
              <a:rPr b="1">
                <a:solidFill>
                  <a:srgbClr val="D56900"/>
                </a:solidFill>
              </a:rPr>
              <a:t>private</a:t>
            </a:r>
            <a:r>
              <a:t> </a:t>
            </a:r>
            <a:r>
              <a:rPr b="1">
                <a:solidFill>
                  <a:srgbClr val="D56900"/>
                </a:solidFill>
              </a:rPr>
              <a:t>final</a:t>
            </a:r>
            <a:r>
              <a:t> Talon frontLeft = </a:t>
            </a:r>
            <a:r>
              <a:rPr b="1">
                <a:solidFill>
                  <a:srgbClr val="D56900"/>
                </a:solidFill>
              </a:rPr>
              <a:t>new</a:t>
            </a:r>
            <a:r>
              <a:t> Talon(0);</a:t>
            </a:r>
            <a:br/>
            <a:r>
              <a:t>    </a:t>
            </a:r>
            <a:r>
              <a:rPr b="1">
                <a:solidFill>
                  <a:srgbClr val="D56900"/>
                </a:solidFill>
              </a:rPr>
              <a:t>private</a:t>
            </a:r>
            <a:r>
              <a:t> </a:t>
            </a:r>
            <a:r>
              <a:rPr b="1">
                <a:solidFill>
                  <a:srgbClr val="D56900"/>
                </a:solidFill>
              </a:rPr>
              <a:t>final</a:t>
            </a:r>
            <a:r>
              <a:t> Talon backLeft = </a:t>
            </a:r>
            <a:r>
              <a:rPr b="1">
                <a:solidFill>
                  <a:srgbClr val="D56900"/>
                </a:solidFill>
              </a:rPr>
              <a:t>new</a:t>
            </a:r>
            <a:r>
              <a:t> Talon(1);</a:t>
            </a:r>
            <a:br/>
            <a:r>
              <a:t>    </a:t>
            </a:r>
            <a:r>
              <a:rPr b="1">
                <a:solidFill>
                  <a:srgbClr val="D56900"/>
                </a:solidFill>
              </a:rPr>
              <a:t>private</a:t>
            </a:r>
            <a:r>
              <a:t> </a:t>
            </a:r>
            <a:r>
              <a:rPr b="1">
                <a:solidFill>
                  <a:srgbClr val="D56900"/>
                </a:solidFill>
              </a:rPr>
              <a:t>final</a:t>
            </a:r>
            <a:r>
              <a:t> Talon backRight = </a:t>
            </a:r>
            <a:r>
              <a:rPr b="1">
                <a:solidFill>
                  <a:srgbClr val="D56900"/>
                </a:solidFill>
              </a:rPr>
              <a:t>new</a:t>
            </a:r>
            <a:r>
              <a:t> Talon(2);</a:t>
            </a:r>
            <a:br/>
            <a:r>
              <a:t>    </a:t>
            </a:r>
            <a:r>
              <a:rPr b="1">
                <a:solidFill>
                  <a:srgbClr val="D56900"/>
                </a:solidFill>
              </a:rPr>
              <a:t>private</a:t>
            </a:r>
            <a:r>
              <a:t> </a:t>
            </a:r>
            <a:r>
              <a:rPr b="1">
                <a:solidFill>
                  <a:srgbClr val="D56900"/>
                </a:solidFill>
              </a:rPr>
              <a:t>final</a:t>
            </a:r>
            <a:r>
              <a:t> Talon frontRight = </a:t>
            </a:r>
            <a:r>
              <a:rPr b="1">
                <a:solidFill>
                  <a:srgbClr val="D56900"/>
                </a:solidFill>
              </a:rPr>
              <a:t>new</a:t>
            </a:r>
            <a:r>
              <a:t> Talon(3);</a:t>
            </a:r>
            <a:br/>
            <a:br/>
            <a:r>
              <a:t>    @Override</a:t>
            </a:r>
            <a:br/>
            <a:r>
              <a:t>    </a:t>
            </a:r>
            <a:r>
              <a:rPr b="1">
                <a:solidFill>
                  <a:srgbClr val="D56900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D56900"/>
                </a:solidFill>
              </a:rPr>
              <a:t>void</a:t>
            </a:r>
            <a:r>
              <a:t> teleopPeriodic() {</a:t>
            </a:r>
            <a:br/>
            <a:r>
              <a:t>        // Left side inverted in software</a:t>
            </a:r>
            <a:br/>
            <a:r>
              <a:t>        frontLeft.</a:t>
            </a:r>
            <a:r>
              <a:rPr>
                <a:solidFill>
                  <a:srgbClr val="66BB6A"/>
                </a:solidFill>
              </a:rPr>
              <a:t>set</a:t>
            </a:r>
            <a:r>
              <a:t>(-0.15);</a:t>
            </a:r>
            <a:br/>
            <a:r>
              <a:t>        backLeft.</a:t>
            </a:r>
            <a:r>
              <a:rPr>
                <a:solidFill>
                  <a:srgbClr val="66BB6A"/>
                </a:solidFill>
              </a:rPr>
              <a:t>set</a:t>
            </a:r>
            <a:r>
              <a:t>(-0.15);</a:t>
            </a:r>
            <a:br/>
            <a:br/>
            <a:r>
              <a:t>        frontRight.</a:t>
            </a:r>
            <a:r>
              <a:rPr>
                <a:solidFill>
                  <a:srgbClr val="66BB6A"/>
                </a:solidFill>
              </a:rPr>
              <a:t>set</a:t>
            </a:r>
            <a:r>
              <a:t>(0.15);</a:t>
            </a:r>
            <a:br/>
            <a:r>
              <a:t>        backRight.</a:t>
            </a:r>
            <a:r>
              <a:rPr>
                <a:solidFill>
                  <a:srgbClr val="66BB6A"/>
                </a:solidFill>
              </a:rPr>
              <a:t>set</a:t>
            </a:r>
            <a:r>
              <a:t>(0.15);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ROBOT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Controlling several mechanisms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tlCol="0" anchor="ctr"/>
          <a:lstStyle/>
          <a:p>
            <a:pPr algn="ctr">
              <a:defRPr sz="1500" b="1">
                <a:solidFill>
                  <a:srgbClr val="16A34A"/>
                </a:solidFill>
                <a:latin typeface="Verdana"/>
              </a:defRPr>
            </a:pPr>
            <a:r>
              <a:t>Direct Control Strengths: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1-to-1 Hardware Verification: Simple TimedRobot code proves electrical wiring, PWM ports, and PCM channels function.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Zero Framework Overhead: Directly invokes motor.set() without configuring commands or scheduling rules.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Isolated Testing: Validates direction and motor response on blocks prior to driving.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tlCol="0" anchor="ctr"/>
          <a:lstStyle/>
          <a:p>
            <a:pPr algn="ctr">
              <a:defRPr sz="1500" b="1">
                <a:solidFill>
                  <a:srgbClr val="D97706"/>
                </a:solidFill>
                <a:latin typeface="Verdana"/>
              </a:defRPr>
            </a:pPr>
            <a:r>
              <a:t>System Coordination Bottlenecks: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Monolithic teleopPeriodic(): Mixing joysticks, buttons, and 4 mechanisms into one huge loop leads to chaotic nested if-else logic.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Hardware Conflicts: What happens if two buttons try to command the same belt motor at once?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No Clean State Cleanup: Button releases, interruptions, and automated scoring sequences require complex state tracking flags.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ROBOT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Human Controls &amp; Dual CommandXboxController Mapping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tlCol="0" anchor="ctr"/>
          <a:lstStyle/>
          <a:p>
            <a:pPr algn="ctr">
              <a:defRPr sz="1500" b="1">
                <a:solidFill>
                  <a:srgbClr val="2563EB"/>
                </a:solidFill>
                <a:latin typeface="Verdana"/>
              </a:defRPr>
            </a:pPr>
            <a:r>
              <a:t>DRIVER CONTROLLER (USB Port 0)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Left Stick Y: Commands left-side drivetrain speed (-1.0 to +1.0).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Right Stick Y: Commands right-side drivetrain speed (-1.0 to +1.0).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Right Bumper (Held): Activates Precision Slow Drive Mode (scales speed from 40% down to 20%).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Deadband: Applies 0.08 deadband to eliminate stick drift near center.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tlCol="0" anchor="ctr"/>
          <a:lstStyle/>
          <a:p>
            <a:pPr algn="ctr">
              <a:defRPr sz="1500" b="1">
                <a:solidFill>
                  <a:srgbClr val="D97706"/>
                </a:solidFill>
                <a:latin typeface="Verdana"/>
              </a:defRPr>
            </a:pPr>
            <a:r>
              <a:rPr lang="en-US"/>
              <a:t>OPERATOR CONTROLLER (USB Port 1)
• Button A (Held): Runs Ball Transport Belt Inward (+1.0 speed).
• Button B (Held): Runs Ball Transport Belt Outward (-1.0 speed).
• Button X (Held): Runs Outtake Roller (+1.0 speed).
• Button Y (Pressed): Toggles the shared climber valve, extending or retracting both arms.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ROBOT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Driver Station USB Setup &amp; Live Telemetry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latin typeface="Verdana"/>
              </a:defRPr>
            </a:pPr>
            <a:r>
              <a:t>Driver Station USB Slot Rules: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Index Matching: The Driver Station USB tab assigns numeric port slots (0, 1, 2...). Software constants DRIVER_CONTROLLER = 0 and OPERATOR_CONTROLLER = 1 must match physical USB slots.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Port Swap Misconfigurations: If controllers are plugged in backwards (Operator in Slot 0, Driver in Slot 1), stick inputs drive the wrong mechanisms.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Live Diagnostic Grid: Pressing physical buttons on the Xbox controller lights up indicators in the live Driver Station telemetry grid to confirm mapping before enabling.</a:t>
            </a:r>
          </a:p>
        </p:txBody>
      </p:sp>
      <p:pic>
        <p:nvPicPr>
          <p:cNvPr id="5" name="Picture 4" descr="Screenshot_2026-10-05_1853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63040"/>
            <a:ext cx="5029200" cy="24451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ROBOT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Button A reaches PWM port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011680" cy="82296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F8F5EE"/>
                </a:solidFill>
                <a:latin typeface="Verdana"/>
              </a:defRPr>
            </a:pPr>
            <a:r>
              <a:t>1. Controller</a:t>
            </a:r>
          </a:p>
          <a:p>
            <a:pPr algn="ctr">
              <a:defRPr sz="1000">
                <a:solidFill>
                  <a:srgbClr val="FEF3C7"/>
                </a:solidFill>
                <a:latin typeface="Verdana"/>
              </a:defRPr>
            </a:pPr>
            <a:r>
              <a:t>Button A Press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371600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1E222A"/>
                </a:solidFill>
                <a:latin typeface="Verdana"/>
              </a:defRPr>
            </a:pPr>
            <a:r>
              <a:t>2. Driver Station</a:t>
            </a:r>
          </a:p>
          <a:p>
            <a:pPr algn="ctr">
              <a:defRPr sz="1000">
                <a:solidFill>
                  <a:srgbClr val="6B7280"/>
                </a:solidFill>
                <a:latin typeface="Verdana"/>
              </a:defRPr>
            </a:pPr>
            <a:r>
              <a:t>USB HID Packet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371600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1E222A"/>
                </a:solidFill>
                <a:latin typeface="Verdana"/>
              </a:defRPr>
            </a:pPr>
            <a:r>
              <a:t>3. RobotContainer</a:t>
            </a:r>
          </a:p>
          <a:p>
            <a:pPr algn="ctr">
              <a:defRPr sz="1000">
                <a:solidFill>
                  <a:srgbClr val="6B7280"/>
                </a:solidFill>
                <a:latin typeface="Verdana"/>
              </a:defRPr>
            </a:pPr>
            <a:r>
              <a:t>Trigger Binding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371600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1E222A"/>
                </a:solidFill>
                <a:latin typeface="Verdana"/>
              </a:defRPr>
            </a:pPr>
            <a:r>
              <a:t>4. BeltInCommand</a:t>
            </a:r>
          </a:p>
          <a:p>
            <a:pPr algn="ctr">
              <a:defRPr sz="1000">
                <a:solidFill>
                  <a:srgbClr val="6B7280"/>
                </a:solidFill>
                <a:latin typeface="Verdana"/>
              </a:defRPr>
            </a:pPr>
            <a:r>
              <a:t>Lifecycle Hooks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1371600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1E222A"/>
                </a:solidFill>
                <a:latin typeface="Verdana"/>
              </a:defRPr>
            </a:pPr>
            <a:r>
              <a:t>5. BeltSubsystem</a:t>
            </a:r>
          </a:p>
          <a:p>
            <a:pPr algn="ctr">
              <a:defRPr sz="1000">
                <a:solidFill>
                  <a:srgbClr val="6B7280"/>
                </a:solidFill>
                <a:latin typeface="Verdana"/>
              </a:defRPr>
            </a:pPr>
            <a:r>
              <a:t>PWM 5 Motor 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512064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tlCol="0" anchor="ctr"/>
          <a:lstStyle/>
          <a:p>
            <a:pPr algn="ctr">
              <a:defRPr sz="1400" b="1">
                <a:solidFill>
                  <a:srgbClr val="D97706"/>
                </a:solidFill>
                <a:latin typeface="Verdana"/>
              </a:defRPr>
            </a:pPr>
            <a:r>
              <a:t>PHYSICAL SIGNAL ORIGIN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1. Human Press: Thumb depresses Button A on Operator Xbox Controller (USB Port 1).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2. USB HID Packet: Controller micro-ASIC encodes button state and sends USB packet to Driver Station laptop.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3. UDP Network Packet: Driver Station software packages HID state into a 20ms UDP packet sent over Ethernet/Wi-Fi to roboRIO.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468880"/>
            <a:ext cx="512064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tlCol="0" anchor="ctr"/>
          <a:lstStyle/>
          <a:p>
            <a:pPr algn="ctr">
              <a:defRPr sz="1400" b="1">
                <a:solidFill>
                  <a:srgbClr val="16A34A"/>
                </a:solidFill>
                <a:latin typeface="Verdana"/>
              </a:defRPr>
            </a:pPr>
            <a:r>
              <a:t>ACTUATOR OUTPUT DESTINATION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4. roboRIO HAL/FPGA: DriverStation HAL updates internal button array during 20ms periodic pass.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5. PWM 5 Signal: Software commands beltMotor.set(1.0). roboRIO FPGA generates 1.0ms to 2.0ms pulse-width signal on PWM Port 5.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6. Motor Motion: Talon SRX reads PWM signal and meters +12V from Power Distribution Panel to drive belt motor inward.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Verdana"/>
              </a:defRPr>
            </a:pPr>
            <a:r>
              <a:t>SECTION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5EE"/>
                </a:solidFill>
                <a:latin typeface="Georgia"/>
              </a:defRPr>
            </a:pPr>
            <a:r>
              <a:t>Command-based robot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1D5DB"/>
                </a:solidFill>
                <a:latin typeface="Verdana"/>
              </a:defRPr>
            </a:pPr>
            <a:r>
              <a:t>Managing hardware exclusivity, trigger bindings, lifecycle hooks, and the 20ms execution loop.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COMMAND-BASED ROBOT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Two commands request the belt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97706"/>
                </a:solidFill>
                <a:latin typeface="Verdana"/>
              </a:defRPr>
            </a:pPr>
            <a:r>
              <a:t>A Concrete Engineering Conflict:</a:t>
            </a:r>
          </a:p>
          <a:p>
            <a:pPr>
              <a:spcBef>
                <a:spcPts val="1000"/>
              </a:spcBef>
              <a:defRPr sz="1300">
                <a:solidFill>
                  <a:srgbClr val="1E222A"/>
                </a:solidFill>
                <a:latin typeface="Verdana"/>
              </a:defRPr>
            </a:pPr>
            <a:r>
              <a:t>1. Button A Request: Operator holds Button A -&gt; Triggers BeltInCommand -&gt; Commands belt motor +1.0 (Inward).</a:t>
            </a:r>
          </a:p>
          <a:p>
            <a:pPr>
              <a:spcBef>
                <a:spcPts val="1000"/>
              </a:spcBef>
              <a:defRPr sz="1300">
                <a:solidFill>
                  <a:srgbClr val="1E222A"/>
                </a:solidFill>
                <a:latin typeface="Verdana"/>
              </a:defRPr>
            </a:pPr>
            <a:r>
              <a:t>2. Button B Request: Simultaneously, Operator holds Button B -&gt; Triggers BeltOutCommand -&gt; Commands belt motor -1.0 (Outward).</a:t>
            </a:r>
          </a:p>
          <a:p>
            <a:pPr>
              <a:spcBef>
                <a:spcPts val="1000"/>
              </a:spcBef>
              <a:defRPr sz="1300">
                <a:solidFill>
                  <a:srgbClr val="1E222A"/>
                </a:solidFill>
                <a:latin typeface="Verdana"/>
              </a:defRPr>
            </a:pPr>
            <a:r>
              <a:t>3. The Conflict: Both commands target the exact same physical hardware (Talon SRX on PWM Port 5).</a:t>
            </a:r>
          </a:p>
          <a:p>
            <a:pPr>
              <a:spcBef>
                <a:spcPts val="1000"/>
              </a:spcBef>
              <a:defRPr sz="1300">
                <a:solidFill>
                  <a:srgbClr val="1E222A"/>
                </a:solidFill>
                <a:latin typeface="Verdana"/>
              </a:defRPr>
            </a:pPr>
            <a:r>
              <a:t>4. The Core Question: Which command owns the motor? What prevents the code from sending contradictory signals to the motor controller in the same 20ms loop pass?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46320"/>
            <a:ext cx="10698480" cy="1188720"/>
          </a:xfrm>
          <a:prstGeom prst="roundRect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92400E"/>
                </a:solidFill>
                <a:latin typeface="Verdana"/>
              </a:defRPr>
            </a:pPr>
            <a:r>
              <a:t>The Architectural Solution: Subsystem Requirements (addRequirements)</a:t>
            </a:r>
          </a:p>
          <a:p>
            <a:pPr>
              <a:defRPr sz="1100">
                <a:solidFill>
                  <a:srgbClr val="1E222A"/>
                </a:solidFill>
                <a:latin typeface="Verdana"/>
              </a:defRPr>
            </a:pPr>
            <a:r>
              <a:t>WPILib solves this through subsystem requirements. Commands must declare which hardware resources they require. The CommandScheduler enforces hardware exclusivity, cancelling the older command before starting the new one.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COMMAND-BASED ROBOT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Subsystem Requirements &amp; Hardware Exclusivity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latin typeface="Verdana"/>
              </a:defRPr>
            </a:pPr>
            <a:r>
              <a:t>How addRequirements(subsystem) Works: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Resource Registration: Inside a Command's constructor, calling addRequirements(beltSubsystem) registers the subsystem as a required resource.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Scheduler Exclusivity Referee: The CommandScheduler tracks which command currently owns each subsystem.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Automatic Interrupt &amp; Cleanup: When Button B schedules BeltOutCommand, the scheduler sees that beltSubsystem is currently owned by BeltInCommand. It interrupts BeltInCommand, calls its end(true) method to safely stop the motor, and grants ownership to BeltOutCommand.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Scheduler Ownership Scope: Enforces ownership within the CommandScheduler list—it is a logical referee, not an OS thread mutex.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463040"/>
            <a:ext cx="5394960" cy="4754880"/>
          </a:xfrm>
          <a:prstGeom prst="rect">
            <a:avLst/>
          </a:prstGeom>
          <a:solidFill>
            <a:srgbClr val="282C34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tlCol="0" anchor="ctr"/>
          <a:lstStyle/>
          <a:p>
            <a:pPr algn="l">
              <a:defRPr sz="1050">
                <a:solidFill>
                  <a:srgbClr val="ABB2BF"/>
                </a:solidFill>
                <a:latin typeface="Consolas"/>
              </a:defRPr>
            </a:pPr>
            <a:r>
              <a:rPr b="1">
                <a:solidFill>
                  <a:srgbClr val="D56900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D56900"/>
                </a:solidFill>
              </a:rPr>
              <a:t>class</a:t>
            </a:r>
            <a:r>
              <a:t> BeltInCommand </a:t>
            </a:r>
            <a:r>
              <a:rPr b="1">
                <a:solidFill>
                  <a:srgbClr val="D56900"/>
                </a:solidFill>
              </a:rPr>
              <a:t>extends</a:t>
            </a:r>
            <a:r>
              <a:t> Command {</a:t>
            </a:r>
            <a:br/>
            <a:r>
              <a:t>    </a:t>
            </a:r>
            <a:r>
              <a:rPr b="1">
                <a:solidFill>
                  <a:srgbClr val="D56900"/>
                </a:solidFill>
              </a:rPr>
              <a:t>private</a:t>
            </a:r>
            <a:r>
              <a:t> </a:t>
            </a:r>
            <a:r>
              <a:rPr b="1">
                <a:solidFill>
                  <a:srgbClr val="D56900"/>
                </a:solidFill>
              </a:rPr>
              <a:t>final</a:t>
            </a:r>
            <a:r>
              <a:t> BeltSubsystem beltSubsystem;</a:t>
            </a:r>
            <a:br/>
            <a:br/>
            <a:r>
              <a:t>    </a:t>
            </a:r>
            <a:r>
              <a:rPr b="1">
                <a:solidFill>
                  <a:srgbClr val="D56900"/>
                </a:solidFill>
              </a:rPr>
              <a:t>public</a:t>
            </a:r>
            <a:r>
              <a:t> BeltInCommand(BeltSubsystem beltSubsystem) {</a:t>
            </a:r>
            <a:br/>
            <a:r>
              <a:t>        this.beltSubsystem = beltSubsystem;</a:t>
            </a:r>
            <a:br/>
            <a:r>
              <a:t>        </a:t>
            </a:r>
            <a:br/>
            <a:r>
              <a:t>        // Declares exclusive hardware ownership</a:t>
            </a:r>
            <a:br/>
            <a:r>
              <a:t>        </a:t>
            </a:r>
            <a:r>
              <a:rPr>
                <a:solidFill>
                  <a:srgbClr val="66BB6A"/>
                </a:solidFill>
              </a:rPr>
              <a:t>addRequirements</a:t>
            </a:r>
            <a:r>
              <a:t>(beltSubsystem);</a:t>
            </a:r>
            <a:br/>
            <a:r>
              <a:t>    }</a:t>
            </a:r>
            <a:br/>
            <a:br/>
            <a:r>
              <a:t>    @Override</a:t>
            </a:r>
            <a:br/>
            <a:r>
              <a:t>    </a:t>
            </a:r>
            <a:r>
              <a:rPr b="1">
                <a:solidFill>
                  <a:srgbClr val="D56900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D56900"/>
                </a:solidFill>
              </a:rPr>
              <a:t>void</a:t>
            </a:r>
            <a:r>
              <a:t> execute() {</a:t>
            </a:r>
            <a:br/>
            <a:r>
              <a:t>        beltSubsystem.</a:t>
            </a:r>
            <a:r>
              <a:rPr>
                <a:solidFill>
                  <a:srgbClr val="66BB6A"/>
                </a:solidFill>
              </a:rPr>
              <a:t>run</a:t>
            </a:r>
            <a:r>
              <a:t>(Constants.Tuning.BELT_SPEED);</a:t>
            </a:r>
            <a:br/>
            <a:r>
              <a:t>    }</a:t>
            </a:r>
            <a:br/>
            <a:br/>
            <a:r>
              <a:t>    @Override</a:t>
            </a:r>
            <a:br/>
            <a:r>
              <a:t>    </a:t>
            </a:r>
            <a:r>
              <a:rPr b="1">
                <a:solidFill>
                  <a:srgbClr val="D56900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D56900"/>
                </a:solidFill>
              </a:rPr>
              <a:t>void</a:t>
            </a:r>
            <a:r>
              <a:t> end(</a:t>
            </a:r>
            <a:r>
              <a:rPr b="1">
                <a:solidFill>
                  <a:srgbClr val="D56900"/>
                </a:solidFill>
              </a:rPr>
              <a:t>boolean</a:t>
            </a:r>
            <a:r>
              <a:t> interrupted) {</a:t>
            </a:r>
            <a:br/>
            <a:r>
              <a:t>        // Invoked automatically when cancelled</a:t>
            </a:r>
            <a:br/>
            <a:r>
              <a:t>        beltSubsystem.</a:t>
            </a:r>
            <a:r>
              <a:rPr>
                <a:solidFill>
                  <a:srgbClr val="66BB6A"/>
                </a:solidFill>
              </a:rPr>
              <a:t>stop</a:t>
            </a:r>
            <a:r>
              <a:t>();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5F81831-A4C6-4D07-0689-AD095FB96862}"/>
              </a:ext>
            </a:extLst>
          </p:cNvPr>
          <p:cNvSpPr/>
          <p:nvPr/>
        </p:nvSpPr>
        <p:spPr>
          <a:xfrm>
            <a:off x="10947400" y="2870200"/>
            <a:ext cx="304800" cy="304800"/>
          </a:xfrm>
          <a:prstGeom prst="ellipse">
            <a:avLst/>
          </a:prstGeom>
          <a:gradFill flip="none" rotWithShape="1">
            <a:gsLst>
              <a:gs pos="0">
                <a:srgbClr val="D5690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C48972C-BDC2-E8C5-5F09-092403E8E7F5}"/>
              </a:ext>
            </a:extLst>
          </p:cNvPr>
          <p:cNvSpPr/>
          <p:nvPr/>
        </p:nvSpPr>
        <p:spPr>
          <a:xfrm>
            <a:off x="6172200" y="5486400"/>
            <a:ext cx="5130800" cy="736600"/>
          </a:xfrm>
          <a:prstGeom prst="roundRect">
            <a:avLst/>
          </a:prstGeom>
          <a:gradFill flip="none" rotWithShape="1">
            <a:gsLst>
              <a:gs pos="0">
                <a:srgbClr val="F8F5E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5875">
            <a:solidFill>
              <a:srgbClr val="D5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1100">
                <a:solidFill>
                  <a:srgbClr val="20242C"/>
                </a:solidFill>
                <a:latin typeface="Aptos" panose="020B0004020202020204" pitchFamily="34" charset="0"/>
              </a:rPr>
              <a:t>This line tells the scheduler that the command needs exclusive use of BeltSubsystem.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COMMAND-BASED ROBOT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Architectural Separation: Subsystems (HOW) vs. Commands (WHEN)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tlCol="0" anchor="ctr"/>
          <a:lstStyle/>
          <a:p>
            <a:pPr algn="ctr">
              <a:defRPr sz="1500" b="1">
                <a:solidFill>
                  <a:srgbClr val="2563EB"/>
                </a:solidFill>
                <a:latin typeface="Verdana"/>
              </a:defRPr>
            </a:pPr>
            <a:r>
              <a:t>SUBSYSTEMS (SubsystemBase)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Hardware Ownership: Owns raw motor controllers (Talon), sensors, and solenoids in private fields.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Encapsulation (HOW): Defines public API methods for mechanism actions (run(speed), stop(), extendArms()).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Passive Capability: Knows HOW to move the hardware, but never decides WHEN to move.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Examples: DriveSubsystem, BeltSubsystem, RollerSubsystem, ClimberSubsystem.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tlCol="0" anchor="ctr"/>
          <a:lstStyle/>
          <a:p>
            <a:pPr algn="ctr">
              <a:defRPr sz="1500" b="1">
                <a:solidFill>
                  <a:srgbClr val="D97706"/>
                </a:solidFill>
                <a:latin typeface="Verdana"/>
              </a:defRPr>
            </a:pPr>
            <a:r>
              <a:t>COMMANDS (Command)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Execution Logic: Contains state machine rules and lifecycle methods (initialize, execute, end).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Action Sequencing (WHEN): Dictates WHEN hardware actions occur in response to triggers or autonomous schedules.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Resource Locks: Declares required subsystems via addRequirements().</a:t>
            </a:r>
          </a:p>
          <a:p>
            <a:pPr>
              <a:spcBef>
                <a:spcPts val="8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• Examples: BeltInCommand, BeltOutCommand, ToggleClimberArmsCommand, DriveTeleopCommand.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COMMAND-BASED ROBOT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Trigger Bindings: whileTrue, onTrue, and setDefaultCommand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27000" rtlCol="0" anchor="ctr"/>
          <a:lstStyle/>
          <a:p>
            <a:pPr algn="ctr">
              <a:defRPr sz="1400" b="1">
                <a:solidFill>
                  <a:srgbClr val="2563EB"/>
                </a:solidFill>
                <a:latin typeface="Verdana"/>
              </a:defRPr>
            </a:pPr>
            <a:r>
              <a:t>whileTrue(command)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Momentary Active Control: Schedules command when button is pressed; keeps running while held.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Release Cancellation: Button release cancels command and invokes end(true) cleanup.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Used for: BeltInCommand, BeltOutCommand, RollerCommand, SlowDriveCommand.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27000" rtlCol="0" anchor="ctr"/>
          <a:lstStyle/>
          <a:p>
            <a:pPr algn="ctr">
              <a:defRPr sz="1400" b="1">
                <a:solidFill>
                  <a:srgbClr val="D97706"/>
                </a:solidFill>
                <a:latin typeface="Verdana"/>
              </a:defRPr>
            </a:pPr>
            <a:r>
              <a:rPr lang="en-US" sz="1250">
                <a:solidFill>
                  <a:srgbClr val="20242C"/>
                </a:solidFill>
              </a:rPr>
              <a:t>onTrue(command)
• Schedules the command once when the trigger changes from false to true.
• The command decides when it finishes. onTrue does not make a command instant.
• This climber command ends immediately because isFinished() returns true.</a:t>
            </a:r>
            <a:endParaRPr sz="1250">
              <a:solidFill>
                <a:srgbClr val="20242C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27000" rtlCol="0" anchor="ctr"/>
          <a:lstStyle/>
          <a:p>
            <a:pPr algn="ctr">
              <a:defRPr sz="1400" b="1">
                <a:solidFill>
                  <a:srgbClr val="16A34A"/>
                </a:solidFill>
                <a:latin typeface="Verdana"/>
              </a:defRPr>
            </a:pPr>
            <a:r>
              <a:t>setDefaultCommand(...)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Fallback Subsystem Command: Runs automatically whenever no other command is requiring the subsystem.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Continuous Active Control: Re-schedules every pass unreserved.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Used for: DriveTeleopCommand on DriveSubsystem.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COMMAND-BASED ROBOT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Polymorphic Command Lifecycle Method Hooks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097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5EE"/>
                          </a:solidFill>
                          <a:latin typeface="Verdana"/>
                        </a:defRPr>
                      </a:pPr>
                      <a:r>
                        <a:t>Lifecycle Method</a:t>
                      </a:r>
                    </a:p>
                  </a:txBody>
                  <a:tcPr>
                    <a:solidFill>
                      <a:srgbClr val="1E2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5EE"/>
                          </a:solidFill>
                          <a:latin typeface="Verdana"/>
                        </a:defRPr>
                      </a:pPr>
                      <a:r>
                        <a:t>When Invoked by CommandScheduler</a:t>
                      </a:r>
                    </a:p>
                  </a:txBody>
                  <a:tcPr>
                    <a:solidFill>
                      <a:srgbClr val="1E2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5EE"/>
                          </a:solidFill>
                          <a:latin typeface="Verdana"/>
                        </a:defRPr>
                      </a:pPr>
                      <a:r>
                        <a:t>Implementation Responsibility</a:t>
                      </a:r>
                    </a:p>
                  </a:txBody>
                  <a:tcPr>
                    <a:solidFill>
                      <a:srgbClr val="1E22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initialize()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Runs ONCE when the command is scheduled.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Set up initial state, reset timers, toggle solenoids.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execute()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Runs REPEATEDLY every 20ms while command is active.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Pass motor speed setpoints to subsystem API methods.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isFinished()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Evaluated REPEATEDLY every 20ms after execute().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Return true when complete (instant) or false to keep running.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end(boolean interrupted)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Runs ONCE when command finishes or is cancelled.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Safely shut off outputs (beltSubsystem.stop()).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COMMAND-BASED ROBOT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599875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rPr lang="en-US"/>
              <a:t>The 20 ms CommandScheduler cycle</a:t>
            </a:r>
            <a:endParaRPr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94152C-A7DE-47E7-7131-972ADC7CE6A7}"/>
              </a:ext>
            </a:extLst>
          </p:cNvPr>
          <p:cNvSpPr/>
          <p:nvPr/>
        </p:nvSpPr>
        <p:spPr>
          <a:xfrm>
            <a:off x="609600" y="2311400"/>
            <a:ext cx="1841500" cy="2413000"/>
          </a:xfrm>
          <a:prstGeom prst="roundRect">
            <a:avLst/>
          </a:prstGeom>
          <a:gradFill flip="none" rotWithShape="1">
            <a:gsLst>
              <a:gs pos="0">
                <a:srgbClr val="FFFF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5875">
            <a:solidFill>
              <a:srgbClr val="2A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sz="1200">
                <a:solidFill>
                  <a:srgbClr val="20242C"/>
                </a:solidFill>
                <a:latin typeface="Aptos" panose="020B0004020202020204" pitchFamily="34" charset="0"/>
              </a:rPr>
              <a:t>1  Subsystem periodic()
Each registered subsystem runs periodic().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A1C0C3F-2D60-288D-B29F-0AF586194C79}"/>
              </a:ext>
            </a:extLst>
          </p:cNvPr>
          <p:cNvCxnSpPr/>
          <p:nvPr/>
        </p:nvCxnSpPr>
        <p:spPr>
          <a:xfrm>
            <a:off x="2451100" y="3517900"/>
            <a:ext cx="444500" cy="0"/>
          </a:xfrm>
          <a:prstGeom prst="straightConnector1">
            <a:avLst/>
          </a:prstGeom>
          <a:ln w="31750">
            <a:solidFill>
              <a:srgbClr val="D569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A2AC748-4554-9F3B-5539-EDC4E4F2EAE9}"/>
              </a:ext>
            </a:extLst>
          </p:cNvPr>
          <p:cNvSpPr/>
          <p:nvPr/>
        </p:nvSpPr>
        <p:spPr>
          <a:xfrm>
            <a:off x="2895600" y="2311400"/>
            <a:ext cx="1841500" cy="2413000"/>
          </a:xfrm>
          <a:prstGeom prst="roundRect">
            <a:avLst/>
          </a:prstGeom>
          <a:gradFill flip="none" rotWithShape="1">
            <a:gsLst>
              <a:gs pos="0">
                <a:srgbClr val="FFFF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5875">
            <a:solidFill>
              <a:srgbClr val="2A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sz="1200">
                <a:solidFill>
                  <a:srgbClr val="20242C"/>
                </a:solidFill>
                <a:latin typeface="Aptos" panose="020B0004020202020204" pitchFamily="34" charset="0"/>
              </a:rPr>
              <a:t>2  Poll button bindings
Triggers detect button changes and schedule commands.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1D12E65-3CA1-A27C-57A9-562BB10E4365}"/>
              </a:ext>
            </a:extLst>
          </p:cNvPr>
          <p:cNvCxnSpPr/>
          <p:nvPr/>
        </p:nvCxnSpPr>
        <p:spPr>
          <a:xfrm>
            <a:off x="4737100" y="3517900"/>
            <a:ext cx="444500" cy="0"/>
          </a:xfrm>
          <a:prstGeom prst="straightConnector1">
            <a:avLst/>
          </a:prstGeom>
          <a:ln w="31750">
            <a:solidFill>
              <a:srgbClr val="D569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434ED6B-27CD-57EE-D7F3-3CBBCA0E9762}"/>
              </a:ext>
            </a:extLst>
          </p:cNvPr>
          <p:cNvSpPr/>
          <p:nvPr/>
        </p:nvSpPr>
        <p:spPr>
          <a:xfrm>
            <a:off x="5181600" y="2311400"/>
            <a:ext cx="1841500" cy="2413000"/>
          </a:xfrm>
          <a:prstGeom prst="roundRect">
            <a:avLst/>
          </a:prstGeom>
          <a:gradFill flip="none" rotWithShape="1">
            <a:gsLst>
              <a:gs pos="0">
                <a:srgbClr val="FFFF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5875">
            <a:solidFill>
              <a:srgbClr val="D5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sz="1200">
                <a:solidFill>
                  <a:srgbClr val="20242C"/>
                </a:solidFill>
                <a:latin typeface="Aptos" panose="020B0004020202020204" pitchFamily="34" charset="0"/>
              </a:rPr>
              <a:t>3  Execute commands
Scheduled commands run execute() on the main robot thread.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735F498-BE8A-4091-F8E3-545AECD7FE07}"/>
              </a:ext>
            </a:extLst>
          </p:cNvPr>
          <p:cNvCxnSpPr/>
          <p:nvPr/>
        </p:nvCxnSpPr>
        <p:spPr>
          <a:xfrm>
            <a:off x="7023100" y="3517900"/>
            <a:ext cx="444500" cy="0"/>
          </a:xfrm>
          <a:prstGeom prst="straightConnector1">
            <a:avLst/>
          </a:prstGeom>
          <a:ln w="31750">
            <a:solidFill>
              <a:srgbClr val="D569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5910C85-1F57-9288-1E0B-00ED557FD09C}"/>
              </a:ext>
            </a:extLst>
          </p:cNvPr>
          <p:cNvSpPr/>
          <p:nvPr/>
        </p:nvSpPr>
        <p:spPr>
          <a:xfrm>
            <a:off x="7467600" y="2311400"/>
            <a:ext cx="1841500" cy="2413000"/>
          </a:xfrm>
          <a:prstGeom prst="roundRect">
            <a:avLst/>
          </a:prstGeom>
          <a:gradFill flip="none" rotWithShape="1">
            <a:gsLst>
              <a:gs pos="0">
                <a:srgbClr val="FFFF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5875">
            <a:solidFill>
              <a:srgbClr val="2A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sz="1200">
                <a:solidFill>
                  <a:srgbClr val="20242C"/>
                </a:solidFill>
                <a:latin typeface="Aptos" panose="020B0004020202020204" pitchFamily="34" charset="0"/>
              </a:rPr>
              <a:t>4  Finish and clean up
The scheduler checks isFinished(), calls end(), and removes finished commands.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02A7CD9-7C42-19B2-02D9-6766F65093C1}"/>
              </a:ext>
            </a:extLst>
          </p:cNvPr>
          <p:cNvCxnSpPr/>
          <p:nvPr/>
        </p:nvCxnSpPr>
        <p:spPr>
          <a:xfrm>
            <a:off x="9309100" y="3517900"/>
            <a:ext cx="444500" cy="0"/>
          </a:xfrm>
          <a:prstGeom prst="straightConnector1">
            <a:avLst/>
          </a:prstGeom>
          <a:ln w="31750">
            <a:solidFill>
              <a:srgbClr val="D569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3321777-C10C-CD94-EE02-4DD2E5AE4167}"/>
              </a:ext>
            </a:extLst>
          </p:cNvPr>
          <p:cNvSpPr/>
          <p:nvPr/>
        </p:nvSpPr>
        <p:spPr>
          <a:xfrm>
            <a:off x="9753600" y="2311400"/>
            <a:ext cx="1841500" cy="2413000"/>
          </a:xfrm>
          <a:prstGeom prst="roundRect">
            <a:avLst/>
          </a:prstGeom>
          <a:gradFill flip="none" rotWithShape="1">
            <a:gsLst>
              <a:gs pos="0">
                <a:srgbClr val="FFFF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5875">
            <a:solidFill>
              <a:srgbClr val="2A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/>
            <a:r>
              <a:rPr lang="en-US" sz="1200">
                <a:solidFill>
                  <a:srgbClr val="20242C"/>
                </a:solidFill>
                <a:latin typeface="Aptos" panose="020B0004020202020204" pitchFamily="34" charset="0"/>
              </a:rPr>
              <a:t>5  Start default commands
Unused subsystems receive their default commands.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A103B3-F72F-456F-8565-4F406C33257C}"/>
              </a:ext>
            </a:extLst>
          </p:cNvPr>
          <p:cNvSpPr txBox="1"/>
          <p:nvPr/>
        </p:nvSpPr>
        <p:spPr>
          <a:xfrm>
            <a:off x="1676400" y="5080000"/>
            <a:ext cx="8839200" cy="538609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pPr algn="ctr"/>
            <a:r>
              <a:rPr lang="en-US" sz="1500" b="1">
                <a:solidFill>
                  <a:srgbClr val="D56900"/>
                </a:solidFill>
                <a:latin typeface="Aptos" panose="020B0004020202020204" pitchFamily="34" charset="0"/>
              </a:rPr>
              <a:t>The sequence repeats about every 20 ms. WPILib does not reserve a fixed number of milliseconds for each stage.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COMMAND-BASED ROBOT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Releasing Button A stops the belt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1E222A"/>
                </a:solidFill>
                <a:latin typeface="Verdana"/>
              </a:defRPr>
            </a:pPr>
            <a:r>
              <a:t>1. Controller</a:t>
            </a:r>
          </a:p>
          <a:p>
            <a:pPr algn="ctr">
              <a:defRPr sz="1000">
                <a:solidFill>
                  <a:srgbClr val="6B7280"/>
                </a:solidFill>
                <a:latin typeface="Verdana"/>
              </a:defRPr>
            </a:pPr>
            <a:r>
              <a:t>Button A Press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371600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1E222A"/>
                </a:solidFill>
                <a:latin typeface="Verdana"/>
              </a:defRPr>
            </a:pPr>
            <a:r>
              <a:t>2. Driver Station</a:t>
            </a:r>
          </a:p>
          <a:p>
            <a:pPr algn="ctr">
              <a:defRPr sz="1000">
                <a:solidFill>
                  <a:srgbClr val="6B7280"/>
                </a:solidFill>
                <a:latin typeface="Verdana"/>
              </a:defRPr>
            </a:pPr>
            <a:r>
              <a:t>USB HID Packet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371600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1E222A"/>
                </a:solidFill>
                <a:latin typeface="Verdana"/>
              </a:defRPr>
            </a:pPr>
            <a:r>
              <a:t>3. RobotContainer</a:t>
            </a:r>
          </a:p>
          <a:p>
            <a:pPr algn="ctr">
              <a:defRPr sz="1000">
                <a:solidFill>
                  <a:srgbClr val="6B7280"/>
                </a:solidFill>
                <a:latin typeface="Verdana"/>
              </a:defRPr>
            </a:pPr>
            <a:r>
              <a:t>Trigger Binding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371600"/>
            <a:ext cx="2011680" cy="82296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F8F5EE"/>
                </a:solidFill>
                <a:latin typeface="Verdana"/>
              </a:defRPr>
            </a:pPr>
            <a:r>
              <a:t>4. BeltInCommand</a:t>
            </a:r>
          </a:p>
          <a:p>
            <a:pPr algn="ctr">
              <a:defRPr sz="1000">
                <a:solidFill>
                  <a:srgbClr val="FEF3C7"/>
                </a:solidFill>
                <a:latin typeface="Verdana"/>
              </a:defRPr>
            </a:pPr>
            <a:r>
              <a:t>Lifecycle Hooks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1371600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1E222A"/>
                </a:solidFill>
                <a:latin typeface="Verdana"/>
              </a:defRPr>
            </a:pPr>
            <a:r>
              <a:t>5. BeltSubsystem</a:t>
            </a:r>
          </a:p>
          <a:p>
            <a:pPr algn="ctr">
              <a:defRPr sz="1000">
                <a:solidFill>
                  <a:srgbClr val="6B7280"/>
                </a:solidFill>
                <a:latin typeface="Verdana"/>
              </a:defRPr>
            </a:pPr>
            <a:r>
              <a:t>PWM 5 Motor 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106984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tlCol="0" anchor="ctr"/>
          <a:lstStyle/>
          <a:p>
            <a:pPr algn="ctr">
              <a:defRPr sz="1500" b="1">
                <a:solidFill>
                  <a:srgbClr val="D97706"/>
                </a:solidFill>
                <a:latin typeface="Verdana"/>
              </a:defRPr>
            </a:pPr>
            <a:r>
              <a:t>STATE MACHINE CLEANUP TRACE ON BUTTON RELEASE:</a:t>
            </a:r>
          </a:p>
          <a:p>
            <a:pPr>
              <a:spcBef>
                <a:spcPts val="6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1. Trigger State Transition: Operator releases Button A -&gt; CommandXboxController detects state change from TRUE to FALSE.</a:t>
            </a:r>
          </a:p>
          <a:p>
            <a:pPr>
              <a:spcBef>
                <a:spcPts val="6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2. Command Cancellation: whileTrue() trigger condition becomes false -&gt; CommandScheduler cancels BeltInCommand.</a:t>
            </a:r>
          </a:p>
          <a:p>
            <a:pPr>
              <a:spcBef>
                <a:spcPts val="6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3. end(true) Lifecycle Hook: CommandScheduler invokes BeltInCommand.end(true) with interrupted = true.</a:t>
            </a:r>
          </a:p>
          <a:p>
            <a:pPr>
              <a:spcBef>
                <a:spcPts val="6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4. Subsystem Shutdown Method: BeltInCommand.end() calls beltSubsystem.stop().</a:t>
            </a:r>
          </a:p>
          <a:p>
            <a:pPr>
              <a:spcBef>
                <a:spcPts val="600"/>
              </a:spcBef>
              <a:defRPr sz="1200">
                <a:solidFill>
                  <a:srgbClr val="1E222A"/>
                </a:solidFill>
                <a:latin typeface="Verdana"/>
              </a:defRPr>
            </a:pPr>
            <a:r>
              <a:t>5. Motor Voltage Cutoff: BeltSubsystem.stop() executes run(0.0) -&gt; beltMotor.set(0.0), bringing PWM Port 5 output voltage back to zero.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Verdana"/>
              </a:defRPr>
            </a:pPr>
            <a:r>
              <a:t>SECTION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5EE"/>
                </a:solidFill>
                <a:latin typeface="Georgia"/>
              </a:defRPr>
            </a:pPr>
            <a:r>
              <a:t>Project source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1D5DB"/>
                </a:solidFill>
                <a:latin typeface="Verdana"/>
              </a:defRPr>
            </a:pPr>
            <a:r>
              <a:t>Examining exact Java repository files: Constants.java, Subsystems, Commands, and RobotContainer.java.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PROJECT SOURCE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Project Directory Tree &amp; Repository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303520" cy="4754880"/>
          </a:xfrm>
          <a:prstGeom prst="rect">
            <a:avLst/>
          </a:prstGeom>
          <a:solidFill>
            <a:srgbClr val="282C34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tlCol="0" anchor="ctr"/>
          <a:lstStyle/>
          <a:p>
            <a:pPr algn="l">
              <a:defRPr sz="1000">
                <a:solidFill>
                  <a:srgbClr val="ABB2BF"/>
                </a:solidFill>
                <a:latin typeface="Consolas"/>
              </a:defRPr>
            </a:pPr>
            <a:r>
              <a:rPr lang="en-US"/>
              <a:t>src/main/java/frc/robot/</a:t>
            </a:r>
            <a:br>
              <a:rPr lang="en-US"/>
            </a:br>
            <a:r>
              <a:rPr lang="en-US"/>
              <a:t>├── Main.java                 &lt;- Entry point (starts Robot)</a:t>
            </a:r>
            <a:br>
              <a:rPr lang="en-US"/>
            </a:br>
            <a:r>
              <a:rPr lang="en-US"/>
              <a:t>├── Robot.java                &lt;- 20ms CommandScheduler loop</a:t>
            </a:r>
            <a:br>
              <a:rPr lang="en-US"/>
            </a:br>
            <a:r>
              <a:rPr lang="en-US"/>
              <a:t>├── RobotContainer.java       &lt;- Wiring hub &amp; button bindings</a:t>
            </a:r>
            <a:br>
              <a:rPr lang="en-US"/>
            </a:br>
            <a:r>
              <a:rPr lang="en-US"/>
              <a:t>├── Constants.java            &lt;- Hardware ports &amp; tuning</a:t>
            </a:r>
            <a:br>
              <a:rPr lang="en-US"/>
            </a:br>
            <a:r>
              <a:rPr lang="en-US"/>
              <a:t>├── subsystems/</a:t>
            </a:r>
            <a:br>
              <a:rPr lang="en-US"/>
            </a:br>
            <a:r>
              <a:rPr lang="en-US"/>
              <a:t>│   ├── DriveSubsystem.java   &lt;- 4-motor tank drive</a:t>
            </a:r>
            <a:br>
              <a:rPr lang="en-US"/>
            </a:br>
            <a:r>
              <a:rPr lang="en-US"/>
              <a:t>│   ├── BeltSubsystem.java    &lt;- Ball transport belt</a:t>
            </a:r>
            <a:br>
              <a:rPr lang="en-US"/>
            </a:br>
            <a:r>
              <a:rPr lang="en-US"/>
              <a:t>│   ├── RollerSubsystem.java  &lt;- Outtake roller</a:t>
            </a:r>
            <a:br>
              <a:rPr lang="en-US"/>
            </a:br>
            <a:r>
              <a:rPr lang="en-US"/>
              <a:t>│   └── ClimberSubsystem.java &lt;- One valve, two cylinders</a:t>
            </a:r>
            <a:br>
              <a:rPr lang="en-US"/>
            </a:br>
            <a:r>
              <a:rPr lang="en-US"/>
              <a:t>└── commands/</a:t>
            </a:r>
            <a:br>
              <a:rPr lang="en-US"/>
            </a:br>
            <a:r>
              <a:rPr lang="en-US"/>
              <a:t>    ├── DriveTeleopCommand.java</a:t>
            </a:r>
            <a:br>
              <a:rPr lang="en-US"/>
            </a:br>
            <a:r>
              <a:rPr lang="en-US"/>
              <a:t>    ├── BeltInCommand.java</a:t>
            </a:r>
            <a:br>
              <a:rPr lang="en-US"/>
            </a:br>
            <a:r>
              <a:rPr lang="en-US"/>
              <a:t>    ├── BeltOutCommand.java</a:t>
            </a:r>
            <a:br>
              <a:rPr lang="en-US"/>
            </a:br>
            <a:r>
              <a:rPr lang="en-US"/>
              <a:t>    ├── RollerCommand.java</a:t>
            </a:r>
            <a:br>
              <a:rPr lang="en-US"/>
            </a:br>
            <a:r>
              <a:rPr lang="en-US"/>
              <a:t>    ├── SlowDriveCommand.java</a:t>
            </a:r>
            <a:br>
              <a:rPr lang="en-US"/>
            </a:br>
            <a:r>
              <a:rPr lang="en-US"/>
              <a:t>    └── ToggleClimberArmsCommand.java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latin typeface="Verdana"/>
              </a:defRPr>
            </a:pPr>
            <a:r>
              <a:t>Repository Class Roles: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package frc.robot: Root package housing all robot Java source files.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Constants.java: Central configuration hub containing static inner classes for hardware ports and tuning values.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RobotContainer.java: Master wiring hub; instantiates hardware subsystems and connects controller triggers to commands.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subsystems/: Folder containing SubsystemBase classes that encapsulate motor controllers and solenoids.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commands/: Folder containing Command classes implementing action logic and lifecycle hooks.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PROJECT SOURCE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Centralized Configuration: Constants.java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latin typeface="Verdana"/>
              </a:defRPr>
            </a:pPr>
            <a:r>
              <a:rPr lang="en-US"/>
              <a:t>Constants.java Structure
• Hardware ports: Stores every PWM channel and the PCM module ID.
• Climber valve: CLIMBER_SOLENOID_FORWARD and CLIMBER_SOLENOID_REVERSE identify PCM channels 0 and 1.
• Climber commands: CLIMBER_ARMS_OUT and CLIMBER_ARMS_IN name the two valve states.
• Operator and tuning groups: Store controller ports, motor speeds, drive scaling, and deadband values.</a:t>
            </a:r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0" y="1463040"/>
            <a:ext cx="5943600" cy="4754880"/>
          </a:xfrm>
          <a:prstGeom prst="rect">
            <a:avLst/>
          </a:prstGeom>
          <a:solidFill>
            <a:srgbClr val="282C34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bIns="101600" rtlCol="0" anchor="t">
            <a:noAutofit/>
          </a:bodyPr>
          <a:lstStyle/>
          <a:p>
            <a:pPr algn="l">
              <a:defRPr sz="950">
                <a:solidFill>
                  <a:srgbClr val="ABB2BF"/>
                </a:solidFill>
                <a:latin typeface="Consolas"/>
              </a:defRPr>
            </a:pPr>
            <a:r>
              <a:rPr lang="en-US" sz="900" b="1">
                <a:solidFill>
                  <a:srgbClr val="D56900"/>
                </a:solidFill>
              </a:rPr>
              <a:t>package</a:t>
            </a:r>
            <a:r>
              <a:rPr lang="en-US" sz="900"/>
              <a:t> frc.robot;
</a:t>
            </a:r>
            <a:r>
              <a:rPr lang="en-US" sz="900" b="1">
                <a:solidFill>
                  <a:srgbClr val="D56900"/>
                </a:solidFill>
              </a:rPr>
              <a:t>import</a:t>
            </a:r>
            <a:r>
              <a:rPr lang="en-US" sz="900"/>
              <a:t> edu.wpi.first.wpilibj.</a:t>
            </a:r>
            <a:r>
              <a:rPr lang="en-US" sz="900">
                <a:solidFill>
                  <a:srgbClr val="66BB6A"/>
                </a:solidFill>
              </a:rPr>
              <a:t>DoubleSolenoid</a:t>
            </a:r>
            <a:r>
              <a:rPr lang="en-US" sz="900"/>
              <a:t>.Value;
</a:t>
            </a:r>
            <a:r>
              <a:rPr lang="en-US" sz="900" b="1">
                <a:solidFill>
                  <a:srgbClr val="D56900"/>
                </a:solidFill>
              </a:rPr>
              <a:t>public</a:t>
            </a:r>
            <a:r>
              <a:rPr lang="en-US" sz="900"/>
              <a:t> </a:t>
            </a:r>
            <a:r>
              <a:rPr lang="en-US" sz="900" b="1">
                <a:solidFill>
                  <a:srgbClr val="D56900"/>
                </a:solidFill>
              </a:rPr>
              <a:t>final</a:t>
            </a:r>
            <a:r>
              <a:rPr lang="en-US" sz="900"/>
              <a:t> </a:t>
            </a:r>
            <a:r>
              <a:rPr lang="en-US" sz="900" b="1">
                <a:solidFill>
                  <a:srgbClr val="D56900"/>
                </a:solidFill>
              </a:rPr>
              <a:t>class</a:t>
            </a:r>
            <a:r>
              <a:rPr lang="en-US" sz="900"/>
              <a:t> Constants {
    </a:t>
            </a:r>
            <a:r>
              <a:rPr lang="en-US" sz="900" b="1">
                <a:solidFill>
                  <a:srgbClr val="D56900"/>
                </a:solidFill>
              </a:rPr>
              <a:t>private</a:t>
            </a:r>
            <a:r>
              <a:rPr lang="en-US" sz="900"/>
              <a:t> Constants() {
    }
    </a:t>
            </a:r>
            <a:r>
              <a:rPr lang="en-US" sz="900" b="1">
                <a:solidFill>
                  <a:srgbClr val="D56900"/>
                </a:solidFill>
              </a:rPr>
              <a:t>public</a:t>
            </a:r>
            <a:r>
              <a:rPr lang="en-US" sz="900"/>
              <a:t> static </a:t>
            </a:r>
            <a:r>
              <a:rPr lang="en-US" sz="900" b="1">
                <a:solidFill>
                  <a:srgbClr val="D56900"/>
                </a:solidFill>
              </a:rPr>
              <a:t>final</a:t>
            </a:r>
            <a:r>
              <a:rPr lang="en-US" sz="900"/>
              <a:t> </a:t>
            </a:r>
            <a:r>
              <a:rPr lang="en-US" sz="900" b="1">
                <a:solidFill>
                  <a:srgbClr val="D56900"/>
                </a:solidFill>
              </a:rPr>
              <a:t>class</a:t>
            </a:r>
            <a:r>
              <a:rPr lang="en-US" sz="900"/>
              <a:t> Hardware {
        </a:t>
            </a:r>
            <a:r>
              <a:rPr lang="en-US" sz="900" b="1">
                <a:solidFill>
                  <a:srgbClr val="D56900"/>
                </a:solidFill>
              </a:rPr>
              <a:t>public</a:t>
            </a:r>
            <a:r>
              <a:rPr lang="en-US" sz="900"/>
              <a:t> static </a:t>
            </a:r>
            <a:r>
              <a:rPr lang="en-US" sz="900" b="1">
                <a:solidFill>
                  <a:srgbClr val="D56900"/>
                </a:solidFill>
              </a:rPr>
              <a:t>final</a:t>
            </a:r>
            <a:r>
              <a:rPr lang="en-US" sz="900"/>
              <a:t> </a:t>
            </a:r>
            <a:r>
              <a:rPr lang="en-US" sz="900" b="1">
                <a:solidFill>
                  <a:srgbClr val="D56900"/>
                </a:solidFill>
              </a:rPr>
              <a:t>int</a:t>
            </a:r>
            <a:r>
              <a:rPr lang="en-US" sz="900"/>
              <a:t> PWM_FRONT_LEFT_DRIVE = 0;
        </a:t>
            </a:r>
            <a:r>
              <a:rPr lang="en-US" sz="900" b="1">
                <a:solidFill>
                  <a:srgbClr val="D56900"/>
                </a:solidFill>
              </a:rPr>
              <a:t>public</a:t>
            </a:r>
            <a:r>
              <a:rPr lang="en-US" sz="900"/>
              <a:t> static </a:t>
            </a:r>
            <a:r>
              <a:rPr lang="en-US" sz="900" b="1">
                <a:solidFill>
                  <a:srgbClr val="D56900"/>
                </a:solidFill>
              </a:rPr>
              <a:t>final</a:t>
            </a:r>
            <a:r>
              <a:rPr lang="en-US" sz="900"/>
              <a:t> </a:t>
            </a:r>
            <a:r>
              <a:rPr lang="en-US" sz="900" b="1">
                <a:solidFill>
                  <a:srgbClr val="D56900"/>
                </a:solidFill>
              </a:rPr>
              <a:t>int</a:t>
            </a:r>
            <a:r>
              <a:rPr lang="en-US" sz="900"/>
              <a:t> PWM_BACK_LEFT_DRIVE = 1;
        </a:t>
            </a:r>
            <a:r>
              <a:rPr lang="en-US" sz="900" b="1">
                <a:solidFill>
                  <a:srgbClr val="D56900"/>
                </a:solidFill>
              </a:rPr>
              <a:t>public</a:t>
            </a:r>
            <a:r>
              <a:rPr lang="en-US" sz="900"/>
              <a:t> static </a:t>
            </a:r>
            <a:r>
              <a:rPr lang="en-US" sz="900" b="1">
                <a:solidFill>
                  <a:srgbClr val="D56900"/>
                </a:solidFill>
              </a:rPr>
              <a:t>final</a:t>
            </a:r>
            <a:r>
              <a:rPr lang="en-US" sz="900"/>
              <a:t> </a:t>
            </a:r>
            <a:r>
              <a:rPr lang="en-US" sz="900" b="1">
                <a:solidFill>
                  <a:srgbClr val="D56900"/>
                </a:solidFill>
              </a:rPr>
              <a:t>int</a:t>
            </a:r>
            <a:r>
              <a:rPr lang="en-US" sz="900"/>
              <a:t> PWM_BACK_RIGHT_DRIVE = 2;
        </a:t>
            </a:r>
            <a:r>
              <a:rPr lang="en-US" sz="900" b="1">
                <a:solidFill>
                  <a:srgbClr val="D56900"/>
                </a:solidFill>
              </a:rPr>
              <a:t>public</a:t>
            </a:r>
            <a:r>
              <a:rPr lang="en-US" sz="900"/>
              <a:t> static </a:t>
            </a:r>
            <a:r>
              <a:rPr lang="en-US" sz="900" b="1">
                <a:solidFill>
                  <a:srgbClr val="D56900"/>
                </a:solidFill>
              </a:rPr>
              <a:t>final</a:t>
            </a:r>
            <a:r>
              <a:rPr lang="en-US" sz="900"/>
              <a:t> </a:t>
            </a:r>
            <a:r>
              <a:rPr lang="en-US" sz="900" b="1">
                <a:solidFill>
                  <a:srgbClr val="D56900"/>
                </a:solidFill>
              </a:rPr>
              <a:t>int</a:t>
            </a:r>
            <a:r>
              <a:rPr lang="en-US" sz="900"/>
              <a:t> PWM_FRONT_RIGHT_DRIVE = 3;
        </a:t>
            </a:r>
            <a:r>
              <a:rPr lang="en-US" sz="900" b="1">
                <a:solidFill>
                  <a:srgbClr val="D56900"/>
                </a:solidFill>
              </a:rPr>
              <a:t>public</a:t>
            </a:r>
            <a:r>
              <a:rPr lang="en-US" sz="900"/>
              <a:t> static </a:t>
            </a:r>
            <a:r>
              <a:rPr lang="en-US" sz="900" b="1">
                <a:solidFill>
                  <a:srgbClr val="D56900"/>
                </a:solidFill>
              </a:rPr>
              <a:t>final</a:t>
            </a:r>
            <a:r>
              <a:rPr lang="en-US" sz="900"/>
              <a:t> </a:t>
            </a:r>
            <a:r>
              <a:rPr lang="en-US" sz="900" b="1">
                <a:solidFill>
                  <a:srgbClr val="D56900"/>
                </a:solidFill>
              </a:rPr>
              <a:t>int</a:t>
            </a:r>
            <a:r>
              <a:rPr lang="en-US" sz="900"/>
              <a:t> PWM_ROLLER = 4;
        </a:t>
            </a:r>
            <a:r>
              <a:rPr lang="en-US" sz="900" b="1">
                <a:solidFill>
                  <a:srgbClr val="D56900"/>
                </a:solidFill>
              </a:rPr>
              <a:t>public</a:t>
            </a:r>
            <a:r>
              <a:rPr lang="en-US" sz="900"/>
              <a:t> static </a:t>
            </a:r>
            <a:r>
              <a:rPr lang="en-US" sz="900" b="1">
                <a:solidFill>
                  <a:srgbClr val="D56900"/>
                </a:solidFill>
              </a:rPr>
              <a:t>final</a:t>
            </a:r>
            <a:r>
              <a:rPr lang="en-US" sz="900"/>
              <a:t> </a:t>
            </a:r>
            <a:r>
              <a:rPr lang="en-US" sz="900" b="1">
                <a:solidFill>
                  <a:srgbClr val="D56900"/>
                </a:solidFill>
              </a:rPr>
              <a:t>int</a:t>
            </a:r>
            <a:r>
              <a:rPr lang="en-US" sz="900"/>
              <a:t> PWM_BELT = 5;
        </a:t>
            </a:r>
            <a:r>
              <a:rPr lang="en-US" sz="900" b="1">
                <a:solidFill>
                  <a:srgbClr val="D56900"/>
                </a:solidFill>
              </a:rPr>
              <a:t>public</a:t>
            </a:r>
            <a:r>
              <a:rPr lang="en-US" sz="900"/>
              <a:t> static </a:t>
            </a:r>
            <a:r>
              <a:rPr lang="en-US" sz="900" b="1">
                <a:solidFill>
                  <a:srgbClr val="D56900"/>
                </a:solidFill>
              </a:rPr>
              <a:t>final</a:t>
            </a:r>
            <a:r>
              <a:rPr lang="en-US" sz="900"/>
              <a:t> </a:t>
            </a:r>
            <a:r>
              <a:rPr lang="en-US" sz="900" b="1">
                <a:solidFill>
                  <a:srgbClr val="D56900"/>
                </a:solidFill>
              </a:rPr>
              <a:t>int</a:t>
            </a:r>
            <a:r>
              <a:rPr lang="en-US" sz="900"/>
              <a:t> PCM = 0;
        </a:t>
            </a:r>
            <a:r>
              <a:rPr lang="en-US" sz="900" b="1">
                <a:solidFill>
                  <a:srgbClr val="D56900"/>
                </a:solidFill>
              </a:rPr>
              <a:t>public</a:t>
            </a:r>
            <a:r>
              <a:rPr lang="en-US" sz="900"/>
              <a:t> static </a:t>
            </a:r>
            <a:r>
              <a:rPr lang="en-US" sz="900" b="1">
                <a:solidFill>
                  <a:srgbClr val="D56900"/>
                </a:solidFill>
              </a:rPr>
              <a:t>final</a:t>
            </a:r>
            <a:r>
              <a:rPr lang="en-US" sz="900"/>
              <a:t> </a:t>
            </a:r>
            <a:r>
              <a:rPr lang="en-US" sz="900" b="1">
                <a:solidFill>
                  <a:srgbClr val="D56900"/>
                </a:solidFill>
              </a:rPr>
              <a:t>int</a:t>
            </a:r>
            <a:r>
              <a:rPr lang="en-US" sz="900"/>
              <a:t> CLIMBER_SOLENOID_FORWARD = 0;
        </a:t>
            </a:r>
            <a:r>
              <a:rPr lang="en-US" sz="900" b="1">
                <a:solidFill>
                  <a:srgbClr val="D56900"/>
                </a:solidFill>
              </a:rPr>
              <a:t>public</a:t>
            </a:r>
            <a:r>
              <a:rPr lang="en-US" sz="900"/>
              <a:t> static </a:t>
            </a:r>
            <a:r>
              <a:rPr lang="en-US" sz="900" b="1">
                <a:solidFill>
                  <a:srgbClr val="D56900"/>
                </a:solidFill>
              </a:rPr>
              <a:t>final</a:t>
            </a:r>
            <a:r>
              <a:rPr lang="en-US" sz="900"/>
              <a:t> </a:t>
            </a:r>
            <a:r>
              <a:rPr lang="en-US" sz="900" b="1">
                <a:solidFill>
                  <a:srgbClr val="D56900"/>
                </a:solidFill>
              </a:rPr>
              <a:t>int</a:t>
            </a:r>
            <a:r>
              <a:rPr lang="en-US" sz="900"/>
              <a:t> CLIMBER_SOLENOID_REVERSE = 1;
        </a:t>
            </a:r>
            <a:r>
              <a:rPr lang="en-US" sz="900" b="1">
                <a:solidFill>
                  <a:srgbClr val="D56900"/>
                </a:solidFill>
              </a:rPr>
              <a:t>public</a:t>
            </a:r>
            <a:r>
              <a:rPr lang="en-US" sz="900"/>
              <a:t> static </a:t>
            </a:r>
            <a:r>
              <a:rPr lang="en-US" sz="900" b="1">
                <a:solidFill>
                  <a:srgbClr val="D56900"/>
                </a:solidFill>
              </a:rPr>
              <a:t>final</a:t>
            </a:r>
            <a:r>
              <a:rPr lang="en-US" sz="900"/>
              <a:t> Value CLIMBER_ARMS_OUT = Value.kForward;
        </a:t>
            </a:r>
            <a:r>
              <a:rPr lang="en-US" sz="900" b="1">
                <a:solidFill>
                  <a:srgbClr val="D56900"/>
                </a:solidFill>
              </a:rPr>
              <a:t>public</a:t>
            </a:r>
            <a:r>
              <a:rPr lang="en-US" sz="900"/>
              <a:t> static </a:t>
            </a:r>
            <a:r>
              <a:rPr lang="en-US" sz="900" b="1">
                <a:solidFill>
                  <a:srgbClr val="D56900"/>
                </a:solidFill>
              </a:rPr>
              <a:t>final</a:t>
            </a:r>
            <a:r>
              <a:rPr lang="en-US" sz="900"/>
              <a:t> Value CLIMBER_ARMS_IN = Value.kReverse;
    }
}</a:t>
            </a:r>
            <a:endParaRPr sz="9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PROJECT SOURCE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Hardware Encapsulation: BeltSubsystem.java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latin typeface="Verdana"/>
              </a:defRPr>
            </a:pPr>
            <a:r>
              <a:t>BeltSubsystem Class Anatomy: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Extends SubsystemBase: Inherits subsystem capabilities and automatic periodic() registration with the scheduler.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Private Hardware Object: Private final Talon beltMotor hides raw PWM handle from external classes.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run(double speed) API: Public method allowing commands to set motor output speed.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stop() Method: Convenience API executing run(0.0) to command zero output.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463040"/>
            <a:ext cx="5943600" cy="4754880"/>
          </a:xfrm>
          <a:prstGeom prst="rect">
            <a:avLst/>
          </a:prstGeom>
          <a:solidFill>
            <a:srgbClr val="282C34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tlCol="0" anchor="ctr"/>
          <a:lstStyle/>
          <a:p>
            <a:pPr algn="l">
              <a:defRPr sz="1000">
                <a:solidFill>
                  <a:srgbClr val="ABB2BF"/>
                </a:solidFill>
                <a:latin typeface="Consolas"/>
              </a:defRPr>
            </a:pPr>
            <a:r>
              <a:rPr b="1">
                <a:solidFill>
                  <a:srgbClr val="D56900"/>
                </a:solidFill>
              </a:rPr>
              <a:t>package</a:t>
            </a:r>
            <a:r>
              <a:t> frc.robot.subsystems;</a:t>
            </a:r>
            <a:br/>
            <a:br/>
            <a:r>
              <a:rPr b="1">
                <a:solidFill>
                  <a:srgbClr val="D56900"/>
                </a:solidFill>
              </a:rPr>
              <a:t>import</a:t>
            </a:r>
            <a:r>
              <a:t> edu.wpi.first.wpilibj.motorcontrol.Talon;</a:t>
            </a:r>
            <a:br/>
            <a:r>
              <a:rPr b="1">
                <a:solidFill>
                  <a:srgbClr val="D56900"/>
                </a:solidFill>
              </a:rPr>
              <a:t>import</a:t>
            </a:r>
            <a:r>
              <a:t> edu.wpi.first.wpilibj2.command.SubsystemBase;</a:t>
            </a:r>
            <a:br/>
            <a:r>
              <a:rPr b="1">
                <a:solidFill>
                  <a:srgbClr val="D56900"/>
                </a:solidFill>
              </a:rPr>
              <a:t>import</a:t>
            </a:r>
            <a:r>
              <a:t> frc.robot.Constants;</a:t>
            </a:r>
            <a:br/>
            <a:br/>
            <a:r>
              <a:rPr b="1">
                <a:solidFill>
                  <a:srgbClr val="D56900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D56900"/>
                </a:solidFill>
              </a:rPr>
              <a:t>class</a:t>
            </a:r>
            <a:r>
              <a:t> BeltSubsystem </a:t>
            </a:r>
            <a:r>
              <a:rPr b="1">
                <a:solidFill>
                  <a:srgbClr val="D56900"/>
                </a:solidFill>
              </a:rPr>
              <a:t>extends</a:t>
            </a:r>
            <a:r>
              <a:t> SubsystemBase {</a:t>
            </a:r>
            <a:br/>
            <a:r>
              <a:t>    </a:t>
            </a:r>
            <a:r>
              <a:rPr b="1">
                <a:solidFill>
                  <a:srgbClr val="D56900"/>
                </a:solidFill>
              </a:rPr>
              <a:t>private</a:t>
            </a:r>
            <a:r>
              <a:t> </a:t>
            </a:r>
            <a:r>
              <a:rPr b="1">
                <a:solidFill>
                  <a:srgbClr val="D56900"/>
                </a:solidFill>
              </a:rPr>
              <a:t>final</a:t>
            </a:r>
            <a:r>
              <a:t> Talon beltMotor;</a:t>
            </a:r>
            <a:br/>
            <a:br/>
            <a:r>
              <a:t>    </a:t>
            </a:r>
            <a:r>
              <a:rPr b="1">
                <a:solidFill>
                  <a:srgbClr val="D56900"/>
                </a:solidFill>
              </a:rPr>
              <a:t>public</a:t>
            </a:r>
            <a:r>
              <a:t> BeltSubsystem() {</a:t>
            </a:r>
            <a:br/>
            <a:r>
              <a:t>        beltMotor = </a:t>
            </a:r>
            <a:r>
              <a:rPr b="1">
                <a:solidFill>
                  <a:srgbClr val="D56900"/>
                </a:solidFill>
              </a:rPr>
              <a:t>new</a:t>
            </a:r>
            <a:r>
              <a:t> Talon(Constants.Hardware.PWM_BELT);</a:t>
            </a:r>
            <a:br/>
            <a:r>
              <a:t>    }</a:t>
            </a:r>
            <a:br/>
            <a:br/>
            <a:r>
              <a:t>    </a:t>
            </a:r>
            <a:r>
              <a:rPr b="1">
                <a:solidFill>
                  <a:srgbClr val="D56900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D56900"/>
                </a:solidFill>
              </a:rPr>
              <a:t>void</a:t>
            </a:r>
            <a:r>
              <a:t> </a:t>
            </a:r>
            <a:r>
              <a:rPr>
                <a:solidFill>
                  <a:srgbClr val="66BB6A"/>
                </a:solidFill>
              </a:rPr>
              <a:t>run</a:t>
            </a:r>
            <a:r>
              <a:t>(</a:t>
            </a:r>
            <a:r>
              <a:rPr b="1">
                <a:solidFill>
                  <a:srgbClr val="D56900"/>
                </a:solidFill>
              </a:rPr>
              <a:t>double</a:t>
            </a:r>
            <a:r>
              <a:t> speed) {</a:t>
            </a:r>
            <a:br/>
            <a:r>
              <a:t>        beltMotor.</a:t>
            </a:r>
            <a:r>
              <a:rPr>
                <a:solidFill>
                  <a:srgbClr val="66BB6A"/>
                </a:solidFill>
              </a:rPr>
              <a:t>set</a:t>
            </a:r>
            <a:r>
              <a:t>(speed);</a:t>
            </a:r>
            <a:br/>
            <a:r>
              <a:t>    }</a:t>
            </a:r>
            <a:br/>
            <a:br/>
            <a:r>
              <a:t>    </a:t>
            </a:r>
            <a:r>
              <a:rPr b="1">
                <a:solidFill>
                  <a:srgbClr val="D56900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D56900"/>
                </a:solidFill>
              </a:rPr>
              <a:t>void</a:t>
            </a:r>
            <a:r>
              <a:t> </a:t>
            </a:r>
            <a:r>
              <a:rPr>
                <a:solidFill>
                  <a:srgbClr val="66BB6A"/>
                </a:solidFill>
              </a:rPr>
              <a:t>stop</a:t>
            </a:r>
            <a:r>
              <a:t>() {</a:t>
            </a:r>
            <a:br/>
            <a:r>
              <a:t>        </a:t>
            </a:r>
            <a:r>
              <a:rPr>
                <a:solidFill>
                  <a:srgbClr val="66BB6A"/>
                </a:solidFill>
              </a:rPr>
              <a:t>run</a:t>
            </a:r>
            <a:r>
              <a:t>(0.0);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PROJECT SOURCE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Action Execution Logic: BeltInCommand.java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latin typeface="Verdana"/>
              </a:defRPr>
            </a:pPr>
            <a:r>
              <a:t>BeltInCommand Class Anatomy: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Constructor Requirement: Calls addRequirements(beltSubsystem) to declare exclusive hardware ownership.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execute() Pass: Calls beltSubsystem.run(Constants.Tuning.BELT_SPEED) every 20ms.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isFinished() = false: Returns false so the command continues running while Button A is held.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end(boolean interrupted): Calls beltSubsystem.stop() when button is released or command is cancelled.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463040"/>
            <a:ext cx="5943600" cy="4754880"/>
          </a:xfrm>
          <a:prstGeom prst="rect">
            <a:avLst/>
          </a:prstGeom>
          <a:solidFill>
            <a:srgbClr val="282C34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tlCol="0" anchor="ctr"/>
          <a:lstStyle/>
          <a:p>
            <a:pPr algn="l">
              <a:defRPr sz="950">
                <a:solidFill>
                  <a:srgbClr val="ABB2BF"/>
                </a:solidFill>
                <a:latin typeface="Consolas"/>
              </a:defRPr>
            </a:pPr>
            <a:r>
              <a:rPr b="1">
                <a:solidFill>
                  <a:srgbClr val="D56900"/>
                </a:solidFill>
              </a:rPr>
              <a:t>package</a:t>
            </a:r>
            <a:r>
              <a:t> frc.robot.commands;</a:t>
            </a:r>
            <a:br/>
            <a:br/>
            <a:r>
              <a:rPr b="1">
                <a:solidFill>
                  <a:srgbClr val="D56900"/>
                </a:solidFill>
              </a:rPr>
              <a:t>import</a:t>
            </a:r>
            <a:r>
              <a:t> edu.wpi.first.wpilibj2.command.Command;</a:t>
            </a:r>
            <a:br/>
            <a:r>
              <a:rPr b="1">
                <a:solidFill>
                  <a:srgbClr val="D56900"/>
                </a:solidFill>
              </a:rPr>
              <a:t>import</a:t>
            </a:r>
            <a:r>
              <a:t> frc.robot.Constants;</a:t>
            </a:r>
            <a:br/>
            <a:r>
              <a:rPr b="1">
                <a:solidFill>
                  <a:srgbClr val="D56900"/>
                </a:solidFill>
              </a:rPr>
              <a:t>import</a:t>
            </a:r>
            <a:r>
              <a:t> frc.robot.subsystems.BeltSubsystem;</a:t>
            </a:r>
            <a:br/>
            <a:br/>
            <a:r>
              <a:rPr b="1">
                <a:solidFill>
                  <a:srgbClr val="D56900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D56900"/>
                </a:solidFill>
              </a:rPr>
              <a:t>class</a:t>
            </a:r>
            <a:r>
              <a:t> BeltInCommand </a:t>
            </a:r>
            <a:r>
              <a:rPr b="1">
                <a:solidFill>
                  <a:srgbClr val="D56900"/>
                </a:solidFill>
              </a:rPr>
              <a:t>extends</a:t>
            </a:r>
            <a:r>
              <a:t> Command {</a:t>
            </a:r>
            <a:br/>
            <a:r>
              <a:t>    </a:t>
            </a:r>
            <a:r>
              <a:rPr b="1">
                <a:solidFill>
                  <a:srgbClr val="D56900"/>
                </a:solidFill>
              </a:rPr>
              <a:t>private</a:t>
            </a:r>
            <a:r>
              <a:t> </a:t>
            </a:r>
            <a:r>
              <a:rPr b="1">
                <a:solidFill>
                  <a:srgbClr val="D56900"/>
                </a:solidFill>
              </a:rPr>
              <a:t>final</a:t>
            </a:r>
            <a:r>
              <a:t> BeltSubsystem beltSubsystem;</a:t>
            </a:r>
            <a:br/>
            <a:br/>
            <a:r>
              <a:t>    </a:t>
            </a:r>
            <a:r>
              <a:rPr b="1">
                <a:solidFill>
                  <a:srgbClr val="D56900"/>
                </a:solidFill>
              </a:rPr>
              <a:t>public</a:t>
            </a:r>
            <a:r>
              <a:t> BeltInCommand(BeltSubsystem beltSubsystem) {</a:t>
            </a:r>
            <a:br/>
            <a:r>
              <a:t>        this.beltSubsystem = beltSubsystem;</a:t>
            </a:r>
            <a:br/>
            <a:r>
              <a:t>        </a:t>
            </a:r>
            <a:r>
              <a:rPr>
                <a:solidFill>
                  <a:srgbClr val="66BB6A"/>
                </a:solidFill>
              </a:rPr>
              <a:t>addRequirements</a:t>
            </a:r>
            <a:r>
              <a:t>(beltSubsystem);</a:t>
            </a:r>
            <a:br/>
            <a:r>
              <a:t>    }</a:t>
            </a:r>
            <a:br/>
            <a:br/>
            <a:r>
              <a:t>    @Override</a:t>
            </a:r>
            <a:br/>
            <a:r>
              <a:t>    </a:t>
            </a:r>
            <a:r>
              <a:rPr b="1">
                <a:solidFill>
                  <a:srgbClr val="D56900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D56900"/>
                </a:solidFill>
              </a:rPr>
              <a:t>void</a:t>
            </a:r>
            <a:r>
              <a:t> execute() {</a:t>
            </a:r>
            <a:br/>
            <a:r>
              <a:t>        beltSubsystem.</a:t>
            </a:r>
            <a:r>
              <a:rPr>
                <a:solidFill>
                  <a:srgbClr val="66BB6A"/>
                </a:solidFill>
              </a:rPr>
              <a:t>run</a:t>
            </a:r>
            <a:r>
              <a:t>(Constants.Tuning.BELT_SPEED);</a:t>
            </a:r>
            <a:br/>
            <a:r>
              <a:t>    }</a:t>
            </a:r>
            <a:br/>
            <a:br/>
            <a:r>
              <a:t>    @Override</a:t>
            </a:r>
            <a:br/>
            <a:r>
              <a:t>    </a:t>
            </a:r>
            <a:r>
              <a:rPr b="1">
                <a:solidFill>
                  <a:srgbClr val="D56900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D56900"/>
                </a:solidFill>
              </a:rPr>
              <a:t>void</a:t>
            </a:r>
            <a:r>
              <a:t> end(</a:t>
            </a:r>
            <a:r>
              <a:rPr b="1">
                <a:solidFill>
                  <a:srgbClr val="D56900"/>
                </a:solidFill>
              </a:rPr>
              <a:t>boolean</a:t>
            </a:r>
            <a:r>
              <a:t> interrupted) {</a:t>
            </a:r>
            <a:br/>
            <a:r>
              <a:t>        beltSubsystem.</a:t>
            </a:r>
            <a:r>
              <a:rPr>
                <a:solidFill>
                  <a:srgbClr val="66BB6A"/>
                </a:solidFill>
              </a:rPr>
              <a:t>stop</a:t>
            </a:r>
            <a:r>
              <a:t>();</a:t>
            </a:r>
            <a:br/>
            <a:r>
              <a:t>    }</a:t>
            </a:r>
            <a:br/>
            <a:br/>
            <a:r>
              <a:t>    @Override</a:t>
            </a:r>
            <a:br/>
            <a:r>
              <a:t>    </a:t>
            </a:r>
            <a:r>
              <a:rPr b="1">
                <a:solidFill>
                  <a:srgbClr val="D56900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D56900"/>
                </a:solidFill>
              </a:rPr>
              <a:t>boolean</a:t>
            </a:r>
            <a:r>
              <a:t> isFinished() { </a:t>
            </a:r>
            <a:r>
              <a:rPr b="1">
                <a:solidFill>
                  <a:srgbClr val="D56900"/>
                </a:solidFill>
              </a:rPr>
              <a:t>return</a:t>
            </a:r>
            <a:r>
              <a:t> false; }</a:t>
            </a:r>
            <a:br/>
            <a:r>
              <a:t>}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A9ACE81-BB21-0C17-37BB-EB5380C6E573}"/>
              </a:ext>
            </a:extLst>
          </p:cNvPr>
          <p:cNvSpPr/>
          <p:nvPr/>
        </p:nvSpPr>
        <p:spPr>
          <a:xfrm>
            <a:off x="10985500" y="4495800"/>
            <a:ext cx="304800" cy="304800"/>
          </a:xfrm>
          <a:prstGeom prst="ellipse">
            <a:avLst/>
          </a:prstGeom>
          <a:gradFill flip="none" rotWithShape="1">
            <a:gsLst>
              <a:gs pos="0">
                <a:srgbClr val="D5690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2760487-5D76-6B7B-59A6-ADA1F16DCB02}"/>
              </a:ext>
            </a:extLst>
          </p:cNvPr>
          <p:cNvSpPr/>
          <p:nvPr/>
        </p:nvSpPr>
        <p:spPr>
          <a:xfrm>
            <a:off x="736600" y="5461000"/>
            <a:ext cx="4343400" cy="736600"/>
          </a:xfrm>
          <a:prstGeom prst="roundRect">
            <a:avLst/>
          </a:prstGeom>
          <a:gradFill flip="none" rotWithShape="1">
            <a:gsLst>
              <a:gs pos="0">
                <a:srgbClr val="F8F5E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5875">
            <a:solidFill>
              <a:srgbClr val="D5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1100">
                <a:solidFill>
                  <a:srgbClr val="20242C"/>
                </a:solidFill>
                <a:latin typeface="Aptos" panose="020B0004020202020204" pitchFamily="34" charset="0"/>
              </a:rPr>
              <a:t>end() returns the belt motor to zero output after release or interruption.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PROJECT SOURCE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Robot Wiring &amp; Event Bindings: RobotContainer.java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0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latin typeface="Verdana"/>
              </a:defRPr>
            </a:pPr>
            <a:r>
              <a:t>Central Event Wiring Hub: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Instantiates Controllers &amp; Subsystems: Instantiates driverController (Port 0), operatorController (Port 1), and all 4 hardware subsystems.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configureBindings(): Connects Xbox triggers to commands (a().</a:t>
            </a:r>
            <a:r>
              <a:rPr b="1">
                <a:solidFill>
                  <a:srgbClr val="D56900"/>
                </a:solidFill>
              </a:rPr>
              <a:t>whileTrue</a:t>
            </a:r>
            <a:r>
              <a:t>(BeltIn), b().</a:t>
            </a:r>
            <a:r>
              <a:rPr b="1">
                <a:solidFill>
                  <a:srgbClr val="D56900"/>
                </a:solidFill>
              </a:rPr>
              <a:t>whileTrue</a:t>
            </a:r>
            <a:r>
              <a:t>(BeltOut), x().</a:t>
            </a:r>
            <a:r>
              <a:rPr b="1">
                <a:solidFill>
                  <a:srgbClr val="D56900"/>
                </a:solidFill>
              </a:rPr>
              <a:t>whileTrue</a:t>
            </a:r>
            <a:r>
              <a:t>(Roller), y().onTrue(ToggleClimber)).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configureDefaultCommands(): Binds DriveTeleopCommand as default command on DriveSubsystem.</a:t>
            </a:r>
          </a:p>
          <a:p>
            <a:pPr>
              <a:spcBef>
                <a:spcPts val="600"/>
              </a:spcBef>
              <a:defRPr sz="1100">
                <a:solidFill>
                  <a:srgbClr val="1E222A"/>
                </a:solidFill>
                <a:latin typeface="Verdana"/>
              </a:defRPr>
            </a:pPr>
            <a:r>
              <a:t>• Note: Code simplified for slide display.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463040"/>
            <a:ext cx="5943600" cy="4754880"/>
          </a:xfrm>
          <a:prstGeom prst="rect">
            <a:avLst/>
          </a:prstGeom>
          <a:solidFill>
            <a:srgbClr val="282C34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tlCol="0" anchor="ctr"/>
          <a:lstStyle/>
          <a:p>
            <a:pPr algn="l">
              <a:defRPr sz="900">
                <a:solidFill>
                  <a:srgbClr val="ABB2BF"/>
                </a:solidFill>
                <a:latin typeface="Consolas"/>
              </a:defRPr>
            </a:pPr>
            <a:r>
              <a:t>// Note: Simplified code example for slide presentation</a:t>
            </a:r>
            <a:br/>
            <a:r>
              <a:rPr b="1">
                <a:solidFill>
                  <a:srgbClr val="D56900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D56900"/>
                </a:solidFill>
              </a:rPr>
              <a:t>class</a:t>
            </a:r>
            <a:r>
              <a:t> RobotContainer {</a:t>
            </a:r>
            <a:br/>
            <a:r>
              <a:t>    </a:t>
            </a:r>
            <a:r>
              <a:rPr b="1">
                <a:solidFill>
                  <a:srgbClr val="D56900"/>
                </a:solidFill>
              </a:rPr>
              <a:t>private</a:t>
            </a:r>
            <a:r>
              <a:t> </a:t>
            </a:r>
            <a:r>
              <a:rPr b="1">
                <a:solidFill>
                  <a:srgbClr val="D56900"/>
                </a:solidFill>
              </a:rPr>
              <a:t>final</a:t>
            </a:r>
            <a:r>
              <a:t> CommandXboxController driverController = </a:t>
            </a:r>
            <a:br/>
            <a:r>
              <a:t>        </a:t>
            </a:r>
            <a:r>
              <a:rPr b="1">
                <a:solidFill>
                  <a:srgbClr val="D56900"/>
                </a:solidFill>
              </a:rPr>
              <a:t>new</a:t>
            </a:r>
            <a:r>
              <a:t> CommandXboxController(Constants.Operator.DRIVER_CONTROLLER);</a:t>
            </a:r>
            <a:br/>
            <a:r>
              <a:t>    </a:t>
            </a:r>
            <a:r>
              <a:rPr b="1">
                <a:solidFill>
                  <a:srgbClr val="D56900"/>
                </a:solidFill>
              </a:rPr>
              <a:t>private</a:t>
            </a:r>
            <a:r>
              <a:t> </a:t>
            </a:r>
            <a:r>
              <a:rPr b="1">
                <a:solidFill>
                  <a:srgbClr val="D56900"/>
                </a:solidFill>
              </a:rPr>
              <a:t>final</a:t>
            </a:r>
            <a:r>
              <a:t> CommandXboxController operatorController = </a:t>
            </a:r>
            <a:br/>
            <a:r>
              <a:t>        </a:t>
            </a:r>
            <a:r>
              <a:rPr b="1">
                <a:solidFill>
                  <a:srgbClr val="D56900"/>
                </a:solidFill>
              </a:rPr>
              <a:t>new</a:t>
            </a:r>
            <a:r>
              <a:t> CommandXboxController(Constants.Operator.OPERATOR_CONTROLLER);</a:t>
            </a:r>
            <a:br/>
            <a:br/>
            <a:r>
              <a:t>    </a:t>
            </a:r>
            <a:r>
              <a:rPr b="1">
                <a:solidFill>
                  <a:srgbClr val="D56900"/>
                </a:solidFill>
              </a:rPr>
              <a:t>private</a:t>
            </a:r>
            <a:r>
              <a:t> </a:t>
            </a:r>
            <a:r>
              <a:rPr b="1">
                <a:solidFill>
                  <a:srgbClr val="D56900"/>
                </a:solidFill>
              </a:rPr>
              <a:t>final</a:t>
            </a:r>
            <a:r>
              <a:t> DriveSubsystem driveSubsystem = </a:t>
            </a:r>
            <a:r>
              <a:rPr b="1">
                <a:solidFill>
                  <a:srgbClr val="D56900"/>
                </a:solidFill>
              </a:rPr>
              <a:t>new</a:t>
            </a:r>
            <a:r>
              <a:t> DriveSubsystem();</a:t>
            </a:r>
            <a:br/>
            <a:r>
              <a:t>    </a:t>
            </a:r>
            <a:r>
              <a:rPr b="1">
                <a:solidFill>
                  <a:srgbClr val="D56900"/>
                </a:solidFill>
              </a:rPr>
              <a:t>private</a:t>
            </a:r>
            <a:r>
              <a:t> </a:t>
            </a:r>
            <a:r>
              <a:rPr b="1">
                <a:solidFill>
                  <a:srgbClr val="D56900"/>
                </a:solidFill>
              </a:rPr>
              <a:t>final</a:t>
            </a:r>
            <a:r>
              <a:t> BeltSubsystem beltSubsystem = </a:t>
            </a:r>
            <a:r>
              <a:rPr b="1">
                <a:solidFill>
                  <a:srgbClr val="D56900"/>
                </a:solidFill>
              </a:rPr>
              <a:t>new</a:t>
            </a:r>
            <a:r>
              <a:t> BeltSubsystem();</a:t>
            </a:r>
            <a:br/>
            <a:br/>
            <a:r>
              <a:t>    </a:t>
            </a:r>
            <a:r>
              <a:rPr b="1">
                <a:solidFill>
                  <a:srgbClr val="D56900"/>
                </a:solidFill>
              </a:rPr>
              <a:t>private</a:t>
            </a:r>
            <a:r>
              <a:t> </a:t>
            </a:r>
            <a:r>
              <a:rPr b="1">
                <a:solidFill>
                  <a:srgbClr val="D56900"/>
                </a:solidFill>
              </a:rPr>
              <a:t>void</a:t>
            </a:r>
            <a:r>
              <a:t> configureBindings() {</a:t>
            </a:r>
            <a:br/>
            <a:r>
              <a:t>        // Operator Xbox Bindings</a:t>
            </a:r>
            <a:br/>
            <a:r>
              <a:t>        operatorController.a().</a:t>
            </a:r>
            <a:r>
              <a:rPr b="1">
                <a:solidFill>
                  <a:srgbClr val="D56900"/>
                </a:solidFill>
              </a:rPr>
              <a:t>whileTrue</a:t>
            </a:r>
            <a:r>
              <a:t>(</a:t>
            </a:r>
            <a:r>
              <a:rPr b="1">
                <a:solidFill>
                  <a:srgbClr val="D56900"/>
                </a:solidFill>
              </a:rPr>
              <a:t>new</a:t>
            </a:r>
            <a:r>
              <a:t> BeltInCommand(beltSubsystem));</a:t>
            </a:r>
            <a:br/>
            <a:r>
              <a:t>        operatorController.b().</a:t>
            </a:r>
            <a:r>
              <a:rPr b="1">
                <a:solidFill>
                  <a:srgbClr val="D56900"/>
                </a:solidFill>
              </a:rPr>
              <a:t>whileTrue</a:t>
            </a:r>
            <a:r>
              <a:t>(</a:t>
            </a:r>
            <a:r>
              <a:rPr b="1">
                <a:solidFill>
                  <a:srgbClr val="D56900"/>
                </a:solidFill>
              </a:rPr>
              <a:t>new</a:t>
            </a:r>
            <a:r>
              <a:t> BeltOutCommand(beltSubsystem));</a:t>
            </a:r>
            <a:br/>
            <a:r>
              <a:t>        operatorController.x().</a:t>
            </a:r>
            <a:r>
              <a:rPr b="1">
                <a:solidFill>
                  <a:srgbClr val="D56900"/>
                </a:solidFill>
              </a:rPr>
              <a:t>whileTrue</a:t>
            </a:r>
            <a:r>
              <a:t>(</a:t>
            </a:r>
            <a:r>
              <a:rPr b="1">
                <a:solidFill>
                  <a:srgbClr val="D56900"/>
                </a:solidFill>
              </a:rPr>
              <a:t>new</a:t>
            </a:r>
            <a:r>
              <a:t> RollerCommand(rollerSubsystem));</a:t>
            </a:r>
            <a:br/>
            <a:r>
              <a:t>        operatorController.y().</a:t>
            </a:r>
            <a:r>
              <a:rPr>
                <a:solidFill>
                  <a:srgbClr val="66BB6A"/>
                </a:solidFill>
              </a:rPr>
              <a:t>onTrue</a:t>
            </a:r>
            <a:r>
              <a:t>(</a:t>
            </a:r>
            <a:r>
              <a:rPr b="1">
                <a:solidFill>
                  <a:srgbClr val="D56900"/>
                </a:solidFill>
              </a:rPr>
              <a:t>new</a:t>
            </a:r>
            <a:r>
              <a:t> ToggleClimberArmsCommand(climberSubsystem));</a:t>
            </a:r>
            <a:br/>
            <a:br/>
            <a:r>
              <a:t>        // Driver Xbox Binding</a:t>
            </a:r>
            <a:br/>
            <a:r>
              <a:t>        driverController.rightBumper().</a:t>
            </a:r>
            <a:r>
              <a:rPr b="1">
                <a:solidFill>
                  <a:srgbClr val="D56900"/>
                </a:solidFill>
              </a:rPr>
              <a:t>whileTrue</a:t>
            </a:r>
            <a:r>
              <a:t>(</a:t>
            </a:r>
            <a:r>
              <a:rPr b="1">
                <a:solidFill>
                  <a:srgbClr val="D56900"/>
                </a:solidFill>
              </a:rPr>
              <a:t>new</a:t>
            </a:r>
            <a:r>
              <a:t> SlowDriveCommand(driveSpeedMode));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D8BA14C-ED9D-2174-EBF9-423A1A53558D}"/>
              </a:ext>
            </a:extLst>
          </p:cNvPr>
          <p:cNvSpPr/>
          <p:nvPr/>
        </p:nvSpPr>
        <p:spPr>
          <a:xfrm>
            <a:off x="10985500" y="4343400"/>
            <a:ext cx="304800" cy="304800"/>
          </a:xfrm>
          <a:prstGeom prst="ellipse">
            <a:avLst/>
          </a:prstGeom>
          <a:gradFill flip="none" rotWithShape="1">
            <a:gsLst>
              <a:gs pos="0">
                <a:srgbClr val="D5690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347B0BF-F750-029D-A5D0-BB17104FF0DD}"/>
              </a:ext>
            </a:extLst>
          </p:cNvPr>
          <p:cNvSpPr/>
          <p:nvPr/>
        </p:nvSpPr>
        <p:spPr>
          <a:xfrm>
            <a:off x="736600" y="5461000"/>
            <a:ext cx="4343400" cy="736600"/>
          </a:xfrm>
          <a:prstGeom prst="roundRect">
            <a:avLst/>
          </a:prstGeom>
          <a:gradFill flip="none" rotWithShape="1">
            <a:gsLst>
              <a:gs pos="0">
                <a:srgbClr val="F8F5E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5875">
            <a:solidFill>
              <a:srgbClr val="D5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1100">
                <a:solidFill>
                  <a:srgbClr val="20242C"/>
                </a:solidFill>
                <a:latin typeface="Aptos" panose="020B0004020202020204" pitchFamily="34" charset="0"/>
              </a:rPr>
              <a:t>whileTrue starts on the press and cancels on the release.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PROJECT SOURCE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Button A across the Java files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011680" cy="82296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F8F5EE"/>
                </a:solidFill>
                <a:latin typeface="Verdana"/>
              </a:defRPr>
            </a:pPr>
            <a:r>
              <a:t>1. Controller</a:t>
            </a:r>
          </a:p>
          <a:p>
            <a:pPr algn="ctr">
              <a:defRPr sz="1000">
                <a:solidFill>
                  <a:srgbClr val="FEF3C7"/>
                </a:solidFill>
                <a:latin typeface="Verdana"/>
              </a:defRPr>
            </a:pPr>
            <a:r>
              <a:t>Button A Press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371600"/>
            <a:ext cx="2011680" cy="82296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F8F5EE"/>
                </a:solidFill>
                <a:latin typeface="Verdana"/>
              </a:defRPr>
            </a:pPr>
            <a:r>
              <a:t>2. Driver Station</a:t>
            </a:r>
          </a:p>
          <a:p>
            <a:pPr algn="ctr">
              <a:defRPr sz="1000">
                <a:solidFill>
                  <a:srgbClr val="FEF3C7"/>
                </a:solidFill>
                <a:latin typeface="Verdana"/>
              </a:defRPr>
            </a:pPr>
            <a:r>
              <a:t>USB HID Packet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371600"/>
            <a:ext cx="2011680" cy="82296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F8F5EE"/>
                </a:solidFill>
                <a:latin typeface="Verdana"/>
              </a:defRPr>
            </a:pPr>
            <a:r>
              <a:t>3. RobotContainer</a:t>
            </a:r>
          </a:p>
          <a:p>
            <a:pPr algn="ctr">
              <a:defRPr sz="1000">
                <a:solidFill>
                  <a:srgbClr val="FEF3C7"/>
                </a:solidFill>
                <a:latin typeface="Verdana"/>
              </a:defRPr>
            </a:pPr>
            <a:r>
              <a:t>Trigger Binding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371600"/>
            <a:ext cx="2011680" cy="82296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F8F5EE"/>
                </a:solidFill>
                <a:latin typeface="Verdana"/>
              </a:defRPr>
            </a:pPr>
            <a:r>
              <a:t>4. BeltInCommand</a:t>
            </a:r>
          </a:p>
          <a:p>
            <a:pPr algn="ctr">
              <a:defRPr sz="1000">
                <a:solidFill>
                  <a:srgbClr val="FEF3C7"/>
                </a:solidFill>
                <a:latin typeface="Verdana"/>
              </a:defRPr>
            </a:pPr>
            <a:r>
              <a:t>Lifecycle Hooks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1371600"/>
            <a:ext cx="2011680" cy="82296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200" b="1">
                <a:solidFill>
                  <a:srgbClr val="F8F5EE"/>
                </a:solidFill>
                <a:latin typeface="Verdana"/>
              </a:defRPr>
            </a:pPr>
            <a:r>
              <a:t>5. BeltSubsystem</a:t>
            </a:r>
          </a:p>
          <a:p>
            <a:pPr algn="ctr">
              <a:defRPr sz="1000">
                <a:solidFill>
                  <a:srgbClr val="FEF3C7"/>
                </a:solidFill>
                <a:latin typeface="Verdana"/>
              </a:defRPr>
            </a:pPr>
            <a:r>
              <a:t>PWM 5 Motor Output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246888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809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5EE"/>
                          </a:solidFill>
                          <a:latin typeface="Verdana"/>
                        </a:defRPr>
                      </a:pPr>
                      <a:r>
                        <a:t>Repository File</a:t>
                      </a:r>
                    </a:p>
                  </a:txBody>
                  <a:tcPr>
                    <a:solidFill>
                      <a:srgbClr val="1E2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5EE"/>
                          </a:solidFill>
                          <a:latin typeface="Verdana"/>
                        </a:defRPr>
                      </a:pPr>
                      <a:r>
                        <a:t>Code Line / Method</a:t>
                      </a:r>
                    </a:p>
                  </a:txBody>
                  <a:tcPr>
                    <a:solidFill>
                      <a:srgbClr val="1E2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5EE"/>
                          </a:solidFill>
                          <a:latin typeface="Verdana"/>
                        </a:defRPr>
                      </a:pPr>
                      <a:r>
                        <a:t>Action Execution Responsibility</a:t>
                      </a:r>
                    </a:p>
                  </a:txBody>
                  <a:tcPr>
                    <a:solidFill>
                      <a:srgbClr val="1E22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RobotContainer.java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operatorController.a().whileTrue(...)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Registers whileTrue trigger condition for Operator Button 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BeltInCommand.java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public BeltInCommand(BeltSubsystem...)</a:t>
                      </a:r>
                    </a:p>
                    <a:p>
                      <a:pPr>
                        <a:defRPr sz="105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addRequirements(beltSubsystem);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Declares exclusive hardware requirement on BeltSubsystem.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BeltInCommand.java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execute() -&gt; beltSubsystem.run(...)</a:t>
                      </a:r>
                    </a:p>
                    <a:p>
                      <a:pPr>
                        <a:defRPr sz="105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end() -&gt; beltSubsystem.stop()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Commands belt speed in execute(); stops belt in end() on button release.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BeltSubsystem.java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run(double speed) -&gt; beltMotor.set(speed)</a:t>
                      </a:r>
                    </a:p>
                    <a:p>
                      <a:pPr>
                        <a:defRPr sz="105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stop() -&gt; run(0.0)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Sends speed setpoint directly to Talon motor controller on PWM Port 5.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Verdana"/>
              </a:defRPr>
            </a:pPr>
            <a:r>
              <a:t>SECTION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5EE"/>
                </a:solidFill>
                <a:latin typeface="Georgia"/>
              </a:defRPr>
            </a:pPr>
            <a:r>
              <a:t>Practice and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1D5DB"/>
                </a:solidFill>
                <a:latin typeface="Verdana"/>
              </a:defRPr>
            </a:pPr>
            <a:r>
              <a:t>Student code-tracing exercises, technical investigation questions, and hardware protocols.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PRACTICE AND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215475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rPr lang="en-US"/>
              <a:t>Spot the bug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4290AD-729B-EAD4-F6C4-85F126887DC5}"/>
              </a:ext>
            </a:extLst>
          </p:cNvPr>
          <p:cNvSpPr txBox="1"/>
          <p:nvPr/>
        </p:nvSpPr>
        <p:spPr>
          <a:xfrm>
            <a:off x="609600" y="1600200"/>
            <a:ext cx="3505200" cy="307777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en-US" sz="1500" b="1">
                <a:solidFill>
                  <a:srgbClr val="D56900"/>
                </a:solidFill>
                <a:latin typeface="Aptos" panose="020B0004020202020204" pitchFamily="34" charset="0"/>
              </a:rPr>
              <a:t>BUG 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480F0B3-6573-A7D3-8CB2-0149D7D8BF73}"/>
              </a:ext>
            </a:extLst>
          </p:cNvPr>
          <p:cNvSpPr/>
          <p:nvPr/>
        </p:nvSpPr>
        <p:spPr>
          <a:xfrm>
            <a:off x="609600" y="2133600"/>
            <a:ext cx="3505200" cy="2184400"/>
          </a:xfrm>
          <a:prstGeom prst="roundRect">
            <a:avLst/>
          </a:prstGeom>
          <a:gradFill flip="none" rotWithShape="1">
            <a:gsLst>
              <a:gs pos="0">
                <a:srgbClr val="20242C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5875"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1200" b="1">
                <a:solidFill>
                  <a:srgbClr val="D56900"/>
                </a:solidFill>
                <a:latin typeface="Consolas" panose="020B0609020204030204" pitchFamily="49" charset="0"/>
              </a:rPr>
              <a:t>class</a:t>
            </a:r>
            <a:r>
              <a:rPr lang="en-US" sz="1200">
                <a:solidFill>
                  <a:srgbClr val="FFFFFF"/>
                </a:solidFill>
                <a:latin typeface="Consolas" panose="020B0609020204030204" pitchFamily="49" charset="0"/>
              </a:rPr>
              <a:t> BeltOutCommand </a:t>
            </a:r>
            <a:r>
              <a:rPr lang="en-US" sz="1200" b="1">
                <a:solidFill>
                  <a:srgbClr val="D56900"/>
                </a:solidFill>
                <a:latin typeface="Consolas" panose="020B0609020204030204" pitchFamily="49" charset="0"/>
              </a:rPr>
              <a:t>extends</a:t>
            </a:r>
            <a:r>
              <a:rPr lang="en-US" sz="1200">
                <a:solidFill>
                  <a:srgbClr val="FFFFFF"/>
                </a:solidFill>
                <a:latin typeface="Consolas" panose="020B0609020204030204" pitchFamily="49" charset="0"/>
              </a:rPr>
              <a:t> Command {
  BeltOutCommand(BeltSubsystem belt) {
    this.belt = belt;
  }
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85D381-8D37-AAB1-A749-41D1967978E6}"/>
              </a:ext>
            </a:extLst>
          </p:cNvPr>
          <p:cNvSpPr txBox="1"/>
          <p:nvPr/>
        </p:nvSpPr>
        <p:spPr>
          <a:xfrm>
            <a:off x="609600" y="4521200"/>
            <a:ext cx="3505200" cy="507831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en-US" sz="1400" b="1">
                <a:solidFill>
                  <a:srgbClr val="20242C"/>
                </a:solidFill>
                <a:latin typeface="Aptos" panose="020B0004020202020204" pitchFamily="34" charset="0"/>
              </a:rPr>
              <a:t>Two belt commands can fight over the same motor.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3C02B5-7BD7-0FEE-22A3-236F6B8EEA4E}"/>
              </a:ext>
            </a:extLst>
          </p:cNvPr>
          <p:cNvSpPr txBox="1"/>
          <p:nvPr/>
        </p:nvSpPr>
        <p:spPr>
          <a:xfrm>
            <a:off x="4470400" y="1600200"/>
            <a:ext cx="3505200" cy="307777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en-US" sz="1500" b="1">
                <a:solidFill>
                  <a:srgbClr val="D56900"/>
                </a:solidFill>
                <a:latin typeface="Aptos" panose="020B0004020202020204" pitchFamily="34" charset="0"/>
              </a:rPr>
              <a:t>BUG 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0C7104B-C1F2-97ED-6680-4E5B27C6CE09}"/>
              </a:ext>
            </a:extLst>
          </p:cNvPr>
          <p:cNvSpPr/>
          <p:nvPr/>
        </p:nvSpPr>
        <p:spPr>
          <a:xfrm>
            <a:off x="4470400" y="2133600"/>
            <a:ext cx="3505200" cy="2184400"/>
          </a:xfrm>
          <a:prstGeom prst="roundRect">
            <a:avLst/>
          </a:prstGeom>
          <a:gradFill flip="none" rotWithShape="1">
            <a:gsLst>
              <a:gs pos="0">
                <a:srgbClr val="20242C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5875"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1200">
                <a:solidFill>
                  <a:srgbClr val="FFFFFF"/>
                </a:solidFill>
                <a:latin typeface="Consolas" panose="020B0609020204030204" pitchFamily="49" charset="0"/>
              </a:rPr>
              <a:t>@Override
</a:t>
            </a:r>
            <a:r>
              <a:rPr lang="en-US" sz="1200" b="1">
                <a:solidFill>
                  <a:srgbClr val="D56900"/>
                </a:solidFill>
                <a:latin typeface="Consolas" panose="020B0609020204030204" pitchFamily="49" charset="0"/>
              </a:rPr>
              <a:t>public</a:t>
            </a:r>
            <a:r>
              <a:rPr lang="en-US" sz="120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sz="1200" b="1">
                <a:solidFill>
                  <a:srgbClr val="D56900"/>
                </a:solidFill>
                <a:latin typeface="Consolas" panose="020B0609020204030204" pitchFamily="49" charset="0"/>
              </a:rPr>
              <a:t>void</a:t>
            </a:r>
            <a:r>
              <a:rPr lang="en-US" sz="1200">
                <a:solidFill>
                  <a:srgbClr val="FFFFFF"/>
                </a:solidFill>
                <a:latin typeface="Consolas" panose="020B0609020204030204" pitchFamily="49" charset="0"/>
              </a:rPr>
              <a:t> end(</a:t>
            </a:r>
            <a:r>
              <a:rPr lang="en-US" sz="1200" b="1">
                <a:solidFill>
                  <a:srgbClr val="D56900"/>
                </a:solidFill>
                <a:latin typeface="Consolas" panose="020B0609020204030204" pitchFamily="49" charset="0"/>
              </a:rPr>
              <a:t>boolean</a:t>
            </a:r>
            <a:r>
              <a:rPr lang="en-US" sz="1200">
                <a:solidFill>
                  <a:srgbClr val="FFFFFF"/>
                </a:solidFill>
                <a:latin typeface="Consolas" panose="020B0609020204030204" pitchFamily="49" charset="0"/>
              </a:rPr>
              <a:t> interrupted) {
  // Nothing here
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ECB8C7-DC3E-D64E-7E50-CD793547E197}"/>
              </a:ext>
            </a:extLst>
          </p:cNvPr>
          <p:cNvSpPr txBox="1"/>
          <p:nvPr/>
        </p:nvSpPr>
        <p:spPr>
          <a:xfrm>
            <a:off x="4470400" y="4521200"/>
            <a:ext cx="3505200" cy="507831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en-US" sz="1400" b="1">
                <a:solidFill>
                  <a:srgbClr val="20242C"/>
                </a:solidFill>
                <a:latin typeface="Aptos" panose="020B0004020202020204" pitchFamily="34" charset="0"/>
              </a:rPr>
              <a:t>What happens when the operator releases Button A?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942A87-8C4A-4ED3-2936-7F39115449F1}"/>
              </a:ext>
            </a:extLst>
          </p:cNvPr>
          <p:cNvSpPr txBox="1"/>
          <p:nvPr/>
        </p:nvSpPr>
        <p:spPr>
          <a:xfrm>
            <a:off x="8331200" y="1600200"/>
            <a:ext cx="3505200" cy="307777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en-US" sz="1500" b="1">
                <a:solidFill>
                  <a:srgbClr val="D56900"/>
                </a:solidFill>
                <a:latin typeface="Aptos" panose="020B0004020202020204" pitchFamily="34" charset="0"/>
              </a:rPr>
              <a:t>BUG 3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96A45D1-B92B-DE29-1F16-AC009B5EF95F}"/>
              </a:ext>
            </a:extLst>
          </p:cNvPr>
          <p:cNvSpPr/>
          <p:nvPr/>
        </p:nvSpPr>
        <p:spPr>
          <a:xfrm>
            <a:off x="8331200" y="2133600"/>
            <a:ext cx="3505200" cy="2184400"/>
          </a:xfrm>
          <a:prstGeom prst="roundRect">
            <a:avLst/>
          </a:prstGeom>
          <a:gradFill flip="none" rotWithShape="1">
            <a:gsLst>
              <a:gs pos="0">
                <a:srgbClr val="20242C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5875"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1200">
                <a:solidFill>
                  <a:srgbClr val="FFFFFF"/>
                </a:solidFill>
                <a:latin typeface="Consolas" panose="020B0609020204030204" pitchFamily="49" charset="0"/>
              </a:rPr>
              <a:t>DRIVER_CONTROLLER = 0;
OPERATOR_CONTROLLER = 0;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05927E-3F2C-2668-E938-F1400C5216AA}"/>
              </a:ext>
            </a:extLst>
          </p:cNvPr>
          <p:cNvSpPr txBox="1"/>
          <p:nvPr/>
        </p:nvSpPr>
        <p:spPr>
          <a:xfrm>
            <a:off x="8331200" y="4521200"/>
            <a:ext cx="3505200" cy="507831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en-US" sz="1400" b="1">
                <a:solidFill>
                  <a:srgbClr val="20242C"/>
                </a:solidFill>
                <a:latin typeface="Aptos" panose="020B0004020202020204" pitchFamily="34" charset="0"/>
              </a:rPr>
              <a:t>Which physical controller will both objects read?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586B42-17C6-590F-3323-10B15A2BAEB8}"/>
              </a:ext>
            </a:extLst>
          </p:cNvPr>
          <p:cNvSpPr txBox="1"/>
          <p:nvPr/>
        </p:nvSpPr>
        <p:spPr>
          <a:xfrm>
            <a:off x="3175000" y="5816600"/>
            <a:ext cx="5842000" cy="276999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pPr algn="ctr"/>
            <a:r>
              <a:rPr lang="en-US" sz="1300" b="1">
                <a:solidFill>
                  <a:srgbClr val="D56900"/>
                </a:solidFill>
                <a:latin typeface="Aptos" panose="020B0004020202020204" pitchFamily="34" charset="0"/>
              </a:rPr>
              <a:t>Pause here. Ask students to predict the robot behavior before advancing.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PRACTICE AND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62576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rPr lang="en-US"/>
              <a:t>Bug fixes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A30C17-A075-5247-FEFA-98A4BBA9D2F2}"/>
              </a:ext>
            </a:extLst>
          </p:cNvPr>
          <p:cNvSpPr txBox="1"/>
          <p:nvPr/>
        </p:nvSpPr>
        <p:spPr>
          <a:xfrm>
            <a:off x="609600" y="1600200"/>
            <a:ext cx="3505200" cy="307777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en-US" sz="1500" b="1">
                <a:solidFill>
                  <a:srgbClr val="66BB6A"/>
                </a:solidFill>
                <a:latin typeface="Aptos" panose="020B0004020202020204" pitchFamily="34" charset="0"/>
              </a:rPr>
              <a:t>FIX 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9695249-3798-FA12-A3E6-0ABBE09F95CC}"/>
              </a:ext>
            </a:extLst>
          </p:cNvPr>
          <p:cNvSpPr/>
          <p:nvPr/>
        </p:nvSpPr>
        <p:spPr>
          <a:xfrm>
            <a:off x="609600" y="2133600"/>
            <a:ext cx="3505200" cy="1905000"/>
          </a:xfrm>
          <a:prstGeom prst="roundRect">
            <a:avLst/>
          </a:prstGeom>
          <a:gradFill flip="none" rotWithShape="1">
            <a:gsLst>
              <a:gs pos="0">
                <a:srgbClr val="20242C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5875"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1200">
                <a:solidFill>
                  <a:srgbClr val="66BB6A"/>
                </a:solidFill>
                <a:latin typeface="Consolas" panose="020B0609020204030204" pitchFamily="49" charset="0"/>
              </a:rPr>
              <a:t>addRequirements</a:t>
            </a:r>
            <a:r>
              <a:rPr lang="en-US" sz="1200">
                <a:solidFill>
                  <a:srgbClr val="FFFFFF"/>
                </a:solidFill>
                <a:latin typeface="Consolas" panose="020B0609020204030204" pitchFamily="49" charset="0"/>
              </a:rPr>
              <a:t>(belt);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891A07-6F87-0379-FF49-C54A90F38077}"/>
              </a:ext>
            </a:extLst>
          </p:cNvPr>
          <p:cNvSpPr txBox="1"/>
          <p:nvPr/>
        </p:nvSpPr>
        <p:spPr>
          <a:xfrm>
            <a:off x="609600" y="4267200"/>
            <a:ext cx="3505200" cy="677108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en-US" sz="1300">
                <a:solidFill>
                  <a:srgbClr val="20242C"/>
                </a:solidFill>
                <a:latin typeface="Aptos" panose="020B0004020202020204" pitchFamily="34" charset="0"/>
              </a:rPr>
              <a:t>The scheduler can now interrupt the current belt command before another belt command starts.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29BCB3-1527-6DD5-A510-877245B87135}"/>
              </a:ext>
            </a:extLst>
          </p:cNvPr>
          <p:cNvSpPr txBox="1"/>
          <p:nvPr/>
        </p:nvSpPr>
        <p:spPr>
          <a:xfrm>
            <a:off x="4470400" y="1600200"/>
            <a:ext cx="3505200" cy="307777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en-US" sz="1500" b="1">
                <a:solidFill>
                  <a:srgbClr val="66BB6A"/>
                </a:solidFill>
                <a:latin typeface="Aptos" panose="020B0004020202020204" pitchFamily="34" charset="0"/>
              </a:rPr>
              <a:t>FIX 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213F35E-12AB-0CD1-2A06-0B9F56C39487}"/>
              </a:ext>
            </a:extLst>
          </p:cNvPr>
          <p:cNvSpPr/>
          <p:nvPr/>
        </p:nvSpPr>
        <p:spPr>
          <a:xfrm>
            <a:off x="4470400" y="2133600"/>
            <a:ext cx="3505200" cy="1905000"/>
          </a:xfrm>
          <a:prstGeom prst="roundRect">
            <a:avLst/>
          </a:prstGeom>
          <a:gradFill flip="none" rotWithShape="1">
            <a:gsLst>
              <a:gs pos="0">
                <a:srgbClr val="20242C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5875"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1200">
                <a:solidFill>
                  <a:srgbClr val="FFFFFF"/>
                </a:solidFill>
                <a:latin typeface="Consolas" panose="020B0609020204030204" pitchFamily="49" charset="0"/>
              </a:rPr>
              <a:t>@Override
</a:t>
            </a:r>
            <a:r>
              <a:rPr lang="en-US" sz="1200" b="1">
                <a:solidFill>
                  <a:srgbClr val="D56900"/>
                </a:solidFill>
                <a:latin typeface="Consolas" panose="020B0609020204030204" pitchFamily="49" charset="0"/>
              </a:rPr>
              <a:t>public</a:t>
            </a:r>
            <a:r>
              <a:rPr lang="en-US" sz="120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sz="1200" b="1">
                <a:solidFill>
                  <a:srgbClr val="D56900"/>
                </a:solidFill>
                <a:latin typeface="Consolas" panose="020B0609020204030204" pitchFamily="49" charset="0"/>
              </a:rPr>
              <a:t>void</a:t>
            </a:r>
            <a:r>
              <a:rPr lang="en-US" sz="1200">
                <a:solidFill>
                  <a:srgbClr val="FFFFFF"/>
                </a:solidFill>
                <a:latin typeface="Consolas" panose="020B0609020204030204" pitchFamily="49" charset="0"/>
              </a:rPr>
              <a:t> end(</a:t>
            </a:r>
            <a:r>
              <a:rPr lang="en-US" sz="1200" b="1">
                <a:solidFill>
                  <a:srgbClr val="D56900"/>
                </a:solidFill>
                <a:latin typeface="Consolas" panose="020B0609020204030204" pitchFamily="49" charset="0"/>
              </a:rPr>
              <a:t>boolean</a:t>
            </a:r>
            <a:r>
              <a:rPr lang="en-US" sz="1200">
                <a:solidFill>
                  <a:srgbClr val="FFFFFF"/>
                </a:solidFill>
                <a:latin typeface="Consolas" panose="020B0609020204030204" pitchFamily="49" charset="0"/>
              </a:rPr>
              <a:t> interrupted) {
  beltSubsystem.</a:t>
            </a:r>
            <a:r>
              <a:rPr lang="en-US" sz="1200">
                <a:solidFill>
                  <a:srgbClr val="66BB6A"/>
                </a:solidFill>
                <a:latin typeface="Consolas" panose="020B0609020204030204" pitchFamily="49" charset="0"/>
              </a:rPr>
              <a:t>stop</a:t>
            </a:r>
            <a:r>
              <a:rPr lang="en-US" sz="1200">
                <a:solidFill>
                  <a:srgbClr val="FFFFFF"/>
                </a:solidFill>
                <a:latin typeface="Consolas" panose="020B0609020204030204" pitchFamily="49" charset="0"/>
              </a:rPr>
              <a:t>();
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2E7026-ADF0-363D-13F2-861EAF1B8AFA}"/>
              </a:ext>
            </a:extLst>
          </p:cNvPr>
          <p:cNvSpPr txBox="1"/>
          <p:nvPr/>
        </p:nvSpPr>
        <p:spPr>
          <a:xfrm>
            <a:off x="4470400" y="4267200"/>
            <a:ext cx="3505200" cy="477054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en-US" sz="1300">
                <a:solidFill>
                  <a:srgbClr val="20242C"/>
                </a:solidFill>
                <a:latin typeface="Aptos" panose="020B0004020202020204" pitchFamily="34" charset="0"/>
              </a:rPr>
              <a:t>Releasing or interrupting the command returns the motor output to zero.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75D617-A40D-8988-A40A-FDF5C3F2B884}"/>
              </a:ext>
            </a:extLst>
          </p:cNvPr>
          <p:cNvSpPr txBox="1"/>
          <p:nvPr/>
        </p:nvSpPr>
        <p:spPr>
          <a:xfrm>
            <a:off x="8331200" y="1600200"/>
            <a:ext cx="3505200" cy="307777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en-US" sz="1500" b="1">
                <a:solidFill>
                  <a:srgbClr val="66BB6A"/>
                </a:solidFill>
                <a:latin typeface="Aptos" panose="020B0004020202020204" pitchFamily="34" charset="0"/>
              </a:rPr>
              <a:t>FIX 3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765DB46-4FEC-B5C7-DCB8-8025D8691DB9}"/>
              </a:ext>
            </a:extLst>
          </p:cNvPr>
          <p:cNvSpPr/>
          <p:nvPr/>
        </p:nvSpPr>
        <p:spPr>
          <a:xfrm>
            <a:off x="8331200" y="2133600"/>
            <a:ext cx="3505200" cy="1905000"/>
          </a:xfrm>
          <a:prstGeom prst="roundRect">
            <a:avLst/>
          </a:prstGeom>
          <a:gradFill flip="none" rotWithShape="1">
            <a:gsLst>
              <a:gs pos="0">
                <a:srgbClr val="20242C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5875"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r>
              <a:rPr lang="en-US" sz="1200">
                <a:solidFill>
                  <a:srgbClr val="FFFFFF"/>
                </a:solidFill>
                <a:latin typeface="Consolas" panose="020B0609020204030204" pitchFamily="49" charset="0"/>
              </a:rPr>
              <a:t>DRIVER_CONTROLLER = 0;
OPERATOR_CONTROLLER = 1;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FE35DC-C6DC-53AA-17B2-56AB1FD8D0ED}"/>
              </a:ext>
            </a:extLst>
          </p:cNvPr>
          <p:cNvSpPr txBox="1"/>
          <p:nvPr/>
        </p:nvSpPr>
        <p:spPr>
          <a:xfrm>
            <a:off x="8331200" y="4267200"/>
            <a:ext cx="3505200" cy="477054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en-US" sz="1300">
                <a:solidFill>
                  <a:srgbClr val="20242C"/>
                </a:solidFill>
                <a:latin typeface="Aptos" panose="020B0004020202020204" pitchFamily="34" charset="0"/>
              </a:rPr>
              <a:t>The driver and operator objects now read different Driver Station USB slots.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Verdana"/>
              </a:defRPr>
            </a:pPr>
            <a:r>
              <a:t>PRACTICE AND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22A"/>
                </a:solidFill>
                <a:latin typeface="Georgia"/>
              </a:defRPr>
            </a:pPr>
            <a:r>
              <a:t>Hardware Protocol Appendix: PWM vs. CAN Bus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887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5EE"/>
                          </a:solidFill>
                          <a:latin typeface="Verdana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E2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5EE"/>
                          </a:solidFill>
                          <a:latin typeface="Verdana"/>
                        </a:defRPr>
                      </a:pPr>
                      <a:r>
                        <a:t>PWM Protocol (Current Robot Setup)</a:t>
                      </a:r>
                    </a:p>
                  </a:txBody>
                  <a:tcPr>
                    <a:solidFill>
                      <a:srgbClr val="1E2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5EE"/>
                          </a:solidFill>
                          <a:latin typeface="Verdana"/>
                        </a:defRPr>
                      </a:pPr>
                      <a:r>
                        <a:t>CAN Bus Protocol (Advanced Hardware)</a:t>
                      </a:r>
                    </a:p>
                  </a:txBody>
                  <a:tcPr>
                    <a:solidFill>
                      <a:srgbClr val="1E22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Wiring Topology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Point-to-point 3-wire cable from roboRIO PWM port to each Talon SRX.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Daisy-chained 2-wire differential bus (CAN High / CAN Low) linking all motor controllers.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Signal Direction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One-way control signal (roboRIO -&gt; Talon). No telemetry feedback.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Bi-directional data bus allowing real-time motor telemetry.</a:t>
                      </a:r>
                    </a:p>
                  </a:txBody>
                  <a:tcPr>
                    <a:solidFill>
                      <a:srgbClr val="F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Telemetry Capabilities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Open-loop voltage control only. Cannot read motor temperature, current draw, or encoder position.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22A"/>
                          </a:solidFill>
                          <a:latin typeface="Verdana"/>
                        </a:defRPr>
                      </a:pPr>
                      <a:r>
                        <a:t>Full closed-loop telemetry (current, voltage, temperature, position, velocity).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7954</Words>
  <Application>Microsoft Office PowerPoint</Application>
  <PresentationFormat>Widescreen</PresentationFormat>
  <Paragraphs>389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DAVID MONACHELLO</cp:lastModifiedBy>
  <cp:revision>3</cp:revision>
  <dcterms:created xsi:type="dcterms:W3CDTF">2013-01-27T09:14:16Z</dcterms:created>
  <dcterms:modified xsi:type="dcterms:W3CDTF">2026-10-07T07:38:44Z</dcterms:modified>
  <cp:category/>
</cp:coreProperties>
</file>