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the exact PWM port mappings: Front Left is PWM 0, Back Left is PWM 1, Front Right is PWM 3, Back Right is PWM 2. Because the gearboxes face opposite directions, inverting leftDriveMotors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bare-minimum TimedRobot program proves the belt motor and Talon controller on PWM 5 are wired correctly. Notice how teleopPeriodic executes continuously every 20 ms.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roller program follows the exact same pattern as the belt demo, changing only the PWM port handle from 5 to 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Pneumatics use a DoubleSolenoid valve on CTRE PCM ID 0. A single valve controls both left and right climber arms together through split air lines.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Front-right uses PWM 3 and back-right uses PWM 2. robotInit() configures the followers and left-side inversion once. Commanding +0.15 to both leaders then drives both sides forward. Keep the chassis elevated on blocks during this test.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schematic illustrates physical signal distribution. Notice how PWM channels 0-5 wire point-to-point from the roboRIO, while the CAN bus links the PCM and PDP. A single PCM valve splits air to both climber cylinders.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Driver commands chassis movement on USB Port 0 while Operator commands mechanisms on USB Port 1. Before enabling teleop during live tests, physically confirm the chassis is on blocks!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Always check the Driver Station USB tab before enabling. USB indexes must match Driver = 0, Operator = 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motor controller keeps its last command until code overwrites it or the robot is disabled. Manual polling therefore needs the else block to stop the belt when the operator releases Button A.</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Checkpoint 1 of our Button A signal trace. Here we focus on the physical ends: human thumb press on the Xbox controller on USB 1, through the Driver Station UDP packet, to PWM Port 5 hardware output.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Without subsystem requirements, both commands may write to the same motor during one scheduler pass. The later write wins. That behavior follows execution order, but it is brittle and unsafe.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to students: addRequirements() registers resource ownership inside the CommandScheduler list. It acts as a logical referee on the single main thread, not an OS thread mutex!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Remember the core rule: Subsystems own the hardware and define HOW it moves. Commands contain the execution rules and dictate WHEN it moves.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the distinction: onTrue schedules the command on the rising edge. ToggleClimberArmsCommand ends immediately because its own isFinished() method returns true!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lifecycle hooks govern every command. initialize runs once at start; execute and isFinished run every 20 ms pass; end runs when finished or cancelled.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What happens if you call Thread.sleep(1000) inside execute()? Because the scheduler loop is single-threaded, sleep() delays all other callbacks, triggering loop overruns and watchdog timeouts!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2. Releasing Button A makes the whileTrue condition false, so the scheduler cancels BeltInCommand. end(true) then calls beltSubsystem.stop().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BeltSubsystem encapsulates the Talon motor controller on PWM 5 in a private field. Its public API provides run(speed) and stop().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keeps the three methods that explain the command. The constructor claims BeltSubsystem, execute() runs the motor, and end() stops it. Show the complete file in VS Code if students need the package, imports, and documentation header.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Power Distribution Board: PDB ID 1</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Hardware Inversion &amp; Wiring</a:t>
            </a:r>
          </a:p>
          <a:p>
            <a:pPr>
              <a:spcAft>
                <a:spcPts val="600"/>
              </a:spcAft>
              <a:defRPr sz="1400">
                <a:solidFill>
                  <a:srgbClr val="1B2040"/>
                </a:solidFill>
                <a:latin typeface="Arial"/>
              </a:defRPr>
            </a:pPr>
            <a:r>
              <a:t>• Symmetrical Mechanical Mounting:</a:t>
            </a:r>
          </a:p>
          <a:p>
            <a:pPr>
              <a:spcAft>
                <a:spcPts val="600"/>
              </a:spcAft>
              <a:defRPr sz="1400">
                <a:solidFill>
                  <a:srgbClr val="1B2040"/>
                </a:solidFill>
                <a:latin typeface="Arial"/>
              </a:defRPr>
            </a:pPr>
            <a:r>
              <a:t>  Left and right drivetrain gearboxes are mounted facing opposite directions on the chassis.</a:t>
            </a:r>
          </a:p>
          <a:p>
            <a:pPr>
              <a:spcAft>
                <a:spcPts val="600"/>
              </a:spcAft>
              <a:defRPr sz="1400">
                <a:solidFill>
                  <a:srgbClr val="1B2040"/>
                </a:solidFill>
                <a:latin typeface="Arial"/>
              </a:defRPr>
            </a:pPr>
            <a:r>
              <a:t>• Software Sign Inversion:</a:t>
            </a:r>
          </a:p>
          <a:p>
            <a:pPr>
              <a:spcAft>
                <a:spcPts val="600"/>
              </a:spcAft>
              <a:defRPr sz="1400">
                <a:solidFill>
                  <a:srgbClr val="1B2040"/>
                </a:solidFill>
                <a:latin typeface="Arial"/>
              </a:defRPr>
            </a:pPr>
            <a:r>
              <a:t>  leftDriveMotors.setInverted(true) aligns forward velocity vectors so positive values drive straight ahead.</a:t>
            </a:r>
          </a:p>
          <a:p>
            <a:pPr>
              <a:spcAft>
                <a:spcPts val="600"/>
              </a:spcAft>
              <a:defRPr sz="1400">
                <a:solidFill>
                  <a:srgbClr val="1B2040"/>
                </a:solidFill>
                <a:latin typeface="Arial"/>
              </a:defRPr>
            </a:pPr>
            <a:r>
              <a:t>• Open-Loop PWM Control:</a:t>
            </a:r>
          </a:p>
          <a:p>
            <a:pPr>
              <a:spcAft>
                <a:spcPts val="600"/>
              </a:spcAft>
              <a:defRPr sz="1400">
                <a:solidFill>
                  <a:srgbClr val="1B2040"/>
                </a:solidFill>
                <a:latin typeface="Arial"/>
              </a:defRPr>
            </a:pPr>
            <a:r>
              <a:t>  roboRIO generates 1.0ms–2.0ms pulse-width signals to command output voltage.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Roller Challenge: Running the Roller Motor</a:t>
            </a: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Pneumatic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DoubleSolenoid</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PneumaticsModuleType</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DoubleSolenoid</a:t>
            </a:r>
            <a:r>
              <a:rPr>
                <a:latin typeface="Consolas" panose="020B0609020204030204" pitchFamily="49" charset="0"/>
              </a:rPr>
              <a:t> climberSolenoid =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DoubleSolenoid</a:t>
            </a:r>
            <a:r>
              <a:rPr>
                <a:latin typeface="Consolas" panose="020B0609020204030204" pitchFamily="49" charset="0"/>
              </a:rPr>
              <a:t>(</a:t>
            </a:r>
            <a:r>
              <a:rPr>
                <a:solidFill>
                  <a:srgbClr val="A7F3D0"/>
                </a:solidFill>
                <a:latin typeface="Consolas" panose="020B0609020204030204" pitchFamily="49" charset="0"/>
              </a:rPr>
              <a:t>0</a:t>
            </a:r>
            <a:r>
              <a:rPr>
                <a:latin typeface="Consolas" panose="020B0609020204030204" pitchFamily="49" charset="0"/>
              </a:rPr>
              <a:t>, </a:t>
            </a:r>
            <a:r>
              <a:rPr>
                <a:solidFill>
                  <a:srgbClr val="C4B5FD"/>
                </a:solidFill>
                <a:latin typeface="Consolas" panose="020B0609020204030204" pitchFamily="49" charset="0"/>
              </a:rPr>
              <a:t>PneumaticsModuleType</a:t>
            </a:r>
            <a:r>
              <a:rPr>
                <a:latin typeface="Consolas" panose="020B0609020204030204" pitchFamily="49" charset="0"/>
              </a:rPr>
              <a:t>.</a:t>
            </a:r>
            <a:r>
              <a:rPr>
                <a:solidFill>
                  <a:srgbClr val="FDE68A"/>
                </a:solidFill>
                <a:latin typeface="Consolas" panose="020B0609020204030204" pitchFamily="49" charset="0"/>
              </a:rPr>
              <a:t>CTREPCM</a:t>
            </a:r>
            <a:r>
              <a:rPr>
                <a:latin typeface="Consolas" panose="020B0609020204030204" pitchFamily="49" charset="0"/>
              </a:rPr>
              <a:t>, </a:t>
            </a:r>
            <a:r>
              <a:rPr>
                <a:solidFill>
                  <a:srgbClr val="A7F3D0"/>
                </a:solidFill>
                <a:latin typeface="Consolas" panose="020B0609020204030204" pitchFamily="49" charset="0"/>
              </a:rPr>
              <a:t>0</a:t>
            </a:r>
            <a:r>
              <a:rPr>
                <a:latin typeface="Consolas" panose="020B0609020204030204" pitchFamily="49" charset="0"/>
              </a:rPr>
              <a:t>, </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a:latin typeface="Consolas" panose="020B0609020204030204" pitchFamily="49" charset="0"/>
              </a:rPr>
              <a:t>        climberSolenoid.</a:t>
            </a:r>
            <a:r>
              <a:rPr>
                <a:solidFill>
                  <a:srgbClr val="6EE7B7"/>
                </a:solidFill>
                <a:latin typeface="Consolas" panose="020B0609020204030204" pitchFamily="49" charset="0"/>
              </a:rPr>
              <a:t>set</a:t>
            </a:r>
            <a:r>
              <a:rPr>
                <a:latin typeface="Consolas" panose="020B0609020204030204" pitchFamily="49" charset="0"/>
              </a:rPr>
              <a:t>(</a:t>
            </a:r>
            <a:r>
              <a:rPr>
                <a:solidFill>
                  <a:srgbClr val="C4B5FD"/>
                </a:solidFill>
                <a:latin typeface="Consolas" panose="020B0609020204030204" pitchFamily="49" charset="0"/>
              </a:rPr>
              <a:t>DoubleSolenoid</a:t>
            </a:r>
            <a:r>
              <a:rPr>
                <a:latin typeface="Consolas" panose="020B0609020204030204" pitchFamily="49" charset="0"/>
              </a:rPr>
              <a:t>.</a:t>
            </a:r>
            <a:r>
              <a:rPr>
                <a:solidFill>
                  <a:srgbClr val="C4B5FD"/>
                </a:solidFill>
                <a:latin typeface="Consolas" panose="020B0609020204030204" pitchFamily="49" charset="0"/>
              </a:rPr>
              <a:t>Value</a:t>
            </a:r>
            <a:r>
              <a:rPr>
                <a:latin typeface="Consolas" panose="020B0609020204030204" pitchFamily="49" charset="0"/>
              </a:rPr>
              <a:t>.kForward);</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Electrical Wiring &amp; Pneumatic Routing Schematic</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Point-to-Point Electrical Signals</a:t>
            </a:r>
          </a:p>
          <a:p>
            <a:pPr>
              <a:spcAft>
                <a:spcPts val="600"/>
              </a:spcAft>
              <a:defRPr sz="1400">
                <a:solidFill>
                  <a:srgbClr val="1B2040"/>
                </a:solidFill>
                <a:latin typeface="Arial"/>
              </a:defRPr>
            </a:pPr>
            <a:r>
              <a:t>• roboRIO PWM Header Distribution:</a:t>
            </a:r>
          </a:p>
          <a:p>
            <a:pPr>
              <a:spcAft>
                <a:spcPts val="600"/>
              </a:spcAft>
              <a:defRPr sz="1400">
                <a:solidFill>
                  <a:srgbClr val="1B2040"/>
                </a:solidFill>
                <a:latin typeface="Arial"/>
              </a:defRPr>
            </a:pPr>
            <a:r>
              <a:t>  - PWM 0 -&gt; Front Left Drive Talon SRX</a:t>
            </a:r>
          </a:p>
          <a:p>
            <a:pPr>
              <a:spcAft>
                <a:spcPts val="600"/>
              </a:spcAft>
              <a:defRPr sz="1400">
                <a:solidFill>
                  <a:srgbClr val="1B2040"/>
                </a:solidFill>
                <a:latin typeface="Arial"/>
              </a:defRPr>
            </a:pPr>
            <a:r>
              <a:t>  - PWM 1 -&gt; Back Left Drive Talon SRX</a:t>
            </a:r>
          </a:p>
          <a:p>
            <a:pPr>
              <a:spcAft>
                <a:spcPts val="600"/>
              </a:spcAft>
              <a:defRPr sz="1400">
                <a:solidFill>
                  <a:srgbClr val="1B2040"/>
                </a:solidFill>
                <a:latin typeface="Arial"/>
              </a:defRPr>
            </a:pPr>
            <a:r>
              <a:t>  - PWM 2 -&gt; Back Right Drive Talon SRX</a:t>
            </a:r>
          </a:p>
          <a:p>
            <a:pPr>
              <a:spcAft>
                <a:spcPts val="600"/>
              </a:spcAft>
              <a:defRPr sz="1400">
                <a:solidFill>
                  <a:srgbClr val="1B2040"/>
                </a:solidFill>
                <a:latin typeface="Arial"/>
              </a:defRPr>
            </a:pPr>
            <a:r>
              <a:t>  - PWM 3 -&gt; Front Right Drive Talon SRX</a:t>
            </a:r>
          </a:p>
          <a:p>
            <a:pPr>
              <a:spcAft>
                <a:spcPts val="600"/>
              </a:spcAft>
              <a:defRPr sz="1400">
                <a:solidFill>
                  <a:srgbClr val="1B2040"/>
                </a:solidFill>
                <a:latin typeface="Arial"/>
              </a:defRPr>
            </a:pPr>
            <a:r>
              <a:t>  - PWM 4 -&gt; Outtake Roller Talon SRX</a:t>
            </a:r>
          </a:p>
          <a:p>
            <a:pPr>
              <a:spcAft>
                <a:spcPts val="600"/>
              </a:spcAft>
              <a:defRPr sz="1400">
                <a:solidFill>
                  <a:srgbClr val="1B2040"/>
                </a:solidFill>
                <a:latin typeface="Arial"/>
              </a:defRPr>
            </a:pPr>
            <a:r>
              <a:t>  - PWM 5 -&gt; Ball Transport Belt Talon SRX</a:t>
            </a:r>
          </a:p>
          <a:p>
            <a:pPr>
              <a:spcAft>
                <a:spcPts val="600"/>
              </a:spcAft>
              <a:defRPr sz="1400">
                <a:solidFill>
                  <a:srgbClr val="1B2040"/>
                </a:solidFill>
                <a:latin typeface="Arial"/>
              </a:defRPr>
            </a:pPr>
            <a:r>
              <a:t>• CAN Bus Topology:</a:t>
            </a:r>
          </a:p>
          <a:p>
            <a:pPr>
              <a:spcAft>
                <a:spcPts val="600"/>
              </a:spcAft>
              <a:defRPr sz="1400">
                <a:solidFill>
                  <a:srgbClr val="1B2040"/>
                </a:solidFill>
                <a:latin typeface="Arial"/>
              </a:defRPr>
            </a:pPr>
            <a:r>
              <a:t>  roboRIO CAN -&gt; CTRE PCM (ID 0) -&gt; PDP (ID 1)</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Air Line Distribution</a:t>
            </a:r>
          </a:p>
          <a:p>
            <a:pPr>
              <a:spcAft>
                <a:spcPts val="600"/>
              </a:spcAft>
              <a:defRPr sz="1400">
                <a:solidFill>
                  <a:srgbClr val="1B2040"/>
                </a:solidFill>
                <a:latin typeface="Arial"/>
              </a:defRPr>
            </a:pPr>
            <a:r>
              <a:t>• Compressor &amp; Main Pressure Regulator:</a:t>
            </a:r>
          </a:p>
          <a:p>
            <a:pPr>
              <a:spcAft>
                <a:spcPts val="600"/>
              </a:spcAft>
              <a:defRPr sz="1400">
                <a:solidFill>
                  <a:srgbClr val="1B2040"/>
                </a:solidFill>
                <a:latin typeface="Arial"/>
              </a:defRPr>
            </a:pPr>
            <a:r>
              <a:t>  Main system pressure regulated to 60 PSI max.</a:t>
            </a:r>
          </a:p>
          <a:p>
            <a:pPr>
              <a:spcAft>
                <a:spcPts val="600"/>
              </a:spcAft>
              <a:defRPr sz="1400">
                <a:solidFill>
                  <a:srgbClr val="1B2040"/>
                </a:solidFill>
                <a:latin typeface="Arial"/>
              </a:defRPr>
            </a:pPr>
            <a:r>
              <a:t>• CTRE PCM Solenoid Module (ID 0):</a:t>
            </a:r>
          </a:p>
          <a:p>
            <a:pPr>
              <a:spcAft>
                <a:spcPts val="600"/>
              </a:spcAft>
              <a:defRPr sz="1400">
                <a:solidFill>
                  <a:srgbClr val="1B2040"/>
                </a:solidFill>
                <a:latin typeface="Arial"/>
              </a:defRPr>
            </a:pPr>
            <a:r>
              <a:t>  - Channel 0: Forward Solenoid Line (Extend)</a:t>
            </a:r>
          </a:p>
          <a:p>
            <a:pPr>
              <a:spcAft>
                <a:spcPts val="600"/>
              </a:spcAft>
              <a:defRPr sz="1400">
                <a:solidFill>
                  <a:srgbClr val="1B2040"/>
                </a:solidFill>
                <a:latin typeface="Arial"/>
              </a:defRPr>
            </a:pPr>
            <a:r>
              <a:t>  - Channel 1: Reverse Solenoid Line (Retract)</a:t>
            </a:r>
          </a:p>
          <a:p>
            <a:pPr>
              <a:spcAft>
                <a:spcPts val="600"/>
              </a:spcAft>
              <a:defRPr sz="1400">
                <a:solidFill>
                  <a:srgbClr val="1B2040"/>
                </a:solidFill>
                <a:latin typeface="Arial"/>
              </a:defRPr>
            </a:pPr>
            <a:r>
              <a:t>• Dual-Cylinder Split Tee Fittings:</a:t>
            </a:r>
          </a:p>
          <a:p>
            <a:pPr>
              <a:spcAft>
                <a:spcPts val="600"/>
              </a:spcAft>
              <a:defRPr sz="1400">
                <a:solidFill>
                  <a:srgbClr val="1B2040"/>
                </a:solidFill>
                <a:latin typeface="Arial"/>
              </a:defRPr>
            </a:pPr>
            <a:r>
              <a:t>  Channel 0 splits to Left &amp; Right Extend ports.</a:t>
            </a:r>
          </a:p>
          <a:p>
            <a:pPr>
              <a:spcAft>
                <a:spcPts val="600"/>
              </a:spcAft>
              <a:defRPr sz="1400">
                <a:solidFill>
                  <a:srgbClr val="1B2040"/>
                </a:solidFill>
                <a:latin typeface="Arial"/>
              </a:defRPr>
            </a:pPr>
            <a:r>
              <a:t>  Channel 1 splits to Left &amp; Right Retract 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Human Controls &amp; Dual CommandXboxController Mapping</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DRIVER CONTROLLER (USB Port 0)</a:t>
            </a:r>
          </a:p>
          <a:p>
            <a:pPr>
              <a:spcAft>
                <a:spcPts val="600"/>
              </a:spcAft>
              <a:defRPr sz="1400">
                <a:solidFill>
                  <a:srgbClr val="1B2040"/>
                </a:solidFill>
                <a:latin typeface="Arial"/>
              </a:defRPr>
            </a:pPr>
            <a:r>
              <a:t>• Driving Responsibilities:</a:t>
            </a:r>
          </a:p>
          <a:p>
            <a:pPr>
              <a:spcAft>
                <a:spcPts val="600"/>
              </a:spcAft>
              <a:defRPr sz="1400">
                <a:solidFill>
                  <a:srgbClr val="1B2040"/>
                </a:solidFill>
                <a:latin typeface="Arial"/>
              </a:defRPr>
            </a:pPr>
            <a:r>
              <a:t>  - Left Stick Y: Left-side tank drive speed</a:t>
            </a:r>
          </a:p>
          <a:p>
            <a:pPr>
              <a:spcAft>
                <a:spcPts val="600"/>
              </a:spcAft>
              <a:defRPr sz="1400">
                <a:solidFill>
                  <a:srgbClr val="1B2040"/>
                </a:solidFill>
                <a:latin typeface="Arial"/>
              </a:defRPr>
            </a:pPr>
            <a:r>
              <a:t>  - Right Stick Y: Right-side tank drive speed</a:t>
            </a:r>
          </a:p>
          <a:p>
            <a:pPr>
              <a:spcAft>
                <a:spcPts val="600"/>
              </a:spcAft>
              <a:defRPr sz="1400">
                <a:solidFill>
                  <a:srgbClr val="1B2040"/>
                </a:solidFill>
                <a:latin typeface="Arial"/>
              </a:defRPr>
            </a:pPr>
            <a:r>
              <a:t>  - Right Bumper (Held): Precision Slow Drive Mode (scales speed from 40% down to 20%)</a:t>
            </a:r>
          </a:p>
          <a:p>
            <a:pPr>
              <a:spcAft>
                <a:spcPts val="600"/>
              </a:spcAft>
              <a:defRPr sz="1400">
                <a:solidFill>
                  <a:srgbClr val="1B2040"/>
                </a:solidFill>
                <a:latin typeface="Arial"/>
              </a:defRPr>
            </a:pPr>
            <a:r>
              <a:t>• Axis Deadband Tuning:</a:t>
            </a:r>
          </a:p>
          <a:p>
            <a:pPr>
              <a:spcAft>
                <a:spcPts val="600"/>
              </a:spcAft>
              <a:defRPr sz="1400">
                <a:solidFill>
                  <a:srgbClr val="1B2040"/>
                </a:solidFill>
                <a:latin typeface="Arial"/>
              </a:defRPr>
            </a:pPr>
            <a:r>
              <a:t>  - 0.08 deadband applied to suppress stick drift</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Driver Station USB Setup &amp; Live Telemetry Diagnostics</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Driver Station USB Slot Index Rules</a:t>
            </a:r>
          </a:p>
          <a:p>
            <a:pPr>
              <a:spcAft>
                <a:spcPts val="600"/>
              </a:spcAft>
              <a:defRPr sz="1400">
                <a:solidFill>
                  <a:srgbClr val="1B2040"/>
                </a:solidFill>
                <a:latin typeface="Arial"/>
              </a:defRPr>
            </a:pPr>
            <a:r>
              <a:t>• USB Slot 0: Driver Xbox Controller</a:t>
            </a:r>
          </a:p>
          <a:p>
            <a:pPr>
              <a:spcAft>
                <a:spcPts val="600"/>
              </a:spcAft>
              <a:defRPr sz="1400">
                <a:solidFill>
                  <a:srgbClr val="1B2040"/>
                </a:solidFill>
                <a:latin typeface="Arial"/>
              </a:defRPr>
            </a:pPr>
            <a:r>
              <a:t>• USB Slot 1: Operator Xbox Controller</a:t>
            </a:r>
          </a:p>
          <a:p>
            <a:pPr>
              <a:spcAft>
                <a:spcPts val="600"/>
              </a:spcAft>
              <a:defRPr sz="1400">
                <a:solidFill>
                  <a:srgbClr val="1B2040"/>
                </a:solidFill>
                <a:latin typeface="Arial"/>
              </a:defRPr>
            </a:pPr>
            <a:r>
              <a:t>• Port-Swap Diagnostic Warning:</a:t>
            </a:r>
          </a:p>
          <a:p>
            <a:pPr>
              <a:spcAft>
                <a:spcPts val="600"/>
              </a:spcAft>
              <a:defRPr sz="1400">
                <a:solidFill>
                  <a:srgbClr val="1B2040"/>
                </a:solidFill>
                <a:latin typeface="Arial"/>
              </a:defRPr>
            </a:pPr>
            <a:r>
              <a:t>  Plugging the Operator controller into USB Slot 0 swaps driver and mechanism controls on the physical robot!</a:t>
            </a:r>
          </a:p>
          <a:p>
            <a:pPr>
              <a:spcAft>
                <a:spcPts val="600"/>
              </a:spcAft>
              <a:defRPr sz="1400">
                <a:solidFill>
                  <a:srgbClr val="1B2040"/>
                </a:solidFill>
                <a:latin typeface="Arial"/>
              </a:defRPr>
            </a:pPr>
            <a:r>
              <a:t>• USB Order Lock:</a:t>
            </a:r>
          </a:p>
          <a:p>
            <a:pPr>
              <a:spcAft>
                <a:spcPts val="600"/>
              </a:spcAft>
              <a:defRPr sz="1400">
                <a:solidFill>
                  <a:srgbClr val="1B2040"/>
                </a:solidFill>
                <a:latin typeface="Arial"/>
              </a:defRPr>
            </a:pPr>
            <a:r>
              <a:t>  Always verify USB slot index order in Driver Station before enabling.</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Live Telemetry Diagnostics</a:t>
            </a:r>
          </a:p>
          <a:p>
            <a:pPr>
              <a:spcAft>
                <a:spcPts val="600"/>
              </a:spcAft>
              <a:defRPr sz="1400">
                <a:solidFill>
                  <a:srgbClr val="1B2040"/>
                </a:solidFill>
                <a:latin typeface="Arial"/>
              </a:defRPr>
            </a:pPr>
            <a:r>
              <a:t>• USB Input Indicator Grid:</a:t>
            </a:r>
          </a:p>
          <a:p>
            <a:pPr>
              <a:spcAft>
                <a:spcPts val="600"/>
              </a:spcAft>
              <a:defRPr sz="1400">
                <a:solidFill>
                  <a:srgbClr val="1B2040"/>
                </a:solidFill>
                <a:latin typeface="Arial"/>
              </a:defRPr>
            </a:pPr>
            <a:r>
              <a:t>  Driver Station UI highlights active buttons in real time when physically depressed.</a:t>
            </a:r>
          </a:p>
          <a:p>
            <a:pPr>
              <a:spcAft>
                <a:spcPts val="600"/>
              </a:spcAft>
              <a:defRPr sz="1400">
                <a:solidFill>
                  <a:srgbClr val="1B2040"/>
                </a:solidFill>
                <a:latin typeface="Arial"/>
              </a:defRPr>
            </a:pPr>
            <a:r>
              <a:t>• Diagnostic Workflow:</a:t>
            </a:r>
          </a:p>
          <a:p>
            <a:pPr>
              <a:spcAft>
                <a:spcPts val="600"/>
              </a:spcAft>
              <a:defRPr sz="1400">
                <a:solidFill>
                  <a:srgbClr val="1B2040"/>
                </a:solidFill>
                <a:latin typeface="Arial"/>
              </a:defRPr>
            </a:pPr>
            <a:r>
              <a:t>  1. Press Operator Button A -&gt; Verify Button 1 illuminates on USB Slot 1.</a:t>
            </a:r>
          </a:p>
          <a:p>
            <a:pPr>
              <a:spcAft>
                <a:spcPts val="600"/>
              </a:spcAft>
              <a:defRPr sz="1400">
                <a:solidFill>
                  <a:srgbClr val="1B2040"/>
                </a:solidFill>
                <a:latin typeface="Arial"/>
              </a:defRPr>
            </a:pPr>
            <a:r>
              <a:t>  2. Press Driver Right Bumper -&gt; Verify Bumper illuminates on USB Slot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Reading Controller Inputs in TimedRobot</a:t>
            </a: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Manual Polling Mechanics</a:t>
            </a:r>
          </a:p>
          <a:p>
            <a:pPr>
              <a:spcAft>
                <a:spcPts val="600"/>
              </a:spcAft>
              <a:defRPr sz="1400">
                <a:solidFill>
                  <a:srgbClr val="1B2040"/>
                </a:solidFill>
                <a:latin typeface="Arial"/>
              </a:defRPr>
            </a:pPr>
            <a:r>
              <a:t>• Output Persistence Rule:</a:t>
            </a:r>
          </a:p>
          <a:p>
            <a:pPr>
              <a:spcAft>
                <a:spcPts val="600"/>
              </a:spcAft>
              <a:defRPr sz="1400">
                <a:solidFill>
                  <a:srgbClr val="1B2040"/>
                </a:solidFill>
                <a:latin typeface="Arial"/>
              </a:defRPr>
            </a:pPr>
            <a:r>
              <a:t>  A motor controller retains its last commanded output until a new value is written or the robot is disabled.</a:t>
            </a:r>
          </a:p>
          <a:p>
            <a:pPr>
              <a:spcAft>
                <a:spcPts val="600"/>
              </a:spcAft>
              <a:defRPr sz="1400">
                <a:solidFill>
                  <a:srgbClr val="1B2040"/>
                </a:solidFill>
                <a:latin typeface="Arial"/>
              </a:defRPr>
            </a:pPr>
            <a:r>
              <a:t>• Mandatory Release Cutoff:</a:t>
            </a:r>
          </a:p>
          <a:p>
            <a:pPr>
              <a:spcAft>
                <a:spcPts val="600"/>
              </a:spcAft>
              <a:defRPr sz="1400">
                <a:solidFill>
                  <a:srgbClr val="1B2040"/>
                </a:solidFill>
                <a:latin typeface="Arial"/>
              </a:defRPr>
            </a:pPr>
            <a:r>
              <a:t>  </a:t>
            </a:r>
            <a:r>
              <a:rPr lang="en-US"/>
              <a:t>Without the else { set(0.0); } block, the previous motor output remains active until code writes a new value or the robot is disabled.</a:t>
            </a:r>
            <a:endParaRPr/>
          </a:p>
          <a:p>
            <a:pPr>
              <a:spcAft>
                <a:spcPts val="600"/>
              </a:spcAft>
              <a:defRPr sz="1400">
                <a:solidFill>
                  <a:srgbClr val="1B2040"/>
                </a:solidFill>
                <a:latin typeface="Arial"/>
              </a:defRPr>
            </a:pPr>
            <a:r>
              <a:t>• Polling Scalability Bottleneck:</a:t>
            </a:r>
          </a:p>
          <a:p>
            <a:pPr>
              <a:spcAft>
                <a:spcPts val="600"/>
              </a:spcAft>
              <a:defRPr sz="1400">
                <a:solidFill>
                  <a:srgbClr val="1B2040"/>
                </a:solidFill>
                <a:latin typeface="Arial"/>
              </a:defRPr>
            </a:pPr>
            <a:r>
              <a:t>  Manual if/else ladders grow unmaintainable across 10+ buttons.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reaches PWM port 5</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4. BeltInCommand</a:t>
            </a:r>
            <a:br/>
            <a:r>
              <a:t>(Lifecycle Hooks)</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Physical Signal Trace — Pass 1 Checkpoint</a:t>
            </a:r>
          </a:p>
          <a:p>
            <a:pPr>
              <a:spcAft>
                <a:spcPts val="600"/>
              </a:spcAft>
              <a:defRPr sz="1400">
                <a:solidFill>
                  <a:srgbClr val="1B2040"/>
                </a:solidFill>
                <a:latin typeface="Arial"/>
              </a:defRPr>
            </a:pPr>
            <a:r>
              <a:t>1. Physical Human Press: Operator's thumb depresses Button A on Xbox Controller (USB Port 1).</a:t>
            </a:r>
          </a:p>
          <a:p>
            <a:pPr>
              <a:spcAft>
                <a:spcPts val="600"/>
              </a:spcAft>
              <a:defRPr sz="1400">
                <a:solidFill>
                  <a:srgbClr val="1B2040"/>
                </a:solidFill>
                <a:latin typeface="Arial"/>
              </a:defRPr>
            </a:pPr>
            <a:r>
              <a:t>2. USB HID Packet: Windows Driver Station packages raw digital state into USB HID data frame.</a:t>
            </a:r>
          </a:p>
          <a:p>
            <a:pPr>
              <a:spcAft>
                <a:spcPts val="600"/>
              </a:spcAft>
              <a:defRPr sz="1400">
                <a:solidFill>
                  <a:srgbClr val="1B2040"/>
                </a:solidFill>
                <a:latin typeface="Arial"/>
              </a:defRPr>
            </a:pPr>
            <a:r>
              <a:t>3. Driver Station UDP Broadcast: Transmits 20ms UDP control packet across Wi-Fi / Ethernet to roboRIO.</a:t>
            </a:r>
          </a:p>
          <a:p>
            <a:pPr>
              <a:spcAft>
                <a:spcPts val="600"/>
              </a:spcAft>
              <a:defRPr sz="1400">
                <a:solidFill>
                  <a:srgbClr val="1B2040"/>
                </a:solidFill>
                <a:latin typeface="Arial"/>
              </a:defRPr>
            </a:pPr>
            <a:r>
              <a:t>4. roboRIO HAL / FPGA: NetComm daemon parses packet and updates DriverStation HAL state buffer.</a:t>
            </a:r>
          </a:p>
          <a:p>
            <a:pPr>
              <a:spcAft>
                <a:spcPts val="600"/>
              </a:spcAft>
              <a:defRPr sz="1400">
                <a:solidFill>
                  <a:srgbClr val="1B2040"/>
                </a:solidFill>
                <a:latin typeface="Arial"/>
              </a:defRPr>
            </a:pPr>
            <a:r>
              <a:t>5. Actuator Power Output: roboRIO FPGA emits 1.0ms–2.0ms PWM pulse on PWM Port 5, driving Talon SRX to +12V.</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Two Commands Request the Belt</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 Concrete Engineering Conflict</a:t>
            </a:r>
          </a:p>
          <a:p>
            <a:pPr>
              <a:spcAft>
                <a:spcPts val="600"/>
              </a:spcAft>
              <a:defRPr sz="1400">
                <a:solidFill>
                  <a:srgbClr val="1B2040"/>
                </a:solidFill>
                <a:latin typeface="Arial"/>
              </a:defRPr>
            </a:pPr>
            <a:r>
              <a:t>• Operator Action 1:</a:t>
            </a:r>
          </a:p>
          <a:p>
            <a:pPr>
              <a:spcAft>
                <a:spcPts val="600"/>
              </a:spcAft>
              <a:defRPr sz="1400">
                <a:solidFill>
                  <a:srgbClr val="1B2040"/>
                </a:solidFill>
                <a:latin typeface="Arial"/>
              </a:defRPr>
            </a:pPr>
            <a:r>
              <a:t>  Operator presses Button A -&gt; Requests BeltInCommand (+1.0 speed).</a:t>
            </a:r>
          </a:p>
          <a:p>
            <a:pPr>
              <a:spcAft>
                <a:spcPts val="600"/>
              </a:spcAft>
              <a:defRPr sz="1400">
                <a:solidFill>
                  <a:srgbClr val="1B2040"/>
                </a:solidFill>
                <a:latin typeface="Arial"/>
              </a:defRPr>
            </a:pPr>
            <a:r>
              <a:t>• Operator Action 2 (Simultaneous):</a:t>
            </a:r>
          </a:p>
          <a:p>
            <a:pPr>
              <a:spcAft>
                <a:spcPts val="600"/>
              </a:spcAft>
              <a:defRPr sz="1400">
                <a:solidFill>
                  <a:srgbClr val="1B2040"/>
                </a:solidFill>
                <a:latin typeface="Arial"/>
              </a:defRPr>
            </a:pPr>
            <a:r>
              <a:t>  Operator presses Button B -&gt; Requests BeltOutCommand (-1.0 speed).</a:t>
            </a:r>
          </a:p>
          <a:p>
            <a:pPr>
              <a:spcAft>
                <a:spcPts val="600"/>
              </a:spcAft>
              <a:defRPr sz="1400">
                <a:solidFill>
                  <a:srgbClr val="1B2040"/>
                </a:solidFill>
                <a:latin typeface="Arial"/>
              </a:defRPr>
            </a:pPr>
            <a:r>
              <a:t>• Hardware Contention:</a:t>
            </a:r>
          </a:p>
          <a:p>
            <a:pPr>
              <a:spcAft>
                <a:spcPts val="600"/>
              </a:spcAft>
              <a:defRPr sz="1400">
                <a:solidFill>
                  <a:srgbClr val="1B2040"/>
                </a:solidFill>
                <a:latin typeface="Arial"/>
              </a:defRPr>
            </a:pPr>
            <a:r>
              <a:t>  Both commands target the exact same Talon SRX motor controller on PWM Port 5.</a:t>
            </a:r>
          </a:p>
          <a:p>
            <a:pPr>
              <a:spcAft>
                <a:spcPts val="600"/>
              </a:spcAft>
              <a:defRPr sz="1400">
                <a:solidFill>
                  <a:srgbClr val="1B2040"/>
                </a:solidFill>
                <a:latin typeface="Arial"/>
              </a:defRPr>
            </a:pPr>
            <a:r>
              <a:t>• Unsafe 'Last Write Wins':</a:t>
            </a:r>
          </a:p>
          <a:p>
            <a:pPr>
              <a:spcAft>
                <a:spcPts val="600"/>
              </a:spcAft>
              <a:defRPr sz="1400">
                <a:solidFill>
                  <a:srgbClr val="1B2040"/>
                </a:solidFill>
                <a:latin typeface="Arial"/>
              </a:defRPr>
            </a:pPr>
            <a:r>
              <a:t>  </a:t>
            </a:r>
            <a:r>
              <a:rPr lang="en-US"/>
              <a:t>Without framework management, motor output depends on execution order. The result is deterministic, but brittle and unsafe.</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The Architectural Solution</a:t>
            </a:r>
          </a:p>
          <a:p>
            <a:pPr>
              <a:spcAft>
                <a:spcPts val="600"/>
              </a:spcAft>
              <a:defRPr sz="1400">
                <a:solidFill>
                  <a:srgbClr val="1B2040"/>
                </a:solidFill>
                <a:latin typeface="Arial"/>
              </a:defRPr>
            </a:pPr>
            <a:r>
              <a:t>• Subsystem Resource Ownership:</a:t>
            </a:r>
          </a:p>
          <a:p>
            <a:pPr>
              <a:spcAft>
                <a:spcPts val="600"/>
              </a:spcAft>
              <a:defRPr sz="1400">
                <a:solidFill>
                  <a:srgbClr val="1B2040"/>
                </a:solidFill>
                <a:latin typeface="Arial"/>
              </a:defRPr>
            </a:pPr>
            <a:r>
              <a:t>  Commands must declare which physical hardware mechanisms they require.</a:t>
            </a:r>
          </a:p>
          <a:p>
            <a:pPr>
              <a:spcAft>
                <a:spcPts val="600"/>
              </a:spcAft>
              <a:defRPr sz="1400">
                <a:solidFill>
                  <a:srgbClr val="1B2040"/>
                </a:solidFill>
                <a:latin typeface="Arial"/>
              </a:defRPr>
            </a:pPr>
            <a:r>
              <a:t>• CommandScheduler as Referee:</a:t>
            </a:r>
          </a:p>
          <a:p>
            <a:pPr>
              <a:spcAft>
                <a:spcPts val="600"/>
              </a:spcAft>
              <a:defRPr sz="1400">
                <a:solidFill>
                  <a:srgbClr val="1B2040"/>
                </a:solidFill>
                <a:latin typeface="Arial"/>
              </a:defRPr>
            </a:pPr>
            <a:r>
              <a:t>  When a new command requests a busy subsystem, the scheduler interrupts the older command safely.</a:t>
            </a:r>
          </a:p>
          <a:p>
            <a:pPr>
              <a:spcAft>
                <a:spcPts val="600"/>
              </a:spcAft>
              <a:defRPr sz="1400">
                <a:solidFill>
                  <a:srgbClr val="1B2040"/>
                </a:solidFill>
                <a:latin typeface="Arial"/>
              </a:defRPr>
            </a:pPr>
            <a:r>
              <a:t>• Explicit Conflict Resolution:</a:t>
            </a:r>
          </a:p>
          <a:p>
            <a:pPr>
              <a:spcAft>
                <a:spcPts val="600"/>
              </a:spcAft>
              <a:defRPr sz="1400">
                <a:solidFill>
                  <a:srgbClr val="1B2040"/>
                </a:solidFill>
                <a:latin typeface="Arial"/>
              </a:defRPr>
            </a:pPr>
            <a:r>
              <a:t>  </a:t>
            </a:r>
            <a:r>
              <a:rPr lang="en-US"/>
              <a:t>Makes command ownership explicit and resolves the conflict safely.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Subsystem Requirements &amp; Hardware Exclusivity</a:t>
            </a: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Registers resource requirement with scheduler referee</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Scheduler Ownership Rules</a:t>
            </a:r>
          </a:p>
          <a:p>
            <a:pPr>
              <a:spcAft>
                <a:spcPts val="600"/>
              </a:spcAft>
              <a:defRPr sz="1400">
                <a:solidFill>
                  <a:srgbClr val="1B2040"/>
                </a:solidFill>
                <a:latin typeface="Arial"/>
              </a:defRPr>
            </a:pPr>
            <a:r>
              <a:t>• Resource Registration:</a:t>
            </a:r>
          </a:p>
          <a:p>
            <a:pPr>
              <a:spcAft>
                <a:spcPts val="600"/>
              </a:spcAft>
              <a:defRPr sz="1400">
                <a:solidFill>
                  <a:srgbClr val="1B2040"/>
                </a:solidFill>
                <a:latin typeface="Arial"/>
              </a:defRPr>
            </a:pPr>
            <a:r>
              <a:t>  addRequirements() registers the subsystem inside the CommandScheduler list.</a:t>
            </a:r>
          </a:p>
          <a:p>
            <a:pPr>
              <a:spcAft>
                <a:spcPts val="600"/>
              </a:spcAft>
              <a:defRPr sz="1400">
                <a:solidFill>
                  <a:srgbClr val="1B2040"/>
                </a:solidFill>
                <a:latin typeface="Arial"/>
              </a:defRPr>
            </a:pPr>
            <a:r>
              <a:t>• Logical Referee (Main Thread):</a:t>
            </a:r>
          </a:p>
          <a:p>
            <a:pPr>
              <a:spcAft>
                <a:spcPts val="600"/>
              </a:spcAft>
              <a:defRPr sz="1400">
                <a:solidFill>
                  <a:srgbClr val="1B2040"/>
                </a:solidFill>
                <a:latin typeface="Arial"/>
              </a:defRPr>
            </a:pPr>
            <a:r>
              <a:t>  It acts as a scheduler referee on the single main loop thread—it is NOT an OS thread mutex.</a:t>
            </a:r>
          </a:p>
          <a:p>
            <a:pPr>
              <a:spcAft>
                <a:spcPts val="600"/>
              </a:spcAft>
              <a:defRPr sz="1400">
                <a:solidFill>
                  <a:srgbClr val="1B2040"/>
                </a:solidFill>
                <a:latin typeface="Arial"/>
              </a:defRPr>
            </a:pPr>
            <a:r>
              <a:t>• Interrupt Preemption:</a:t>
            </a:r>
          </a:p>
          <a:p>
            <a:pPr>
              <a:spcAft>
                <a:spcPts val="600"/>
              </a:spcAft>
              <a:defRPr sz="1400">
                <a:solidFill>
                  <a:srgbClr val="1B2040"/>
                </a:solidFill>
                <a:latin typeface="Arial"/>
              </a:defRPr>
            </a:pPr>
            <a:r>
              <a:t>  If Button B schedules BeltOutCommand, the scheduler automatically cancels BeltInCommand and calls its end(true) method.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Architectural Separation: Subsystems (HOW) vs. Commands (WHEN)</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SUBSYSTEMS (SubsystemBase)</a:t>
            </a:r>
          </a:p>
          <a:p>
            <a:pPr>
              <a:spcAft>
                <a:spcPts val="600"/>
              </a:spcAft>
              <a:defRPr sz="1400">
                <a:solidFill>
                  <a:srgbClr val="1B2040"/>
                </a:solidFill>
                <a:latin typeface="Arial"/>
              </a:defRPr>
            </a:pPr>
            <a:r>
              <a:t>• Hardware Encapsulation (HOW):</a:t>
            </a:r>
          </a:p>
          <a:p>
            <a:pPr>
              <a:spcAft>
                <a:spcPts val="600"/>
              </a:spcAft>
              <a:defRPr sz="1400">
                <a:solidFill>
                  <a:srgbClr val="1B2040"/>
                </a:solidFill>
                <a:latin typeface="Arial"/>
              </a:defRPr>
            </a:pPr>
            <a:r>
              <a:t>  Owns raw motor controllers, solenoids, and sensors in private fields.</a:t>
            </a:r>
          </a:p>
          <a:p>
            <a:pPr>
              <a:spcAft>
                <a:spcPts val="600"/>
              </a:spcAft>
              <a:defRPr sz="1400">
                <a:solidFill>
                  <a:srgbClr val="1B2040"/>
                </a:solidFill>
                <a:latin typeface="Arial"/>
              </a:defRPr>
            </a:pPr>
            <a:r>
              <a:t>• Public Mechanism API:</a:t>
            </a:r>
          </a:p>
          <a:p>
            <a:pPr>
              <a:spcAft>
                <a:spcPts val="600"/>
              </a:spcAft>
              <a:defRPr sz="1400">
                <a:solidFill>
                  <a:srgbClr val="1B2040"/>
                </a:solidFill>
                <a:latin typeface="Arial"/>
              </a:defRPr>
            </a:pPr>
            <a:r>
              <a:t>  Exposes state-manipulation methods (e.g. run(speed), stop()).</a:t>
            </a:r>
          </a:p>
          <a:p>
            <a:pPr>
              <a:spcAft>
                <a:spcPts val="600"/>
              </a:spcAft>
              <a:defRPr sz="1400">
                <a:solidFill>
                  <a:srgbClr val="1B2040"/>
                </a:solidFill>
                <a:latin typeface="Arial"/>
              </a:defRPr>
            </a:pPr>
            <a:r>
              <a:t>• Decoupled Mechanisms:</a:t>
            </a:r>
          </a:p>
          <a:p>
            <a:pPr>
              <a:spcAft>
                <a:spcPts val="600"/>
              </a:spcAft>
              <a:defRPr sz="1400">
                <a:solidFill>
                  <a:srgbClr val="1B2040"/>
                </a:solidFill>
                <a:latin typeface="Arial"/>
              </a:defRPr>
            </a:pPr>
            <a:r>
              <a:t>  BeltSubsystem, RollerSubsystem, DriveSubsystem, and ClimberSubsystem operate as independent domains.</a:t>
            </a: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COMMANDS (Command)</a:t>
            </a:r>
          </a:p>
          <a:p>
            <a:pPr>
              <a:spcAft>
                <a:spcPts val="600"/>
              </a:spcAft>
              <a:defRPr sz="1400">
                <a:solidFill>
                  <a:srgbClr val="1B2040"/>
                </a:solidFill>
                <a:latin typeface="Arial"/>
              </a:defRPr>
            </a:pPr>
            <a:r>
              <a:t>• Action Execution Rules (WHEN):</a:t>
            </a:r>
          </a:p>
          <a:p>
            <a:pPr>
              <a:spcAft>
                <a:spcPts val="600"/>
              </a:spcAft>
              <a:defRPr sz="1400">
                <a:solidFill>
                  <a:srgbClr val="1B2040"/>
                </a:solidFill>
                <a:latin typeface="Arial"/>
              </a:defRPr>
            </a:pPr>
            <a:r>
              <a:t>  Dictates when, for how long, and under what conditions an action occurs.</a:t>
            </a:r>
          </a:p>
          <a:p>
            <a:pPr>
              <a:spcAft>
                <a:spcPts val="600"/>
              </a:spcAft>
              <a:defRPr sz="1400">
                <a:solidFill>
                  <a:srgbClr val="1B2040"/>
                </a:solidFill>
                <a:latin typeface="Arial"/>
              </a:defRPr>
            </a:pPr>
            <a:r>
              <a:t>• Resource Declarations:</a:t>
            </a:r>
          </a:p>
          <a:p>
            <a:pPr>
              <a:spcAft>
                <a:spcPts val="600"/>
              </a:spcAft>
              <a:defRPr sz="1400">
                <a:solidFill>
                  <a:srgbClr val="1B2040"/>
                </a:solidFill>
                <a:latin typeface="Arial"/>
              </a:defRPr>
            </a:pPr>
            <a:r>
              <a:t>  Declares requirements via addRequirements() to lock hardware.</a:t>
            </a:r>
          </a:p>
          <a:p>
            <a:pPr>
              <a:spcAft>
                <a:spcPts val="600"/>
              </a:spcAft>
              <a:defRPr sz="1400">
                <a:solidFill>
                  <a:srgbClr val="1B2040"/>
                </a:solidFill>
                <a:latin typeface="Arial"/>
              </a:defRPr>
            </a:pPr>
            <a:r>
              <a:t>• Lifecycle Management:</a:t>
            </a:r>
          </a:p>
          <a:p>
            <a:pPr>
              <a:spcAft>
                <a:spcPts val="600"/>
              </a:spcAft>
              <a:defRPr sz="1400">
                <a:solidFill>
                  <a:srgbClr val="1B2040"/>
                </a:solidFill>
                <a:latin typeface="Arial"/>
              </a:defRPr>
            </a:pPr>
            <a:r>
              <a:t>  Contains state machine logic across initialize(), execute(), isFinished(), and end().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Trigger Bindings: whileTrue, onTrue, and setDefaultCommand</a:t>
            </a: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whileTrue(command)</a:t>
            </a:r>
          </a:p>
          <a:p>
            <a:pPr>
              <a:spcAft>
                <a:spcPts val="600"/>
              </a:spcAft>
              <a:defRPr sz="1400">
                <a:solidFill>
                  <a:srgbClr val="1B2040"/>
                </a:solidFill>
                <a:latin typeface="Arial"/>
              </a:defRPr>
            </a:pPr>
            <a:r>
              <a:t>• Momentary Control:</a:t>
            </a:r>
          </a:p>
          <a:p>
            <a:pPr>
              <a:spcAft>
                <a:spcPts val="600"/>
              </a:spcAft>
              <a:defRPr sz="1400">
                <a:solidFill>
                  <a:srgbClr val="1B2040"/>
                </a:solidFill>
                <a:latin typeface="Arial"/>
              </a:defRPr>
            </a:pPr>
            <a:r>
              <a:t>  Schedules command when button is pressed; cancels it when released.</a:t>
            </a:r>
          </a:p>
          <a:p>
            <a:pPr>
              <a:spcAft>
                <a:spcPts val="600"/>
              </a:spcAft>
              <a:defRPr sz="1400">
                <a:solidFill>
                  <a:srgbClr val="1B2040"/>
                </a:solidFill>
                <a:latin typeface="Arial"/>
              </a:defRPr>
            </a:pPr>
            <a:r>
              <a:t>• Active Motor Actions:</a:t>
            </a:r>
          </a:p>
          <a:p>
            <a:pPr>
              <a:spcAft>
                <a:spcPts val="600"/>
              </a:spcAft>
              <a:defRPr sz="1400">
                <a:solidFill>
                  <a:srgbClr val="1B2040"/>
                </a:solidFill>
                <a:latin typeface="Arial"/>
              </a:defRPr>
            </a:pPr>
            <a:r>
              <a:t>  Used for BeltInCommand, BeltOutCommand, RollerCommand.</a:t>
            </a:r>
          </a:p>
          <a:p>
            <a:pPr>
              <a:spcAft>
                <a:spcPts val="600"/>
              </a:spcAft>
              <a:defRPr sz="1400">
                <a:solidFill>
                  <a:srgbClr val="1B2040"/>
                </a:solidFill>
                <a:latin typeface="Arial"/>
              </a:defRPr>
            </a:pPr>
            <a:r>
              <a:t>• Automatic Cancellation:</a:t>
            </a:r>
          </a:p>
          <a:p>
            <a:pPr>
              <a:spcAft>
                <a:spcPts val="600"/>
              </a:spcAft>
              <a:defRPr sz="1400">
                <a:solidFill>
                  <a:srgbClr val="1B2040"/>
                </a:solidFill>
                <a:latin typeface="Arial"/>
              </a:defRPr>
            </a:pPr>
            <a:r>
              <a:t>  Button release invokes end(true) to shut down motor.</a:t>
            </a: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onTrue(command)</a:t>
            </a:r>
          </a:p>
          <a:p>
            <a:pPr>
              <a:spcAft>
                <a:spcPts val="600"/>
              </a:spcAft>
              <a:defRPr sz="1400">
                <a:solidFill>
                  <a:srgbClr val="1B2040"/>
                </a:solidFill>
                <a:latin typeface="Arial"/>
              </a:defRPr>
            </a:pPr>
            <a:r>
              <a:t>• Rising-Edge Trigger:</a:t>
            </a:r>
          </a:p>
          <a:p>
            <a:pPr>
              <a:spcAft>
                <a:spcPts val="600"/>
              </a:spcAft>
              <a:defRPr sz="1400">
                <a:solidFill>
                  <a:srgbClr val="1B2040"/>
                </a:solidFill>
                <a:latin typeface="Arial"/>
              </a:defRPr>
            </a:pPr>
            <a:r>
              <a:t>  Schedules command ONCE on button press transition.</a:t>
            </a:r>
          </a:p>
          <a:p>
            <a:pPr>
              <a:spcAft>
                <a:spcPts val="600"/>
              </a:spcAft>
              <a:defRPr sz="1400">
                <a:solidFill>
                  <a:srgbClr val="1B2040"/>
                </a:solidFill>
                <a:latin typeface="Arial"/>
              </a:defRPr>
            </a:pPr>
            <a:r>
              <a:t>• Instant State Actions:</a:t>
            </a:r>
          </a:p>
          <a:p>
            <a:pPr>
              <a:spcAft>
                <a:spcPts val="600"/>
              </a:spcAft>
              <a:defRPr sz="1400">
                <a:solidFill>
                  <a:srgbClr val="1B2040"/>
                </a:solidFill>
                <a:latin typeface="Arial"/>
              </a:defRPr>
            </a:pPr>
            <a:r>
              <a:t>  Used for ToggleClimberArmsCommand.</a:t>
            </a:r>
          </a:p>
          <a:p>
            <a:pPr>
              <a:spcAft>
                <a:spcPts val="600"/>
              </a:spcAft>
              <a:defRPr sz="1400">
                <a:solidFill>
                  <a:srgbClr val="1B2040"/>
                </a:solidFill>
                <a:latin typeface="Arial"/>
              </a:defRPr>
            </a:pPr>
            <a:r>
              <a:t>• Self-Terminating:</a:t>
            </a:r>
          </a:p>
          <a:p>
            <a:pPr>
              <a:spcAft>
                <a:spcPts val="600"/>
              </a:spcAft>
              <a:defRPr sz="1400">
                <a:solidFill>
                  <a:srgbClr val="1B2040"/>
                </a:solidFill>
                <a:latin typeface="Arial"/>
              </a:defRPr>
            </a:pPr>
            <a:r>
              <a:t>  Command ends immediately because its isFinished() returns true.</a:t>
            </a: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setDefaultCommand(...)</a:t>
            </a:r>
          </a:p>
          <a:p>
            <a:pPr>
              <a:spcAft>
                <a:spcPts val="600"/>
              </a:spcAft>
              <a:defRPr sz="1400">
                <a:solidFill>
                  <a:srgbClr val="1B2040"/>
                </a:solidFill>
                <a:latin typeface="Arial"/>
              </a:defRPr>
            </a:pPr>
            <a:r>
              <a:t>• Fallback Subsystem Action:</a:t>
            </a:r>
          </a:p>
          <a:p>
            <a:pPr>
              <a:spcAft>
                <a:spcPts val="600"/>
              </a:spcAft>
              <a:defRPr sz="1400">
                <a:solidFill>
                  <a:srgbClr val="1B2040"/>
                </a:solidFill>
                <a:latin typeface="Arial"/>
              </a:defRPr>
            </a:pPr>
            <a:r>
              <a:t>  Runs automatically when no other command requires the subsystem.</a:t>
            </a:r>
          </a:p>
          <a:p>
            <a:pPr>
              <a:spcAft>
                <a:spcPts val="600"/>
              </a:spcAft>
              <a:defRPr sz="1400">
                <a:solidFill>
                  <a:srgbClr val="1B2040"/>
                </a:solidFill>
                <a:latin typeface="Arial"/>
              </a:defRPr>
            </a:pPr>
            <a:r>
              <a:t>• Continuous Control:</a:t>
            </a:r>
          </a:p>
          <a:p>
            <a:pPr>
              <a:spcAft>
                <a:spcPts val="600"/>
              </a:spcAft>
              <a:defRPr sz="1400">
                <a:solidFill>
                  <a:srgbClr val="1B2040"/>
                </a:solidFill>
                <a:latin typeface="Arial"/>
              </a:defRPr>
            </a:pPr>
            <a:r>
              <a:t>  Used for DriveTeleopCommand on DriveSubsystem.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Polymorphic Command Lifecycle Method Hooks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initialize()</a:t>
            </a:r>
          </a:p>
          <a:p>
            <a:pPr>
              <a:spcAft>
                <a:spcPts val="600"/>
              </a:spcAft>
              <a:defRPr sz="1400">
                <a:solidFill>
                  <a:srgbClr val="1B2040"/>
                </a:solidFill>
                <a:latin typeface="Arial"/>
              </a:defRPr>
            </a:pPr>
            <a:r>
              <a:t>• Executed ONCE when command is first scheduled.</a:t>
            </a:r>
          </a:p>
          <a:p>
            <a:pPr>
              <a:spcAft>
                <a:spcPts val="600"/>
              </a:spcAft>
              <a:defRPr sz="1400">
                <a:solidFill>
                  <a:srgbClr val="1B2040"/>
                </a:solidFill>
                <a:latin typeface="Arial"/>
              </a:defRPr>
            </a:pPr>
            <a:r>
              <a:t>• Used to set up initial state, reset timers, or shift pneumatic valves.</a:t>
            </a: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execute()</a:t>
            </a:r>
          </a:p>
          <a:p>
            <a:pPr>
              <a:spcAft>
                <a:spcPts val="600"/>
              </a:spcAft>
              <a:defRPr sz="1400">
                <a:solidFill>
                  <a:srgbClr val="1B2040"/>
                </a:solidFill>
                <a:latin typeface="Arial"/>
              </a:defRPr>
            </a:pPr>
            <a:r>
              <a:t>• Executed repeatedly every 20ms pass while active.</a:t>
            </a:r>
          </a:p>
          <a:p>
            <a:pPr>
              <a:spcAft>
                <a:spcPts val="600"/>
              </a:spcAft>
              <a:defRPr sz="1400">
                <a:solidFill>
                  <a:srgbClr val="1B2040"/>
                </a:solidFill>
                <a:latin typeface="Arial"/>
              </a:defRPr>
            </a:pPr>
            <a:r>
              <a:t>• Sends continuous setpoints to motor controllers.</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isFinished()</a:t>
            </a:r>
          </a:p>
          <a:p>
            <a:pPr>
              <a:spcAft>
                <a:spcPts val="600"/>
              </a:spcAft>
              <a:defRPr sz="1400">
                <a:solidFill>
                  <a:srgbClr val="1B2040"/>
                </a:solidFill>
                <a:latin typeface="Arial"/>
              </a:defRPr>
            </a:pPr>
            <a:r>
              <a:t>• Evaluated every 20ms pass to check for completion.</a:t>
            </a:r>
          </a:p>
          <a:p>
            <a:pPr>
              <a:spcAft>
                <a:spcPts val="600"/>
              </a:spcAft>
              <a:defRPr sz="1400">
                <a:solidFill>
                  <a:srgbClr val="1B2040"/>
                </a:solidFill>
                <a:latin typeface="Arial"/>
              </a:defRPr>
            </a:pPr>
            <a:r>
              <a:t>• Returns true to signal normal completion; false to keep running.</a:t>
            </a: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end(boolean interrupted)</a:t>
            </a:r>
          </a:p>
          <a:p>
            <a:pPr>
              <a:spcAft>
                <a:spcPts val="600"/>
              </a:spcAft>
              <a:defRPr sz="1400">
                <a:solidFill>
                  <a:srgbClr val="1B2040"/>
                </a:solidFill>
                <a:latin typeface="Arial"/>
              </a:defRPr>
            </a:pPr>
            <a:r>
              <a:t>• Executed ONCE when command finishes or is cancelled.</a:t>
            </a:r>
          </a:p>
          <a:p>
            <a:pPr>
              <a:spcAft>
                <a:spcPts val="600"/>
              </a:spcAft>
              <a:defRPr sz="1400">
                <a:solidFill>
                  <a:srgbClr val="1B2040"/>
                </a:solidFill>
                <a:latin typeface="Arial"/>
              </a:defRPr>
            </a:pPr>
            <a:r>
              <a:t>• Crucial for safety: shuts down motors (e.g. beltSubsystem.stop()).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The Fixed 20ms Single-Threaded CommandScheduler Loop</a:t>
            </a: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WPILib 2026 Discrete 50 Hz Loop Pass Sequence</a:t>
            </a:r>
          </a:p>
          <a:p>
            <a:pPr>
              <a:spcAft>
                <a:spcPts val="600"/>
              </a:spcAft>
              <a:defRPr sz="1400">
                <a:solidFill>
                  <a:srgbClr val="1B2040"/>
                </a:solidFill>
                <a:latin typeface="Arial"/>
              </a:defRPr>
            </a:pPr>
            <a:r>
              <a:t>1. Subsystem periodic() -&gt; Calls periodic() on all registered SubsystemBase objects to update telemetry/sensors.</a:t>
            </a:r>
          </a:p>
          <a:p>
            <a:pPr>
              <a:spcAft>
                <a:spcPts val="600"/>
              </a:spcAft>
              <a:defRPr sz="1400">
                <a:solidFill>
                  <a:srgbClr val="1B2040"/>
                </a:solidFill>
                <a:latin typeface="Arial"/>
              </a:defRPr>
            </a:pPr>
            <a:r>
              <a:t>2. Poll Triggers &amp; Bindings -&gt; Reads HID button state arrays and evaluates trigger conditions (whileTrue, onTrue).</a:t>
            </a:r>
          </a:p>
          <a:p>
            <a:pPr>
              <a:spcAft>
                <a:spcPts val="600"/>
              </a:spcAft>
              <a:defRPr sz="1400">
                <a:solidFill>
                  <a:srgbClr val="1B2040"/>
                </a:solidFill>
                <a:latin typeface="Arial"/>
              </a:defRPr>
            </a:pPr>
            <a:r>
              <a:t>3. Execute Active Commands -&gt; Calls execute() on all active commands sequentially on the main thread.</a:t>
            </a:r>
          </a:p>
          <a:p>
            <a:pPr>
              <a:spcAft>
                <a:spcPts val="600"/>
              </a:spcAft>
              <a:defRPr sz="1400">
                <a:solidFill>
                  <a:srgbClr val="1B2040"/>
                </a:solidFill>
                <a:latin typeface="Arial"/>
              </a:defRPr>
            </a:pPr>
            <a:r>
              <a:t>4. Check Completion &amp; Clean Up -&gt; Evaluates isFinished() and calls end() on finished or interrupted commands.</a:t>
            </a:r>
          </a:p>
          <a:p>
            <a:pPr>
              <a:spcAft>
                <a:spcPts val="600"/>
              </a:spcAft>
              <a:defRPr sz="1400">
                <a:solidFill>
                  <a:srgbClr val="1B2040"/>
                </a:solidFill>
                <a:latin typeface="Arial"/>
              </a:defRPr>
            </a:pPr>
            <a:r>
              <a:t>5. Schedule Default Commands -&gt; Schedules default commands for any unreserved subsystems.</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SINGLE-THREADED EXECUTION RULE:</a:t>
            </a:r>
          </a:p>
          <a:p>
            <a:pPr>
              <a:spcAft>
                <a:spcPts val="600"/>
              </a:spcAft>
              <a:defRPr sz="1400">
                <a:solidFill>
                  <a:srgbClr val="1B2040"/>
                </a:solidFill>
                <a:latin typeface="Arial"/>
              </a:defRPr>
            </a:pPr>
            <a:r>
              <a:t>Scheduler callbacks run serially on the main robot thread. Calling Thread.sleep() delays every other callback, causing loop-overrun warnings and watchdog timeouts!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
              <a:t>(Lifecycle Hooks)</a:t>
            </a: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State Machine Cleanup Trace — Pass 2 Checkpoint</a:t>
            </a:r>
          </a:p>
          <a:p>
            <a:pPr>
              <a:spcAft>
                <a:spcPts val="600"/>
              </a:spcAft>
              <a:defRPr sz="1400">
                <a:solidFill>
                  <a:srgbClr val="1B2040"/>
                </a:solidFill>
                <a:latin typeface="Arial"/>
              </a:defRPr>
            </a:pPr>
            <a:r>
              <a:t>1. Trigger State Transition: Operator releases Button A -&gt; whileTrue condition evaluates to false.</a:t>
            </a:r>
          </a:p>
          <a:p>
            <a:pPr>
              <a:spcAft>
                <a:spcPts val="600"/>
              </a:spcAft>
              <a:defRPr sz="1400">
                <a:solidFill>
                  <a:srgbClr val="1B2040"/>
                </a:solidFill>
                <a:latin typeface="Arial"/>
              </a:defRPr>
            </a:pPr>
            <a:r>
              <a:t>2. Scheduler Cancellation: </a:t>
            </a:r>
            <a:r>
              <a:rPr lang="en-US"/>
              <a:t>The whileTrue binding cancels BeltInCommand when its condition becomes false.</a:t>
            </a:r>
            <a:endParaRPr/>
          </a:p>
          <a:p>
            <a:pPr>
              <a:spcAft>
                <a:spcPts val="600"/>
              </a:spcAft>
              <a:defRPr sz="1400">
                <a:solidFill>
                  <a:srgbClr val="1B2040"/>
                </a:solidFill>
                <a:latin typeface="Arial"/>
              </a:defRPr>
            </a:pPr>
            <a:r>
              <a:t>3. Lifecycle Cleanup Hook: Scheduler invokes BeltInCommand.end(true) with interrupted = true.</a:t>
            </a:r>
          </a:p>
          <a:p>
            <a:pPr>
              <a:spcAft>
                <a:spcPts val="600"/>
              </a:spcAft>
              <a:defRPr sz="1400">
                <a:solidFill>
                  <a:srgbClr val="1B2040"/>
                </a:solidFill>
                <a:latin typeface="Arial"/>
              </a:defRPr>
            </a:pPr>
            <a:r>
              <a:t>4. Subsystem Shutdown Method: end() calls beltSubsystem.stop(), executing beltMotor.set(0.0).</a:t>
            </a:r>
          </a:p>
          <a:p>
            <a:pPr>
              <a:spcAft>
                <a:spcPts val="600"/>
              </a:spcAft>
              <a:defRPr sz="1400">
                <a:solidFill>
                  <a:srgbClr val="1B2040"/>
                </a:solidFill>
                <a:latin typeface="Arial"/>
              </a:defRPr>
            </a:pPr>
            <a:r>
              <a:t>5. Actuator Output Cutoff: Talon SRX cuts motor voltage output to zero.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4864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t>// Repository Package Layout</a:t>
            </a:r>
          </a:p>
          <a:p>
            <a:pPr>
              <a:defRPr sz="1200">
                <a:solidFill>
                  <a:srgbClr val="F0F0F0"/>
                </a:solidFill>
                <a:latin typeface="Courier New"/>
              </a:defRPr>
            </a:pPr>
            <a:r>
              <a:t>src/main/java/frc/robot/</a:t>
            </a:r>
          </a:p>
          <a:p>
            <a:pPr>
              <a:defRPr sz="1200">
                <a:solidFill>
                  <a:srgbClr val="F0F0F0"/>
                </a:solidFill>
                <a:latin typeface="Courier New"/>
              </a:defRPr>
            </a:pPr>
            <a:r>
              <a:t>├── Main.java                 &lt;- Entry point</a:t>
            </a:r>
          </a:p>
          <a:p>
            <a:pPr>
              <a:defRPr sz="1200">
                <a:solidFill>
                  <a:srgbClr val="F0F0F0"/>
                </a:solidFill>
                <a:latin typeface="Courier New"/>
              </a:defRPr>
            </a:pPr>
            <a:r>
              <a:t>├── Robot.java                &lt;- 20ms scheduler loop</a:t>
            </a:r>
          </a:p>
          <a:p>
            <a:pPr>
              <a:defRPr sz="1200">
                <a:solidFill>
                  <a:srgbClr val="F0F0F0"/>
                </a:solidFill>
                <a:latin typeface="Courier New"/>
              </a:defRPr>
            </a:pPr>
            <a:r>
              <a:t>├── RobotContainer.java       &lt;- Wiring hub &amp; button bindings</a:t>
            </a:r>
          </a:p>
          <a:p>
            <a:pPr>
              <a:defRPr sz="1200">
                <a:solidFill>
                  <a:srgbClr val="F0F0F0"/>
                </a:solidFill>
                <a:latin typeface="Courier New"/>
              </a:defRPr>
            </a:pPr>
            <a:r>
              <a:t>├── Constants.java            &lt;- Hardware channels &amp; tuning</a:t>
            </a:r>
          </a:p>
          <a:p>
            <a:pPr>
              <a:defRPr sz="1200">
                <a:solidFill>
                  <a:srgbClr val="F0F0F0"/>
                </a:solidFill>
                <a:latin typeface="Courier New"/>
              </a:defRPr>
            </a:pPr>
            <a:r>
              <a:t>├── DriveSpeedMode.java       &lt;- Shared drive state</a:t>
            </a:r>
          </a:p>
          <a:p>
            <a:pPr>
              <a:defRPr sz="1200">
                <a:solidFill>
                  <a:srgbClr val="F0F0F0"/>
                </a:solidFill>
                <a:latin typeface="Courier New"/>
              </a:defRPr>
            </a:pPr>
            <a:r>
              <a:t>├── subsystems/</a:t>
            </a:r>
          </a:p>
          <a:p>
            <a:pPr>
              <a:defRPr sz="1200">
                <a:solidFill>
                  <a:srgbClr val="F0F0F0"/>
                </a:solidFill>
                <a:latin typeface="Courier New"/>
              </a:defRPr>
            </a:pPr>
            <a:r>
              <a:t>│   ├── DriveSubsystem.java   &lt;- 4-motor tank drive</a:t>
            </a:r>
          </a:p>
          <a:p>
            <a:pPr>
              <a:defRPr sz="1200">
                <a:solidFill>
                  <a:srgbClr val="F0F0F0"/>
                </a:solidFill>
                <a:latin typeface="Courier New"/>
              </a:defRPr>
            </a:pPr>
            <a:r>
              <a:t>│   ├── BeltSubsystem.java    &lt;- Transport belt motor</a:t>
            </a:r>
          </a:p>
          <a:p>
            <a:pPr>
              <a:defRPr sz="1200">
                <a:solidFill>
                  <a:srgbClr val="F0F0F0"/>
                </a:solidFill>
                <a:latin typeface="Courier New"/>
              </a:defRPr>
            </a:pPr>
            <a:r>
              <a:t>│   ├── RollerSubsystem.java  &lt;- Ejection roller motor</a:t>
            </a:r>
          </a:p>
          <a:p>
            <a:pPr>
              <a:defRPr sz="1200">
                <a:solidFill>
                  <a:srgbClr val="F0F0F0"/>
                </a:solidFill>
                <a:latin typeface="Courier New"/>
              </a:defRPr>
            </a:pPr>
            <a:r>
              <a:t>│   └── ClimberSubsystem.java &lt;- Pneumatic climber valve</a:t>
            </a:r>
          </a:p>
          <a:p>
            <a:pPr>
              <a:defRPr sz="1200">
                <a:solidFill>
                  <a:srgbClr val="F0F0F0"/>
                </a:solidFill>
                <a:latin typeface="Courier New"/>
              </a:defRPr>
            </a:pPr>
            <a:r>
              <a:t>└── commands/</a:t>
            </a:r>
          </a:p>
          <a:p>
            <a:pPr>
              <a:defRPr sz="1200">
                <a:solidFill>
                  <a:srgbClr val="F0F0F0"/>
                </a:solidFill>
                <a:latin typeface="Courier New"/>
              </a:defRPr>
            </a:pPr>
            <a:r>
              <a:t>    ├── DriveTeleopCommand.java</a:t>
            </a:r>
          </a:p>
          <a:p>
            <a:pPr>
              <a:defRPr sz="1200">
                <a:solidFill>
                  <a:srgbClr val="F0F0F0"/>
                </a:solidFill>
                <a:latin typeface="Courier New"/>
              </a:defRPr>
            </a:pPr>
            <a:r>
              <a:t>    ├── BeltInCommand.java</a:t>
            </a:r>
          </a:p>
          <a:p>
            <a:pPr>
              <a:defRPr sz="1200">
                <a:solidFill>
                  <a:srgbClr val="F0F0F0"/>
                </a:solidFill>
                <a:latin typeface="Courier New"/>
              </a:defRPr>
            </a:pPr>
            <a:r>
              <a:t>    ├── BeltOutCommand.java</a:t>
            </a:r>
          </a:p>
          <a:p>
            <a:pPr>
              <a:defRPr sz="1200">
                <a:solidFill>
                  <a:srgbClr val="F0F0F0"/>
                </a:solidFill>
                <a:latin typeface="Courier New"/>
              </a:defRPr>
            </a:pPr>
            <a:r>
              <a:t>    ├── RollerCommand.java</a:t>
            </a:r>
          </a:p>
          <a:p>
            <a:pPr>
              <a:defRPr sz="1200">
                <a:solidFill>
                  <a:srgbClr val="F0F0F0"/>
                </a:solidFill>
                <a:latin typeface="Courier New"/>
              </a:defRPr>
            </a:pPr>
            <a:r>
              <a:t>    ├── SlowDriveCommand.java</a:t>
            </a:r>
          </a:p>
          <a:p>
            <a:pPr>
              <a:defRPr sz="1200">
                <a:solidFill>
                  <a:srgbClr val="F0F0F0"/>
                </a:solidFill>
                <a:latin typeface="Courier New"/>
              </a:defRPr>
            </a:pPr>
            <a:r>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Contains Command classes implementing lifecycle hooks.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Centralized Configuration: Constants.java</a:t>
            </a: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PCM</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PDB</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Hardware Encapsulation: BeltSubsystem.java</a:t>
            </a: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BeltSubsystem.java</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frc.robot.subsystems;</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edu.wpi.first.wpilibj2.command.SubsystemBase;</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frc.robot.</a:t>
            </a:r>
            <a:r>
              <a:rPr>
                <a:solidFill>
                  <a:srgbClr val="C4B5FD"/>
                </a:solidFill>
                <a:latin typeface="Consolas" panose="020B0609020204030204" pitchFamily="49" charset="0"/>
              </a:rPr>
              <a:t>Constants</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 </a:t>
            </a:r>
            <a:r>
              <a:rPr>
                <a:solidFill>
                  <a:srgbClr val="FDE68A"/>
                </a:solidFill>
                <a:latin typeface="Consolas" panose="020B0609020204030204" pitchFamily="49" charset="0"/>
              </a:rPr>
              <a:t>NAME</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 owns the ball-transport belt motor.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SubsystemBase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C4B5FD"/>
                </a:solidFill>
                <a:latin typeface="Consolas" panose="020B0609020204030204" pitchFamily="49" charset="0"/>
              </a:rPr>
              <a:t>Constants</a:t>
            </a:r>
            <a:r>
              <a:rPr>
                <a:latin typeface="Consolas" panose="020B0609020204030204" pitchFamily="49" charset="0"/>
              </a:rPr>
              <a:t>.Hardware.</a:t>
            </a:r>
            <a:r>
              <a:rPr>
                <a:solidFill>
                  <a:srgbClr val="FDE68A"/>
                </a:solidFill>
                <a:latin typeface="Consolas" panose="020B0609020204030204" pitchFamily="49" charset="0"/>
              </a:rPr>
              <a:t>PWM_BELT</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run</a:t>
            </a:r>
            <a:r>
              <a:rPr>
                <a:latin typeface="Consolas" panose="020B0609020204030204" pitchFamily="49" charset="0"/>
              </a:rPr>
              <a:t>(double speed)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(speed);</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stop</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run</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Safe motor output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Action Execution Logic: BeltInCommand.java</a:t>
            </a: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Robot Wiring &amp; Event Bindings: RobotContainer.java</a:t>
            </a: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
              <a:t>(Lifecycle Hooks)</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4986</Words>
  <Application>Microsoft Office PowerPoint</Application>
  <PresentationFormat>Widescreen</PresentationFormat>
  <Paragraphs>472</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MONACHELLO</cp:lastModifiedBy>
  <cp:revision>2</cp:revision>
  <dcterms:created xsi:type="dcterms:W3CDTF">2013-01-27T09:14:16Z</dcterms:created>
  <dcterms:modified xsi:type="dcterms:W3CDTF">2026-10-07T16:12:33Z</dcterms:modified>
  <cp:category/>
</cp:coreProperties>
</file>