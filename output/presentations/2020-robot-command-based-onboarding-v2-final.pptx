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9"/>
  </p:notesMasterIdLst>
  <p:sldIdLst>
    <p:sldId id="256" r:id="rId2"/>
    <p:sldId id="282" r:id="rId3"/>
    <p:sldId id="257" r:id="rId4"/>
    <p:sldId id="258" r:id="rId5"/>
    <p:sldId id="259" r:id="rId6"/>
    <p:sldId id="260" r:id="rId7"/>
    <p:sldId id="261" r:id="rId8"/>
    <p:sldId id="28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5485" autoAdjust="0"/>
  </p:normalViewPr>
  <p:slideViewPr>
    <p:cSldViewPr snapToGrid="0">
      <p:cViewPr varScale="1">
        <p:scale>
          <a:sx n="76" d="100"/>
          <a:sy n="76" d="100"/>
        </p:scale>
        <p:origin x="2112"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6FB4CD8-27C6-4F3D-89F8-F2E05BAC07B8}" type="datetimeFigureOut">
              <a:rPr lang="en-US" smtClean="0"/>
              <a:t>9/30/2026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A7036F4-3EE7-4333-884C-8884AAE53363}" type="slidenum">
              <a:rPr lang="en-US" smtClean="0"/>
              <a:t>‹#›</a:t>
            </a:fld>
            <a:endParaRPr lang="en-US"/>
          </a:p>
        </p:txBody>
      </p:sp>
    </p:spTree>
    <p:extLst>
      <p:ext uri="{BB962C8B-B14F-4D97-AF65-F5344CB8AC3E}">
        <p14:creationId xmlns:p14="http://schemas.microsoft.com/office/powerpoint/2010/main" val="40822570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Talk track
Start with the physical robot, not the codebase. Ask students to name anything the robot can make move. Accept informal answers.
Set the expectation: newcomers only need to recognize the path; experienced students should watch for design decisions and failure modes. Nobody needs to understand every Java symbol on first sight.
Presenter choice
If a current robot photo is available, replace the abstract mechanism labels with that photo and label the four mechanisms. Do not use a historical robot photo.</a:t>
            </a:r>
          </a:p>
        </p:txBody>
      </p:sp>
      <p:sp>
        <p:nvSpPr>
          <p:cNvPr id="4" name="Slide Number Placeholder 3"/>
          <p:cNvSpPr>
            <a:spLocks noGrp="1"/>
          </p:cNvSpPr>
          <p:nvPr>
            <p:ph type="sldNum" sz="quarter" idx="5"/>
          </p:nvPr>
        </p:nvSpPr>
        <p:spPr/>
        <p:txBody>
          <a:bodyPr/>
          <a:lstStyle/>
          <a:p>
            <a:fld id="{6A7036F4-3EE7-4333-884C-8884AAE53363}" type="slidenum">
              <a:rPr lang="en-US" smtClean="0"/>
              <a:t>1</a:t>
            </a:fld>
            <a:endParaRPr lang="en-US"/>
          </a:p>
        </p:txBody>
      </p:sp>
    </p:spTree>
    <p:extLst>
      <p:ext uri="{BB962C8B-B14F-4D97-AF65-F5344CB8AC3E}">
        <p14:creationId xmlns:p14="http://schemas.microsoft.com/office/powerpoint/2010/main" val="29434124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Talk track: This course follows four parts of one robot system. Hardware is the physical robot. Subsystems own and operate hardware. Commands describe robot actions. The scheduler starts, runs, and ends commands.</a:t>
            </a:r>
          </a:p>
          <a:p>
            <a:endParaRPr lang="en-US"/>
          </a:p>
          <a:p>
            <a:r>
              <a:rPr lang="en-US"/>
              <a:t>Transition: First, identify the robot's physical mechanisms. Then trace how software reaches them.</a:t>
            </a:r>
            <a:endParaRPr lang="en-US" dirty="0"/>
          </a:p>
        </p:txBody>
      </p:sp>
      <p:sp>
        <p:nvSpPr>
          <p:cNvPr id="4" name="Slide Number Placeholder 3"/>
          <p:cNvSpPr>
            <a:spLocks noGrp="1"/>
          </p:cNvSpPr>
          <p:nvPr>
            <p:ph type="sldNum" sz="quarter" idx="5"/>
          </p:nvPr>
        </p:nvSpPr>
        <p:spPr/>
        <p:txBody>
          <a:bodyPr/>
          <a:lstStyle/>
          <a:p>
            <a:fld id="{6A7036F4-3EE7-4333-884C-8884AAE53363}" type="slidenum">
              <a:rPr lang="en-US" smtClean="0"/>
              <a:t>2</a:t>
            </a:fld>
            <a:endParaRPr lang="en-US"/>
          </a:p>
        </p:txBody>
      </p:sp>
    </p:spTree>
    <p:extLst>
      <p:ext uri="{BB962C8B-B14F-4D97-AF65-F5344CB8AC3E}">
        <p14:creationId xmlns:p14="http://schemas.microsoft.com/office/powerpoint/2010/main" val="29718312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Point to the real mechanisms if the robot is present. A subsystem is not just a folder or class name; it represents an independently controlled mechanism.
Depth option
The drivetrain owns four motors but is one subsystem because all four cooperate to create one independently scheduled behavior. The belt and roller are separate because each can run without the other.</a:t>
            </a:r>
          </a:p>
        </p:txBody>
      </p:sp>
      <p:sp>
        <p:nvSpPr>
          <p:cNvPr id="4" name="Slide Number Placeholder 3"/>
          <p:cNvSpPr>
            <a:spLocks noGrp="1"/>
          </p:cNvSpPr>
          <p:nvPr>
            <p:ph type="sldNum" sz="quarter" idx="5"/>
          </p:nvPr>
        </p:nvSpPr>
        <p:spPr/>
        <p:txBody>
          <a:bodyPr/>
          <a:lstStyle/>
          <a:p>
            <a:fld id="{6A7036F4-3EE7-4333-884C-8884AAE53363}" type="slidenum">
              <a:rPr lang="en-US" smtClean="0"/>
              <a:t>3</a:t>
            </a:fld>
            <a:endParaRPr lang="en-US"/>
          </a:p>
        </p:txBody>
      </p:sp>
    </p:spTree>
    <p:extLst>
      <p:ext uri="{BB962C8B-B14F-4D97-AF65-F5344CB8AC3E}">
        <p14:creationId xmlns:p14="http://schemas.microsoft.com/office/powerpoint/2010/main" val="29718312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Talk track
Keep this physical. Ask students to mime or point to the input and describe the expected motion.
Do not yet explain commands, suppliers, or trigger objects. Those names arrive only after students understand the behavior.
Experienced extension
Ask why the climber uses a press event while the motors use held events. Listen for “one change” versus “continuous output.”</a:t>
            </a:r>
          </a:p>
        </p:txBody>
      </p:sp>
      <p:sp>
        <p:nvSpPr>
          <p:cNvPr id="4" name="Slide Number Placeholder 3"/>
          <p:cNvSpPr>
            <a:spLocks noGrp="1"/>
          </p:cNvSpPr>
          <p:nvPr>
            <p:ph type="sldNum" sz="quarter" idx="5"/>
          </p:nvPr>
        </p:nvSpPr>
        <p:spPr/>
        <p:txBody>
          <a:bodyPr/>
          <a:lstStyle/>
          <a:p>
            <a:fld id="{6A7036F4-3EE7-4333-884C-8884AAE53363}" type="slidenum">
              <a:rPr lang="en-US" smtClean="0"/>
              <a:t>4</a:t>
            </a:fld>
            <a:endParaRPr lang="en-US"/>
          </a:p>
        </p:txBody>
      </p:sp>
    </p:spTree>
    <p:extLst>
      <p:ext uri="{BB962C8B-B14F-4D97-AF65-F5344CB8AC3E}">
        <p14:creationId xmlns:p14="http://schemas.microsoft.com/office/powerpoint/2010/main" val="9222184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Reveal the behavior sequence first. Then reveal the two lines of code. Read the code as a sentence; do not decode punctuation yet.
Beginner answer
The operator controller A button.
Experienced extension
</a:t>
            </a:r>
            <a:r>
              <a:rPr lang="en-US" dirty="0" err="1"/>
              <a:t>whileTrue</a:t>
            </a:r>
            <a:r>
              <a:rPr lang="en-US" dirty="0"/>
              <a:t> matches a behavior that must continue only while the operator holds the button. </a:t>
            </a:r>
            <a:r>
              <a:rPr lang="en-US" dirty="0" err="1"/>
              <a:t>onTrue</a:t>
            </a:r>
            <a:r>
              <a:rPr lang="en-US" dirty="0"/>
              <a:t> would schedule only on the rising edge; whether it kept running would then depend on command completion/cancellation behavior.</a:t>
            </a:r>
          </a:p>
        </p:txBody>
      </p:sp>
      <p:sp>
        <p:nvSpPr>
          <p:cNvPr id="4" name="Slide Number Placeholder 3"/>
          <p:cNvSpPr>
            <a:spLocks noGrp="1"/>
          </p:cNvSpPr>
          <p:nvPr>
            <p:ph type="sldNum" sz="quarter" idx="5"/>
          </p:nvPr>
        </p:nvSpPr>
        <p:spPr/>
        <p:txBody>
          <a:bodyPr/>
          <a:lstStyle/>
          <a:p>
            <a:fld id="{6A7036F4-3EE7-4333-884C-8884AAE53363}" type="slidenum">
              <a:rPr lang="en-US" smtClean="0"/>
              <a:t>5</a:t>
            </a:fld>
            <a:endParaRPr lang="en-US"/>
          </a:p>
        </p:txBody>
      </p:sp>
    </p:spTree>
    <p:extLst>
      <p:ext uri="{BB962C8B-B14F-4D97-AF65-F5344CB8AC3E}">
        <p14:creationId xmlns:p14="http://schemas.microsoft.com/office/powerpoint/2010/main" val="30521289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Point left to right. Say object, action, value, stop. Avoid teaching Java grammar beyond what is needed to read this line.
Depth option
</a:t>
            </a:r>
            <a:r>
              <a:rPr lang="en-US" dirty="0" err="1"/>
              <a:t>Constants.Tuning.BELT_SPEED</a:t>
            </a:r>
            <a:r>
              <a:rPr lang="en-US" dirty="0"/>
              <a:t> is a static named value. Defer the full Constants organization discussion until students see a hardware ID in context later.</a:t>
            </a:r>
          </a:p>
        </p:txBody>
      </p:sp>
      <p:sp>
        <p:nvSpPr>
          <p:cNvPr id="4" name="Slide Number Placeholder 3"/>
          <p:cNvSpPr>
            <a:spLocks noGrp="1"/>
          </p:cNvSpPr>
          <p:nvPr>
            <p:ph type="sldNum" sz="quarter" idx="5"/>
          </p:nvPr>
        </p:nvSpPr>
        <p:spPr/>
        <p:txBody>
          <a:bodyPr/>
          <a:lstStyle/>
          <a:p>
            <a:fld id="{6A7036F4-3EE7-4333-884C-8884AAE53363}" type="slidenum">
              <a:rPr lang="en-US" smtClean="0"/>
              <a:t>6</a:t>
            </a:fld>
            <a:endParaRPr lang="en-US"/>
          </a:p>
        </p:txBody>
      </p:sp>
    </p:spTree>
    <p:extLst>
      <p:ext uri="{BB962C8B-B14F-4D97-AF65-F5344CB8AC3E}">
        <p14:creationId xmlns:p14="http://schemas.microsoft.com/office/powerpoint/2010/main" val="29553289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Talk track
This is the central runtime loop. WPILib calls robotPeriodic repeatedly, and the scheduler uses each pass to update the command-based system.
Beginner answer
Bindings are not checked and scheduled commands do not receive lifecycle calls, so command-based robot actions do not run normally.
Experienced extension
The scheduler also enforces subsystem requirements. That conflict resolution is the reason requirements appear early in this deck.</a:t>
            </a:r>
          </a:p>
        </p:txBody>
      </p:sp>
      <p:sp>
        <p:nvSpPr>
          <p:cNvPr id="4" name="Slide Number Placeholder 3"/>
          <p:cNvSpPr>
            <a:spLocks noGrp="1"/>
          </p:cNvSpPr>
          <p:nvPr>
            <p:ph type="sldNum" sz="quarter" idx="5"/>
          </p:nvPr>
        </p:nvSpPr>
        <p:spPr/>
        <p:txBody>
          <a:bodyPr/>
          <a:lstStyle/>
          <a:p>
            <a:fld id="{6A7036F4-3EE7-4333-884C-8884AAE53363}" type="slidenum">
              <a:rPr lang="en-US" smtClean="0"/>
              <a:t>7</a:t>
            </a:fld>
            <a:endParaRPr lang="en-US"/>
          </a:p>
        </p:txBody>
      </p:sp>
    </p:spTree>
    <p:extLst>
      <p:ext uri="{BB962C8B-B14F-4D97-AF65-F5344CB8AC3E}">
        <p14:creationId xmlns:p14="http://schemas.microsoft.com/office/powerpoint/2010/main" val="23305586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a:t>
            </a:r>
          </a:p>
          <a:p>
            <a:r>
              <a:rPr lang="en-US" dirty="0"/>
              <a:t>The physical mechanisms on slide 2 become these four software classes. The word Subsystem is a naming convention. The boundary matters because each class has one mechanism to own and operate.</a:t>
            </a:r>
          </a:p>
          <a:p>
            <a:endParaRPr lang="en-US" dirty="0"/>
          </a:p>
          <a:p>
            <a:r>
              <a:rPr lang="en-US" dirty="0"/>
              <a:t>Transition</a:t>
            </a:r>
          </a:p>
          <a:p>
            <a:r>
              <a:rPr lang="en-US" dirty="0"/>
              <a:t>Now zoom in on </a:t>
            </a:r>
            <a:r>
              <a:rPr lang="en-US" dirty="0" err="1"/>
              <a:t>BeltSubsystem</a:t>
            </a:r>
            <a:r>
              <a:rPr lang="en-US" dirty="0"/>
              <a:t>. We will see the motor-controller object it owns and the hardware call it makes.</a:t>
            </a:r>
          </a:p>
          <a:p>
            <a:endParaRPr lang="en-US" dirty="0"/>
          </a:p>
          <a:p>
            <a:r>
              <a:rPr lang="en-US" dirty="0"/>
              <a:t>Depth option</a:t>
            </a:r>
          </a:p>
          <a:p>
            <a:r>
              <a:rPr lang="en-US" dirty="0"/>
              <a:t>Subsystem requirements also help the scheduler prevent conflicting commands. That idea comes after commands and subsystem responsibilities are clear.</a:t>
            </a:r>
          </a:p>
        </p:txBody>
      </p:sp>
      <p:sp>
        <p:nvSpPr>
          <p:cNvPr id="4" name="Slide Number Placeholder 3"/>
          <p:cNvSpPr>
            <a:spLocks noGrp="1"/>
          </p:cNvSpPr>
          <p:nvPr>
            <p:ph type="sldNum" sz="quarter" idx="5"/>
          </p:nvPr>
        </p:nvSpPr>
        <p:spPr/>
        <p:txBody>
          <a:bodyPr/>
          <a:lstStyle/>
          <a:p>
            <a:fld id="{6A7036F4-3EE7-4333-884C-8884AAE53363}" type="slidenum">
              <a:rPr lang="en-US" smtClean="0"/>
              <a:t>8</a:t>
            </a:fld>
            <a:endParaRPr lang="en-US"/>
          </a:p>
        </p:txBody>
      </p:sp>
    </p:spTree>
    <p:extLst>
      <p:ext uri="{BB962C8B-B14F-4D97-AF65-F5344CB8AC3E}">
        <p14:creationId xmlns:p14="http://schemas.microsoft.com/office/powerpoint/2010/main" val="29718312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Talk track
Yes: the subsystem is where this program directly interacts with mechanism hardware. It creates the motor object and calls its API.
Clarification
Not every subsystem must own physical hardware; some designs use logical subsystems. In this robot, the useful beginner model is: subsystem owns one independently controlled mechanism and contains its direct hardware calls.
Beginner answer
beltMotor.set(speed).
Experienced extension
If commands created their own Talon objects, ownership would be duplicated and port changes, safety behavior, simulation, and testing would become harder to control.</a:t>
            </a:r>
          </a:p>
        </p:txBody>
      </p:sp>
      <p:sp>
        <p:nvSpPr>
          <p:cNvPr id="4" name="Slide Number Placeholder 3"/>
          <p:cNvSpPr>
            <a:spLocks noGrp="1"/>
          </p:cNvSpPr>
          <p:nvPr>
            <p:ph type="sldNum" sz="quarter" idx="5"/>
          </p:nvPr>
        </p:nvSpPr>
        <p:spPr/>
        <p:txBody>
          <a:bodyPr/>
          <a:lstStyle/>
          <a:p>
            <a:fld id="{6A7036F4-3EE7-4333-884C-8884AAE53363}" type="slidenum">
              <a:rPr lang="en-US" smtClean="0"/>
              <a:t>9</a:t>
            </a:fld>
            <a:endParaRPr lang="en-US"/>
          </a:p>
        </p:txBody>
      </p:sp>
    </p:spTree>
    <p:extLst>
      <p:ext uri="{BB962C8B-B14F-4D97-AF65-F5344CB8AC3E}">
        <p14:creationId xmlns:p14="http://schemas.microsoft.com/office/powerpoint/2010/main" val="5646180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Talk track
Remember back to slide - </a:t>
            </a:r>
            <a:r>
              <a:rPr lang="en-US" sz="1200" b="1" dirty="0">
                <a:solidFill>
                  <a:srgbClr val="F2F5F9"/>
                </a:solidFill>
                <a:latin typeface="Aptos Display" panose="020B0004020202020204" pitchFamily="34" charset="0"/>
              </a:rPr>
              <a:t>Trace a Button Press – that shows a command being run when a button was pressed</a:t>
            </a:r>
          </a:p>
          <a:p>
            <a:br>
              <a:rPr lang="en-US" dirty="0"/>
            </a:br>
            <a:r>
              <a:rPr lang="en-US" dirty="0"/>
              <a:t>Contrast this with the prior slide. The command says “run inward now” and “stop when I end.” The subsystem knows how to achieve those requests.
Depth option
end runs on both normal completion and interruption. This while-held command is normally canceled when the trigger becomes false, so the safe-stop path matters every time the operator releases A.</a:t>
            </a:r>
          </a:p>
        </p:txBody>
      </p:sp>
      <p:sp>
        <p:nvSpPr>
          <p:cNvPr id="4" name="Slide Number Placeholder 3"/>
          <p:cNvSpPr>
            <a:spLocks noGrp="1"/>
          </p:cNvSpPr>
          <p:nvPr>
            <p:ph type="sldNum" sz="quarter" idx="5"/>
          </p:nvPr>
        </p:nvSpPr>
        <p:spPr/>
        <p:txBody>
          <a:bodyPr/>
          <a:lstStyle/>
          <a:p>
            <a:fld id="{6A7036F4-3EE7-4333-884C-8884AAE53363}" type="slidenum">
              <a:rPr lang="en-US" smtClean="0"/>
              <a:t>10</a:t>
            </a:fld>
            <a:endParaRPr lang="en-US"/>
          </a:p>
        </p:txBody>
      </p:sp>
    </p:spTree>
    <p:extLst>
      <p:ext uri="{BB962C8B-B14F-4D97-AF65-F5344CB8AC3E}">
        <p14:creationId xmlns:p14="http://schemas.microsoft.com/office/powerpoint/2010/main" val="340170703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Talk track
Requirements are scheduler ownership claims. When a new interruptible command with the same requirement starts, the scheduler interrupts the old command and schedules the new one.
Do all commands need addRequirements?
No. Hardware-owning commands normally require each subsystem they control. A command that changes only coordination state may have no subsystem requirement.
Current example
DriveTeleop, BeltIn, BeltOut, Roller, and ToggleClimberArms declare their subsystems. SlowDriveCommand intentionally does not require DriveSubsystem because it only changes DriveSpeedMode. If it required the drivetrain, it would interrupt the default drive command, so the robot could not actually drive slowly while held.</a:t>
            </a:r>
          </a:p>
        </p:txBody>
      </p:sp>
      <p:sp>
        <p:nvSpPr>
          <p:cNvPr id="4" name="Slide Number Placeholder 3"/>
          <p:cNvSpPr>
            <a:spLocks noGrp="1"/>
          </p:cNvSpPr>
          <p:nvPr>
            <p:ph type="sldNum" sz="quarter" idx="5"/>
          </p:nvPr>
        </p:nvSpPr>
        <p:spPr/>
        <p:txBody>
          <a:bodyPr/>
          <a:lstStyle/>
          <a:p>
            <a:fld id="{6A7036F4-3EE7-4333-884C-8884AAE53363}" type="slidenum">
              <a:rPr lang="en-US" smtClean="0"/>
              <a:t>11</a:t>
            </a:fld>
            <a:endParaRPr lang="en-US"/>
          </a:p>
        </p:txBody>
      </p:sp>
    </p:spTree>
    <p:extLst>
      <p:ext uri="{BB962C8B-B14F-4D97-AF65-F5344CB8AC3E}">
        <p14:creationId xmlns:p14="http://schemas.microsoft.com/office/powerpoint/2010/main" val="156932840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Talk track
Use the three questions: When should something happen? What action should run? Which mechanism will it use?
Depth option
The trigger is polled by the scheduler. whileTrue maintains scheduling while true and cancels when false. The command’s requirement makes that scheduling safe.</a:t>
            </a:r>
          </a:p>
        </p:txBody>
      </p:sp>
      <p:sp>
        <p:nvSpPr>
          <p:cNvPr id="4" name="Slide Number Placeholder 3"/>
          <p:cNvSpPr>
            <a:spLocks noGrp="1"/>
          </p:cNvSpPr>
          <p:nvPr>
            <p:ph type="sldNum" sz="quarter" idx="5"/>
          </p:nvPr>
        </p:nvSpPr>
        <p:spPr/>
        <p:txBody>
          <a:bodyPr/>
          <a:lstStyle/>
          <a:p>
            <a:fld id="{6A7036F4-3EE7-4333-884C-8884AAE53363}" type="slidenum">
              <a:rPr lang="en-US" smtClean="0"/>
              <a:t>12</a:t>
            </a:fld>
            <a:endParaRPr lang="en-US"/>
          </a:p>
        </p:txBody>
      </p:sp>
    </p:spTree>
    <p:extLst>
      <p:ext uri="{BB962C8B-B14F-4D97-AF65-F5344CB8AC3E}">
        <p14:creationId xmlns:p14="http://schemas.microsoft.com/office/powerpoint/2010/main" val="3341844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Talk track
Have students narrate the six stages. If they use informal language, translate it back to the role vocabulary after they finish.
Framework vs team code
WPILib owns trigger polling, scheduling, lifecycle calls, requirement conflict handling, and PWM communication. The team wrote the binding, command behavior, subsystem method, constants, and stop logic.
Optional activity
Print the six stages, cut them apart, and have small groups arrange them.</a:t>
            </a:r>
          </a:p>
        </p:txBody>
      </p:sp>
      <p:sp>
        <p:nvSpPr>
          <p:cNvPr id="4" name="Slide Number Placeholder 3"/>
          <p:cNvSpPr>
            <a:spLocks noGrp="1"/>
          </p:cNvSpPr>
          <p:nvPr>
            <p:ph type="sldNum" sz="quarter" idx="5"/>
          </p:nvPr>
        </p:nvSpPr>
        <p:spPr/>
        <p:txBody>
          <a:bodyPr/>
          <a:lstStyle/>
          <a:p>
            <a:fld id="{6A7036F4-3EE7-4333-884C-8884AAE53363}" type="slidenum">
              <a:rPr lang="en-US" smtClean="0"/>
              <a:t>13</a:t>
            </a:fld>
            <a:endParaRPr lang="en-US"/>
          </a:p>
        </p:txBody>
      </p:sp>
    </p:spTree>
    <p:extLst>
      <p:ext uri="{BB962C8B-B14F-4D97-AF65-F5344CB8AC3E}">
        <p14:creationId xmlns:p14="http://schemas.microsoft.com/office/powerpoint/2010/main" val="358373970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Talk track
The program is broken into separate subsystems according to independently controlled mechanisms. Commands link that decomposition to behavior: a command requires and operates one or more subsystem objects.
Cooperation
Separate commands with different requirements may run concurrently. One coordinated command or command group may require multiple subsystems and sequence or parallelize their actions.
Why belt and roller are separate
Either can run by itself. Keeping them separate preserves independent scheduling and reuse.</a:t>
            </a:r>
          </a:p>
        </p:txBody>
      </p:sp>
      <p:sp>
        <p:nvSpPr>
          <p:cNvPr id="4" name="Slide Number Placeholder 3"/>
          <p:cNvSpPr>
            <a:spLocks noGrp="1"/>
          </p:cNvSpPr>
          <p:nvPr>
            <p:ph type="sldNum" sz="quarter" idx="5"/>
          </p:nvPr>
        </p:nvSpPr>
        <p:spPr/>
        <p:txBody>
          <a:bodyPr/>
          <a:lstStyle/>
          <a:p>
            <a:fld id="{6A7036F4-3EE7-4333-884C-8884AAE53363}" type="slidenum">
              <a:rPr lang="en-US" smtClean="0"/>
              <a:t>14</a:t>
            </a:fld>
            <a:endParaRPr lang="en-US"/>
          </a:p>
        </p:txBody>
      </p:sp>
    </p:spTree>
    <p:extLst>
      <p:ext uri="{BB962C8B-B14F-4D97-AF65-F5344CB8AC3E}">
        <p14:creationId xmlns:p14="http://schemas.microsoft.com/office/powerpoint/2010/main" val="36763863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Suggested answers
1. BeltSubsystem.
2. BeltInCommand.
3. The RobotContainer trigger binding.
4. CommandScheduler, called by robotPeriodic.
5. Their commands require different subsystems.
Facilitation
Use answers to select tracks. A beginner does not need perfect terminology if they can tell the direction of flow. An experienced student should explain interruption and concurrency, not merely name classes.</a:t>
            </a:r>
          </a:p>
        </p:txBody>
      </p:sp>
      <p:sp>
        <p:nvSpPr>
          <p:cNvPr id="4" name="Slide Number Placeholder 3"/>
          <p:cNvSpPr>
            <a:spLocks noGrp="1"/>
          </p:cNvSpPr>
          <p:nvPr>
            <p:ph type="sldNum" sz="quarter" idx="5"/>
          </p:nvPr>
        </p:nvSpPr>
        <p:spPr/>
        <p:txBody>
          <a:bodyPr/>
          <a:lstStyle/>
          <a:p>
            <a:fld id="{6A7036F4-3EE7-4333-884C-8884AAE53363}" type="slidenum">
              <a:rPr lang="en-US" smtClean="0"/>
              <a:t>15</a:t>
            </a:fld>
            <a:endParaRPr lang="en-US"/>
          </a:p>
        </p:txBody>
      </p:sp>
    </p:spTree>
    <p:extLst>
      <p:ext uri="{BB962C8B-B14F-4D97-AF65-F5344CB8AC3E}">
        <p14:creationId xmlns:p14="http://schemas.microsoft.com/office/powerpoint/2010/main" val="303718747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Talk track
Treat the map as navigation, not architecture to memorize. Show students how file names repeat the vocabulary they already know.
Depth option
RobotContainer is the composition root for this program: it constructs shared objects and connects triggers to commands. Robot owns the WPILib lifecycle entry points.</a:t>
            </a:r>
          </a:p>
        </p:txBody>
      </p:sp>
      <p:sp>
        <p:nvSpPr>
          <p:cNvPr id="4" name="Slide Number Placeholder 3"/>
          <p:cNvSpPr>
            <a:spLocks noGrp="1"/>
          </p:cNvSpPr>
          <p:nvPr>
            <p:ph type="sldNum" sz="quarter" idx="5"/>
          </p:nvPr>
        </p:nvSpPr>
        <p:spPr/>
        <p:txBody>
          <a:bodyPr/>
          <a:lstStyle/>
          <a:p>
            <a:fld id="{6A7036F4-3EE7-4333-884C-8884AAE53363}" type="slidenum">
              <a:rPr lang="en-US" smtClean="0"/>
              <a:t>16</a:t>
            </a:fld>
            <a:endParaRPr lang="en-US"/>
          </a:p>
        </p:txBody>
      </p:sp>
    </p:spTree>
    <p:extLst>
      <p:ext uri="{BB962C8B-B14F-4D97-AF65-F5344CB8AC3E}">
        <p14:creationId xmlns:p14="http://schemas.microsoft.com/office/powerpoint/2010/main" val="387218623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Talk track
This is the right moment for Constants: students have already followed behavior, and now they see a real hardware constructor that needs a port number.
Avoid teaching Constants as a junk drawer. The nested groups distinguish hardware connections, operator ports, and tunable behavior values.
Important hardware fact
These Talon objects use roboRIO PWM port numbers. The pneumatic module is the CAN device; the drive Talons are not vendor CAN motor controllers.</a:t>
            </a:r>
          </a:p>
        </p:txBody>
      </p:sp>
      <p:sp>
        <p:nvSpPr>
          <p:cNvPr id="4" name="Slide Number Placeholder 3"/>
          <p:cNvSpPr>
            <a:spLocks noGrp="1"/>
          </p:cNvSpPr>
          <p:nvPr>
            <p:ph type="sldNum" sz="quarter" idx="5"/>
          </p:nvPr>
        </p:nvSpPr>
        <p:spPr/>
        <p:txBody>
          <a:bodyPr/>
          <a:lstStyle/>
          <a:p>
            <a:fld id="{6A7036F4-3EE7-4333-884C-8884AAE53363}" type="slidenum">
              <a:rPr lang="en-US" smtClean="0"/>
              <a:t>17</a:t>
            </a:fld>
            <a:endParaRPr lang="en-US"/>
          </a:p>
        </p:txBody>
      </p:sp>
    </p:spTree>
    <p:extLst>
      <p:ext uri="{BB962C8B-B14F-4D97-AF65-F5344CB8AC3E}">
        <p14:creationId xmlns:p14="http://schemas.microsoft.com/office/powerpoint/2010/main" val="162941474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Talk track
The subsystem creates four PWM Talon objects. Each rear motor follows the leader on its side, so later code sends only left and right values.
Why not the old two-motor wrapper?
The local DualMotorController was a compatibility expedient after WPILib removed the older SpeedControllerGroup API. It was never removed and later brought back; it was introduced once. The current implementation instead uses WPILib’s standard PWM follower support, which better communicates the intent to students.
Clarify follower modes
This is WPILib software follower behavior for PWM controllers, not vendor CAN follower configuration.</a:t>
            </a:r>
          </a:p>
        </p:txBody>
      </p:sp>
      <p:sp>
        <p:nvSpPr>
          <p:cNvPr id="4" name="Slide Number Placeholder 3"/>
          <p:cNvSpPr>
            <a:spLocks noGrp="1"/>
          </p:cNvSpPr>
          <p:nvPr>
            <p:ph type="sldNum" sz="quarter" idx="5"/>
          </p:nvPr>
        </p:nvSpPr>
        <p:spPr/>
        <p:txBody>
          <a:bodyPr/>
          <a:lstStyle/>
          <a:p>
            <a:fld id="{6A7036F4-3EE7-4333-884C-8884AAE53363}" type="slidenum">
              <a:rPr lang="en-US" smtClean="0"/>
              <a:t>18</a:t>
            </a:fld>
            <a:endParaRPr lang="en-US"/>
          </a:p>
        </p:txBody>
      </p:sp>
    </p:spTree>
    <p:extLst>
      <p:ext uri="{BB962C8B-B14F-4D97-AF65-F5344CB8AC3E}">
        <p14:creationId xmlns:p14="http://schemas.microsoft.com/office/powerpoint/2010/main" val="371432716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Beginner answer
</a:t>
            </a:r>
            <a:r>
              <a:rPr lang="en-US" dirty="0" err="1"/>
              <a:t>DriveTeleopCommand</a:t>
            </a:r>
            <a:r>
              <a:rPr lang="en-US" dirty="0"/>
              <a:t>.
Talk track
The method receives two independent inputs at the same time: one requested speed for the left side and one for the right. It sends each value to the matching leader. </a:t>
            </a:r>
            <a:r>
              <a:rPr lang="en-US" dirty="0" err="1"/>
              <a:t>WPILib</a:t>
            </a:r>
            <a:r>
              <a:rPr lang="en-US" dirty="0"/>
              <a:t> then sends each leader value to its registered follower. The caller does not know ports or individual rear motors.
Depth option
Keeping inversion in the subsystem means every caller sees the same logical direction convention.</a:t>
            </a:r>
          </a:p>
        </p:txBody>
      </p:sp>
      <p:sp>
        <p:nvSpPr>
          <p:cNvPr id="4" name="Slide Number Placeholder 3"/>
          <p:cNvSpPr>
            <a:spLocks noGrp="1"/>
          </p:cNvSpPr>
          <p:nvPr>
            <p:ph type="sldNum" sz="quarter" idx="5"/>
          </p:nvPr>
        </p:nvSpPr>
        <p:spPr/>
        <p:txBody>
          <a:bodyPr/>
          <a:lstStyle/>
          <a:p>
            <a:fld id="{6A7036F4-3EE7-4333-884C-8884AAE53363}" type="slidenum">
              <a:rPr lang="en-US" smtClean="0"/>
              <a:t>19</a:t>
            </a:fld>
            <a:endParaRPr lang="en-US"/>
          </a:p>
        </p:txBody>
      </p:sp>
    </p:spTree>
    <p:extLst>
      <p:ext uri="{BB962C8B-B14F-4D97-AF65-F5344CB8AC3E}">
        <p14:creationId xmlns:p14="http://schemas.microsoft.com/office/powerpoint/2010/main" val="387632982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The scheduler automatically schedules the default when no other command requires </a:t>
            </a:r>
            <a:r>
              <a:rPr lang="en-US" dirty="0" err="1"/>
              <a:t>DriveSubsystem</a:t>
            </a:r>
            <a:r>
              <a:rPr lang="en-US" dirty="0"/>
              <a:t>. Suppliers let </a:t>
            </a:r>
            <a:r>
              <a:rPr lang="en-US" dirty="0" err="1"/>
              <a:t>DriveTeleop</a:t>
            </a:r>
            <a:r>
              <a:rPr lang="en-US" dirty="0"/>
              <a:t> read fresh stick values each scheduler cycle.
Depth option
When another drive command ends, the scheduler can restore the default command automatically.</a:t>
            </a:r>
            <a:br>
              <a:rPr lang="en-US" dirty="0"/>
            </a:br>
            <a:r>
              <a:rPr lang="en-US" dirty="0"/>
              <a:t>For example if we had a command to drive to a specific spot that would supersede the default command and then when it finished the default command would resume</a:t>
            </a:r>
          </a:p>
          <a:p>
            <a:endParaRPr lang="en-US" dirty="0"/>
          </a:p>
        </p:txBody>
      </p:sp>
      <p:sp>
        <p:nvSpPr>
          <p:cNvPr id="4" name="Slide Number Placeholder 3"/>
          <p:cNvSpPr>
            <a:spLocks noGrp="1"/>
          </p:cNvSpPr>
          <p:nvPr>
            <p:ph type="sldNum" sz="quarter" idx="5"/>
          </p:nvPr>
        </p:nvSpPr>
        <p:spPr/>
        <p:txBody>
          <a:bodyPr/>
          <a:lstStyle/>
          <a:p>
            <a:fld id="{6A7036F4-3EE7-4333-884C-8884AAE53363}" type="slidenum">
              <a:rPr lang="en-US" smtClean="0"/>
              <a:t>20</a:t>
            </a:fld>
            <a:endParaRPr lang="en-US"/>
          </a:p>
        </p:txBody>
      </p:sp>
    </p:spTree>
    <p:extLst>
      <p:ext uri="{BB962C8B-B14F-4D97-AF65-F5344CB8AC3E}">
        <p14:creationId xmlns:p14="http://schemas.microsoft.com/office/powerpoint/2010/main" val="32575443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Guided activity
Have students circle the controller read, the deadband constant, the scale call, and the subsystem call. Then locate getRightDriveValue.
Before changing code
Ask for a physical prediction. Lowering NORMAL_DRIVE_SCALE reduces requested output in normal mode. Make the edit only with instructor supervision and test with the robot safely raised or in simulation.</a:t>
            </a:r>
          </a:p>
        </p:txBody>
      </p:sp>
      <p:sp>
        <p:nvSpPr>
          <p:cNvPr id="4" name="Slide Number Placeholder 3"/>
          <p:cNvSpPr>
            <a:spLocks noGrp="1"/>
          </p:cNvSpPr>
          <p:nvPr>
            <p:ph type="sldNum" sz="quarter" idx="5"/>
          </p:nvPr>
        </p:nvSpPr>
        <p:spPr/>
        <p:txBody>
          <a:bodyPr/>
          <a:lstStyle/>
          <a:p>
            <a:fld id="{6A7036F4-3EE7-4333-884C-8884AAE53363}" type="slidenum">
              <a:rPr lang="en-US" smtClean="0"/>
              <a:t>21</a:t>
            </a:fld>
            <a:endParaRPr lang="en-US"/>
          </a:p>
        </p:txBody>
      </p:sp>
    </p:spTree>
    <p:extLst>
      <p:ext uri="{BB962C8B-B14F-4D97-AF65-F5344CB8AC3E}">
        <p14:creationId xmlns:p14="http://schemas.microsoft.com/office/powerpoint/2010/main" val="154088403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Answer
If SlowDriveCommand required DriveSubsystem, pressing the bumper would interrupt the default DriveTeleopCommand and reserve the drivetrain while producing no motor output. DriveTeleop could not read the slow flag while held. On release, SlowDrive would restore normal mode before the default resumed—so slow driving would never occur.
Tradeoff discussion
The shared DriveSpeedMode object keeps input binding separate from drive execution. Reading the bumper directly in DriveTeleop would reduce indirection but couple the command to that operator choice.</a:t>
            </a:r>
          </a:p>
        </p:txBody>
      </p:sp>
      <p:sp>
        <p:nvSpPr>
          <p:cNvPr id="4" name="Slide Number Placeholder 3"/>
          <p:cNvSpPr>
            <a:spLocks noGrp="1"/>
          </p:cNvSpPr>
          <p:nvPr>
            <p:ph type="sldNum" sz="quarter" idx="5"/>
          </p:nvPr>
        </p:nvSpPr>
        <p:spPr/>
        <p:txBody>
          <a:bodyPr/>
          <a:lstStyle/>
          <a:p>
            <a:fld id="{6A7036F4-3EE7-4333-884C-8884AAE53363}" type="slidenum">
              <a:rPr lang="en-US" smtClean="0"/>
              <a:t>22</a:t>
            </a:fld>
            <a:endParaRPr lang="en-US"/>
          </a:p>
        </p:txBody>
      </p:sp>
    </p:spTree>
    <p:extLst>
      <p:ext uri="{BB962C8B-B14F-4D97-AF65-F5344CB8AC3E}">
        <p14:creationId xmlns:p14="http://schemas.microsoft.com/office/powerpoint/2010/main" val="10111821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Talk track
This repeated pattern is a useful template for a similar robot: construct owned hardware, expose mechanism actions, and provide an explicit safe stop.
Concurrency answer
DriveTeleop can run alongside a belt command and RollerCommand because they require different subsystems. BeltIn and BeltOut conflict with each other. Multiple commands requiring RollerSubsystem would conflict with RollerCommand.</a:t>
            </a:r>
          </a:p>
        </p:txBody>
      </p:sp>
      <p:sp>
        <p:nvSpPr>
          <p:cNvPr id="4" name="Slide Number Placeholder 3"/>
          <p:cNvSpPr>
            <a:spLocks noGrp="1"/>
          </p:cNvSpPr>
          <p:nvPr>
            <p:ph type="sldNum" sz="quarter" idx="5"/>
          </p:nvPr>
        </p:nvSpPr>
        <p:spPr/>
        <p:txBody>
          <a:bodyPr/>
          <a:lstStyle/>
          <a:p>
            <a:fld id="{6A7036F4-3EE7-4333-884C-8884AAE53363}" type="slidenum">
              <a:rPr lang="en-US" smtClean="0"/>
              <a:t>23</a:t>
            </a:fld>
            <a:endParaRPr lang="en-US"/>
          </a:p>
        </p:txBody>
      </p:sp>
    </p:spTree>
    <p:extLst>
      <p:ext uri="{BB962C8B-B14F-4D97-AF65-F5344CB8AC3E}">
        <p14:creationId xmlns:p14="http://schemas.microsoft.com/office/powerpoint/2010/main" val="310523622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Talk track
The command-based split is unchanged even though the hardware API is pneumatic. The subsystem owns both solenoids because they act together as one mechanism.
Safety discussion
The boolean is a software belief, not a measurement. Possible feedback includes limit switches, reed sensors, pressure/position sensing, or a known homing procedure. The correct choice depends on the actual mechanism and safety analysis.</a:t>
            </a:r>
          </a:p>
        </p:txBody>
      </p:sp>
      <p:sp>
        <p:nvSpPr>
          <p:cNvPr id="4" name="Slide Number Placeholder 3"/>
          <p:cNvSpPr>
            <a:spLocks noGrp="1"/>
          </p:cNvSpPr>
          <p:nvPr>
            <p:ph type="sldNum" sz="quarter" idx="5"/>
          </p:nvPr>
        </p:nvSpPr>
        <p:spPr/>
        <p:txBody>
          <a:bodyPr/>
          <a:lstStyle/>
          <a:p>
            <a:fld id="{6A7036F4-3EE7-4333-884C-8884AAE53363}" type="slidenum">
              <a:rPr lang="en-US" smtClean="0"/>
              <a:t>24</a:t>
            </a:fld>
            <a:endParaRPr lang="en-US"/>
          </a:p>
        </p:txBody>
      </p:sp>
    </p:spTree>
    <p:extLst>
      <p:ext uri="{BB962C8B-B14F-4D97-AF65-F5344CB8AC3E}">
        <p14:creationId xmlns:p14="http://schemas.microsoft.com/office/powerpoint/2010/main" val="306089537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Talk track
The present design lets operators compose behavior manually. A combined scoring command could run both mechanisms in parallel or sequence them.
Questions to settle first
Does the roller start immediately or after the belt? Does the action run while held, for a duration, or until a sensor changes? On interruption, both mechanisms must stop. The command or group must require BeltSubsystem and RollerSubsystem so independent commands cannot take either mechanism during the action.</a:t>
            </a:r>
          </a:p>
        </p:txBody>
      </p:sp>
      <p:sp>
        <p:nvSpPr>
          <p:cNvPr id="4" name="Slide Number Placeholder 3"/>
          <p:cNvSpPr>
            <a:spLocks noGrp="1"/>
          </p:cNvSpPr>
          <p:nvPr>
            <p:ph type="sldNum" sz="quarter" idx="5"/>
          </p:nvPr>
        </p:nvSpPr>
        <p:spPr/>
        <p:txBody>
          <a:bodyPr/>
          <a:lstStyle/>
          <a:p>
            <a:fld id="{6A7036F4-3EE7-4333-884C-8884AAE53363}" type="slidenum">
              <a:rPr lang="en-US" smtClean="0"/>
              <a:t>25</a:t>
            </a:fld>
            <a:endParaRPr lang="en-US"/>
          </a:p>
        </p:txBody>
      </p:sp>
    </p:spTree>
    <p:extLst>
      <p:ext uri="{BB962C8B-B14F-4D97-AF65-F5344CB8AC3E}">
        <p14:creationId xmlns:p14="http://schemas.microsoft.com/office/powerpoint/2010/main" val="354588278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Talk track
The test checks the command-to-subsystem contract. Mockito stands in for the subsystem, so no roboRIO or motor controller is needed.
Experienced extension
Test normal completion and interruption. Verify both run requests and both stop requests. Then reason about scheduler-level conflicts separately or add a scheduler integration test if the command composition warrants it.</a:t>
            </a:r>
          </a:p>
        </p:txBody>
      </p:sp>
      <p:sp>
        <p:nvSpPr>
          <p:cNvPr id="4" name="Slide Number Placeholder 3"/>
          <p:cNvSpPr>
            <a:spLocks noGrp="1"/>
          </p:cNvSpPr>
          <p:nvPr>
            <p:ph type="sldNum" sz="quarter" idx="5"/>
          </p:nvPr>
        </p:nvSpPr>
        <p:spPr/>
        <p:txBody>
          <a:bodyPr/>
          <a:lstStyle/>
          <a:p>
            <a:fld id="{6A7036F4-3EE7-4333-884C-8884AAE53363}" type="slidenum">
              <a:rPr lang="en-US" smtClean="0"/>
              <a:t>26</a:t>
            </a:fld>
            <a:endParaRPr lang="en-US"/>
          </a:p>
        </p:txBody>
      </p:sp>
    </p:spTree>
    <p:extLst>
      <p:ext uri="{BB962C8B-B14F-4D97-AF65-F5344CB8AC3E}">
        <p14:creationId xmlns:p14="http://schemas.microsoft.com/office/powerpoint/2010/main" val="374883033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Talk track
Use this as the team’s implementation checklist. It starts with behavior and ownership, then introduces framework wiring, organization, tests, and physical verification.
Rejoin activity
Pair students across tracks. The beginner traces one existing action through binding, scheduler, command, subsystem, and hardware. The experienced student explains one scheduler or design decision without assuming Java knowledge. Each pair proposes one safe, testable modification.
Final caution
Simulation and unit tests reduce risk but do not prove motor direction, pneumatic plumbing, mechanism interference, or real starting position. Perform controlled hardware verification with the team’s safety process.</a:t>
            </a:r>
          </a:p>
        </p:txBody>
      </p:sp>
      <p:sp>
        <p:nvSpPr>
          <p:cNvPr id="4" name="Slide Number Placeholder 3"/>
          <p:cNvSpPr>
            <a:spLocks noGrp="1"/>
          </p:cNvSpPr>
          <p:nvPr>
            <p:ph type="sldNum" sz="quarter" idx="5"/>
          </p:nvPr>
        </p:nvSpPr>
        <p:spPr/>
        <p:txBody>
          <a:bodyPr/>
          <a:lstStyle/>
          <a:p>
            <a:fld id="{6A7036F4-3EE7-4333-884C-8884AAE53363}" type="slidenum">
              <a:rPr lang="en-US" smtClean="0"/>
              <a:t>27</a:t>
            </a:fld>
            <a:endParaRPr lang="en-US"/>
          </a:p>
        </p:txBody>
      </p:sp>
    </p:spTree>
    <p:extLst>
      <p:ext uri="{BB962C8B-B14F-4D97-AF65-F5344CB8AC3E}">
        <p14:creationId xmlns:p14="http://schemas.microsoft.com/office/powerpoint/2010/main" val="29076212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E1D604-8D50-1795-763D-B66000ADB42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BC73F23-3685-9678-DE97-0869715BD18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EF62F30-0569-C0D4-03E8-EE720A166121}"/>
              </a:ext>
            </a:extLst>
          </p:cNvPr>
          <p:cNvSpPr>
            <a:spLocks noGrp="1"/>
          </p:cNvSpPr>
          <p:nvPr>
            <p:ph type="dt" sz="half" idx="10"/>
          </p:nvPr>
        </p:nvSpPr>
        <p:spPr/>
        <p:txBody>
          <a:bodyPr/>
          <a:lstStyle/>
          <a:p>
            <a:fld id="{9DC8ACFE-88F1-49D3-BCC8-933A113BF11E}" type="datetimeFigureOut">
              <a:rPr lang="en-US" smtClean="0"/>
              <a:t>9/30/2026</a:t>
            </a:fld>
            <a:endParaRPr lang="en-US"/>
          </a:p>
        </p:txBody>
      </p:sp>
      <p:sp>
        <p:nvSpPr>
          <p:cNvPr id="5" name="Footer Placeholder 4">
            <a:extLst>
              <a:ext uri="{FF2B5EF4-FFF2-40B4-BE49-F238E27FC236}">
                <a16:creationId xmlns:a16="http://schemas.microsoft.com/office/drawing/2014/main" id="{54DFE85D-F407-A1B7-8B08-E210260AB2A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2349023-47B5-25EE-17B3-0A10EBC827D5}"/>
              </a:ext>
            </a:extLst>
          </p:cNvPr>
          <p:cNvSpPr>
            <a:spLocks noGrp="1"/>
          </p:cNvSpPr>
          <p:nvPr>
            <p:ph type="sldNum" sz="quarter" idx="12"/>
          </p:nvPr>
        </p:nvSpPr>
        <p:spPr/>
        <p:txBody>
          <a:bodyPr/>
          <a:lstStyle/>
          <a:p>
            <a:fld id="{0A622CD1-E561-4504-A850-9D84298E905D}" type="slidenum">
              <a:rPr lang="en-US" smtClean="0"/>
              <a:t>‹#›</a:t>
            </a:fld>
            <a:endParaRPr lang="en-US"/>
          </a:p>
        </p:txBody>
      </p:sp>
    </p:spTree>
    <p:extLst>
      <p:ext uri="{BB962C8B-B14F-4D97-AF65-F5344CB8AC3E}">
        <p14:creationId xmlns:p14="http://schemas.microsoft.com/office/powerpoint/2010/main" val="17755720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A5C0F9-1B82-4A20-840D-1B6B52D8DE4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4A1A205-F733-492E-4DA3-F9DD4156C9B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5561B6F-FD00-1DC4-F842-7EA568DAEC5F}"/>
              </a:ext>
            </a:extLst>
          </p:cNvPr>
          <p:cNvSpPr>
            <a:spLocks noGrp="1"/>
          </p:cNvSpPr>
          <p:nvPr>
            <p:ph type="dt" sz="half" idx="10"/>
          </p:nvPr>
        </p:nvSpPr>
        <p:spPr/>
        <p:txBody>
          <a:bodyPr/>
          <a:lstStyle/>
          <a:p>
            <a:fld id="{9DC8ACFE-88F1-49D3-BCC8-933A113BF11E}" type="datetimeFigureOut">
              <a:rPr lang="en-US" smtClean="0"/>
              <a:t>9/30/2026</a:t>
            </a:fld>
            <a:endParaRPr lang="en-US"/>
          </a:p>
        </p:txBody>
      </p:sp>
      <p:sp>
        <p:nvSpPr>
          <p:cNvPr id="5" name="Footer Placeholder 4">
            <a:extLst>
              <a:ext uri="{FF2B5EF4-FFF2-40B4-BE49-F238E27FC236}">
                <a16:creationId xmlns:a16="http://schemas.microsoft.com/office/drawing/2014/main" id="{11D181DE-39AC-06FA-E0B4-7EFA7F555AA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4156DEB-241F-5F98-8547-98327862CDD7}"/>
              </a:ext>
            </a:extLst>
          </p:cNvPr>
          <p:cNvSpPr>
            <a:spLocks noGrp="1"/>
          </p:cNvSpPr>
          <p:nvPr>
            <p:ph type="sldNum" sz="quarter" idx="12"/>
          </p:nvPr>
        </p:nvSpPr>
        <p:spPr/>
        <p:txBody>
          <a:bodyPr/>
          <a:lstStyle/>
          <a:p>
            <a:fld id="{0A622CD1-E561-4504-A850-9D84298E905D}" type="slidenum">
              <a:rPr lang="en-US" smtClean="0"/>
              <a:t>‹#›</a:t>
            </a:fld>
            <a:endParaRPr lang="en-US"/>
          </a:p>
        </p:txBody>
      </p:sp>
    </p:spTree>
    <p:extLst>
      <p:ext uri="{BB962C8B-B14F-4D97-AF65-F5344CB8AC3E}">
        <p14:creationId xmlns:p14="http://schemas.microsoft.com/office/powerpoint/2010/main" val="41306553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8B0F95-572F-E79B-EF8B-0B6AEC6B39C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C2AE437-5CAD-6045-0BAC-7A17AFEFE43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4AE15FF-16EF-36C7-14B8-C5724D280ED6}"/>
              </a:ext>
            </a:extLst>
          </p:cNvPr>
          <p:cNvSpPr>
            <a:spLocks noGrp="1"/>
          </p:cNvSpPr>
          <p:nvPr>
            <p:ph type="dt" sz="half" idx="10"/>
          </p:nvPr>
        </p:nvSpPr>
        <p:spPr/>
        <p:txBody>
          <a:bodyPr/>
          <a:lstStyle/>
          <a:p>
            <a:fld id="{9DC8ACFE-88F1-49D3-BCC8-933A113BF11E}" type="datetimeFigureOut">
              <a:rPr lang="en-US" smtClean="0"/>
              <a:t>9/30/2026</a:t>
            </a:fld>
            <a:endParaRPr lang="en-US"/>
          </a:p>
        </p:txBody>
      </p:sp>
      <p:sp>
        <p:nvSpPr>
          <p:cNvPr id="5" name="Footer Placeholder 4">
            <a:extLst>
              <a:ext uri="{FF2B5EF4-FFF2-40B4-BE49-F238E27FC236}">
                <a16:creationId xmlns:a16="http://schemas.microsoft.com/office/drawing/2014/main" id="{61112D04-3E20-5484-729C-0963D8494D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C912CB5-D82B-2319-BEA2-BFF88819A968}"/>
              </a:ext>
            </a:extLst>
          </p:cNvPr>
          <p:cNvSpPr>
            <a:spLocks noGrp="1"/>
          </p:cNvSpPr>
          <p:nvPr>
            <p:ph type="sldNum" sz="quarter" idx="12"/>
          </p:nvPr>
        </p:nvSpPr>
        <p:spPr/>
        <p:txBody>
          <a:bodyPr/>
          <a:lstStyle/>
          <a:p>
            <a:fld id="{0A622CD1-E561-4504-A850-9D84298E905D}" type="slidenum">
              <a:rPr lang="en-US" smtClean="0"/>
              <a:t>‹#›</a:t>
            </a:fld>
            <a:endParaRPr lang="en-US"/>
          </a:p>
        </p:txBody>
      </p:sp>
    </p:spTree>
    <p:extLst>
      <p:ext uri="{BB962C8B-B14F-4D97-AF65-F5344CB8AC3E}">
        <p14:creationId xmlns:p14="http://schemas.microsoft.com/office/powerpoint/2010/main" val="36537653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AC8706-8A60-32AB-6CF5-E5F6614917E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AAF72D9-55E1-4259-81D2-160930D01EC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860EA2A-D548-05D4-5AD2-8C68863D0EC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7D070AC-CB8E-0B66-3B3D-6D2718C5AEEF}"/>
              </a:ext>
            </a:extLst>
          </p:cNvPr>
          <p:cNvSpPr>
            <a:spLocks noGrp="1"/>
          </p:cNvSpPr>
          <p:nvPr>
            <p:ph type="dt" sz="half" idx="10"/>
          </p:nvPr>
        </p:nvSpPr>
        <p:spPr/>
        <p:txBody>
          <a:bodyPr/>
          <a:lstStyle/>
          <a:p>
            <a:fld id="{9DC8ACFE-88F1-49D3-BCC8-933A113BF11E}" type="datetimeFigureOut">
              <a:rPr lang="en-US" smtClean="0"/>
              <a:t>9/30/2026</a:t>
            </a:fld>
            <a:endParaRPr lang="en-US"/>
          </a:p>
        </p:txBody>
      </p:sp>
      <p:sp>
        <p:nvSpPr>
          <p:cNvPr id="6" name="Footer Placeholder 5">
            <a:extLst>
              <a:ext uri="{FF2B5EF4-FFF2-40B4-BE49-F238E27FC236}">
                <a16:creationId xmlns:a16="http://schemas.microsoft.com/office/drawing/2014/main" id="{4EC5287A-9A0B-D569-DBE3-957FC747BCB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4F5936D-4081-5765-C8A7-F6F1913A3CA5}"/>
              </a:ext>
            </a:extLst>
          </p:cNvPr>
          <p:cNvSpPr>
            <a:spLocks noGrp="1"/>
          </p:cNvSpPr>
          <p:nvPr>
            <p:ph type="sldNum" sz="quarter" idx="12"/>
          </p:nvPr>
        </p:nvSpPr>
        <p:spPr/>
        <p:txBody>
          <a:bodyPr/>
          <a:lstStyle/>
          <a:p>
            <a:fld id="{0A622CD1-E561-4504-A850-9D84298E905D}" type="slidenum">
              <a:rPr lang="en-US" smtClean="0"/>
              <a:t>‹#›</a:t>
            </a:fld>
            <a:endParaRPr lang="en-US"/>
          </a:p>
        </p:txBody>
      </p:sp>
    </p:spTree>
    <p:extLst>
      <p:ext uri="{BB962C8B-B14F-4D97-AF65-F5344CB8AC3E}">
        <p14:creationId xmlns:p14="http://schemas.microsoft.com/office/powerpoint/2010/main" val="23029370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A73D31-900D-49B7-7168-9424DA55027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81046A5-DEF4-F318-F4CF-5325BF1F097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6BE1C18-7702-2BB1-D169-9B1C846B56B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F4349BB-ABAD-ADEC-D5B1-8396B67EEC9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5BB8FB6-39F3-559F-B72F-3707E4D37DA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804BF5F-6F1A-0529-1147-F48F53CADF3A}"/>
              </a:ext>
            </a:extLst>
          </p:cNvPr>
          <p:cNvSpPr>
            <a:spLocks noGrp="1"/>
          </p:cNvSpPr>
          <p:nvPr>
            <p:ph type="dt" sz="half" idx="10"/>
          </p:nvPr>
        </p:nvSpPr>
        <p:spPr/>
        <p:txBody>
          <a:bodyPr/>
          <a:lstStyle/>
          <a:p>
            <a:fld id="{9DC8ACFE-88F1-49D3-BCC8-933A113BF11E}" type="datetimeFigureOut">
              <a:rPr lang="en-US" smtClean="0"/>
              <a:t>9/30/2026</a:t>
            </a:fld>
            <a:endParaRPr lang="en-US"/>
          </a:p>
        </p:txBody>
      </p:sp>
      <p:sp>
        <p:nvSpPr>
          <p:cNvPr id="8" name="Footer Placeholder 7">
            <a:extLst>
              <a:ext uri="{FF2B5EF4-FFF2-40B4-BE49-F238E27FC236}">
                <a16:creationId xmlns:a16="http://schemas.microsoft.com/office/drawing/2014/main" id="{FE10E96D-44EE-C668-2B9B-6A0533C8E16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393EDDE-4C6A-08C9-F902-DAB79388B59C}"/>
              </a:ext>
            </a:extLst>
          </p:cNvPr>
          <p:cNvSpPr>
            <a:spLocks noGrp="1"/>
          </p:cNvSpPr>
          <p:nvPr>
            <p:ph type="sldNum" sz="quarter" idx="12"/>
          </p:nvPr>
        </p:nvSpPr>
        <p:spPr/>
        <p:txBody>
          <a:bodyPr/>
          <a:lstStyle/>
          <a:p>
            <a:fld id="{0A622CD1-E561-4504-A850-9D84298E905D}" type="slidenum">
              <a:rPr lang="en-US" smtClean="0"/>
              <a:t>‹#›</a:t>
            </a:fld>
            <a:endParaRPr lang="en-US"/>
          </a:p>
        </p:txBody>
      </p:sp>
    </p:spTree>
    <p:extLst>
      <p:ext uri="{BB962C8B-B14F-4D97-AF65-F5344CB8AC3E}">
        <p14:creationId xmlns:p14="http://schemas.microsoft.com/office/powerpoint/2010/main" val="32256693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BC389C-8695-2CD0-1389-A53E04917FD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BE2DA51-F819-E273-5476-96EE8174FFC9}"/>
              </a:ext>
            </a:extLst>
          </p:cNvPr>
          <p:cNvSpPr>
            <a:spLocks noGrp="1"/>
          </p:cNvSpPr>
          <p:nvPr>
            <p:ph type="dt" sz="half" idx="10"/>
          </p:nvPr>
        </p:nvSpPr>
        <p:spPr/>
        <p:txBody>
          <a:bodyPr/>
          <a:lstStyle/>
          <a:p>
            <a:fld id="{9DC8ACFE-88F1-49D3-BCC8-933A113BF11E}" type="datetimeFigureOut">
              <a:rPr lang="en-US" smtClean="0"/>
              <a:t>9/30/2026</a:t>
            </a:fld>
            <a:endParaRPr lang="en-US"/>
          </a:p>
        </p:txBody>
      </p:sp>
      <p:sp>
        <p:nvSpPr>
          <p:cNvPr id="4" name="Footer Placeholder 3">
            <a:extLst>
              <a:ext uri="{FF2B5EF4-FFF2-40B4-BE49-F238E27FC236}">
                <a16:creationId xmlns:a16="http://schemas.microsoft.com/office/drawing/2014/main" id="{462C9424-05FC-894C-92E5-534AB84A94A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188263D-D010-C694-822A-10EA0870768C}"/>
              </a:ext>
            </a:extLst>
          </p:cNvPr>
          <p:cNvSpPr>
            <a:spLocks noGrp="1"/>
          </p:cNvSpPr>
          <p:nvPr>
            <p:ph type="sldNum" sz="quarter" idx="12"/>
          </p:nvPr>
        </p:nvSpPr>
        <p:spPr/>
        <p:txBody>
          <a:bodyPr/>
          <a:lstStyle/>
          <a:p>
            <a:fld id="{0A622CD1-E561-4504-A850-9D84298E905D}" type="slidenum">
              <a:rPr lang="en-US" smtClean="0"/>
              <a:t>‹#›</a:t>
            </a:fld>
            <a:endParaRPr lang="en-US"/>
          </a:p>
        </p:txBody>
      </p:sp>
    </p:spTree>
    <p:extLst>
      <p:ext uri="{BB962C8B-B14F-4D97-AF65-F5344CB8AC3E}">
        <p14:creationId xmlns:p14="http://schemas.microsoft.com/office/powerpoint/2010/main" val="33334483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AF4D67A-BDAD-2631-C898-8B22BF975069}"/>
              </a:ext>
            </a:extLst>
          </p:cNvPr>
          <p:cNvSpPr>
            <a:spLocks noGrp="1"/>
          </p:cNvSpPr>
          <p:nvPr>
            <p:ph type="dt" sz="half" idx="10"/>
          </p:nvPr>
        </p:nvSpPr>
        <p:spPr/>
        <p:txBody>
          <a:bodyPr/>
          <a:lstStyle/>
          <a:p>
            <a:fld id="{9DC8ACFE-88F1-49D3-BCC8-933A113BF11E}" type="datetimeFigureOut">
              <a:rPr lang="en-US" smtClean="0"/>
              <a:t>9/30/2026</a:t>
            </a:fld>
            <a:endParaRPr lang="en-US"/>
          </a:p>
        </p:txBody>
      </p:sp>
      <p:sp>
        <p:nvSpPr>
          <p:cNvPr id="3" name="Footer Placeholder 2">
            <a:extLst>
              <a:ext uri="{FF2B5EF4-FFF2-40B4-BE49-F238E27FC236}">
                <a16:creationId xmlns:a16="http://schemas.microsoft.com/office/drawing/2014/main" id="{DA49CE87-545F-3BB8-5A4D-5B41B262649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E50710F-BBE1-D1F9-F0A8-E019064FAD55}"/>
              </a:ext>
            </a:extLst>
          </p:cNvPr>
          <p:cNvSpPr>
            <a:spLocks noGrp="1"/>
          </p:cNvSpPr>
          <p:nvPr>
            <p:ph type="sldNum" sz="quarter" idx="12"/>
          </p:nvPr>
        </p:nvSpPr>
        <p:spPr/>
        <p:txBody>
          <a:bodyPr/>
          <a:lstStyle/>
          <a:p>
            <a:fld id="{0A622CD1-E561-4504-A850-9D84298E905D}" type="slidenum">
              <a:rPr lang="en-US" smtClean="0"/>
              <a:t>‹#›</a:t>
            </a:fld>
            <a:endParaRPr lang="en-US"/>
          </a:p>
        </p:txBody>
      </p:sp>
    </p:spTree>
    <p:extLst>
      <p:ext uri="{BB962C8B-B14F-4D97-AF65-F5344CB8AC3E}">
        <p14:creationId xmlns:p14="http://schemas.microsoft.com/office/powerpoint/2010/main" val="40234495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97C28C-BC72-1206-1D0B-49793228E68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9F70ADA-CED8-AFCB-95EF-1EE57AA9A0A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68AAF87-CF7C-3965-6375-9D209F49266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AD80B1D-1BDB-62EF-7C34-E839A7F9E366}"/>
              </a:ext>
            </a:extLst>
          </p:cNvPr>
          <p:cNvSpPr>
            <a:spLocks noGrp="1"/>
          </p:cNvSpPr>
          <p:nvPr>
            <p:ph type="dt" sz="half" idx="10"/>
          </p:nvPr>
        </p:nvSpPr>
        <p:spPr/>
        <p:txBody>
          <a:bodyPr/>
          <a:lstStyle/>
          <a:p>
            <a:fld id="{9DC8ACFE-88F1-49D3-BCC8-933A113BF11E}" type="datetimeFigureOut">
              <a:rPr lang="en-US" smtClean="0"/>
              <a:t>9/30/2026</a:t>
            </a:fld>
            <a:endParaRPr lang="en-US"/>
          </a:p>
        </p:txBody>
      </p:sp>
      <p:sp>
        <p:nvSpPr>
          <p:cNvPr id="6" name="Footer Placeholder 5">
            <a:extLst>
              <a:ext uri="{FF2B5EF4-FFF2-40B4-BE49-F238E27FC236}">
                <a16:creationId xmlns:a16="http://schemas.microsoft.com/office/drawing/2014/main" id="{F181FD2C-4FD6-3648-7D03-596E1778E1C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1A7F74E-EE49-6F3F-303D-C436AF7CD088}"/>
              </a:ext>
            </a:extLst>
          </p:cNvPr>
          <p:cNvSpPr>
            <a:spLocks noGrp="1"/>
          </p:cNvSpPr>
          <p:nvPr>
            <p:ph type="sldNum" sz="quarter" idx="12"/>
          </p:nvPr>
        </p:nvSpPr>
        <p:spPr/>
        <p:txBody>
          <a:bodyPr/>
          <a:lstStyle/>
          <a:p>
            <a:fld id="{0A622CD1-E561-4504-A850-9D84298E905D}" type="slidenum">
              <a:rPr lang="en-US" smtClean="0"/>
              <a:t>‹#›</a:t>
            </a:fld>
            <a:endParaRPr lang="en-US"/>
          </a:p>
        </p:txBody>
      </p:sp>
    </p:spTree>
    <p:extLst>
      <p:ext uri="{BB962C8B-B14F-4D97-AF65-F5344CB8AC3E}">
        <p14:creationId xmlns:p14="http://schemas.microsoft.com/office/powerpoint/2010/main" val="41450786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86B67C-780A-A413-3861-73B2B855FB9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495E453-B760-14E1-93A5-C17FE8D1D82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DFD3BB5-38CA-F3A4-E6E3-F6B26E0E8E2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D43F638-EE67-474F-FAE4-3445C1987864}"/>
              </a:ext>
            </a:extLst>
          </p:cNvPr>
          <p:cNvSpPr>
            <a:spLocks noGrp="1"/>
          </p:cNvSpPr>
          <p:nvPr>
            <p:ph type="dt" sz="half" idx="10"/>
          </p:nvPr>
        </p:nvSpPr>
        <p:spPr/>
        <p:txBody>
          <a:bodyPr/>
          <a:lstStyle/>
          <a:p>
            <a:fld id="{9DC8ACFE-88F1-49D3-BCC8-933A113BF11E}" type="datetimeFigureOut">
              <a:rPr lang="en-US" smtClean="0"/>
              <a:t>9/30/2026</a:t>
            </a:fld>
            <a:endParaRPr lang="en-US"/>
          </a:p>
        </p:txBody>
      </p:sp>
      <p:sp>
        <p:nvSpPr>
          <p:cNvPr id="6" name="Footer Placeholder 5">
            <a:extLst>
              <a:ext uri="{FF2B5EF4-FFF2-40B4-BE49-F238E27FC236}">
                <a16:creationId xmlns:a16="http://schemas.microsoft.com/office/drawing/2014/main" id="{46A00A4E-5E79-FC18-2F11-C5A8645C593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F9984BA-84B8-A42D-88B4-163A58B5CBC2}"/>
              </a:ext>
            </a:extLst>
          </p:cNvPr>
          <p:cNvSpPr>
            <a:spLocks noGrp="1"/>
          </p:cNvSpPr>
          <p:nvPr>
            <p:ph type="sldNum" sz="quarter" idx="12"/>
          </p:nvPr>
        </p:nvSpPr>
        <p:spPr/>
        <p:txBody>
          <a:bodyPr/>
          <a:lstStyle/>
          <a:p>
            <a:fld id="{0A622CD1-E561-4504-A850-9D84298E905D}" type="slidenum">
              <a:rPr lang="en-US" smtClean="0"/>
              <a:t>‹#›</a:t>
            </a:fld>
            <a:endParaRPr lang="en-US"/>
          </a:p>
        </p:txBody>
      </p:sp>
    </p:spTree>
    <p:extLst>
      <p:ext uri="{BB962C8B-B14F-4D97-AF65-F5344CB8AC3E}">
        <p14:creationId xmlns:p14="http://schemas.microsoft.com/office/powerpoint/2010/main" val="19897093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2589CD-841A-0EED-5AA6-1286D4F7EBA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74528B2-D233-5826-81D1-243D88F9162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359DD2C-2F6E-6C4D-2078-5D412A5FAFC3}"/>
              </a:ext>
            </a:extLst>
          </p:cNvPr>
          <p:cNvSpPr>
            <a:spLocks noGrp="1"/>
          </p:cNvSpPr>
          <p:nvPr>
            <p:ph type="dt" sz="half" idx="10"/>
          </p:nvPr>
        </p:nvSpPr>
        <p:spPr/>
        <p:txBody>
          <a:bodyPr/>
          <a:lstStyle/>
          <a:p>
            <a:fld id="{9DC8ACFE-88F1-49D3-BCC8-933A113BF11E}" type="datetimeFigureOut">
              <a:rPr lang="en-US" smtClean="0"/>
              <a:t>9/30/2026</a:t>
            </a:fld>
            <a:endParaRPr lang="en-US"/>
          </a:p>
        </p:txBody>
      </p:sp>
      <p:sp>
        <p:nvSpPr>
          <p:cNvPr id="5" name="Footer Placeholder 4">
            <a:extLst>
              <a:ext uri="{FF2B5EF4-FFF2-40B4-BE49-F238E27FC236}">
                <a16:creationId xmlns:a16="http://schemas.microsoft.com/office/drawing/2014/main" id="{251293AF-60CA-C60C-4751-5C80DBE68C7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30962B6-E3E6-FF23-3C08-A94559AADE1D}"/>
              </a:ext>
            </a:extLst>
          </p:cNvPr>
          <p:cNvSpPr>
            <a:spLocks noGrp="1"/>
          </p:cNvSpPr>
          <p:nvPr>
            <p:ph type="sldNum" sz="quarter" idx="12"/>
          </p:nvPr>
        </p:nvSpPr>
        <p:spPr/>
        <p:txBody>
          <a:bodyPr/>
          <a:lstStyle/>
          <a:p>
            <a:fld id="{0A622CD1-E561-4504-A850-9D84298E905D}" type="slidenum">
              <a:rPr lang="en-US" smtClean="0"/>
              <a:t>‹#›</a:t>
            </a:fld>
            <a:endParaRPr lang="en-US"/>
          </a:p>
        </p:txBody>
      </p:sp>
    </p:spTree>
    <p:extLst>
      <p:ext uri="{BB962C8B-B14F-4D97-AF65-F5344CB8AC3E}">
        <p14:creationId xmlns:p14="http://schemas.microsoft.com/office/powerpoint/2010/main" val="14908947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4888E13-9176-1259-CCBB-D960E37206E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5FF67D3-2471-5094-07E4-B19CA3151A5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808452A-01E1-7E5B-45E4-867012D1BC0C}"/>
              </a:ext>
            </a:extLst>
          </p:cNvPr>
          <p:cNvSpPr>
            <a:spLocks noGrp="1"/>
          </p:cNvSpPr>
          <p:nvPr>
            <p:ph type="dt" sz="half" idx="10"/>
          </p:nvPr>
        </p:nvSpPr>
        <p:spPr/>
        <p:txBody>
          <a:bodyPr/>
          <a:lstStyle/>
          <a:p>
            <a:fld id="{9DC8ACFE-88F1-49D3-BCC8-933A113BF11E}" type="datetimeFigureOut">
              <a:rPr lang="en-US" smtClean="0"/>
              <a:t>9/30/2026</a:t>
            </a:fld>
            <a:endParaRPr lang="en-US"/>
          </a:p>
        </p:txBody>
      </p:sp>
      <p:sp>
        <p:nvSpPr>
          <p:cNvPr id="5" name="Footer Placeholder 4">
            <a:extLst>
              <a:ext uri="{FF2B5EF4-FFF2-40B4-BE49-F238E27FC236}">
                <a16:creationId xmlns:a16="http://schemas.microsoft.com/office/drawing/2014/main" id="{9EF4F8C2-3E9B-2568-2616-BED8FEDC714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78AD653-DB1A-E51A-6074-A9824F9F7CA4}"/>
              </a:ext>
            </a:extLst>
          </p:cNvPr>
          <p:cNvSpPr>
            <a:spLocks noGrp="1"/>
          </p:cNvSpPr>
          <p:nvPr>
            <p:ph type="sldNum" sz="quarter" idx="12"/>
          </p:nvPr>
        </p:nvSpPr>
        <p:spPr/>
        <p:txBody>
          <a:bodyPr/>
          <a:lstStyle/>
          <a:p>
            <a:fld id="{0A622CD1-E561-4504-A850-9D84298E905D}" type="slidenum">
              <a:rPr lang="en-US" smtClean="0"/>
              <a:t>‹#›</a:t>
            </a:fld>
            <a:endParaRPr lang="en-US"/>
          </a:p>
        </p:txBody>
      </p:sp>
    </p:spTree>
    <p:extLst>
      <p:ext uri="{BB962C8B-B14F-4D97-AF65-F5344CB8AC3E}">
        <p14:creationId xmlns:p14="http://schemas.microsoft.com/office/powerpoint/2010/main" val="17857343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9E65BFB-9741-DB12-9E76-8307D2D82DA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AF6B7EC-4C14-6F90-DC05-C2BD7544D03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57262BE-8E96-62CB-52C3-60053608547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DC8ACFE-88F1-49D3-BCC8-933A113BF11E}" type="datetimeFigureOut">
              <a:rPr lang="en-US" smtClean="0"/>
              <a:t>9/30/2026</a:t>
            </a:fld>
            <a:endParaRPr lang="en-US"/>
          </a:p>
        </p:txBody>
      </p:sp>
      <p:sp>
        <p:nvSpPr>
          <p:cNvPr id="5" name="Footer Placeholder 4">
            <a:extLst>
              <a:ext uri="{FF2B5EF4-FFF2-40B4-BE49-F238E27FC236}">
                <a16:creationId xmlns:a16="http://schemas.microsoft.com/office/drawing/2014/main" id="{1F02F6D6-0109-B3BC-D045-54F2B7B5564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99424D1-9358-A068-7632-B63D52285E6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A622CD1-E561-4504-A850-9D84298E905D}" type="slidenum">
              <a:rPr lang="en-US" smtClean="0"/>
              <a:t>‹#›</a:t>
            </a:fld>
            <a:endParaRPr lang="en-US"/>
          </a:p>
        </p:txBody>
      </p:sp>
    </p:spTree>
    <p:extLst>
      <p:ext uri="{BB962C8B-B14F-4D97-AF65-F5344CB8AC3E}">
        <p14:creationId xmlns:p14="http://schemas.microsoft.com/office/powerpoint/2010/main" val="23113128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D1421"/>
        </a:solidFill>
        <a:effectLst/>
      </p:bgPr>
    </p:bg>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C51CE6DB-6688-AE39-C23E-DCC178A94C7E}"/>
              </a:ext>
            </a:extLst>
          </p:cNvPr>
          <p:cNvSpPr/>
          <p:nvPr/>
        </p:nvSpPr>
        <p:spPr>
          <a:xfrm>
            <a:off x="609600" y="533400"/>
            <a:ext cx="2387600" cy="330200"/>
          </a:xfrm>
          <a:prstGeom prst="roundRect">
            <a:avLst/>
          </a:prstGeom>
          <a:solidFill>
            <a:srgbClr val="379D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81A66620-499D-9D62-6291-B2739C81295F}"/>
              </a:ext>
            </a:extLst>
          </p:cNvPr>
          <p:cNvSpPr txBox="1"/>
          <p:nvPr/>
        </p:nvSpPr>
        <p:spPr>
          <a:xfrm>
            <a:off x="685800" y="571500"/>
            <a:ext cx="2235200" cy="276999"/>
          </a:xfrm>
          <a:prstGeom prst="rect">
            <a:avLst/>
          </a:prstGeom>
          <a:noFill/>
        </p:spPr>
        <p:txBody>
          <a:bodyPr vert="horz" wrap="square" lIns="0" tIns="0" rIns="0" bIns="0" rtlCol="0">
            <a:noAutofit/>
          </a:bodyPr>
          <a:lstStyle/>
          <a:p>
            <a:pPr algn="ctr"/>
            <a:r>
              <a:rPr lang="en-US" sz="1050" b="1">
                <a:solidFill>
                  <a:srgbClr val="060A12"/>
                </a:solidFill>
                <a:latin typeface="Aptos" panose="020B0004020202020204" pitchFamily="34" charset="0"/>
              </a:rPr>
              <a:t>NEW PROGRAMMER ONBOARDING</a:t>
            </a:r>
          </a:p>
        </p:txBody>
      </p:sp>
      <p:sp>
        <p:nvSpPr>
          <p:cNvPr id="4" name="TextBox 3">
            <a:extLst>
              <a:ext uri="{FF2B5EF4-FFF2-40B4-BE49-F238E27FC236}">
                <a16:creationId xmlns:a16="http://schemas.microsoft.com/office/drawing/2014/main" id="{0698AFFA-DF32-ED12-585A-0BCE5952994F}"/>
              </a:ext>
            </a:extLst>
          </p:cNvPr>
          <p:cNvSpPr txBox="1"/>
          <p:nvPr/>
        </p:nvSpPr>
        <p:spPr>
          <a:xfrm>
            <a:off x="609600" y="1308100"/>
            <a:ext cx="7620000" cy="276999"/>
          </a:xfrm>
          <a:prstGeom prst="rect">
            <a:avLst/>
          </a:prstGeom>
          <a:noFill/>
        </p:spPr>
        <p:txBody>
          <a:bodyPr vert="horz" wrap="square" lIns="0" tIns="0" rIns="0" bIns="0" rtlCol="0" anchor="t">
            <a:noAutofit/>
          </a:bodyPr>
          <a:lstStyle/>
          <a:p>
            <a:r>
              <a:rPr lang="en-US" sz="3800" b="1" dirty="0">
                <a:solidFill>
                  <a:srgbClr val="F2F5F9"/>
                </a:solidFill>
                <a:latin typeface="Aptos Display" panose="020B0004020202020204" pitchFamily="34" charset="0"/>
              </a:rPr>
              <a:t>2020 Robot Code </a:t>
            </a:r>
          </a:p>
        </p:txBody>
      </p:sp>
      <p:sp>
        <p:nvSpPr>
          <p:cNvPr id="5" name="TextBox 4">
            <a:extLst>
              <a:ext uri="{FF2B5EF4-FFF2-40B4-BE49-F238E27FC236}">
                <a16:creationId xmlns:a16="http://schemas.microsoft.com/office/drawing/2014/main" id="{E1C7ECBE-E498-7502-2184-B4263EEACCBD}"/>
              </a:ext>
            </a:extLst>
          </p:cNvPr>
          <p:cNvSpPr txBox="1"/>
          <p:nvPr/>
        </p:nvSpPr>
        <p:spPr>
          <a:xfrm>
            <a:off x="635000" y="2857500"/>
            <a:ext cx="7747000" cy="276999"/>
          </a:xfrm>
          <a:prstGeom prst="rect">
            <a:avLst/>
          </a:prstGeom>
          <a:noFill/>
        </p:spPr>
        <p:txBody>
          <a:bodyPr vert="horz" wrap="square" lIns="0" tIns="0" rIns="0" bIns="0" rtlCol="0" anchor="t">
            <a:noAutofit/>
          </a:bodyPr>
          <a:lstStyle/>
          <a:p>
            <a:r>
              <a:rPr lang="en-US" sz="1900">
                <a:solidFill>
                  <a:srgbClr val="A9B4C5"/>
                </a:solidFill>
                <a:latin typeface="Aptos" panose="020B0004020202020204" pitchFamily="34" charset="0"/>
              </a:rPr>
              <a:t>Learn the main robot concepts, using one operator action to connect them.</a:t>
            </a:r>
            <a:endParaRPr lang="en-US" sz="1900" dirty="0">
              <a:solidFill>
                <a:srgbClr val="A9B4C5"/>
              </a:solidFill>
              <a:latin typeface="Aptos" panose="020B0004020202020204" pitchFamily="34" charset="0"/>
            </a:endParaRPr>
          </a:p>
        </p:txBody>
      </p:sp>
      <p:sp>
        <p:nvSpPr>
          <p:cNvPr id="6" name="Rectangle: Rounded Corners 5">
            <a:extLst>
              <a:ext uri="{FF2B5EF4-FFF2-40B4-BE49-F238E27FC236}">
                <a16:creationId xmlns:a16="http://schemas.microsoft.com/office/drawing/2014/main" id="{1CDBDECD-2AF8-C319-3E58-6E977596AE4D}"/>
              </a:ext>
            </a:extLst>
          </p:cNvPr>
          <p:cNvSpPr/>
          <p:nvPr/>
        </p:nvSpPr>
        <p:spPr>
          <a:xfrm>
            <a:off x="635000" y="4165600"/>
            <a:ext cx="1498600" cy="330200"/>
          </a:xfrm>
          <a:prstGeom prst="roundRect">
            <a:avLst/>
          </a:prstGeom>
          <a:solidFill>
            <a:srgbClr val="379D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4C7DBF5E-12A9-6BDF-7521-8468EC703488}"/>
              </a:ext>
            </a:extLst>
          </p:cNvPr>
          <p:cNvSpPr txBox="1"/>
          <p:nvPr/>
        </p:nvSpPr>
        <p:spPr>
          <a:xfrm>
            <a:off x="711200" y="4203700"/>
            <a:ext cx="1346200" cy="276999"/>
          </a:xfrm>
          <a:prstGeom prst="rect">
            <a:avLst/>
          </a:prstGeom>
          <a:noFill/>
        </p:spPr>
        <p:txBody>
          <a:bodyPr vert="horz" wrap="square" lIns="0" tIns="0" rIns="0" bIns="0" rtlCol="0">
            <a:noAutofit/>
          </a:bodyPr>
          <a:lstStyle/>
          <a:p>
            <a:pPr algn="ctr"/>
            <a:r>
              <a:rPr lang="en-US" sz="1050" b="1">
                <a:solidFill>
                  <a:srgbClr val="060A12"/>
                </a:solidFill>
                <a:latin typeface="Aptos" panose="020B0004020202020204" pitchFamily="34" charset="0"/>
              </a:rPr>
              <a:t>DRIVE</a:t>
            </a:r>
          </a:p>
        </p:txBody>
      </p:sp>
      <p:sp>
        <p:nvSpPr>
          <p:cNvPr id="8" name="Rectangle: Rounded Corners 7">
            <a:extLst>
              <a:ext uri="{FF2B5EF4-FFF2-40B4-BE49-F238E27FC236}">
                <a16:creationId xmlns:a16="http://schemas.microsoft.com/office/drawing/2014/main" id="{F3518651-0AB1-FFF7-DF49-F95DD6BAC877}"/>
              </a:ext>
            </a:extLst>
          </p:cNvPr>
          <p:cNvSpPr/>
          <p:nvPr/>
        </p:nvSpPr>
        <p:spPr>
          <a:xfrm>
            <a:off x="2324100" y="4165600"/>
            <a:ext cx="1498600" cy="330200"/>
          </a:xfrm>
          <a:prstGeom prst="roundRect">
            <a:avLst/>
          </a:prstGeom>
          <a:solidFill>
            <a:srgbClr val="FFA44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82AE2592-1AAA-8A3B-C5D7-AB03A6D53BB0}"/>
              </a:ext>
            </a:extLst>
          </p:cNvPr>
          <p:cNvSpPr txBox="1"/>
          <p:nvPr/>
        </p:nvSpPr>
        <p:spPr>
          <a:xfrm>
            <a:off x="2400300" y="4203700"/>
            <a:ext cx="1346200" cy="276999"/>
          </a:xfrm>
          <a:prstGeom prst="rect">
            <a:avLst/>
          </a:prstGeom>
          <a:noFill/>
        </p:spPr>
        <p:txBody>
          <a:bodyPr vert="horz" wrap="square" lIns="0" tIns="0" rIns="0" bIns="0" rtlCol="0">
            <a:noAutofit/>
          </a:bodyPr>
          <a:lstStyle/>
          <a:p>
            <a:pPr algn="ctr"/>
            <a:r>
              <a:rPr lang="en-US" sz="1050" b="1">
                <a:solidFill>
                  <a:srgbClr val="060A12"/>
                </a:solidFill>
                <a:latin typeface="Aptos" panose="020B0004020202020204" pitchFamily="34" charset="0"/>
              </a:rPr>
              <a:t>BELT</a:t>
            </a:r>
          </a:p>
        </p:txBody>
      </p:sp>
      <p:sp>
        <p:nvSpPr>
          <p:cNvPr id="10" name="Rectangle: Rounded Corners 9">
            <a:extLst>
              <a:ext uri="{FF2B5EF4-FFF2-40B4-BE49-F238E27FC236}">
                <a16:creationId xmlns:a16="http://schemas.microsoft.com/office/drawing/2014/main" id="{E960B5B0-FBEE-93CF-F4E6-78335BDC9105}"/>
              </a:ext>
            </a:extLst>
          </p:cNvPr>
          <p:cNvSpPr/>
          <p:nvPr/>
        </p:nvSpPr>
        <p:spPr>
          <a:xfrm>
            <a:off x="4013200" y="4165600"/>
            <a:ext cx="1498600" cy="330200"/>
          </a:xfrm>
          <a:prstGeom prst="roundRect">
            <a:avLst/>
          </a:prstGeom>
          <a:solidFill>
            <a:srgbClr val="3ECF8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39C6897A-753F-CF2D-55C3-0BFDDC011A28}"/>
              </a:ext>
            </a:extLst>
          </p:cNvPr>
          <p:cNvSpPr txBox="1"/>
          <p:nvPr/>
        </p:nvSpPr>
        <p:spPr>
          <a:xfrm>
            <a:off x="4089400" y="4203700"/>
            <a:ext cx="1346200" cy="276999"/>
          </a:xfrm>
          <a:prstGeom prst="rect">
            <a:avLst/>
          </a:prstGeom>
          <a:noFill/>
        </p:spPr>
        <p:txBody>
          <a:bodyPr vert="horz" wrap="square" lIns="0" tIns="0" rIns="0" bIns="0" rtlCol="0">
            <a:noAutofit/>
          </a:bodyPr>
          <a:lstStyle/>
          <a:p>
            <a:pPr algn="ctr"/>
            <a:r>
              <a:rPr lang="en-US" sz="1050" b="1">
                <a:solidFill>
                  <a:srgbClr val="060A12"/>
                </a:solidFill>
                <a:latin typeface="Aptos" panose="020B0004020202020204" pitchFamily="34" charset="0"/>
              </a:rPr>
              <a:t>ROLLER</a:t>
            </a:r>
          </a:p>
        </p:txBody>
      </p:sp>
      <p:sp>
        <p:nvSpPr>
          <p:cNvPr id="12" name="Rectangle: Rounded Corners 11">
            <a:extLst>
              <a:ext uri="{FF2B5EF4-FFF2-40B4-BE49-F238E27FC236}">
                <a16:creationId xmlns:a16="http://schemas.microsoft.com/office/drawing/2014/main" id="{C7838177-A3FF-921E-F157-DF26714BCF51}"/>
              </a:ext>
            </a:extLst>
          </p:cNvPr>
          <p:cNvSpPr/>
          <p:nvPr/>
        </p:nvSpPr>
        <p:spPr>
          <a:xfrm>
            <a:off x="5702300" y="4165600"/>
            <a:ext cx="1498600" cy="330200"/>
          </a:xfrm>
          <a:prstGeom prst="roundRect">
            <a:avLst/>
          </a:prstGeom>
          <a:solidFill>
            <a:srgbClr val="FF646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612C704F-7B9F-0E39-F0DC-91B485D81F38}"/>
              </a:ext>
            </a:extLst>
          </p:cNvPr>
          <p:cNvSpPr txBox="1"/>
          <p:nvPr/>
        </p:nvSpPr>
        <p:spPr>
          <a:xfrm>
            <a:off x="5778500" y="4203700"/>
            <a:ext cx="1346200" cy="276999"/>
          </a:xfrm>
          <a:prstGeom prst="rect">
            <a:avLst/>
          </a:prstGeom>
          <a:noFill/>
        </p:spPr>
        <p:txBody>
          <a:bodyPr vert="horz" wrap="square" lIns="0" tIns="0" rIns="0" bIns="0" rtlCol="0">
            <a:noAutofit/>
          </a:bodyPr>
          <a:lstStyle/>
          <a:p>
            <a:pPr algn="ctr"/>
            <a:r>
              <a:rPr lang="en-US" sz="1050" b="1">
                <a:solidFill>
                  <a:srgbClr val="060A12"/>
                </a:solidFill>
                <a:latin typeface="Aptos" panose="020B0004020202020204" pitchFamily="34" charset="0"/>
              </a:rPr>
              <a:t>CLIMBER</a:t>
            </a:r>
          </a:p>
        </p:txBody>
      </p:sp>
      <p:sp>
        <p:nvSpPr>
          <p:cNvPr id="14" name="TextBox 13">
            <a:extLst>
              <a:ext uri="{FF2B5EF4-FFF2-40B4-BE49-F238E27FC236}">
                <a16:creationId xmlns:a16="http://schemas.microsoft.com/office/drawing/2014/main" id="{F68B5C74-2AA4-AD64-0FC3-09838BF62184}"/>
              </a:ext>
            </a:extLst>
          </p:cNvPr>
          <p:cNvSpPr txBox="1"/>
          <p:nvPr/>
        </p:nvSpPr>
        <p:spPr>
          <a:xfrm>
            <a:off x="635000" y="5029200"/>
            <a:ext cx="8509000" cy="276999"/>
          </a:xfrm>
          <a:prstGeom prst="rect">
            <a:avLst/>
          </a:prstGeom>
          <a:noFill/>
        </p:spPr>
        <p:txBody>
          <a:bodyPr vert="horz" wrap="square" lIns="0" tIns="0" rIns="0" bIns="0" rtlCol="0" anchor="t">
            <a:noAutofit/>
          </a:bodyPr>
          <a:lstStyle/>
          <a:p>
            <a:r>
              <a:rPr lang="en-US" sz="1700" b="1">
                <a:solidFill>
                  <a:srgbClr val="F2F5F9"/>
                </a:solidFill>
                <a:latin typeface="Aptos" panose="020B0004020202020204" pitchFamily="34" charset="0"/>
              </a:rPr>
              <a:t>The goal is understanding the current implementation—not memorizing Java.</a:t>
            </a:r>
          </a:p>
        </p:txBody>
      </p:sp>
      <p:sp>
        <p:nvSpPr>
          <p:cNvPr id="15" name="TextBox 14">
            <a:extLst>
              <a:ext uri="{FF2B5EF4-FFF2-40B4-BE49-F238E27FC236}">
                <a16:creationId xmlns:a16="http://schemas.microsoft.com/office/drawing/2014/main" id="{22CB995F-33DA-AB4A-5A9A-21A03DC1E38D}"/>
              </a:ext>
            </a:extLst>
          </p:cNvPr>
          <p:cNvSpPr txBox="1"/>
          <p:nvPr/>
        </p:nvSpPr>
        <p:spPr>
          <a:xfrm>
            <a:off x="635000" y="6172200"/>
            <a:ext cx="5334000" cy="276999"/>
          </a:xfrm>
          <a:prstGeom prst="rect">
            <a:avLst/>
          </a:prstGeom>
          <a:noFill/>
        </p:spPr>
        <p:txBody>
          <a:bodyPr vert="horz" wrap="square" lIns="0" tIns="0" rIns="0" bIns="0" rtlCol="0" anchor="t">
            <a:noAutofit/>
          </a:bodyPr>
          <a:lstStyle/>
          <a:p>
            <a:r>
              <a:rPr lang="en-US" sz="1000">
                <a:solidFill>
                  <a:srgbClr val="A9B4C5"/>
                </a:solidFill>
                <a:latin typeface="Aptos" panose="020B0004020202020204" pitchFamily="34" charset="0"/>
              </a:rPr>
              <a:t>V2 • shared core + two experience tracks</a:t>
            </a:r>
          </a:p>
        </p:txBody>
      </p:sp>
    </p:spTree>
    <p:extLst>
      <p:ext uri="{BB962C8B-B14F-4D97-AF65-F5344CB8AC3E}">
        <p14:creationId xmlns:p14="http://schemas.microsoft.com/office/powerpoint/2010/main" val="42607449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D1421"/>
        </a:solidFill>
        <a:effectLst/>
      </p:bgPr>
    </p:bg>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478BB449-F418-E3D1-F3DF-FD375C100932}"/>
              </a:ext>
            </a:extLst>
          </p:cNvPr>
          <p:cNvSpPr/>
          <p:nvPr/>
        </p:nvSpPr>
        <p:spPr>
          <a:xfrm>
            <a:off x="533400" y="292100"/>
            <a:ext cx="1473200" cy="330200"/>
          </a:xfrm>
          <a:prstGeom prst="roundRect">
            <a:avLst/>
          </a:prstGeom>
          <a:solidFill>
            <a:srgbClr val="379D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9D64DDD2-0635-D735-E45D-8115BE79A687}"/>
              </a:ext>
            </a:extLst>
          </p:cNvPr>
          <p:cNvSpPr txBox="1"/>
          <p:nvPr/>
        </p:nvSpPr>
        <p:spPr>
          <a:xfrm>
            <a:off x="609600" y="330200"/>
            <a:ext cx="1320800" cy="276999"/>
          </a:xfrm>
          <a:prstGeom prst="rect">
            <a:avLst/>
          </a:prstGeom>
          <a:noFill/>
        </p:spPr>
        <p:txBody>
          <a:bodyPr vert="horz" wrap="square" lIns="0" tIns="0" rIns="0" bIns="0" rtlCol="0">
            <a:noAutofit/>
          </a:bodyPr>
          <a:lstStyle/>
          <a:p>
            <a:pPr algn="ctr"/>
            <a:r>
              <a:rPr lang="en-US" sz="1050" b="1">
                <a:solidFill>
                  <a:srgbClr val="060A12"/>
                </a:solidFill>
                <a:latin typeface="Aptos" panose="020B0004020202020204" pitchFamily="34" charset="0"/>
              </a:rPr>
              <a:t>SHARED CORE</a:t>
            </a:r>
          </a:p>
        </p:txBody>
      </p:sp>
      <p:sp>
        <p:nvSpPr>
          <p:cNvPr id="4" name="TextBox 3">
            <a:extLst>
              <a:ext uri="{FF2B5EF4-FFF2-40B4-BE49-F238E27FC236}">
                <a16:creationId xmlns:a16="http://schemas.microsoft.com/office/drawing/2014/main" id="{78D3279D-66AA-301A-59FE-CFA742E16360}"/>
              </a:ext>
            </a:extLst>
          </p:cNvPr>
          <p:cNvSpPr txBox="1"/>
          <p:nvPr/>
        </p:nvSpPr>
        <p:spPr>
          <a:xfrm>
            <a:off x="533400" y="762000"/>
            <a:ext cx="10414000" cy="276999"/>
          </a:xfrm>
          <a:prstGeom prst="rect">
            <a:avLst/>
          </a:prstGeom>
          <a:noFill/>
        </p:spPr>
        <p:txBody>
          <a:bodyPr vert="horz" wrap="square" lIns="0" tIns="0" rIns="0" bIns="0" rtlCol="0" anchor="t">
            <a:noAutofit/>
          </a:bodyPr>
          <a:lstStyle/>
          <a:p>
            <a:r>
              <a:rPr lang="en-US" sz="2800" b="1">
                <a:solidFill>
                  <a:srgbClr val="F2F5F9"/>
                </a:solidFill>
                <a:latin typeface="Aptos Display" panose="020B0004020202020204" pitchFamily="34" charset="0"/>
              </a:rPr>
              <a:t>Four parts of the robot system</a:t>
            </a:r>
            <a:endParaRPr lang="en-US" sz="2800" b="1" dirty="0">
              <a:solidFill>
                <a:srgbClr val="F2F5F9"/>
              </a:solidFill>
              <a:latin typeface="Aptos Display" panose="020B0004020202020204" pitchFamily="34" charset="0"/>
            </a:endParaRPr>
          </a:p>
        </p:txBody>
      </p:sp>
      <p:sp>
        <p:nvSpPr>
          <p:cNvPr id="5" name="TextBox 4">
            <a:extLst>
              <a:ext uri="{FF2B5EF4-FFF2-40B4-BE49-F238E27FC236}">
                <a16:creationId xmlns:a16="http://schemas.microsoft.com/office/drawing/2014/main" id="{B0768357-6E2D-8230-7E36-BA2013532369}"/>
              </a:ext>
            </a:extLst>
          </p:cNvPr>
          <p:cNvSpPr txBox="1"/>
          <p:nvPr/>
        </p:nvSpPr>
        <p:spPr>
          <a:xfrm>
            <a:off x="11226800" y="355600"/>
            <a:ext cx="381000" cy="276999"/>
          </a:xfrm>
          <a:prstGeom prst="rect">
            <a:avLst/>
          </a:prstGeom>
          <a:noFill/>
        </p:spPr>
        <p:txBody>
          <a:bodyPr vert="horz" wrap="square" lIns="0" tIns="0" rIns="0" bIns="0" rtlCol="0" anchor="t">
            <a:noAutofit/>
          </a:bodyPr>
          <a:lstStyle/>
          <a:p>
            <a:pPr algn="r"/>
            <a:r>
              <a:rPr lang="en-US" sz="1000" b="1">
                <a:solidFill>
                  <a:srgbClr val="A9B4C5"/>
                </a:solidFill>
                <a:latin typeface="Aptos" panose="020B0004020202020204" pitchFamily="34" charset="0"/>
              </a:rPr>
              <a:t>02</a:t>
            </a:r>
          </a:p>
        </p:txBody>
      </p:sp>
      <p:cxnSp>
        <p:nvCxnSpPr>
          <p:cNvPr id="6" name="Straight Connector 5">
            <a:extLst>
              <a:ext uri="{FF2B5EF4-FFF2-40B4-BE49-F238E27FC236}">
                <a16:creationId xmlns:a16="http://schemas.microsoft.com/office/drawing/2014/main" id="{AB2F68B9-1AF6-432D-FA94-C091AD351434}"/>
              </a:ext>
            </a:extLst>
          </p:cNvPr>
          <p:cNvCxnSpPr/>
          <p:nvPr/>
        </p:nvCxnSpPr>
        <p:spPr>
          <a:xfrm>
            <a:off x="533400" y="1371600"/>
            <a:ext cx="11125200" cy="0"/>
          </a:xfrm>
          <a:prstGeom prst="line">
            <a:avLst/>
          </a:prstGeom>
          <a:ln w="12700">
            <a:solidFill>
              <a:srgbClr val="1F2C41"/>
            </a:solidFill>
          </a:ln>
        </p:spPr>
        <p:style>
          <a:lnRef idx="1">
            <a:schemeClr val="accent1"/>
          </a:lnRef>
          <a:fillRef idx="0">
            <a:schemeClr val="accent1"/>
          </a:fillRef>
          <a:effectRef idx="0">
            <a:schemeClr val="accent1"/>
          </a:effectRef>
          <a:fontRef idx="minor">
            <a:schemeClr val="tx1"/>
          </a:fontRef>
        </p:style>
      </p:cxnSp>
      <p:sp>
        <p:nvSpPr>
          <p:cNvPr id="7" name="Rectangle: Rounded Corners 6">
            <a:extLst>
              <a:ext uri="{FF2B5EF4-FFF2-40B4-BE49-F238E27FC236}">
                <a16:creationId xmlns:a16="http://schemas.microsoft.com/office/drawing/2014/main" id="{EAEC47C5-2A67-4FD4-2867-A101E3DD3D0C}"/>
              </a:ext>
            </a:extLst>
          </p:cNvPr>
          <p:cNvSpPr/>
          <p:nvPr/>
        </p:nvSpPr>
        <p:spPr>
          <a:xfrm>
            <a:off x="533400" y="1752600"/>
            <a:ext cx="2565400" cy="1422400"/>
          </a:xfrm>
          <a:prstGeom prst="roundRect">
            <a:avLst/>
          </a:prstGeom>
          <a:solidFill>
            <a:srgbClr val="182234"/>
          </a:solidFill>
          <a:ln w="15875">
            <a:solidFill>
              <a:srgbClr val="379D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07433F61-2479-6F52-D3ED-132BF54A8D77}"/>
              </a:ext>
            </a:extLst>
          </p:cNvPr>
          <p:cNvSpPr/>
          <p:nvPr/>
        </p:nvSpPr>
        <p:spPr>
          <a:xfrm>
            <a:off x="533400" y="1752600"/>
            <a:ext cx="76200" cy="1422400"/>
          </a:xfrm>
          <a:prstGeom prst="rect">
            <a:avLst/>
          </a:prstGeom>
          <a:solidFill>
            <a:srgbClr val="379D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FCE5690D-A863-5B48-94FB-83C7F5E7547F}"/>
              </a:ext>
            </a:extLst>
          </p:cNvPr>
          <p:cNvSpPr txBox="1"/>
          <p:nvPr/>
        </p:nvSpPr>
        <p:spPr>
          <a:xfrm>
            <a:off x="1143000" y="2475299"/>
            <a:ext cx="2247900" cy="276999"/>
          </a:xfrm>
          <a:prstGeom prst="rect">
            <a:avLst/>
          </a:prstGeom>
          <a:noFill/>
        </p:spPr>
        <p:txBody>
          <a:bodyPr vert="horz" wrap="square" lIns="0" tIns="0" rIns="0" bIns="0" rtlCol="0" anchor="t">
            <a:noAutofit/>
          </a:bodyPr>
          <a:lstStyle/>
          <a:p>
            <a:r>
              <a:rPr lang="en-US" sz="1600" b="1">
                <a:solidFill>
                  <a:srgbClr val="379DFF"/>
                </a:solidFill>
                <a:latin typeface="Aptos" panose="020B0004020202020204" pitchFamily="34" charset="0"/>
              </a:rPr>
              <a:t>HARDWARE</a:t>
            </a:r>
            <a:endParaRPr lang="en-US" sz="1600" b="1" dirty="0">
              <a:solidFill>
                <a:srgbClr val="379DFF"/>
              </a:solidFill>
              <a:latin typeface="Aptos" panose="020B0004020202020204" pitchFamily="34" charset="0"/>
            </a:endParaRPr>
          </a:p>
        </p:txBody>
      </p:sp>
      <p:sp>
        <p:nvSpPr>
          <p:cNvPr id="10" name="TextBox 9">
            <a:extLst>
              <a:ext uri="{FF2B5EF4-FFF2-40B4-BE49-F238E27FC236}">
                <a16:creationId xmlns:a16="http://schemas.microsoft.com/office/drawing/2014/main" id="{45942242-B5E4-884A-7C68-6119E347CBC7}"/>
              </a:ext>
            </a:extLst>
          </p:cNvPr>
          <p:cNvSpPr txBox="1"/>
          <p:nvPr/>
        </p:nvSpPr>
        <p:spPr>
          <a:xfrm>
            <a:off x="971550" y="2052597"/>
            <a:ext cx="2247900" cy="276999"/>
          </a:xfrm>
          <a:prstGeom prst="rect">
            <a:avLst/>
          </a:prstGeom>
          <a:noFill/>
        </p:spPr>
        <p:txBody>
          <a:bodyPr vert="horz" wrap="square" lIns="0" tIns="0" rIns="0" bIns="0" rtlCol="0" anchor="t">
            <a:noAutofit/>
          </a:bodyPr>
          <a:lstStyle/>
          <a:p>
            <a:r>
              <a:rPr lang="en-US" sz="1200">
                <a:solidFill>
                  <a:srgbClr val="F2F5F9"/>
                </a:solidFill>
                <a:latin typeface="Aptos" panose="020B0004020202020204" pitchFamily="34" charset="0"/>
              </a:rPr>
              <a:t>motors, solenoids, sensors</a:t>
            </a:r>
            <a:endParaRPr lang="en-US" sz="1200" dirty="0">
              <a:solidFill>
                <a:srgbClr val="F2F5F9"/>
              </a:solidFill>
              <a:latin typeface="Aptos" panose="020B0004020202020204" pitchFamily="34" charset="0"/>
            </a:endParaRPr>
          </a:p>
        </p:txBody>
      </p:sp>
      <p:sp>
        <p:nvSpPr>
          <p:cNvPr id="11" name="Rectangle: Rounded Corners 10">
            <a:extLst>
              <a:ext uri="{FF2B5EF4-FFF2-40B4-BE49-F238E27FC236}">
                <a16:creationId xmlns:a16="http://schemas.microsoft.com/office/drawing/2014/main" id="{0DF1ECDC-82B4-A1D4-80AA-70D1239C07BE}"/>
              </a:ext>
            </a:extLst>
          </p:cNvPr>
          <p:cNvSpPr/>
          <p:nvPr/>
        </p:nvSpPr>
        <p:spPr>
          <a:xfrm>
            <a:off x="3327400" y="1752600"/>
            <a:ext cx="2565400" cy="1422400"/>
          </a:xfrm>
          <a:prstGeom prst="roundRect">
            <a:avLst/>
          </a:prstGeom>
          <a:solidFill>
            <a:srgbClr val="182234"/>
          </a:solidFill>
          <a:ln w="15875">
            <a:solidFill>
              <a:srgbClr val="FFA44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3C7E90C6-963E-B981-F738-340397A6E250}"/>
              </a:ext>
            </a:extLst>
          </p:cNvPr>
          <p:cNvSpPr/>
          <p:nvPr/>
        </p:nvSpPr>
        <p:spPr>
          <a:xfrm>
            <a:off x="3327400" y="1752600"/>
            <a:ext cx="76200" cy="1422400"/>
          </a:xfrm>
          <a:prstGeom prst="rect">
            <a:avLst/>
          </a:prstGeom>
          <a:solidFill>
            <a:srgbClr val="FFA44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DB19457D-A08A-FE1F-77B7-FC8DF2ED882D}"/>
              </a:ext>
            </a:extLst>
          </p:cNvPr>
          <p:cNvSpPr txBox="1"/>
          <p:nvPr/>
        </p:nvSpPr>
        <p:spPr>
          <a:xfrm>
            <a:off x="4413250" y="2528274"/>
            <a:ext cx="2247900" cy="276999"/>
          </a:xfrm>
          <a:prstGeom prst="rect">
            <a:avLst/>
          </a:prstGeom>
          <a:noFill/>
        </p:spPr>
        <p:txBody>
          <a:bodyPr vert="horz" wrap="square" lIns="0" tIns="0" rIns="0" bIns="0" rtlCol="0" anchor="t">
            <a:noAutofit/>
          </a:bodyPr>
          <a:lstStyle/>
          <a:p>
            <a:r>
              <a:rPr lang="en-US" sz="1600" b="1">
                <a:solidFill>
                  <a:srgbClr val="FFA443"/>
                </a:solidFill>
                <a:latin typeface="Aptos" panose="020B0004020202020204" pitchFamily="34" charset="0"/>
              </a:rPr>
              <a:t>SUBSYSTEMS</a:t>
            </a:r>
            <a:endParaRPr lang="en-US" sz="1600" b="1" dirty="0">
              <a:solidFill>
                <a:srgbClr val="FFA443"/>
              </a:solidFill>
              <a:latin typeface="Aptos" panose="020B0004020202020204" pitchFamily="34" charset="0"/>
            </a:endParaRPr>
          </a:p>
        </p:txBody>
      </p:sp>
      <p:sp>
        <p:nvSpPr>
          <p:cNvPr id="14" name="TextBox 13">
            <a:extLst>
              <a:ext uri="{FF2B5EF4-FFF2-40B4-BE49-F238E27FC236}">
                <a16:creationId xmlns:a16="http://schemas.microsoft.com/office/drawing/2014/main" id="{D194BC23-9FD3-9EA9-432D-2599162376EE}"/>
              </a:ext>
            </a:extLst>
          </p:cNvPr>
          <p:cNvSpPr txBox="1"/>
          <p:nvPr/>
        </p:nvSpPr>
        <p:spPr>
          <a:xfrm>
            <a:off x="3702012" y="2082801"/>
            <a:ext cx="2247900" cy="276999"/>
          </a:xfrm>
          <a:prstGeom prst="rect">
            <a:avLst/>
          </a:prstGeom>
          <a:noFill/>
        </p:spPr>
        <p:txBody>
          <a:bodyPr vert="horz" wrap="square" lIns="0" tIns="0" rIns="0" bIns="0" rtlCol="0" anchor="t">
            <a:noAutofit/>
          </a:bodyPr>
          <a:lstStyle/>
          <a:p>
            <a:r>
              <a:rPr lang="en-US" sz="1200" dirty="0">
                <a:solidFill>
                  <a:srgbClr val="F2F5F9"/>
                </a:solidFill>
                <a:latin typeface="Aptos" panose="020B0004020202020204" pitchFamily="34" charset="0"/>
              </a:rPr>
              <a:t>software that owns hardware</a:t>
            </a:r>
          </a:p>
        </p:txBody>
      </p:sp>
      <p:sp>
        <p:nvSpPr>
          <p:cNvPr id="15" name="Rectangle: Rounded Corners 14">
            <a:extLst>
              <a:ext uri="{FF2B5EF4-FFF2-40B4-BE49-F238E27FC236}">
                <a16:creationId xmlns:a16="http://schemas.microsoft.com/office/drawing/2014/main" id="{1CA48C63-4D16-82B7-611C-13D1C1C19DB2}"/>
              </a:ext>
            </a:extLst>
          </p:cNvPr>
          <p:cNvSpPr/>
          <p:nvPr/>
        </p:nvSpPr>
        <p:spPr>
          <a:xfrm>
            <a:off x="6121400" y="1752600"/>
            <a:ext cx="2565400" cy="1422400"/>
          </a:xfrm>
          <a:prstGeom prst="roundRect">
            <a:avLst/>
          </a:prstGeom>
          <a:solidFill>
            <a:srgbClr val="182234"/>
          </a:solidFill>
          <a:ln w="15875">
            <a:solidFill>
              <a:srgbClr val="3ECF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CB9C500-6F36-64E3-3A04-D60A0BABA4F4}"/>
              </a:ext>
            </a:extLst>
          </p:cNvPr>
          <p:cNvSpPr/>
          <p:nvPr/>
        </p:nvSpPr>
        <p:spPr>
          <a:xfrm>
            <a:off x="6121400" y="1752600"/>
            <a:ext cx="76200" cy="1422400"/>
          </a:xfrm>
          <a:prstGeom prst="rect">
            <a:avLst/>
          </a:prstGeom>
          <a:solidFill>
            <a:srgbClr val="3ECF8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9DCB5922-A238-2DDC-FAF2-DCAACAAC72E2}"/>
              </a:ext>
            </a:extLst>
          </p:cNvPr>
          <p:cNvSpPr txBox="1"/>
          <p:nvPr/>
        </p:nvSpPr>
        <p:spPr>
          <a:xfrm>
            <a:off x="6889750" y="2516851"/>
            <a:ext cx="2247900" cy="276999"/>
          </a:xfrm>
          <a:prstGeom prst="rect">
            <a:avLst/>
          </a:prstGeom>
          <a:noFill/>
        </p:spPr>
        <p:txBody>
          <a:bodyPr vert="horz" wrap="square" lIns="0" tIns="0" rIns="0" bIns="0" rtlCol="0" anchor="t">
            <a:noAutofit/>
          </a:bodyPr>
          <a:lstStyle/>
          <a:p>
            <a:r>
              <a:rPr lang="en-US" sz="1600" b="1">
                <a:solidFill>
                  <a:srgbClr val="3ECF8E"/>
                </a:solidFill>
                <a:latin typeface="Aptos" panose="020B0004020202020204" pitchFamily="34" charset="0"/>
              </a:rPr>
              <a:t>COMMANDS</a:t>
            </a:r>
            <a:endParaRPr lang="en-US" sz="1600" b="1" dirty="0">
              <a:solidFill>
                <a:srgbClr val="3ECF8E"/>
              </a:solidFill>
              <a:latin typeface="Aptos" panose="020B0004020202020204" pitchFamily="34" charset="0"/>
            </a:endParaRPr>
          </a:p>
        </p:txBody>
      </p:sp>
      <p:sp>
        <p:nvSpPr>
          <p:cNvPr id="18" name="TextBox 17">
            <a:extLst>
              <a:ext uri="{FF2B5EF4-FFF2-40B4-BE49-F238E27FC236}">
                <a16:creationId xmlns:a16="http://schemas.microsoft.com/office/drawing/2014/main" id="{C61F547D-9A64-5313-EB0B-E5B955C4A73E}"/>
              </a:ext>
            </a:extLst>
          </p:cNvPr>
          <p:cNvSpPr txBox="1"/>
          <p:nvPr/>
        </p:nvSpPr>
        <p:spPr>
          <a:xfrm>
            <a:off x="6511925" y="2079251"/>
            <a:ext cx="2247900" cy="276999"/>
          </a:xfrm>
          <a:prstGeom prst="rect">
            <a:avLst/>
          </a:prstGeom>
          <a:noFill/>
        </p:spPr>
        <p:txBody>
          <a:bodyPr vert="horz" wrap="square" lIns="0" tIns="0" rIns="0" bIns="0" rtlCol="0" anchor="t">
            <a:noAutofit/>
          </a:bodyPr>
          <a:lstStyle/>
          <a:p>
            <a:r>
              <a:rPr lang="en-US" sz="1200" dirty="0">
                <a:solidFill>
                  <a:srgbClr val="F2F5F9"/>
                </a:solidFill>
                <a:latin typeface="Aptos" panose="020B0004020202020204" pitchFamily="34" charset="0"/>
              </a:rPr>
              <a:t>software that describes actions</a:t>
            </a:r>
          </a:p>
        </p:txBody>
      </p:sp>
      <p:sp>
        <p:nvSpPr>
          <p:cNvPr id="19" name="Rectangle: Rounded Corners 18">
            <a:extLst>
              <a:ext uri="{FF2B5EF4-FFF2-40B4-BE49-F238E27FC236}">
                <a16:creationId xmlns:a16="http://schemas.microsoft.com/office/drawing/2014/main" id="{457ACD73-7BCD-BB1D-7121-036884300117}"/>
              </a:ext>
            </a:extLst>
          </p:cNvPr>
          <p:cNvSpPr/>
          <p:nvPr/>
        </p:nvSpPr>
        <p:spPr>
          <a:xfrm>
            <a:off x="8915400" y="1752600"/>
            <a:ext cx="2743200" cy="1422400"/>
          </a:xfrm>
          <a:prstGeom prst="roundRect">
            <a:avLst/>
          </a:prstGeom>
          <a:solidFill>
            <a:srgbClr val="182234"/>
          </a:solidFill>
          <a:ln w="15875">
            <a:solidFill>
              <a:srgbClr val="FF64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ectangle 19">
            <a:extLst>
              <a:ext uri="{FF2B5EF4-FFF2-40B4-BE49-F238E27FC236}">
                <a16:creationId xmlns:a16="http://schemas.microsoft.com/office/drawing/2014/main" id="{4EFBECD0-6C24-6564-F3EE-104A1785575B}"/>
              </a:ext>
            </a:extLst>
          </p:cNvPr>
          <p:cNvSpPr/>
          <p:nvPr/>
        </p:nvSpPr>
        <p:spPr>
          <a:xfrm>
            <a:off x="8915400" y="1752600"/>
            <a:ext cx="76200" cy="1422400"/>
          </a:xfrm>
          <a:prstGeom prst="rect">
            <a:avLst/>
          </a:prstGeom>
          <a:solidFill>
            <a:srgbClr val="FF646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91C592A1-3C80-2484-4B98-206CE5791DD7}"/>
              </a:ext>
            </a:extLst>
          </p:cNvPr>
          <p:cNvSpPr txBox="1"/>
          <p:nvPr/>
        </p:nvSpPr>
        <p:spPr>
          <a:xfrm>
            <a:off x="9836150" y="2528275"/>
            <a:ext cx="2425700" cy="276999"/>
          </a:xfrm>
          <a:prstGeom prst="rect">
            <a:avLst/>
          </a:prstGeom>
          <a:noFill/>
        </p:spPr>
        <p:txBody>
          <a:bodyPr vert="horz" wrap="square" lIns="0" tIns="0" rIns="0" bIns="0" rtlCol="0" anchor="t">
            <a:noAutofit/>
          </a:bodyPr>
          <a:lstStyle/>
          <a:p>
            <a:r>
              <a:rPr lang="en-US" sz="1600" b="1">
                <a:solidFill>
                  <a:srgbClr val="FF6464"/>
                </a:solidFill>
                <a:latin typeface="Aptos" panose="020B0004020202020204" pitchFamily="34" charset="0"/>
              </a:rPr>
              <a:t>SCHEDULER</a:t>
            </a:r>
            <a:endParaRPr lang="en-US" sz="1600" b="1" dirty="0">
              <a:solidFill>
                <a:srgbClr val="FF6464"/>
              </a:solidFill>
              <a:latin typeface="Aptos" panose="020B0004020202020204" pitchFamily="34" charset="0"/>
            </a:endParaRPr>
          </a:p>
        </p:txBody>
      </p:sp>
      <p:sp>
        <p:nvSpPr>
          <p:cNvPr id="22" name="TextBox 21">
            <a:extLst>
              <a:ext uri="{FF2B5EF4-FFF2-40B4-BE49-F238E27FC236}">
                <a16:creationId xmlns:a16="http://schemas.microsoft.com/office/drawing/2014/main" id="{D11F8B17-75FE-4011-C6D3-7175621A6462}"/>
              </a:ext>
            </a:extLst>
          </p:cNvPr>
          <p:cNvSpPr txBox="1"/>
          <p:nvPr/>
        </p:nvSpPr>
        <p:spPr>
          <a:xfrm>
            <a:off x="9534525" y="2066151"/>
            <a:ext cx="2425700" cy="276999"/>
          </a:xfrm>
          <a:prstGeom prst="rect">
            <a:avLst/>
          </a:prstGeom>
          <a:noFill/>
        </p:spPr>
        <p:txBody>
          <a:bodyPr vert="horz" wrap="square" lIns="0" tIns="0" rIns="0" bIns="0" rtlCol="0" anchor="t">
            <a:noAutofit/>
          </a:bodyPr>
          <a:lstStyle/>
          <a:p>
            <a:r>
              <a:rPr lang="en-US" sz="1200">
                <a:solidFill>
                  <a:srgbClr val="F2F5F9"/>
                </a:solidFill>
                <a:latin typeface="Aptos" panose="020B0004020202020204" pitchFamily="34" charset="0"/>
              </a:rPr>
              <a:t>software that runs commands</a:t>
            </a:r>
            <a:endParaRPr lang="en-US" sz="1200" dirty="0">
              <a:solidFill>
                <a:srgbClr val="F2F5F9"/>
              </a:solidFill>
              <a:latin typeface="Aptos" panose="020B0004020202020204" pitchFamily="34" charset="0"/>
            </a:endParaRPr>
          </a:p>
        </p:txBody>
      </p:sp>
      <p:sp>
        <p:nvSpPr>
          <p:cNvPr id="23" name="TextBox 22">
            <a:extLst>
              <a:ext uri="{FF2B5EF4-FFF2-40B4-BE49-F238E27FC236}">
                <a16:creationId xmlns:a16="http://schemas.microsoft.com/office/drawing/2014/main" id="{55D66ACE-8752-D6E6-47DE-A925931EF0AF}"/>
              </a:ext>
            </a:extLst>
          </p:cNvPr>
          <p:cNvSpPr txBox="1"/>
          <p:nvPr/>
        </p:nvSpPr>
        <p:spPr>
          <a:xfrm>
            <a:off x="1143000" y="3886200"/>
            <a:ext cx="9906000" cy="276999"/>
          </a:xfrm>
          <a:prstGeom prst="rect">
            <a:avLst/>
          </a:prstGeom>
          <a:noFill/>
        </p:spPr>
        <p:txBody>
          <a:bodyPr vert="horz" wrap="square" lIns="0" tIns="0" rIns="0" bIns="0" rtlCol="0" anchor="t">
            <a:noAutofit/>
          </a:bodyPr>
          <a:lstStyle/>
          <a:p>
            <a:pPr algn="ctr"/>
            <a:r>
              <a:rPr lang="en-US" sz="2200" b="1">
                <a:solidFill>
                  <a:srgbClr val="F2F5F9"/>
                </a:solidFill>
                <a:latin typeface="Aptos Display" panose="020B0004020202020204" pitchFamily="34" charset="0"/>
              </a:rPr>
              <a:t>An operator action travels through the scheduler, command, subsystem, and hardware.</a:t>
            </a:r>
          </a:p>
        </p:txBody>
      </p:sp>
      <p:cxnSp>
        <p:nvCxnSpPr>
          <p:cNvPr id="24" name="Straight Connector 23">
            <a:extLst>
              <a:ext uri="{FF2B5EF4-FFF2-40B4-BE49-F238E27FC236}">
                <a16:creationId xmlns:a16="http://schemas.microsoft.com/office/drawing/2014/main" id="{2357108B-D269-7316-5DD6-18B769189314}"/>
              </a:ext>
            </a:extLst>
          </p:cNvPr>
          <p:cNvCxnSpPr/>
          <p:nvPr/>
        </p:nvCxnSpPr>
        <p:spPr>
          <a:xfrm>
            <a:off x="1816100" y="3429000"/>
            <a:ext cx="0" cy="330200"/>
          </a:xfrm>
          <a:prstGeom prst="line">
            <a:avLst/>
          </a:prstGeom>
          <a:ln w="25400">
            <a:solidFill>
              <a:srgbClr val="379DFF"/>
            </a:solidFill>
            <a:tailEnd type="arrow"/>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47D4AFFB-D860-9E6B-C030-9EA009D75A73}"/>
              </a:ext>
            </a:extLst>
          </p:cNvPr>
          <p:cNvCxnSpPr/>
          <p:nvPr/>
        </p:nvCxnSpPr>
        <p:spPr>
          <a:xfrm>
            <a:off x="4610100" y="3429000"/>
            <a:ext cx="0" cy="330200"/>
          </a:xfrm>
          <a:prstGeom prst="line">
            <a:avLst/>
          </a:prstGeom>
          <a:ln w="25400">
            <a:solidFill>
              <a:srgbClr val="FFA443"/>
            </a:solidFill>
            <a:tailEnd type="arrow"/>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026066CD-C1B4-B6DF-BDA8-C1E34493326A}"/>
              </a:ext>
            </a:extLst>
          </p:cNvPr>
          <p:cNvCxnSpPr/>
          <p:nvPr/>
        </p:nvCxnSpPr>
        <p:spPr>
          <a:xfrm>
            <a:off x="7404100" y="3429000"/>
            <a:ext cx="0" cy="330200"/>
          </a:xfrm>
          <a:prstGeom prst="line">
            <a:avLst/>
          </a:prstGeom>
          <a:ln w="25400">
            <a:solidFill>
              <a:srgbClr val="3ECF8E"/>
            </a:solidFill>
            <a:tailEnd type="arrow"/>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6E3BEE55-55FC-3478-93C3-B928B8F7FD3F}"/>
              </a:ext>
            </a:extLst>
          </p:cNvPr>
          <p:cNvCxnSpPr/>
          <p:nvPr/>
        </p:nvCxnSpPr>
        <p:spPr>
          <a:xfrm>
            <a:off x="10287000" y="3429000"/>
            <a:ext cx="0" cy="330200"/>
          </a:xfrm>
          <a:prstGeom prst="line">
            <a:avLst/>
          </a:prstGeom>
          <a:ln w="25400">
            <a:solidFill>
              <a:srgbClr val="FF6464"/>
            </a:solidFill>
            <a:tailEnd type="arrow"/>
          </a:ln>
        </p:spPr>
        <p:style>
          <a:lnRef idx="1">
            <a:schemeClr val="accent1"/>
          </a:lnRef>
          <a:fillRef idx="0">
            <a:schemeClr val="accent1"/>
          </a:fillRef>
          <a:effectRef idx="0">
            <a:schemeClr val="accent1"/>
          </a:effectRef>
          <a:fontRef idx="minor">
            <a:schemeClr val="tx1"/>
          </a:fontRef>
        </p:style>
      </p:cxnSp>
      <p:sp>
        <p:nvSpPr>
          <p:cNvPr id="28" name="Rectangle: Rounded Corners 27">
            <a:extLst>
              <a:ext uri="{FF2B5EF4-FFF2-40B4-BE49-F238E27FC236}">
                <a16:creationId xmlns:a16="http://schemas.microsoft.com/office/drawing/2014/main" id="{3ABEEA56-D992-F356-9CF6-8C77FC574C54}"/>
              </a:ext>
            </a:extLst>
          </p:cNvPr>
          <p:cNvSpPr/>
          <p:nvPr/>
        </p:nvSpPr>
        <p:spPr>
          <a:xfrm>
            <a:off x="533400" y="6261100"/>
            <a:ext cx="11125200" cy="533400"/>
          </a:xfrm>
          <a:prstGeom prst="roundRect">
            <a:avLst/>
          </a:prstGeom>
          <a:solidFill>
            <a:srgbClr val="18223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Rounded Corners 28">
            <a:extLst>
              <a:ext uri="{FF2B5EF4-FFF2-40B4-BE49-F238E27FC236}">
                <a16:creationId xmlns:a16="http://schemas.microsoft.com/office/drawing/2014/main" id="{EF62CEA9-3063-EBAC-BCC0-A2684FEDA5ED}"/>
              </a:ext>
            </a:extLst>
          </p:cNvPr>
          <p:cNvSpPr/>
          <p:nvPr/>
        </p:nvSpPr>
        <p:spPr>
          <a:xfrm>
            <a:off x="660400" y="6362700"/>
            <a:ext cx="1473200" cy="330200"/>
          </a:xfrm>
          <a:prstGeom prst="roundRect">
            <a:avLst/>
          </a:prstGeom>
          <a:solidFill>
            <a:srgbClr val="35CBB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C66F1502-5680-55ED-A227-DC79A753E205}"/>
              </a:ext>
            </a:extLst>
          </p:cNvPr>
          <p:cNvSpPr txBox="1"/>
          <p:nvPr/>
        </p:nvSpPr>
        <p:spPr>
          <a:xfrm>
            <a:off x="736600" y="6400800"/>
            <a:ext cx="1320800" cy="276999"/>
          </a:xfrm>
          <a:prstGeom prst="rect">
            <a:avLst/>
          </a:prstGeom>
          <a:noFill/>
        </p:spPr>
        <p:txBody>
          <a:bodyPr vert="horz" wrap="square" lIns="0" tIns="0" rIns="0" bIns="0" rtlCol="0">
            <a:noAutofit/>
          </a:bodyPr>
          <a:lstStyle/>
          <a:p>
            <a:pPr algn="ctr"/>
            <a:r>
              <a:rPr lang="en-US" sz="1050" b="1">
                <a:solidFill>
                  <a:srgbClr val="060A12"/>
                </a:solidFill>
                <a:latin typeface="Aptos" panose="020B0004020202020204" pitchFamily="34" charset="0"/>
              </a:rPr>
              <a:t>LOOK FOR</a:t>
            </a:r>
          </a:p>
        </p:txBody>
      </p:sp>
      <p:sp>
        <p:nvSpPr>
          <p:cNvPr id="31" name="TextBox 30">
            <a:extLst>
              <a:ext uri="{FF2B5EF4-FFF2-40B4-BE49-F238E27FC236}">
                <a16:creationId xmlns:a16="http://schemas.microsoft.com/office/drawing/2014/main" id="{2CEEF3F0-808C-9A78-556F-686FFF2BFCE7}"/>
              </a:ext>
            </a:extLst>
          </p:cNvPr>
          <p:cNvSpPr txBox="1"/>
          <p:nvPr/>
        </p:nvSpPr>
        <p:spPr>
          <a:xfrm>
            <a:off x="2286000" y="6362700"/>
            <a:ext cx="9207500" cy="276999"/>
          </a:xfrm>
          <a:prstGeom prst="rect">
            <a:avLst/>
          </a:prstGeom>
          <a:noFill/>
        </p:spPr>
        <p:txBody>
          <a:bodyPr vert="horz" wrap="square" lIns="0" tIns="0" rIns="0" bIns="0" rtlCol="0" anchor="t">
            <a:noAutofit/>
          </a:bodyPr>
          <a:lstStyle/>
          <a:p>
            <a:r>
              <a:rPr lang="en-US" sz="1300">
                <a:solidFill>
                  <a:srgbClr val="F2F5F9"/>
                </a:solidFill>
                <a:latin typeface="Aptos" panose="020B0004020202020204" pitchFamily="34" charset="0"/>
              </a:rPr>
              <a:t>The rest of the deck builds this path one part at a time.</a:t>
            </a:r>
            <a:endParaRPr lang="en-US" sz="1300" dirty="0">
              <a:solidFill>
                <a:srgbClr val="F2F5F9"/>
              </a:solidFill>
              <a:latin typeface="Aptos" panose="020B0004020202020204" pitchFamily="34" charset="0"/>
            </a:endParaRPr>
          </a:p>
        </p:txBody>
      </p:sp>
      <p:sp>
        <p:nvSpPr>
          <p:cNvPr id="32" name="TextBox 31">
            <a:extLst>
              <a:ext uri="{FF2B5EF4-FFF2-40B4-BE49-F238E27FC236}">
                <a16:creationId xmlns:a16="http://schemas.microsoft.com/office/drawing/2014/main" id="{EBB4AE65-6D5B-54CC-769B-875FF6A32AFA}"/>
              </a:ext>
            </a:extLst>
          </p:cNvPr>
          <p:cNvSpPr txBox="1"/>
          <p:nvPr/>
        </p:nvSpPr>
        <p:spPr>
          <a:xfrm>
            <a:off x="9017000" y="6908800"/>
            <a:ext cx="2641600" cy="276999"/>
          </a:xfrm>
          <a:prstGeom prst="rect">
            <a:avLst/>
          </a:prstGeom>
          <a:noFill/>
        </p:spPr>
        <p:txBody>
          <a:bodyPr vert="horz" wrap="square" lIns="0" tIns="0" rIns="0" bIns="0" rtlCol="0" anchor="t">
            <a:noAutofit/>
          </a:bodyPr>
          <a:lstStyle/>
          <a:p>
            <a:pPr algn="r"/>
            <a:r>
              <a:rPr lang="en-US" sz="850">
                <a:solidFill>
                  <a:srgbClr val="A9B4C5"/>
                </a:solidFill>
                <a:latin typeface="Aptos" panose="020B0004020202020204" pitchFamily="34" charset="0"/>
              </a:rPr>
              <a:t>CURRENT ROBOT IMPLEMENTATION • V2</a:t>
            </a:r>
          </a:p>
        </p:txBody>
      </p:sp>
    </p:spTree>
    <p:extLst>
      <p:ext uri="{BB962C8B-B14F-4D97-AF65-F5344CB8AC3E}">
        <p14:creationId xmlns:p14="http://schemas.microsoft.com/office/powerpoint/2010/main" val="27228166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D1421"/>
        </a:solidFill>
        <a:effectLst/>
      </p:bgPr>
    </p:bg>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478BB449-F418-E3D1-F3DF-FD375C100932}"/>
              </a:ext>
            </a:extLst>
          </p:cNvPr>
          <p:cNvSpPr/>
          <p:nvPr/>
        </p:nvSpPr>
        <p:spPr>
          <a:xfrm>
            <a:off x="533400" y="292100"/>
            <a:ext cx="1473200" cy="330200"/>
          </a:xfrm>
          <a:prstGeom prst="roundRect">
            <a:avLst/>
          </a:prstGeom>
          <a:solidFill>
            <a:srgbClr val="379D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9D64DDD2-0635-D735-E45D-8115BE79A687}"/>
              </a:ext>
            </a:extLst>
          </p:cNvPr>
          <p:cNvSpPr txBox="1"/>
          <p:nvPr/>
        </p:nvSpPr>
        <p:spPr>
          <a:xfrm>
            <a:off x="609600" y="330200"/>
            <a:ext cx="1320800" cy="276999"/>
          </a:xfrm>
          <a:prstGeom prst="rect">
            <a:avLst/>
          </a:prstGeom>
          <a:noFill/>
        </p:spPr>
        <p:txBody>
          <a:bodyPr vert="horz" wrap="square" lIns="0" tIns="0" rIns="0" bIns="0" rtlCol="0">
            <a:noAutofit/>
          </a:bodyPr>
          <a:lstStyle/>
          <a:p>
            <a:pPr algn="ctr"/>
            <a:r>
              <a:rPr lang="en-US" sz="1050" b="1">
                <a:solidFill>
                  <a:srgbClr val="060A12"/>
                </a:solidFill>
                <a:latin typeface="Aptos" panose="020B0004020202020204" pitchFamily="34" charset="0"/>
              </a:rPr>
              <a:t>SHARED CORE</a:t>
            </a:r>
          </a:p>
        </p:txBody>
      </p:sp>
      <p:sp>
        <p:nvSpPr>
          <p:cNvPr id="4" name="TextBox 3">
            <a:extLst>
              <a:ext uri="{FF2B5EF4-FFF2-40B4-BE49-F238E27FC236}">
                <a16:creationId xmlns:a16="http://schemas.microsoft.com/office/drawing/2014/main" id="{78D3279D-66AA-301A-59FE-CFA742E16360}"/>
              </a:ext>
            </a:extLst>
          </p:cNvPr>
          <p:cNvSpPr txBox="1"/>
          <p:nvPr/>
        </p:nvSpPr>
        <p:spPr>
          <a:xfrm>
            <a:off x="533400" y="762000"/>
            <a:ext cx="10414000" cy="276999"/>
          </a:xfrm>
          <a:prstGeom prst="rect">
            <a:avLst/>
          </a:prstGeom>
          <a:noFill/>
        </p:spPr>
        <p:txBody>
          <a:bodyPr vert="horz" wrap="square" lIns="0" tIns="0" rIns="0" bIns="0" rtlCol="0" anchor="t">
            <a:noAutofit/>
          </a:bodyPr>
          <a:lstStyle/>
          <a:p>
            <a:r>
              <a:rPr lang="en-US" sz="2800" b="1" dirty="0">
                <a:solidFill>
                  <a:srgbClr val="F2F5F9"/>
                </a:solidFill>
                <a:latin typeface="Aptos Display" panose="020B0004020202020204" pitchFamily="34" charset="0"/>
              </a:rPr>
              <a:t>What this robot does</a:t>
            </a:r>
          </a:p>
        </p:txBody>
      </p:sp>
      <p:sp>
        <p:nvSpPr>
          <p:cNvPr id="5" name="TextBox 4">
            <a:extLst>
              <a:ext uri="{FF2B5EF4-FFF2-40B4-BE49-F238E27FC236}">
                <a16:creationId xmlns:a16="http://schemas.microsoft.com/office/drawing/2014/main" id="{B0768357-6E2D-8230-7E36-BA2013532369}"/>
              </a:ext>
            </a:extLst>
          </p:cNvPr>
          <p:cNvSpPr txBox="1"/>
          <p:nvPr/>
        </p:nvSpPr>
        <p:spPr>
          <a:xfrm>
            <a:off x="11226800" y="355600"/>
            <a:ext cx="381000" cy="276999"/>
          </a:xfrm>
          <a:prstGeom prst="rect">
            <a:avLst/>
          </a:prstGeom>
          <a:noFill/>
        </p:spPr>
        <p:txBody>
          <a:bodyPr vert="horz" wrap="square" lIns="0" tIns="0" rIns="0" bIns="0" rtlCol="0" anchor="t">
            <a:noAutofit/>
          </a:bodyPr>
          <a:lstStyle/>
          <a:p>
            <a:pPr algn="r"/>
            <a:r>
              <a:rPr lang="en-US" sz="1000" b="1">
                <a:solidFill>
                  <a:srgbClr val="A9B4C5"/>
                </a:solidFill>
                <a:latin typeface="Aptos" panose="020B0004020202020204" pitchFamily="34" charset="0"/>
              </a:rPr>
              <a:t>03</a:t>
            </a:r>
          </a:p>
        </p:txBody>
      </p:sp>
      <p:cxnSp>
        <p:nvCxnSpPr>
          <p:cNvPr id="6" name="Straight Connector 5">
            <a:extLst>
              <a:ext uri="{FF2B5EF4-FFF2-40B4-BE49-F238E27FC236}">
                <a16:creationId xmlns:a16="http://schemas.microsoft.com/office/drawing/2014/main" id="{AB2F68B9-1AF6-432D-FA94-C091AD351434}"/>
              </a:ext>
            </a:extLst>
          </p:cNvPr>
          <p:cNvCxnSpPr/>
          <p:nvPr/>
        </p:nvCxnSpPr>
        <p:spPr>
          <a:xfrm>
            <a:off x="533400" y="1371600"/>
            <a:ext cx="11125200" cy="0"/>
          </a:xfrm>
          <a:prstGeom prst="line">
            <a:avLst/>
          </a:prstGeom>
          <a:ln w="12700">
            <a:solidFill>
              <a:srgbClr val="1F2C41"/>
            </a:solidFill>
          </a:ln>
        </p:spPr>
        <p:style>
          <a:lnRef idx="1">
            <a:schemeClr val="accent1"/>
          </a:lnRef>
          <a:fillRef idx="0">
            <a:schemeClr val="accent1"/>
          </a:fillRef>
          <a:effectRef idx="0">
            <a:schemeClr val="accent1"/>
          </a:effectRef>
          <a:fontRef idx="minor">
            <a:schemeClr val="tx1"/>
          </a:fontRef>
        </p:style>
      </p:cxnSp>
      <p:sp>
        <p:nvSpPr>
          <p:cNvPr id="7" name="Rectangle: Rounded Corners 6">
            <a:extLst>
              <a:ext uri="{FF2B5EF4-FFF2-40B4-BE49-F238E27FC236}">
                <a16:creationId xmlns:a16="http://schemas.microsoft.com/office/drawing/2014/main" id="{EAEC47C5-2A67-4FD4-2867-A101E3DD3D0C}"/>
              </a:ext>
            </a:extLst>
          </p:cNvPr>
          <p:cNvSpPr/>
          <p:nvPr/>
        </p:nvSpPr>
        <p:spPr>
          <a:xfrm>
            <a:off x="533400" y="1752600"/>
            <a:ext cx="2565400" cy="1422400"/>
          </a:xfrm>
          <a:prstGeom prst="roundRect">
            <a:avLst/>
          </a:prstGeom>
          <a:solidFill>
            <a:srgbClr val="182234"/>
          </a:solidFill>
          <a:ln w="15875">
            <a:solidFill>
              <a:srgbClr val="379D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07433F61-2479-6F52-D3ED-132BF54A8D77}"/>
              </a:ext>
            </a:extLst>
          </p:cNvPr>
          <p:cNvSpPr/>
          <p:nvPr/>
        </p:nvSpPr>
        <p:spPr>
          <a:xfrm>
            <a:off x="533400" y="1752600"/>
            <a:ext cx="76200" cy="1422400"/>
          </a:xfrm>
          <a:prstGeom prst="rect">
            <a:avLst/>
          </a:prstGeom>
          <a:solidFill>
            <a:srgbClr val="379D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FCE5690D-A863-5B48-94FB-83C7F5E7547F}"/>
              </a:ext>
            </a:extLst>
          </p:cNvPr>
          <p:cNvSpPr txBox="1"/>
          <p:nvPr/>
        </p:nvSpPr>
        <p:spPr>
          <a:xfrm>
            <a:off x="1143000" y="2475299"/>
            <a:ext cx="2247900" cy="276999"/>
          </a:xfrm>
          <a:prstGeom prst="rect">
            <a:avLst/>
          </a:prstGeom>
          <a:noFill/>
        </p:spPr>
        <p:txBody>
          <a:bodyPr vert="horz" wrap="square" lIns="0" tIns="0" rIns="0" bIns="0" rtlCol="0" anchor="t">
            <a:noAutofit/>
          </a:bodyPr>
          <a:lstStyle/>
          <a:p>
            <a:r>
              <a:rPr lang="en-US" sz="1600" b="1" dirty="0">
                <a:solidFill>
                  <a:srgbClr val="379DFF"/>
                </a:solidFill>
                <a:latin typeface="Aptos" panose="020B0004020202020204" pitchFamily="34" charset="0"/>
              </a:rPr>
              <a:t>DRIVETRAIN</a:t>
            </a:r>
          </a:p>
        </p:txBody>
      </p:sp>
      <p:sp>
        <p:nvSpPr>
          <p:cNvPr id="10" name="TextBox 9">
            <a:extLst>
              <a:ext uri="{FF2B5EF4-FFF2-40B4-BE49-F238E27FC236}">
                <a16:creationId xmlns:a16="http://schemas.microsoft.com/office/drawing/2014/main" id="{45942242-B5E4-884A-7C68-6119E347CBC7}"/>
              </a:ext>
            </a:extLst>
          </p:cNvPr>
          <p:cNvSpPr txBox="1"/>
          <p:nvPr/>
        </p:nvSpPr>
        <p:spPr>
          <a:xfrm>
            <a:off x="1225512" y="2061975"/>
            <a:ext cx="2247900" cy="276999"/>
          </a:xfrm>
          <a:prstGeom prst="rect">
            <a:avLst/>
          </a:prstGeom>
          <a:noFill/>
        </p:spPr>
        <p:txBody>
          <a:bodyPr vert="horz" wrap="square" lIns="0" tIns="0" rIns="0" bIns="0" rtlCol="0" anchor="t">
            <a:noAutofit/>
          </a:bodyPr>
          <a:lstStyle/>
          <a:p>
            <a:r>
              <a:rPr lang="en-US" sz="1200" dirty="0">
                <a:solidFill>
                  <a:srgbClr val="F2F5F9"/>
                </a:solidFill>
                <a:latin typeface="Aptos" panose="020B0004020202020204" pitchFamily="34" charset="0"/>
              </a:rPr>
              <a:t>Move + steer</a:t>
            </a:r>
          </a:p>
        </p:txBody>
      </p:sp>
      <p:sp>
        <p:nvSpPr>
          <p:cNvPr id="11" name="Rectangle: Rounded Corners 10">
            <a:extLst>
              <a:ext uri="{FF2B5EF4-FFF2-40B4-BE49-F238E27FC236}">
                <a16:creationId xmlns:a16="http://schemas.microsoft.com/office/drawing/2014/main" id="{0DF1ECDC-82B4-A1D4-80AA-70D1239C07BE}"/>
              </a:ext>
            </a:extLst>
          </p:cNvPr>
          <p:cNvSpPr/>
          <p:nvPr/>
        </p:nvSpPr>
        <p:spPr>
          <a:xfrm>
            <a:off x="3327400" y="1752600"/>
            <a:ext cx="2565400" cy="1422400"/>
          </a:xfrm>
          <a:prstGeom prst="roundRect">
            <a:avLst/>
          </a:prstGeom>
          <a:solidFill>
            <a:srgbClr val="182234"/>
          </a:solidFill>
          <a:ln w="15875">
            <a:solidFill>
              <a:srgbClr val="FFA44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3C7E90C6-963E-B981-F738-340397A6E250}"/>
              </a:ext>
            </a:extLst>
          </p:cNvPr>
          <p:cNvSpPr/>
          <p:nvPr/>
        </p:nvSpPr>
        <p:spPr>
          <a:xfrm>
            <a:off x="3327400" y="1752600"/>
            <a:ext cx="76200" cy="1422400"/>
          </a:xfrm>
          <a:prstGeom prst="rect">
            <a:avLst/>
          </a:prstGeom>
          <a:solidFill>
            <a:srgbClr val="FFA44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DB19457D-A08A-FE1F-77B7-FC8DF2ED882D}"/>
              </a:ext>
            </a:extLst>
          </p:cNvPr>
          <p:cNvSpPr txBox="1"/>
          <p:nvPr/>
        </p:nvSpPr>
        <p:spPr>
          <a:xfrm>
            <a:off x="4413250" y="2528274"/>
            <a:ext cx="2247900" cy="276999"/>
          </a:xfrm>
          <a:prstGeom prst="rect">
            <a:avLst/>
          </a:prstGeom>
          <a:noFill/>
        </p:spPr>
        <p:txBody>
          <a:bodyPr vert="horz" wrap="square" lIns="0" tIns="0" rIns="0" bIns="0" rtlCol="0" anchor="t">
            <a:noAutofit/>
          </a:bodyPr>
          <a:lstStyle/>
          <a:p>
            <a:r>
              <a:rPr lang="en-US" sz="1600" b="1" dirty="0">
                <a:solidFill>
                  <a:srgbClr val="FFA443"/>
                </a:solidFill>
                <a:latin typeface="Aptos" panose="020B0004020202020204" pitchFamily="34" charset="0"/>
              </a:rPr>
              <a:t>BELT</a:t>
            </a:r>
          </a:p>
        </p:txBody>
      </p:sp>
      <p:sp>
        <p:nvSpPr>
          <p:cNvPr id="14" name="TextBox 13">
            <a:extLst>
              <a:ext uri="{FF2B5EF4-FFF2-40B4-BE49-F238E27FC236}">
                <a16:creationId xmlns:a16="http://schemas.microsoft.com/office/drawing/2014/main" id="{D194BC23-9FD3-9EA9-432D-2599162376EE}"/>
              </a:ext>
            </a:extLst>
          </p:cNvPr>
          <p:cNvSpPr txBox="1"/>
          <p:nvPr/>
        </p:nvSpPr>
        <p:spPr>
          <a:xfrm>
            <a:off x="4066172" y="2061976"/>
            <a:ext cx="2247900" cy="276999"/>
          </a:xfrm>
          <a:prstGeom prst="rect">
            <a:avLst/>
          </a:prstGeom>
          <a:noFill/>
        </p:spPr>
        <p:txBody>
          <a:bodyPr vert="horz" wrap="square" lIns="0" tIns="0" rIns="0" bIns="0" rtlCol="0" anchor="t">
            <a:noAutofit/>
          </a:bodyPr>
          <a:lstStyle/>
          <a:p>
            <a:r>
              <a:rPr lang="en-US" sz="1200" dirty="0">
                <a:solidFill>
                  <a:srgbClr val="F2F5F9"/>
                </a:solidFill>
                <a:latin typeface="Aptos" panose="020B0004020202020204" pitchFamily="34" charset="0"/>
              </a:rPr>
              <a:t>Move game pieces</a:t>
            </a:r>
          </a:p>
        </p:txBody>
      </p:sp>
      <p:sp>
        <p:nvSpPr>
          <p:cNvPr id="15" name="Rectangle: Rounded Corners 14">
            <a:extLst>
              <a:ext uri="{FF2B5EF4-FFF2-40B4-BE49-F238E27FC236}">
                <a16:creationId xmlns:a16="http://schemas.microsoft.com/office/drawing/2014/main" id="{1CA48C63-4D16-82B7-611C-13D1C1C19DB2}"/>
              </a:ext>
            </a:extLst>
          </p:cNvPr>
          <p:cNvSpPr/>
          <p:nvPr/>
        </p:nvSpPr>
        <p:spPr>
          <a:xfrm>
            <a:off x="6121400" y="1752600"/>
            <a:ext cx="2565400" cy="1422400"/>
          </a:xfrm>
          <a:prstGeom prst="roundRect">
            <a:avLst/>
          </a:prstGeom>
          <a:solidFill>
            <a:srgbClr val="182234"/>
          </a:solidFill>
          <a:ln w="15875">
            <a:solidFill>
              <a:srgbClr val="3ECF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CB9C500-6F36-64E3-3A04-D60A0BABA4F4}"/>
              </a:ext>
            </a:extLst>
          </p:cNvPr>
          <p:cNvSpPr/>
          <p:nvPr/>
        </p:nvSpPr>
        <p:spPr>
          <a:xfrm>
            <a:off x="6121400" y="1752600"/>
            <a:ext cx="76200" cy="1422400"/>
          </a:xfrm>
          <a:prstGeom prst="rect">
            <a:avLst/>
          </a:prstGeom>
          <a:solidFill>
            <a:srgbClr val="3ECF8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9DCB5922-A238-2DDC-FAF2-DCAACAAC72E2}"/>
              </a:ext>
            </a:extLst>
          </p:cNvPr>
          <p:cNvSpPr txBox="1"/>
          <p:nvPr/>
        </p:nvSpPr>
        <p:spPr>
          <a:xfrm>
            <a:off x="6889750" y="2516851"/>
            <a:ext cx="2247900" cy="276999"/>
          </a:xfrm>
          <a:prstGeom prst="rect">
            <a:avLst/>
          </a:prstGeom>
          <a:noFill/>
        </p:spPr>
        <p:txBody>
          <a:bodyPr vert="horz" wrap="square" lIns="0" tIns="0" rIns="0" bIns="0" rtlCol="0" anchor="t">
            <a:noAutofit/>
          </a:bodyPr>
          <a:lstStyle/>
          <a:p>
            <a:r>
              <a:rPr lang="en-US" sz="1600" b="1" dirty="0">
                <a:solidFill>
                  <a:srgbClr val="3ECF8E"/>
                </a:solidFill>
                <a:latin typeface="Aptos" panose="020B0004020202020204" pitchFamily="34" charset="0"/>
              </a:rPr>
              <a:t>ROLLER</a:t>
            </a:r>
          </a:p>
        </p:txBody>
      </p:sp>
      <p:sp>
        <p:nvSpPr>
          <p:cNvPr id="18" name="TextBox 17">
            <a:extLst>
              <a:ext uri="{FF2B5EF4-FFF2-40B4-BE49-F238E27FC236}">
                <a16:creationId xmlns:a16="http://schemas.microsoft.com/office/drawing/2014/main" id="{C61F547D-9A64-5313-EB0B-E5B955C4A73E}"/>
              </a:ext>
            </a:extLst>
          </p:cNvPr>
          <p:cNvSpPr txBox="1"/>
          <p:nvPr/>
        </p:nvSpPr>
        <p:spPr>
          <a:xfrm>
            <a:off x="6740525" y="2063414"/>
            <a:ext cx="2247900" cy="276999"/>
          </a:xfrm>
          <a:prstGeom prst="rect">
            <a:avLst/>
          </a:prstGeom>
          <a:noFill/>
        </p:spPr>
        <p:txBody>
          <a:bodyPr vert="horz" wrap="square" lIns="0" tIns="0" rIns="0" bIns="0" rtlCol="0" anchor="t">
            <a:noAutofit/>
          </a:bodyPr>
          <a:lstStyle/>
          <a:p>
            <a:r>
              <a:rPr lang="en-US" sz="1200" dirty="0">
                <a:solidFill>
                  <a:srgbClr val="F2F5F9"/>
                </a:solidFill>
                <a:latin typeface="Aptos" panose="020B0004020202020204" pitchFamily="34" charset="0"/>
              </a:rPr>
              <a:t>Eject game pieces</a:t>
            </a:r>
          </a:p>
        </p:txBody>
      </p:sp>
      <p:sp>
        <p:nvSpPr>
          <p:cNvPr id="19" name="Rectangle: Rounded Corners 18">
            <a:extLst>
              <a:ext uri="{FF2B5EF4-FFF2-40B4-BE49-F238E27FC236}">
                <a16:creationId xmlns:a16="http://schemas.microsoft.com/office/drawing/2014/main" id="{457ACD73-7BCD-BB1D-7121-036884300117}"/>
              </a:ext>
            </a:extLst>
          </p:cNvPr>
          <p:cNvSpPr/>
          <p:nvPr/>
        </p:nvSpPr>
        <p:spPr>
          <a:xfrm>
            <a:off x="8915400" y="1752600"/>
            <a:ext cx="2743200" cy="1422400"/>
          </a:xfrm>
          <a:prstGeom prst="roundRect">
            <a:avLst/>
          </a:prstGeom>
          <a:solidFill>
            <a:srgbClr val="182234"/>
          </a:solidFill>
          <a:ln w="15875">
            <a:solidFill>
              <a:srgbClr val="FF64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ectangle 19">
            <a:extLst>
              <a:ext uri="{FF2B5EF4-FFF2-40B4-BE49-F238E27FC236}">
                <a16:creationId xmlns:a16="http://schemas.microsoft.com/office/drawing/2014/main" id="{4EFBECD0-6C24-6564-F3EE-104A1785575B}"/>
              </a:ext>
            </a:extLst>
          </p:cNvPr>
          <p:cNvSpPr/>
          <p:nvPr/>
        </p:nvSpPr>
        <p:spPr>
          <a:xfrm>
            <a:off x="8915400" y="1752600"/>
            <a:ext cx="76200" cy="1422400"/>
          </a:xfrm>
          <a:prstGeom prst="rect">
            <a:avLst/>
          </a:prstGeom>
          <a:solidFill>
            <a:srgbClr val="FF646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91C592A1-3C80-2484-4B98-206CE5791DD7}"/>
              </a:ext>
            </a:extLst>
          </p:cNvPr>
          <p:cNvSpPr txBox="1"/>
          <p:nvPr/>
        </p:nvSpPr>
        <p:spPr>
          <a:xfrm>
            <a:off x="9836150" y="2528275"/>
            <a:ext cx="2425700" cy="276999"/>
          </a:xfrm>
          <a:prstGeom prst="rect">
            <a:avLst/>
          </a:prstGeom>
          <a:noFill/>
        </p:spPr>
        <p:txBody>
          <a:bodyPr vert="horz" wrap="square" lIns="0" tIns="0" rIns="0" bIns="0" rtlCol="0" anchor="t">
            <a:noAutofit/>
          </a:bodyPr>
          <a:lstStyle/>
          <a:p>
            <a:r>
              <a:rPr lang="en-US" sz="1600" b="1" dirty="0">
                <a:solidFill>
                  <a:srgbClr val="FF6464"/>
                </a:solidFill>
                <a:latin typeface="Aptos" panose="020B0004020202020204" pitchFamily="34" charset="0"/>
              </a:rPr>
              <a:t>CLIMBER</a:t>
            </a:r>
          </a:p>
        </p:txBody>
      </p:sp>
      <p:sp>
        <p:nvSpPr>
          <p:cNvPr id="22" name="TextBox 21">
            <a:extLst>
              <a:ext uri="{FF2B5EF4-FFF2-40B4-BE49-F238E27FC236}">
                <a16:creationId xmlns:a16="http://schemas.microsoft.com/office/drawing/2014/main" id="{D11F8B17-75FE-4011-C6D3-7175621A6462}"/>
              </a:ext>
            </a:extLst>
          </p:cNvPr>
          <p:cNvSpPr txBox="1"/>
          <p:nvPr/>
        </p:nvSpPr>
        <p:spPr>
          <a:xfrm>
            <a:off x="9534525" y="2066151"/>
            <a:ext cx="2425700" cy="276999"/>
          </a:xfrm>
          <a:prstGeom prst="rect">
            <a:avLst/>
          </a:prstGeom>
          <a:noFill/>
        </p:spPr>
        <p:txBody>
          <a:bodyPr vert="horz" wrap="square" lIns="0" tIns="0" rIns="0" bIns="0" rtlCol="0" anchor="t">
            <a:noAutofit/>
          </a:bodyPr>
          <a:lstStyle/>
          <a:p>
            <a:r>
              <a:rPr lang="en-US" sz="1200" dirty="0">
                <a:solidFill>
                  <a:srgbClr val="F2F5F9"/>
                </a:solidFill>
                <a:latin typeface="Aptos" panose="020B0004020202020204" pitchFamily="34" charset="0"/>
              </a:rPr>
              <a:t>Change arm position</a:t>
            </a:r>
          </a:p>
        </p:txBody>
      </p:sp>
      <p:sp>
        <p:nvSpPr>
          <p:cNvPr id="23" name="TextBox 22">
            <a:extLst>
              <a:ext uri="{FF2B5EF4-FFF2-40B4-BE49-F238E27FC236}">
                <a16:creationId xmlns:a16="http://schemas.microsoft.com/office/drawing/2014/main" id="{55D66ACE-8752-D6E6-47DE-A925931EF0AF}"/>
              </a:ext>
            </a:extLst>
          </p:cNvPr>
          <p:cNvSpPr txBox="1"/>
          <p:nvPr/>
        </p:nvSpPr>
        <p:spPr>
          <a:xfrm>
            <a:off x="1143000" y="3886200"/>
            <a:ext cx="9906000" cy="276999"/>
          </a:xfrm>
          <a:prstGeom prst="rect">
            <a:avLst/>
          </a:prstGeom>
          <a:noFill/>
        </p:spPr>
        <p:txBody>
          <a:bodyPr vert="horz" wrap="square" lIns="0" tIns="0" rIns="0" bIns="0" rtlCol="0" anchor="t">
            <a:noAutofit/>
          </a:bodyPr>
          <a:lstStyle/>
          <a:p>
            <a:pPr algn="ctr"/>
            <a:r>
              <a:rPr lang="en-US" sz="2200" b="1">
                <a:solidFill>
                  <a:srgbClr val="F2F5F9"/>
                </a:solidFill>
                <a:latin typeface="Aptos Display" panose="020B0004020202020204" pitchFamily="34" charset="0"/>
              </a:rPr>
              <a:t>Each independently controlled mechanism becomes a software boundary.</a:t>
            </a:r>
          </a:p>
        </p:txBody>
      </p:sp>
      <p:cxnSp>
        <p:nvCxnSpPr>
          <p:cNvPr id="24" name="Straight Connector 23">
            <a:extLst>
              <a:ext uri="{FF2B5EF4-FFF2-40B4-BE49-F238E27FC236}">
                <a16:creationId xmlns:a16="http://schemas.microsoft.com/office/drawing/2014/main" id="{2357108B-D269-7316-5DD6-18B769189314}"/>
              </a:ext>
            </a:extLst>
          </p:cNvPr>
          <p:cNvCxnSpPr/>
          <p:nvPr/>
        </p:nvCxnSpPr>
        <p:spPr>
          <a:xfrm>
            <a:off x="1816100" y="3429000"/>
            <a:ext cx="0" cy="330200"/>
          </a:xfrm>
          <a:prstGeom prst="line">
            <a:avLst/>
          </a:prstGeom>
          <a:ln w="25400">
            <a:solidFill>
              <a:srgbClr val="379DFF"/>
            </a:solidFill>
            <a:tailEnd type="arrow"/>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47D4AFFB-D860-9E6B-C030-9EA009D75A73}"/>
              </a:ext>
            </a:extLst>
          </p:cNvPr>
          <p:cNvCxnSpPr/>
          <p:nvPr/>
        </p:nvCxnSpPr>
        <p:spPr>
          <a:xfrm>
            <a:off x="4610100" y="3429000"/>
            <a:ext cx="0" cy="330200"/>
          </a:xfrm>
          <a:prstGeom prst="line">
            <a:avLst/>
          </a:prstGeom>
          <a:ln w="25400">
            <a:solidFill>
              <a:srgbClr val="FFA443"/>
            </a:solidFill>
            <a:tailEnd type="arrow"/>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026066CD-C1B4-B6DF-BDA8-C1E34493326A}"/>
              </a:ext>
            </a:extLst>
          </p:cNvPr>
          <p:cNvCxnSpPr/>
          <p:nvPr/>
        </p:nvCxnSpPr>
        <p:spPr>
          <a:xfrm>
            <a:off x="7404100" y="3429000"/>
            <a:ext cx="0" cy="330200"/>
          </a:xfrm>
          <a:prstGeom prst="line">
            <a:avLst/>
          </a:prstGeom>
          <a:ln w="25400">
            <a:solidFill>
              <a:srgbClr val="3ECF8E"/>
            </a:solidFill>
            <a:tailEnd type="arrow"/>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6E3BEE55-55FC-3478-93C3-B928B8F7FD3F}"/>
              </a:ext>
            </a:extLst>
          </p:cNvPr>
          <p:cNvCxnSpPr/>
          <p:nvPr/>
        </p:nvCxnSpPr>
        <p:spPr>
          <a:xfrm>
            <a:off x="10287000" y="3429000"/>
            <a:ext cx="0" cy="330200"/>
          </a:xfrm>
          <a:prstGeom prst="line">
            <a:avLst/>
          </a:prstGeom>
          <a:ln w="25400">
            <a:solidFill>
              <a:srgbClr val="FF6464"/>
            </a:solidFill>
            <a:tailEnd type="arrow"/>
          </a:ln>
        </p:spPr>
        <p:style>
          <a:lnRef idx="1">
            <a:schemeClr val="accent1"/>
          </a:lnRef>
          <a:fillRef idx="0">
            <a:schemeClr val="accent1"/>
          </a:fillRef>
          <a:effectRef idx="0">
            <a:schemeClr val="accent1"/>
          </a:effectRef>
          <a:fontRef idx="minor">
            <a:schemeClr val="tx1"/>
          </a:fontRef>
        </p:style>
      </p:cxnSp>
      <p:sp>
        <p:nvSpPr>
          <p:cNvPr id="28" name="Rectangle: Rounded Corners 27">
            <a:extLst>
              <a:ext uri="{FF2B5EF4-FFF2-40B4-BE49-F238E27FC236}">
                <a16:creationId xmlns:a16="http://schemas.microsoft.com/office/drawing/2014/main" id="{3ABEEA56-D992-F356-9CF6-8C77FC574C54}"/>
              </a:ext>
            </a:extLst>
          </p:cNvPr>
          <p:cNvSpPr/>
          <p:nvPr/>
        </p:nvSpPr>
        <p:spPr>
          <a:xfrm>
            <a:off x="533400" y="6261100"/>
            <a:ext cx="11125200" cy="533400"/>
          </a:xfrm>
          <a:prstGeom prst="roundRect">
            <a:avLst/>
          </a:prstGeom>
          <a:solidFill>
            <a:srgbClr val="18223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Rounded Corners 28">
            <a:extLst>
              <a:ext uri="{FF2B5EF4-FFF2-40B4-BE49-F238E27FC236}">
                <a16:creationId xmlns:a16="http://schemas.microsoft.com/office/drawing/2014/main" id="{EF62CEA9-3063-EBAC-BCC0-A2684FEDA5ED}"/>
              </a:ext>
            </a:extLst>
          </p:cNvPr>
          <p:cNvSpPr/>
          <p:nvPr/>
        </p:nvSpPr>
        <p:spPr>
          <a:xfrm>
            <a:off x="660400" y="6362700"/>
            <a:ext cx="1473200" cy="330200"/>
          </a:xfrm>
          <a:prstGeom prst="roundRect">
            <a:avLst/>
          </a:prstGeom>
          <a:solidFill>
            <a:srgbClr val="35CBB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C66F1502-5680-55ED-A227-DC79A753E205}"/>
              </a:ext>
            </a:extLst>
          </p:cNvPr>
          <p:cNvSpPr txBox="1"/>
          <p:nvPr/>
        </p:nvSpPr>
        <p:spPr>
          <a:xfrm>
            <a:off x="736600" y="6400800"/>
            <a:ext cx="1320800" cy="276999"/>
          </a:xfrm>
          <a:prstGeom prst="rect">
            <a:avLst/>
          </a:prstGeom>
          <a:noFill/>
        </p:spPr>
        <p:txBody>
          <a:bodyPr vert="horz" wrap="square" lIns="0" tIns="0" rIns="0" bIns="0" rtlCol="0">
            <a:noAutofit/>
          </a:bodyPr>
          <a:lstStyle/>
          <a:p>
            <a:pPr algn="ctr"/>
            <a:r>
              <a:rPr lang="en-US" sz="1050" b="1">
                <a:solidFill>
                  <a:srgbClr val="060A12"/>
                </a:solidFill>
                <a:latin typeface="Aptos" panose="020B0004020202020204" pitchFamily="34" charset="0"/>
              </a:rPr>
              <a:t>LOOK FOR</a:t>
            </a:r>
          </a:p>
        </p:txBody>
      </p:sp>
      <p:sp>
        <p:nvSpPr>
          <p:cNvPr id="31" name="TextBox 30">
            <a:extLst>
              <a:ext uri="{FF2B5EF4-FFF2-40B4-BE49-F238E27FC236}">
                <a16:creationId xmlns:a16="http://schemas.microsoft.com/office/drawing/2014/main" id="{2CEEF3F0-808C-9A78-556F-686FFF2BFCE7}"/>
              </a:ext>
            </a:extLst>
          </p:cNvPr>
          <p:cNvSpPr txBox="1"/>
          <p:nvPr/>
        </p:nvSpPr>
        <p:spPr>
          <a:xfrm>
            <a:off x="2286000" y="6362700"/>
            <a:ext cx="9207500" cy="276999"/>
          </a:xfrm>
          <a:prstGeom prst="rect">
            <a:avLst/>
          </a:prstGeom>
          <a:noFill/>
        </p:spPr>
        <p:txBody>
          <a:bodyPr vert="horz" wrap="square" lIns="0" tIns="0" rIns="0" bIns="0" rtlCol="0" anchor="t">
            <a:noAutofit/>
          </a:bodyPr>
          <a:lstStyle/>
          <a:p>
            <a:r>
              <a:rPr lang="en-US" sz="1300" dirty="0">
                <a:solidFill>
                  <a:srgbClr val="F2F5F9"/>
                </a:solidFill>
                <a:latin typeface="Aptos" panose="020B0004020202020204" pitchFamily="34" charset="0"/>
              </a:rPr>
              <a:t>By the end of presentation, match every physical mechanism to one subsystem.</a:t>
            </a:r>
          </a:p>
        </p:txBody>
      </p:sp>
      <p:sp>
        <p:nvSpPr>
          <p:cNvPr id="32" name="TextBox 31">
            <a:extLst>
              <a:ext uri="{FF2B5EF4-FFF2-40B4-BE49-F238E27FC236}">
                <a16:creationId xmlns:a16="http://schemas.microsoft.com/office/drawing/2014/main" id="{EBB4AE65-6D5B-54CC-769B-875FF6A32AFA}"/>
              </a:ext>
            </a:extLst>
          </p:cNvPr>
          <p:cNvSpPr txBox="1"/>
          <p:nvPr/>
        </p:nvSpPr>
        <p:spPr>
          <a:xfrm>
            <a:off x="9017000" y="6908800"/>
            <a:ext cx="2641600" cy="276999"/>
          </a:xfrm>
          <a:prstGeom prst="rect">
            <a:avLst/>
          </a:prstGeom>
          <a:noFill/>
        </p:spPr>
        <p:txBody>
          <a:bodyPr vert="horz" wrap="square" lIns="0" tIns="0" rIns="0" bIns="0" rtlCol="0" anchor="t">
            <a:noAutofit/>
          </a:bodyPr>
          <a:lstStyle/>
          <a:p>
            <a:pPr algn="r"/>
            <a:r>
              <a:rPr lang="en-US" sz="850">
                <a:solidFill>
                  <a:srgbClr val="A9B4C5"/>
                </a:solidFill>
                <a:latin typeface="Aptos" panose="020B0004020202020204" pitchFamily="34" charset="0"/>
              </a:rPr>
              <a:t>CURRENT ROBOT IMPLEMENTATION • V2</a:t>
            </a:r>
          </a:p>
        </p:txBody>
      </p:sp>
    </p:spTree>
    <p:extLst>
      <p:ext uri="{BB962C8B-B14F-4D97-AF65-F5344CB8AC3E}">
        <p14:creationId xmlns:p14="http://schemas.microsoft.com/office/powerpoint/2010/main" val="38101817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D1421"/>
        </a:solidFill>
        <a:effectLst/>
      </p:bgPr>
    </p:bg>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77C2FC4F-7FF8-D853-EB21-524BFD9BC7BE}"/>
              </a:ext>
            </a:extLst>
          </p:cNvPr>
          <p:cNvSpPr/>
          <p:nvPr/>
        </p:nvSpPr>
        <p:spPr>
          <a:xfrm>
            <a:off x="533400" y="292100"/>
            <a:ext cx="1473200" cy="330200"/>
          </a:xfrm>
          <a:prstGeom prst="roundRect">
            <a:avLst/>
          </a:prstGeom>
          <a:solidFill>
            <a:srgbClr val="379D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E7C153B2-50B2-C91D-73B7-5AB5509FC72C}"/>
              </a:ext>
            </a:extLst>
          </p:cNvPr>
          <p:cNvSpPr txBox="1"/>
          <p:nvPr/>
        </p:nvSpPr>
        <p:spPr>
          <a:xfrm>
            <a:off x="609600" y="330200"/>
            <a:ext cx="1320800" cy="276999"/>
          </a:xfrm>
          <a:prstGeom prst="rect">
            <a:avLst/>
          </a:prstGeom>
          <a:noFill/>
        </p:spPr>
        <p:txBody>
          <a:bodyPr vert="horz" wrap="square" lIns="0" tIns="0" rIns="0" bIns="0" rtlCol="0">
            <a:noAutofit/>
          </a:bodyPr>
          <a:lstStyle/>
          <a:p>
            <a:pPr algn="ctr"/>
            <a:r>
              <a:rPr lang="en-US" sz="1050" b="1">
                <a:solidFill>
                  <a:srgbClr val="060A12"/>
                </a:solidFill>
                <a:latin typeface="Aptos" panose="020B0004020202020204" pitchFamily="34" charset="0"/>
              </a:rPr>
              <a:t>SHARED CORE</a:t>
            </a:r>
          </a:p>
        </p:txBody>
      </p:sp>
      <p:sp>
        <p:nvSpPr>
          <p:cNvPr id="4" name="TextBox 3">
            <a:extLst>
              <a:ext uri="{FF2B5EF4-FFF2-40B4-BE49-F238E27FC236}">
                <a16:creationId xmlns:a16="http://schemas.microsoft.com/office/drawing/2014/main" id="{3E8DCF3D-DC85-22FC-0AF2-9BC1CACFC271}"/>
              </a:ext>
            </a:extLst>
          </p:cNvPr>
          <p:cNvSpPr txBox="1"/>
          <p:nvPr/>
        </p:nvSpPr>
        <p:spPr>
          <a:xfrm>
            <a:off x="533400" y="762000"/>
            <a:ext cx="10414000" cy="276999"/>
          </a:xfrm>
          <a:prstGeom prst="rect">
            <a:avLst/>
          </a:prstGeom>
          <a:noFill/>
        </p:spPr>
        <p:txBody>
          <a:bodyPr vert="horz" wrap="square" lIns="0" tIns="0" rIns="0" bIns="0" rtlCol="0" anchor="t">
            <a:noAutofit/>
          </a:bodyPr>
          <a:lstStyle/>
          <a:p>
            <a:r>
              <a:rPr lang="en-US" sz="2800" b="1" dirty="0">
                <a:solidFill>
                  <a:srgbClr val="F2F5F9"/>
                </a:solidFill>
                <a:latin typeface="Aptos Display" panose="020B0004020202020204" pitchFamily="34" charset="0"/>
              </a:rPr>
              <a:t>Controls are the starting point</a:t>
            </a:r>
          </a:p>
        </p:txBody>
      </p:sp>
      <p:sp>
        <p:nvSpPr>
          <p:cNvPr id="5" name="TextBox 4">
            <a:extLst>
              <a:ext uri="{FF2B5EF4-FFF2-40B4-BE49-F238E27FC236}">
                <a16:creationId xmlns:a16="http://schemas.microsoft.com/office/drawing/2014/main" id="{48B797CA-EA8E-6DA2-4B94-898329C01FD5}"/>
              </a:ext>
            </a:extLst>
          </p:cNvPr>
          <p:cNvSpPr txBox="1"/>
          <p:nvPr/>
        </p:nvSpPr>
        <p:spPr>
          <a:xfrm>
            <a:off x="11226800" y="355600"/>
            <a:ext cx="381000" cy="276999"/>
          </a:xfrm>
          <a:prstGeom prst="rect">
            <a:avLst/>
          </a:prstGeom>
          <a:noFill/>
        </p:spPr>
        <p:txBody>
          <a:bodyPr vert="horz" wrap="square" lIns="0" tIns="0" rIns="0" bIns="0" rtlCol="0" anchor="t">
            <a:noAutofit/>
          </a:bodyPr>
          <a:lstStyle/>
          <a:p>
            <a:pPr algn="r"/>
            <a:r>
              <a:rPr lang="en-US" sz="1000" b="1">
                <a:solidFill>
                  <a:srgbClr val="A9B4C5"/>
                </a:solidFill>
                <a:latin typeface="Aptos" panose="020B0004020202020204" pitchFamily="34" charset="0"/>
              </a:rPr>
              <a:t>04</a:t>
            </a:r>
          </a:p>
        </p:txBody>
      </p:sp>
      <p:cxnSp>
        <p:nvCxnSpPr>
          <p:cNvPr id="6" name="Straight Connector 5">
            <a:extLst>
              <a:ext uri="{FF2B5EF4-FFF2-40B4-BE49-F238E27FC236}">
                <a16:creationId xmlns:a16="http://schemas.microsoft.com/office/drawing/2014/main" id="{914C2876-FFAE-3B2A-C04F-C0E33BF7CBB5}"/>
              </a:ext>
            </a:extLst>
          </p:cNvPr>
          <p:cNvCxnSpPr/>
          <p:nvPr/>
        </p:nvCxnSpPr>
        <p:spPr>
          <a:xfrm>
            <a:off x="533400" y="1371600"/>
            <a:ext cx="11125200" cy="0"/>
          </a:xfrm>
          <a:prstGeom prst="line">
            <a:avLst/>
          </a:prstGeom>
          <a:ln w="12700">
            <a:solidFill>
              <a:srgbClr val="1F2C41"/>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AB855C32-C506-CDEA-FD59-93681B15680D}"/>
              </a:ext>
            </a:extLst>
          </p:cNvPr>
          <p:cNvSpPr txBox="1"/>
          <p:nvPr/>
        </p:nvSpPr>
        <p:spPr>
          <a:xfrm>
            <a:off x="736600" y="1676400"/>
            <a:ext cx="3175000" cy="276999"/>
          </a:xfrm>
          <a:prstGeom prst="rect">
            <a:avLst/>
          </a:prstGeom>
          <a:noFill/>
        </p:spPr>
        <p:txBody>
          <a:bodyPr vert="horz" wrap="square" lIns="0" tIns="0" rIns="0" bIns="0" rtlCol="0" anchor="t">
            <a:noAutofit/>
          </a:bodyPr>
          <a:lstStyle/>
          <a:p>
            <a:r>
              <a:rPr lang="en-US" sz="1600" b="1">
                <a:solidFill>
                  <a:srgbClr val="35CBBE"/>
                </a:solidFill>
                <a:latin typeface="Aptos" panose="020B0004020202020204" pitchFamily="34" charset="0"/>
              </a:rPr>
              <a:t>DRIVER • USB 0</a:t>
            </a:r>
          </a:p>
        </p:txBody>
      </p:sp>
      <p:sp>
        <p:nvSpPr>
          <p:cNvPr id="8" name="TextBox 7">
            <a:extLst>
              <a:ext uri="{FF2B5EF4-FFF2-40B4-BE49-F238E27FC236}">
                <a16:creationId xmlns:a16="http://schemas.microsoft.com/office/drawing/2014/main" id="{EB33C43F-F6B9-AF77-D994-D16E6DD5326E}"/>
              </a:ext>
            </a:extLst>
          </p:cNvPr>
          <p:cNvSpPr txBox="1"/>
          <p:nvPr/>
        </p:nvSpPr>
        <p:spPr>
          <a:xfrm>
            <a:off x="736600" y="2247900"/>
            <a:ext cx="1714500" cy="276999"/>
          </a:xfrm>
          <a:prstGeom prst="rect">
            <a:avLst/>
          </a:prstGeom>
          <a:noFill/>
        </p:spPr>
        <p:txBody>
          <a:bodyPr vert="horz" wrap="square" lIns="0" tIns="0" rIns="0" bIns="0" rtlCol="0" anchor="t">
            <a:noAutofit/>
          </a:bodyPr>
          <a:lstStyle/>
          <a:p>
            <a:r>
              <a:rPr lang="en-US" b="1">
                <a:solidFill>
                  <a:srgbClr val="F2F5F9"/>
                </a:solidFill>
                <a:latin typeface="Aptos" panose="020B0004020202020204" pitchFamily="34" charset="0"/>
              </a:rPr>
              <a:t>Sticks</a:t>
            </a:r>
          </a:p>
        </p:txBody>
      </p:sp>
      <p:sp>
        <p:nvSpPr>
          <p:cNvPr id="9" name="TextBox 8">
            <a:extLst>
              <a:ext uri="{FF2B5EF4-FFF2-40B4-BE49-F238E27FC236}">
                <a16:creationId xmlns:a16="http://schemas.microsoft.com/office/drawing/2014/main" id="{1DC80E59-8137-8684-DA6B-D6908906A84A}"/>
              </a:ext>
            </a:extLst>
          </p:cNvPr>
          <p:cNvSpPr txBox="1"/>
          <p:nvPr/>
        </p:nvSpPr>
        <p:spPr>
          <a:xfrm>
            <a:off x="2540000" y="2247900"/>
            <a:ext cx="2286000" cy="276999"/>
          </a:xfrm>
          <a:prstGeom prst="rect">
            <a:avLst/>
          </a:prstGeom>
          <a:noFill/>
        </p:spPr>
        <p:txBody>
          <a:bodyPr vert="horz" wrap="square" lIns="0" tIns="0" rIns="0" bIns="0" rtlCol="0" anchor="t">
            <a:noAutofit/>
          </a:bodyPr>
          <a:lstStyle/>
          <a:p>
            <a:r>
              <a:rPr lang="en-US" sz="1700">
                <a:solidFill>
                  <a:srgbClr val="A9B4C5"/>
                </a:solidFill>
                <a:latin typeface="Aptos" panose="020B0004020202020204" pitchFamily="34" charset="0"/>
              </a:rPr>
              <a:t>drive + steer</a:t>
            </a:r>
          </a:p>
        </p:txBody>
      </p:sp>
      <p:sp>
        <p:nvSpPr>
          <p:cNvPr id="10" name="TextBox 9">
            <a:extLst>
              <a:ext uri="{FF2B5EF4-FFF2-40B4-BE49-F238E27FC236}">
                <a16:creationId xmlns:a16="http://schemas.microsoft.com/office/drawing/2014/main" id="{7EF72274-EFCE-F110-EEC2-3535D7751EC5}"/>
              </a:ext>
            </a:extLst>
          </p:cNvPr>
          <p:cNvSpPr txBox="1"/>
          <p:nvPr/>
        </p:nvSpPr>
        <p:spPr>
          <a:xfrm>
            <a:off x="736600" y="2832100"/>
            <a:ext cx="1714500" cy="276999"/>
          </a:xfrm>
          <a:prstGeom prst="rect">
            <a:avLst/>
          </a:prstGeom>
          <a:noFill/>
        </p:spPr>
        <p:txBody>
          <a:bodyPr vert="horz" wrap="square" lIns="0" tIns="0" rIns="0" bIns="0" rtlCol="0" anchor="t">
            <a:noAutofit/>
          </a:bodyPr>
          <a:lstStyle/>
          <a:p>
            <a:r>
              <a:rPr lang="en-US" b="1">
                <a:solidFill>
                  <a:srgbClr val="F2F5F9"/>
                </a:solidFill>
                <a:latin typeface="Aptos" panose="020B0004020202020204" pitchFamily="34" charset="0"/>
              </a:rPr>
              <a:t>Right bumper</a:t>
            </a:r>
          </a:p>
        </p:txBody>
      </p:sp>
      <p:sp>
        <p:nvSpPr>
          <p:cNvPr id="11" name="TextBox 10">
            <a:extLst>
              <a:ext uri="{FF2B5EF4-FFF2-40B4-BE49-F238E27FC236}">
                <a16:creationId xmlns:a16="http://schemas.microsoft.com/office/drawing/2014/main" id="{192E25F4-FD51-C66E-3D7F-24FF53B63B0F}"/>
              </a:ext>
            </a:extLst>
          </p:cNvPr>
          <p:cNvSpPr txBox="1"/>
          <p:nvPr/>
        </p:nvSpPr>
        <p:spPr>
          <a:xfrm>
            <a:off x="2540000" y="2832100"/>
            <a:ext cx="2286000" cy="276999"/>
          </a:xfrm>
          <a:prstGeom prst="rect">
            <a:avLst/>
          </a:prstGeom>
          <a:noFill/>
        </p:spPr>
        <p:txBody>
          <a:bodyPr vert="horz" wrap="square" lIns="0" tIns="0" rIns="0" bIns="0" rtlCol="0" anchor="t">
            <a:noAutofit/>
          </a:bodyPr>
          <a:lstStyle/>
          <a:p>
            <a:r>
              <a:rPr lang="en-US" sz="1700">
                <a:solidFill>
                  <a:srgbClr val="A9B4C5"/>
                </a:solidFill>
                <a:latin typeface="Aptos" panose="020B0004020202020204" pitchFamily="34" charset="0"/>
              </a:rPr>
              <a:t>slow mode</a:t>
            </a:r>
          </a:p>
        </p:txBody>
      </p:sp>
      <p:cxnSp>
        <p:nvCxnSpPr>
          <p:cNvPr id="12" name="Straight Connector 11">
            <a:extLst>
              <a:ext uri="{FF2B5EF4-FFF2-40B4-BE49-F238E27FC236}">
                <a16:creationId xmlns:a16="http://schemas.microsoft.com/office/drawing/2014/main" id="{099F611D-5603-9A43-099A-258873E63D4E}"/>
              </a:ext>
            </a:extLst>
          </p:cNvPr>
          <p:cNvCxnSpPr/>
          <p:nvPr/>
        </p:nvCxnSpPr>
        <p:spPr>
          <a:xfrm>
            <a:off x="5461000" y="1701800"/>
            <a:ext cx="0" cy="2806700"/>
          </a:xfrm>
          <a:prstGeom prst="line">
            <a:avLst/>
          </a:prstGeom>
          <a:ln w="25400">
            <a:solidFill>
              <a:srgbClr val="1F2C4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A670BE06-090D-6A90-9AC9-7FCB3B5B3C14}"/>
              </a:ext>
            </a:extLst>
          </p:cNvPr>
          <p:cNvSpPr txBox="1"/>
          <p:nvPr/>
        </p:nvSpPr>
        <p:spPr>
          <a:xfrm>
            <a:off x="6121400" y="1676400"/>
            <a:ext cx="3810000" cy="276999"/>
          </a:xfrm>
          <a:prstGeom prst="rect">
            <a:avLst/>
          </a:prstGeom>
          <a:noFill/>
        </p:spPr>
        <p:txBody>
          <a:bodyPr vert="horz" wrap="square" lIns="0" tIns="0" rIns="0" bIns="0" rtlCol="0" anchor="t">
            <a:noAutofit/>
          </a:bodyPr>
          <a:lstStyle/>
          <a:p>
            <a:r>
              <a:rPr lang="en-US" sz="1600" b="1">
                <a:solidFill>
                  <a:srgbClr val="FFC149"/>
                </a:solidFill>
                <a:latin typeface="Aptos" panose="020B0004020202020204" pitchFamily="34" charset="0"/>
              </a:rPr>
              <a:t>OPERATOR • USB 1</a:t>
            </a:r>
          </a:p>
        </p:txBody>
      </p:sp>
      <p:sp>
        <p:nvSpPr>
          <p:cNvPr id="14" name="TextBox 13">
            <a:extLst>
              <a:ext uri="{FF2B5EF4-FFF2-40B4-BE49-F238E27FC236}">
                <a16:creationId xmlns:a16="http://schemas.microsoft.com/office/drawing/2014/main" id="{5247CBC8-D0CD-3C4B-CD0A-2C8E0FBC6DE0}"/>
              </a:ext>
            </a:extLst>
          </p:cNvPr>
          <p:cNvSpPr txBox="1"/>
          <p:nvPr/>
        </p:nvSpPr>
        <p:spPr>
          <a:xfrm>
            <a:off x="6121400" y="2247900"/>
            <a:ext cx="1714500" cy="276999"/>
          </a:xfrm>
          <a:prstGeom prst="rect">
            <a:avLst/>
          </a:prstGeom>
          <a:noFill/>
        </p:spPr>
        <p:txBody>
          <a:bodyPr vert="horz" wrap="square" lIns="0" tIns="0" rIns="0" bIns="0" rtlCol="0" anchor="t">
            <a:noAutofit/>
          </a:bodyPr>
          <a:lstStyle/>
          <a:p>
            <a:r>
              <a:rPr lang="en-US" b="1">
                <a:solidFill>
                  <a:srgbClr val="F2F5F9"/>
                </a:solidFill>
                <a:latin typeface="Aptos" panose="020B0004020202020204" pitchFamily="34" charset="0"/>
              </a:rPr>
              <a:t>A held</a:t>
            </a:r>
          </a:p>
        </p:txBody>
      </p:sp>
      <p:sp>
        <p:nvSpPr>
          <p:cNvPr id="15" name="TextBox 14">
            <a:extLst>
              <a:ext uri="{FF2B5EF4-FFF2-40B4-BE49-F238E27FC236}">
                <a16:creationId xmlns:a16="http://schemas.microsoft.com/office/drawing/2014/main" id="{7FF53830-DF5A-72F8-83B0-85F629EB1BD4}"/>
              </a:ext>
            </a:extLst>
          </p:cNvPr>
          <p:cNvSpPr txBox="1"/>
          <p:nvPr/>
        </p:nvSpPr>
        <p:spPr>
          <a:xfrm>
            <a:off x="8001000" y="2247900"/>
            <a:ext cx="2667000" cy="276999"/>
          </a:xfrm>
          <a:prstGeom prst="rect">
            <a:avLst/>
          </a:prstGeom>
          <a:noFill/>
        </p:spPr>
        <p:txBody>
          <a:bodyPr vert="horz" wrap="square" lIns="0" tIns="0" rIns="0" bIns="0" rtlCol="0" anchor="t">
            <a:noAutofit/>
          </a:bodyPr>
          <a:lstStyle/>
          <a:p>
            <a:r>
              <a:rPr lang="en-US" sz="1700">
                <a:solidFill>
                  <a:srgbClr val="A9B4C5"/>
                </a:solidFill>
                <a:latin typeface="Aptos" panose="020B0004020202020204" pitchFamily="34" charset="0"/>
              </a:rPr>
              <a:t>belt in</a:t>
            </a:r>
          </a:p>
        </p:txBody>
      </p:sp>
      <p:sp>
        <p:nvSpPr>
          <p:cNvPr id="16" name="TextBox 15">
            <a:extLst>
              <a:ext uri="{FF2B5EF4-FFF2-40B4-BE49-F238E27FC236}">
                <a16:creationId xmlns:a16="http://schemas.microsoft.com/office/drawing/2014/main" id="{D014054A-2049-BEFD-3B6B-9D506618ED84}"/>
              </a:ext>
            </a:extLst>
          </p:cNvPr>
          <p:cNvSpPr txBox="1"/>
          <p:nvPr/>
        </p:nvSpPr>
        <p:spPr>
          <a:xfrm>
            <a:off x="6121400" y="2832100"/>
            <a:ext cx="1714500" cy="276999"/>
          </a:xfrm>
          <a:prstGeom prst="rect">
            <a:avLst/>
          </a:prstGeom>
          <a:noFill/>
        </p:spPr>
        <p:txBody>
          <a:bodyPr vert="horz" wrap="square" lIns="0" tIns="0" rIns="0" bIns="0" rtlCol="0" anchor="t">
            <a:noAutofit/>
          </a:bodyPr>
          <a:lstStyle/>
          <a:p>
            <a:r>
              <a:rPr lang="en-US" b="1">
                <a:solidFill>
                  <a:srgbClr val="F2F5F9"/>
                </a:solidFill>
                <a:latin typeface="Aptos" panose="020B0004020202020204" pitchFamily="34" charset="0"/>
              </a:rPr>
              <a:t>B held</a:t>
            </a:r>
          </a:p>
        </p:txBody>
      </p:sp>
      <p:sp>
        <p:nvSpPr>
          <p:cNvPr id="17" name="TextBox 16">
            <a:extLst>
              <a:ext uri="{FF2B5EF4-FFF2-40B4-BE49-F238E27FC236}">
                <a16:creationId xmlns:a16="http://schemas.microsoft.com/office/drawing/2014/main" id="{E803DC36-8615-B4C4-4390-BAF46C7A4761}"/>
              </a:ext>
            </a:extLst>
          </p:cNvPr>
          <p:cNvSpPr txBox="1"/>
          <p:nvPr/>
        </p:nvSpPr>
        <p:spPr>
          <a:xfrm>
            <a:off x="8001000" y="2832100"/>
            <a:ext cx="2667000" cy="276999"/>
          </a:xfrm>
          <a:prstGeom prst="rect">
            <a:avLst/>
          </a:prstGeom>
          <a:noFill/>
        </p:spPr>
        <p:txBody>
          <a:bodyPr vert="horz" wrap="square" lIns="0" tIns="0" rIns="0" bIns="0" rtlCol="0" anchor="t">
            <a:noAutofit/>
          </a:bodyPr>
          <a:lstStyle/>
          <a:p>
            <a:r>
              <a:rPr lang="en-US" sz="1700">
                <a:solidFill>
                  <a:srgbClr val="A9B4C5"/>
                </a:solidFill>
                <a:latin typeface="Aptos" panose="020B0004020202020204" pitchFamily="34" charset="0"/>
              </a:rPr>
              <a:t>belt out</a:t>
            </a:r>
          </a:p>
        </p:txBody>
      </p:sp>
      <p:sp>
        <p:nvSpPr>
          <p:cNvPr id="18" name="TextBox 17">
            <a:extLst>
              <a:ext uri="{FF2B5EF4-FFF2-40B4-BE49-F238E27FC236}">
                <a16:creationId xmlns:a16="http://schemas.microsoft.com/office/drawing/2014/main" id="{E66079BE-6FC4-02B7-BFCE-C69EEB19CE85}"/>
              </a:ext>
            </a:extLst>
          </p:cNvPr>
          <p:cNvSpPr txBox="1"/>
          <p:nvPr/>
        </p:nvSpPr>
        <p:spPr>
          <a:xfrm>
            <a:off x="6121400" y="3416300"/>
            <a:ext cx="1714500" cy="276999"/>
          </a:xfrm>
          <a:prstGeom prst="rect">
            <a:avLst/>
          </a:prstGeom>
          <a:noFill/>
        </p:spPr>
        <p:txBody>
          <a:bodyPr vert="horz" wrap="square" lIns="0" tIns="0" rIns="0" bIns="0" rtlCol="0" anchor="t">
            <a:noAutofit/>
          </a:bodyPr>
          <a:lstStyle/>
          <a:p>
            <a:r>
              <a:rPr lang="en-US" b="1">
                <a:solidFill>
                  <a:srgbClr val="F2F5F9"/>
                </a:solidFill>
                <a:latin typeface="Aptos" panose="020B0004020202020204" pitchFamily="34" charset="0"/>
              </a:rPr>
              <a:t>X held</a:t>
            </a:r>
          </a:p>
        </p:txBody>
      </p:sp>
      <p:sp>
        <p:nvSpPr>
          <p:cNvPr id="19" name="TextBox 18">
            <a:extLst>
              <a:ext uri="{FF2B5EF4-FFF2-40B4-BE49-F238E27FC236}">
                <a16:creationId xmlns:a16="http://schemas.microsoft.com/office/drawing/2014/main" id="{2BC14FB9-2B2C-E3FD-D4E2-CFEB3EC7A867}"/>
              </a:ext>
            </a:extLst>
          </p:cNvPr>
          <p:cNvSpPr txBox="1"/>
          <p:nvPr/>
        </p:nvSpPr>
        <p:spPr>
          <a:xfrm>
            <a:off x="8001000" y="3416300"/>
            <a:ext cx="2667000" cy="276999"/>
          </a:xfrm>
          <a:prstGeom prst="rect">
            <a:avLst/>
          </a:prstGeom>
          <a:noFill/>
        </p:spPr>
        <p:txBody>
          <a:bodyPr vert="horz" wrap="square" lIns="0" tIns="0" rIns="0" bIns="0" rtlCol="0" anchor="t">
            <a:noAutofit/>
          </a:bodyPr>
          <a:lstStyle/>
          <a:p>
            <a:r>
              <a:rPr lang="en-US" sz="1700">
                <a:solidFill>
                  <a:srgbClr val="A9B4C5"/>
                </a:solidFill>
                <a:latin typeface="Aptos" panose="020B0004020202020204" pitchFamily="34" charset="0"/>
              </a:rPr>
              <a:t>roller</a:t>
            </a:r>
          </a:p>
        </p:txBody>
      </p:sp>
      <p:sp>
        <p:nvSpPr>
          <p:cNvPr id="20" name="TextBox 19">
            <a:extLst>
              <a:ext uri="{FF2B5EF4-FFF2-40B4-BE49-F238E27FC236}">
                <a16:creationId xmlns:a16="http://schemas.microsoft.com/office/drawing/2014/main" id="{53E3D089-40BD-13A9-EFA0-71050F4F9210}"/>
              </a:ext>
            </a:extLst>
          </p:cNvPr>
          <p:cNvSpPr txBox="1"/>
          <p:nvPr/>
        </p:nvSpPr>
        <p:spPr>
          <a:xfrm>
            <a:off x="6121400" y="4000500"/>
            <a:ext cx="1714500" cy="276999"/>
          </a:xfrm>
          <a:prstGeom prst="rect">
            <a:avLst/>
          </a:prstGeom>
          <a:noFill/>
        </p:spPr>
        <p:txBody>
          <a:bodyPr vert="horz" wrap="square" lIns="0" tIns="0" rIns="0" bIns="0" rtlCol="0" anchor="t">
            <a:noAutofit/>
          </a:bodyPr>
          <a:lstStyle/>
          <a:p>
            <a:r>
              <a:rPr lang="en-US" b="1">
                <a:solidFill>
                  <a:srgbClr val="F2F5F9"/>
                </a:solidFill>
                <a:latin typeface="Aptos" panose="020B0004020202020204" pitchFamily="34" charset="0"/>
              </a:rPr>
              <a:t>Y pressed</a:t>
            </a:r>
          </a:p>
        </p:txBody>
      </p:sp>
      <p:sp>
        <p:nvSpPr>
          <p:cNvPr id="21" name="TextBox 20">
            <a:extLst>
              <a:ext uri="{FF2B5EF4-FFF2-40B4-BE49-F238E27FC236}">
                <a16:creationId xmlns:a16="http://schemas.microsoft.com/office/drawing/2014/main" id="{7BE38337-AEB9-7AED-1659-409EC2715DC9}"/>
              </a:ext>
            </a:extLst>
          </p:cNvPr>
          <p:cNvSpPr txBox="1"/>
          <p:nvPr/>
        </p:nvSpPr>
        <p:spPr>
          <a:xfrm>
            <a:off x="8001000" y="4000500"/>
            <a:ext cx="2667000" cy="276999"/>
          </a:xfrm>
          <a:prstGeom prst="rect">
            <a:avLst/>
          </a:prstGeom>
          <a:noFill/>
        </p:spPr>
        <p:txBody>
          <a:bodyPr vert="horz" wrap="square" lIns="0" tIns="0" rIns="0" bIns="0" rtlCol="0" anchor="t">
            <a:noAutofit/>
          </a:bodyPr>
          <a:lstStyle/>
          <a:p>
            <a:r>
              <a:rPr lang="en-US" sz="1700">
                <a:solidFill>
                  <a:srgbClr val="A9B4C5"/>
                </a:solidFill>
                <a:latin typeface="Aptos" panose="020B0004020202020204" pitchFamily="34" charset="0"/>
              </a:rPr>
              <a:t>toggle climber</a:t>
            </a:r>
          </a:p>
        </p:txBody>
      </p:sp>
      <p:sp>
        <p:nvSpPr>
          <p:cNvPr id="22" name="Rectangle: Rounded Corners 21">
            <a:extLst>
              <a:ext uri="{FF2B5EF4-FFF2-40B4-BE49-F238E27FC236}">
                <a16:creationId xmlns:a16="http://schemas.microsoft.com/office/drawing/2014/main" id="{2D1E7C61-275B-0AAE-1BBF-E14B725725A3}"/>
              </a:ext>
            </a:extLst>
          </p:cNvPr>
          <p:cNvSpPr/>
          <p:nvPr/>
        </p:nvSpPr>
        <p:spPr>
          <a:xfrm>
            <a:off x="533400" y="6261100"/>
            <a:ext cx="11125200" cy="533400"/>
          </a:xfrm>
          <a:prstGeom prst="roundRect">
            <a:avLst/>
          </a:prstGeom>
          <a:solidFill>
            <a:srgbClr val="18223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Rounded Corners 22">
            <a:extLst>
              <a:ext uri="{FF2B5EF4-FFF2-40B4-BE49-F238E27FC236}">
                <a16:creationId xmlns:a16="http://schemas.microsoft.com/office/drawing/2014/main" id="{7AD2342D-6EF5-3546-A0F2-A3B335ACB8C9}"/>
              </a:ext>
            </a:extLst>
          </p:cNvPr>
          <p:cNvSpPr/>
          <p:nvPr/>
        </p:nvSpPr>
        <p:spPr>
          <a:xfrm>
            <a:off x="660400" y="6362700"/>
            <a:ext cx="1473200" cy="330200"/>
          </a:xfrm>
          <a:prstGeom prst="roundRect">
            <a:avLst/>
          </a:prstGeom>
          <a:solidFill>
            <a:srgbClr val="379D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6EBB7529-AAA7-1C89-7325-CADA15412EB1}"/>
              </a:ext>
            </a:extLst>
          </p:cNvPr>
          <p:cNvSpPr txBox="1"/>
          <p:nvPr/>
        </p:nvSpPr>
        <p:spPr>
          <a:xfrm>
            <a:off x="736600" y="6400800"/>
            <a:ext cx="1320800" cy="276999"/>
          </a:xfrm>
          <a:prstGeom prst="rect">
            <a:avLst/>
          </a:prstGeom>
          <a:noFill/>
        </p:spPr>
        <p:txBody>
          <a:bodyPr vert="horz" wrap="square" lIns="0" tIns="0" rIns="0" bIns="0" rtlCol="0">
            <a:noAutofit/>
          </a:bodyPr>
          <a:lstStyle/>
          <a:p>
            <a:pPr algn="ctr"/>
            <a:r>
              <a:rPr lang="en-US" sz="1050" b="1">
                <a:solidFill>
                  <a:srgbClr val="060A12"/>
                </a:solidFill>
                <a:latin typeface="Aptos" panose="020B0004020202020204" pitchFamily="34" charset="0"/>
              </a:rPr>
              <a:t>KEY IDEA</a:t>
            </a:r>
          </a:p>
        </p:txBody>
      </p:sp>
      <p:sp>
        <p:nvSpPr>
          <p:cNvPr id="25" name="TextBox 24">
            <a:extLst>
              <a:ext uri="{FF2B5EF4-FFF2-40B4-BE49-F238E27FC236}">
                <a16:creationId xmlns:a16="http://schemas.microsoft.com/office/drawing/2014/main" id="{356A2DE4-45E1-4C75-F059-CC21E67471DD}"/>
              </a:ext>
            </a:extLst>
          </p:cNvPr>
          <p:cNvSpPr txBox="1"/>
          <p:nvPr/>
        </p:nvSpPr>
        <p:spPr>
          <a:xfrm>
            <a:off x="2286000" y="6362700"/>
            <a:ext cx="9207500" cy="276999"/>
          </a:xfrm>
          <a:prstGeom prst="rect">
            <a:avLst/>
          </a:prstGeom>
          <a:noFill/>
        </p:spPr>
        <p:txBody>
          <a:bodyPr vert="horz" wrap="square" lIns="0" tIns="0" rIns="0" bIns="0" rtlCol="0" anchor="t">
            <a:noAutofit/>
          </a:bodyPr>
          <a:lstStyle/>
          <a:p>
            <a:r>
              <a:rPr lang="en-US" sz="1300">
                <a:solidFill>
                  <a:srgbClr val="F2F5F9"/>
                </a:solidFill>
                <a:latin typeface="Aptos" panose="020B0004020202020204" pitchFamily="34" charset="0"/>
              </a:rPr>
              <a:t>Every software path begins with a physical action we want the robot to perform.</a:t>
            </a:r>
          </a:p>
        </p:txBody>
      </p:sp>
      <p:sp>
        <p:nvSpPr>
          <p:cNvPr id="26" name="TextBox 25">
            <a:extLst>
              <a:ext uri="{FF2B5EF4-FFF2-40B4-BE49-F238E27FC236}">
                <a16:creationId xmlns:a16="http://schemas.microsoft.com/office/drawing/2014/main" id="{D45D3ECF-0B2B-93D2-65FC-C05EFA546DA8}"/>
              </a:ext>
            </a:extLst>
          </p:cNvPr>
          <p:cNvSpPr txBox="1"/>
          <p:nvPr/>
        </p:nvSpPr>
        <p:spPr>
          <a:xfrm>
            <a:off x="533400" y="6908800"/>
            <a:ext cx="8890000" cy="276999"/>
          </a:xfrm>
          <a:prstGeom prst="rect">
            <a:avLst/>
          </a:prstGeom>
          <a:noFill/>
        </p:spPr>
        <p:txBody>
          <a:bodyPr vert="horz" wrap="square" lIns="0" tIns="0" rIns="0" bIns="0" rtlCol="0" anchor="t">
            <a:noAutofit/>
          </a:bodyPr>
          <a:lstStyle/>
          <a:p>
            <a:r>
              <a:rPr lang="en-US" sz="850">
                <a:solidFill>
                  <a:srgbClr val="A9B4C5"/>
                </a:solidFill>
                <a:latin typeface="Aptos" panose="020B0004020202020204" pitchFamily="34" charset="0"/>
              </a:rPr>
              <a:t>Source: RobotContainer.java</a:t>
            </a:r>
          </a:p>
        </p:txBody>
      </p:sp>
      <p:sp>
        <p:nvSpPr>
          <p:cNvPr id="27" name="TextBox 26">
            <a:extLst>
              <a:ext uri="{FF2B5EF4-FFF2-40B4-BE49-F238E27FC236}">
                <a16:creationId xmlns:a16="http://schemas.microsoft.com/office/drawing/2014/main" id="{8E8AE1AA-77DA-F1AB-98DF-372EBB408466}"/>
              </a:ext>
            </a:extLst>
          </p:cNvPr>
          <p:cNvSpPr txBox="1"/>
          <p:nvPr/>
        </p:nvSpPr>
        <p:spPr>
          <a:xfrm>
            <a:off x="9017000" y="6908800"/>
            <a:ext cx="2641600" cy="276999"/>
          </a:xfrm>
          <a:prstGeom prst="rect">
            <a:avLst/>
          </a:prstGeom>
          <a:noFill/>
        </p:spPr>
        <p:txBody>
          <a:bodyPr vert="horz" wrap="square" lIns="0" tIns="0" rIns="0" bIns="0" rtlCol="0" anchor="t">
            <a:noAutofit/>
          </a:bodyPr>
          <a:lstStyle/>
          <a:p>
            <a:pPr algn="r"/>
            <a:r>
              <a:rPr lang="en-US" sz="850">
                <a:solidFill>
                  <a:srgbClr val="A9B4C5"/>
                </a:solidFill>
                <a:latin typeface="Aptos" panose="020B0004020202020204" pitchFamily="34" charset="0"/>
              </a:rPr>
              <a:t>CURRENT ROBOT IMPLEMENTATION • V2</a:t>
            </a:r>
          </a:p>
        </p:txBody>
      </p:sp>
    </p:spTree>
    <p:extLst>
      <p:ext uri="{BB962C8B-B14F-4D97-AF65-F5344CB8AC3E}">
        <p14:creationId xmlns:p14="http://schemas.microsoft.com/office/powerpoint/2010/main" val="12116010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D1421"/>
        </a:solidFill>
        <a:effectLst/>
      </p:bgPr>
    </p:bg>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1454CD07-4C18-4D88-BBA5-D197E44603AA}"/>
              </a:ext>
            </a:extLst>
          </p:cNvPr>
          <p:cNvSpPr/>
          <p:nvPr/>
        </p:nvSpPr>
        <p:spPr>
          <a:xfrm>
            <a:off x="533400" y="292100"/>
            <a:ext cx="1473200" cy="330200"/>
          </a:xfrm>
          <a:prstGeom prst="roundRect">
            <a:avLst/>
          </a:prstGeom>
          <a:solidFill>
            <a:srgbClr val="379D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2C73898C-58B7-5C69-7A30-FF4578FBA0B5}"/>
              </a:ext>
            </a:extLst>
          </p:cNvPr>
          <p:cNvSpPr txBox="1"/>
          <p:nvPr/>
        </p:nvSpPr>
        <p:spPr>
          <a:xfrm>
            <a:off x="609600" y="330200"/>
            <a:ext cx="1320800" cy="276999"/>
          </a:xfrm>
          <a:prstGeom prst="rect">
            <a:avLst/>
          </a:prstGeom>
          <a:noFill/>
        </p:spPr>
        <p:txBody>
          <a:bodyPr vert="horz" wrap="square" lIns="0" tIns="0" rIns="0" bIns="0" rtlCol="0">
            <a:noAutofit/>
          </a:bodyPr>
          <a:lstStyle/>
          <a:p>
            <a:pPr algn="ctr"/>
            <a:r>
              <a:rPr lang="en-US" sz="1050" b="1">
                <a:solidFill>
                  <a:srgbClr val="060A12"/>
                </a:solidFill>
                <a:latin typeface="Aptos" panose="020B0004020202020204" pitchFamily="34" charset="0"/>
              </a:rPr>
              <a:t>SHARED CORE</a:t>
            </a:r>
          </a:p>
        </p:txBody>
      </p:sp>
      <p:sp>
        <p:nvSpPr>
          <p:cNvPr id="4" name="TextBox 3">
            <a:extLst>
              <a:ext uri="{FF2B5EF4-FFF2-40B4-BE49-F238E27FC236}">
                <a16:creationId xmlns:a16="http://schemas.microsoft.com/office/drawing/2014/main" id="{C83B55AA-8D21-10F1-CA42-7DF1D8CA2FD6}"/>
              </a:ext>
            </a:extLst>
          </p:cNvPr>
          <p:cNvSpPr txBox="1"/>
          <p:nvPr/>
        </p:nvSpPr>
        <p:spPr>
          <a:xfrm>
            <a:off x="533400" y="762000"/>
            <a:ext cx="10414000" cy="276999"/>
          </a:xfrm>
          <a:prstGeom prst="rect">
            <a:avLst/>
          </a:prstGeom>
          <a:noFill/>
        </p:spPr>
        <p:txBody>
          <a:bodyPr vert="horz" wrap="square" lIns="0" tIns="0" rIns="0" bIns="0" rtlCol="0" anchor="t">
            <a:noAutofit/>
          </a:bodyPr>
          <a:lstStyle/>
          <a:p>
            <a:r>
              <a:rPr lang="en-US" sz="2800" b="1" dirty="0">
                <a:solidFill>
                  <a:srgbClr val="F2F5F9"/>
                </a:solidFill>
                <a:latin typeface="Aptos Display" panose="020B0004020202020204" pitchFamily="34" charset="0"/>
              </a:rPr>
              <a:t>Trace a Button Press</a:t>
            </a:r>
          </a:p>
        </p:txBody>
      </p:sp>
      <p:sp>
        <p:nvSpPr>
          <p:cNvPr id="5" name="TextBox 4">
            <a:extLst>
              <a:ext uri="{FF2B5EF4-FFF2-40B4-BE49-F238E27FC236}">
                <a16:creationId xmlns:a16="http://schemas.microsoft.com/office/drawing/2014/main" id="{C4648D18-6BD9-2F21-7676-F0A1EE3C631C}"/>
              </a:ext>
            </a:extLst>
          </p:cNvPr>
          <p:cNvSpPr txBox="1"/>
          <p:nvPr/>
        </p:nvSpPr>
        <p:spPr>
          <a:xfrm>
            <a:off x="11226800" y="355600"/>
            <a:ext cx="381000" cy="276999"/>
          </a:xfrm>
          <a:prstGeom prst="rect">
            <a:avLst/>
          </a:prstGeom>
          <a:noFill/>
        </p:spPr>
        <p:txBody>
          <a:bodyPr vert="horz" wrap="square" lIns="0" tIns="0" rIns="0" bIns="0" rtlCol="0" anchor="t">
            <a:noAutofit/>
          </a:bodyPr>
          <a:lstStyle/>
          <a:p>
            <a:pPr algn="r"/>
            <a:r>
              <a:rPr lang="en-US" sz="1000" b="1">
                <a:solidFill>
                  <a:srgbClr val="A9B4C5"/>
                </a:solidFill>
                <a:latin typeface="Aptos" panose="020B0004020202020204" pitchFamily="34" charset="0"/>
              </a:rPr>
              <a:t>05</a:t>
            </a:r>
          </a:p>
        </p:txBody>
      </p:sp>
      <p:cxnSp>
        <p:nvCxnSpPr>
          <p:cNvPr id="6" name="Straight Connector 5">
            <a:extLst>
              <a:ext uri="{FF2B5EF4-FFF2-40B4-BE49-F238E27FC236}">
                <a16:creationId xmlns:a16="http://schemas.microsoft.com/office/drawing/2014/main" id="{B6944B63-891B-0D4D-3CE4-0B1A54C332C8}"/>
              </a:ext>
            </a:extLst>
          </p:cNvPr>
          <p:cNvCxnSpPr/>
          <p:nvPr/>
        </p:nvCxnSpPr>
        <p:spPr>
          <a:xfrm>
            <a:off x="533400" y="1371600"/>
            <a:ext cx="11125200" cy="0"/>
          </a:xfrm>
          <a:prstGeom prst="line">
            <a:avLst/>
          </a:prstGeom>
          <a:ln w="12700">
            <a:solidFill>
              <a:srgbClr val="1F2C41"/>
            </a:solidFill>
          </a:ln>
        </p:spPr>
        <p:style>
          <a:lnRef idx="1">
            <a:schemeClr val="accent1"/>
          </a:lnRef>
          <a:fillRef idx="0">
            <a:schemeClr val="accent1"/>
          </a:fillRef>
          <a:effectRef idx="0">
            <a:schemeClr val="accent1"/>
          </a:effectRef>
          <a:fontRef idx="minor">
            <a:schemeClr val="tx1"/>
          </a:fontRef>
        </p:style>
      </p:cxnSp>
      <p:sp>
        <p:nvSpPr>
          <p:cNvPr id="7" name="Rectangle: Rounded Corners 6">
            <a:extLst>
              <a:ext uri="{FF2B5EF4-FFF2-40B4-BE49-F238E27FC236}">
                <a16:creationId xmlns:a16="http://schemas.microsoft.com/office/drawing/2014/main" id="{352A3D26-A9E0-C117-E12C-BD6381072F8D}"/>
              </a:ext>
            </a:extLst>
          </p:cNvPr>
          <p:cNvSpPr/>
          <p:nvPr/>
        </p:nvSpPr>
        <p:spPr>
          <a:xfrm>
            <a:off x="571500" y="1778000"/>
            <a:ext cx="2413000" cy="825500"/>
          </a:xfrm>
          <a:prstGeom prst="roundRect">
            <a:avLst/>
          </a:prstGeom>
          <a:solidFill>
            <a:srgbClr val="18223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9B74A84A-9CF4-A17A-6D65-86A1A98BF566}"/>
              </a:ext>
            </a:extLst>
          </p:cNvPr>
          <p:cNvSpPr txBox="1"/>
          <p:nvPr/>
        </p:nvSpPr>
        <p:spPr>
          <a:xfrm>
            <a:off x="723900" y="2006600"/>
            <a:ext cx="2108200" cy="276999"/>
          </a:xfrm>
          <a:prstGeom prst="rect">
            <a:avLst/>
          </a:prstGeom>
          <a:noFill/>
        </p:spPr>
        <p:txBody>
          <a:bodyPr vert="horz" wrap="square" lIns="0" tIns="0" rIns="0" bIns="0" rtlCol="0" anchor="t">
            <a:noAutofit/>
          </a:bodyPr>
          <a:lstStyle/>
          <a:p>
            <a:pPr algn="ctr"/>
            <a:r>
              <a:rPr lang="en-US" sz="1500" b="1">
                <a:solidFill>
                  <a:srgbClr val="F2F5F9"/>
                </a:solidFill>
                <a:latin typeface="Aptos" panose="020B0004020202020204" pitchFamily="34" charset="0"/>
              </a:rPr>
              <a:t>1  Operator holds A</a:t>
            </a:r>
          </a:p>
        </p:txBody>
      </p:sp>
      <p:cxnSp>
        <p:nvCxnSpPr>
          <p:cNvPr id="9" name="Straight Connector 8">
            <a:extLst>
              <a:ext uri="{FF2B5EF4-FFF2-40B4-BE49-F238E27FC236}">
                <a16:creationId xmlns:a16="http://schemas.microsoft.com/office/drawing/2014/main" id="{4C4D718B-CF1C-8112-6299-240B442D6BF2}"/>
              </a:ext>
            </a:extLst>
          </p:cNvPr>
          <p:cNvCxnSpPr/>
          <p:nvPr/>
        </p:nvCxnSpPr>
        <p:spPr>
          <a:xfrm>
            <a:off x="2984500" y="2197100"/>
            <a:ext cx="330200" cy="0"/>
          </a:xfrm>
          <a:prstGeom prst="line">
            <a:avLst/>
          </a:prstGeom>
          <a:ln w="25400">
            <a:solidFill>
              <a:srgbClr val="379DFF"/>
            </a:solidFill>
            <a:tailEnd type="arrow"/>
          </a:ln>
        </p:spPr>
        <p:style>
          <a:lnRef idx="1">
            <a:schemeClr val="accent1"/>
          </a:lnRef>
          <a:fillRef idx="0">
            <a:schemeClr val="accent1"/>
          </a:fillRef>
          <a:effectRef idx="0">
            <a:schemeClr val="accent1"/>
          </a:effectRef>
          <a:fontRef idx="minor">
            <a:schemeClr val="tx1"/>
          </a:fontRef>
        </p:style>
      </p:cxnSp>
      <p:sp>
        <p:nvSpPr>
          <p:cNvPr id="10" name="Rectangle: Rounded Corners 9">
            <a:extLst>
              <a:ext uri="{FF2B5EF4-FFF2-40B4-BE49-F238E27FC236}">
                <a16:creationId xmlns:a16="http://schemas.microsoft.com/office/drawing/2014/main" id="{C4131D30-06F9-DE96-E0DE-80AA4D23650C}"/>
              </a:ext>
            </a:extLst>
          </p:cNvPr>
          <p:cNvSpPr/>
          <p:nvPr/>
        </p:nvSpPr>
        <p:spPr>
          <a:xfrm>
            <a:off x="3365500" y="1778000"/>
            <a:ext cx="2413000" cy="825500"/>
          </a:xfrm>
          <a:prstGeom prst="roundRect">
            <a:avLst/>
          </a:prstGeom>
          <a:solidFill>
            <a:srgbClr val="18223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ED8473D1-E48F-862A-7186-B832A6B24C2C}"/>
              </a:ext>
            </a:extLst>
          </p:cNvPr>
          <p:cNvSpPr txBox="1"/>
          <p:nvPr/>
        </p:nvSpPr>
        <p:spPr>
          <a:xfrm>
            <a:off x="3517900" y="2006600"/>
            <a:ext cx="2108200" cy="276999"/>
          </a:xfrm>
          <a:prstGeom prst="rect">
            <a:avLst/>
          </a:prstGeom>
          <a:noFill/>
        </p:spPr>
        <p:txBody>
          <a:bodyPr vert="horz" wrap="square" lIns="0" tIns="0" rIns="0" bIns="0" rtlCol="0" anchor="t">
            <a:noAutofit/>
          </a:bodyPr>
          <a:lstStyle/>
          <a:p>
            <a:pPr algn="ctr"/>
            <a:r>
              <a:rPr lang="en-US" sz="1500" b="1">
                <a:solidFill>
                  <a:srgbClr val="F2F5F9"/>
                </a:solidFill>
                <a:latin typeface="Aptos" panose="020B0004020202020204" pitchFamily="34" charset="0"/>
              </a:rPr>
              <a:t>2  Belt starts</a:t>
            </a:r>
          </a:p>
        </p:txBody>
      </p:sp>
      <p:cxnSp>
        <p:nvCxnSpPr>
          <p:cNvPr id="12" name="Straight Connector 11">
            <a:extLst>
              <a:ext uri="{FF2B5EF4-FFF2-40B4-BE49-F238E27FC236}">
                <a16:creationId xmlns:a16="http://schemas.microsoft.com/office/drawing/2014/main" id="{EA26E6E0-C055-DAC5-6263-0CDDFC01CC64}"/>
              </a:ext>
            </a:extLst>
          </p:cNvPr>
          <p:cNvCxnSpPr/>
          <p:nvPr/>
        </p:nvCxnSpPr>
        <p:spPr>
          <a:xfrm>
            <a:off x="5778500" y="2197100"/>
            <a:ext cx="330200" cy="0"/>
          </a:xfrm>
          <a:prstGeom prst="line">
            <a:avLst/>
          </a:prstGeom>
          <a:ln w="25400">
            <a:solidFill>
              <a:srgbClr val="379DFF"/>
            </a:solidFill>
            <a:tailEnd type="arrow"/>
          </a:ln>
        </p:spPr>
        <p:style>
          <a:lnRef idx="1">
            <a:schemeClr val="accent1"/>
          </a:lnRef>
          <a:fillRef idx="0">
            <a:schemeClr val="accent1"/>
          </a:fillRef>
          <a:effectRef idx="0">
            <a:schemeClr val="accent1"/>
          </a:effectRef>
          <a:fontRef idx="minor">
            <a:schemeClr val="tx1"/>
          </a:fontRef>
        </p:style>
      </p:cxnSp>
      <p:sp>
        <p:nvSpPr>
          <p:cNvPr id="13" name="Rectangle: Rounded Corners 12">
            <a:extLst>
              <a:ext uri="{FF2B5EF4-FFF2-40B4-BE49-F238E27FC236}">
                <a16:creationId xmlns:a16="http://schemas.microsoft.com/office/drawing/2014/main" id="{38A0F5E6-07F1-4B8B-9643-8D60E0E1EA1E}"/>
              </a:ext>
            </a:extLst>
          </p:cNvPr>
          <p:cNvSpPr/>
          <p:nvPr/>
        </p:nvSpPr>
        <p:spPr>
          <a:xfrm>
            <a:off x="6159500" y="1778000"/>
            <a:ext cx="2413000" cy="825500"/>
          </a:xfrm>
          <a:prstGeom prst="roundRect">
            <a:avLst/>
          </a:prstGeom>
          <a:solidFill>
            <a:srgbClr val="18223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413EF2B2-C51F-4ECC-E0E9-2F1E7CECDCE6}"/>
              </a:ext>
            </a:extLst>
          </p:cNvPr>
          <p:cNvSpPr txBox="1"/>
          <p:nvPr/>
        </p:nvSpPr>
        <p:spPr>
          <a:xfrm>
            <a:off x="6311900" y="2006600"/>
            <a:ext cx="2108200" cy="276999"/>
          </a:xfrm>
          <a:prstGeom prst="rect">
            <a:avLst/>
          </a:prstGeom>
          <a:noFill/>
        </p:spPr>
        <p:txBody>
          <a:bodyPr vert="horz" wrap="square" lIns="0" tIns="0" rIns="0" bIns="0" rtlCol="0" anchor="t">
            <a:noAutofit/>
          </a:bodyPr>
          <a:lstStyle/>
          <a:p>
            <a:pPr algn="ctr"/>
            <a:r>
              <a:rPr lang="en-US" sz="1500" b="1">
                <a:solidFill>
                  <a:srgbClr val="F2F5F9"/>
                </a:solidFill>
                <a:latin typeface="Aptos" panose="020B0004020202020204" pitchFamily="34" charset="0"/>
              </a:rPr>
              <a:t>3  Belt keeps moving</a:t>
            </a:r>
          </a:p>
        </p:txBody>
      </p:sp>
      <p:cxnSp>
        <p:nvCxnSpPr>
          <p:cNvPr id="15" name="Straight Connector 14">
            <a:extLst>
              <a:ext uri="{FF2B5EF4-FFF2-40B4-BE49-F238E27FC236}">
                <a16:creationId xmlns:a16="http://schemas.microsoft.com/office/drawing/2014/main" id="{3A664AED-7F51-8A15-6C80-4AD9DE27E223}"/>
              </a:ext>
            </a:extLst>
          </p:cNvPr>
          <p:cNvCxnSpPr/>
          <p:nvPr/>
        </p:nvCxnSpPr>
        <p:spPr>
          <a:xfrm>
            <a:off x="8572500" y="2197100"/>
            <a:ext cx="330200" cy="0"/>
          </a:xfrm>
          <a:prstGeom prst="line">
            <a:avLst/>
          </a:prstGeom>
          <a:ln w="25400">
            <a:solidFill>
              <a:srgbClr val="379DFF"/>
            </a:solidFill>
            <a:tailEnd type="arrow"/>
          </a:ln>
        </p:spPr>
        <p:style>
          <a:lnRef idx="1">
            <a:schemeClr val="accent1"/>
          </a:lnRef>
          <a:fillRef idx="0">
            <a:schemeClr val="accent1"/>
          </a:fillRef>
          <a:effectRef idx="0">
            <a:schemeClr val="accent1"/>
          </a:effectRef>
          <a:fontRef idx="minor">
            <a:schemeClr val="tx1"/>
          </a:fontRef>
        </p:style>
      </p:cxnSp>
      <p:sp>
        <p:nvSpPr>
          <p:cNvPr id="16" name="Rectangle: Rounded Corners 15">
            <a:extLst>
              <a:ext uri="{FF2B5EF4-FFF2-40B4-BE49-F238E27FC236}">
                <a16:creationId xmlns:a16="http://schemas.microsoft.com/office/drawing/2014/main" id="{B409C59B-76D0-DF69-B3A0-16B826D578CE}"/>
              </a:ext>
            </a:extLst>
          </p:cNvPr>
          <p:cNvSpPr/>
          <p:nvPr/>
        </p:nvSpPr>
        <p:spPr>
          <a:xfrm>
            <a:off x="8953500" y="1778000"/>
            <a:ext cx="2413000" cy="825500"/>
          </a:xfrm>
          <a:prstGeom prst="roundRect">
            <a:avLst/>
          </a:prstGeom>
          <a:solidFill>
            <a:srgbClr val="18223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B960D611-C1CA-2966-A521-AA0E11BCF4ED}"/>
              </a:ext>
            </a:extLst>
          </p:cNvPr>
          <p:cNvSpPr txBox="1"/>
          <p:nvPr/>
        </p:nvSpPr>
        <p:spPr>
          <a:xfrm>
            <a:off x="9105900" y="2006600"/>
            <a:ext cx="2108200" cy="276999"/>
          </a:xfrm>
          <a:prstGeom prst="rect">
            <a:avLst/>
          </a:prstGeom>
          <a:noFill/>
        </p:spPr>
        <p:txBody>
          <a:bodyPr vert="horz" wrap="square" lIns="0" tIns="0" rIns="0" bIns="0" rtlCol="0" anchor="t">
            <a:noAutofit/>
          </a:bodyPr>
          <a:lstStyle/>
          <a:p>
            <a:pPr algn="ctr"/>
            <a:r>
              <a:rPr lang="en-US" sz="1500" b="1">
                <a:solidFill>
                  <a:srgbClr val="F2F5F9"/>
                </a:solidFill>
                <a:latin typeface="Aptos" panose="020B0004020202020204" pitchFamily="34" charset="0"/>
              </a:rPr>
              <a:t>4  Release stops it</a:t>
            </a:r>
          </a:p>
        </p:txBody>
      </p:sp>
      <p:sp>
        <p:nvSpPr>
          <p:cNvPr id="18" name="Rectangle: Rounded Corners 17">
            <a:extLst>
              <a:ext uri="{FF2B5EF4-FFF2-40B4-BE49-F238E27FC236}">
                <a16:creationId xmlns:a16="http://schemas.microsoft.com/office/drawing/2014/main" id="{A4B46CC2-9AAC-2127-7F44-9260E4F1442A}"/>
              </a:ext>
            </a:extLst>
          </p:cNvPr>
          <p:cNvSpPr/>
          <p:nvPr/>
        </p:nvSpPr>
        <p:spPr>
          <a:xfrm>
            <a:off x="1803400" y="3302000"/>
            <a:ext cx="8585200" cy="1270000"/>
          </a:xfrm>
          <a:prstGeom prst="roundRect">
            <a:avLst/>
          </a:prstGeom>
          <a:solidFill>
            <a:srgbClr val="060A12"/>
          </a:solidFill>
          <a:ln w="15875">
            <a:solidFill>
              <a:srgbClr val="1F2C4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C817BED4-73B5-EAA5-1C65-E4337D1C4167}"/>
              </a:ext>
            </a:extLst>
          </p:cNvPr>
          <p:cNvSpPr/>
          <p:nvPr/>
        </p:nvSpPr>
        <p:spPr>
          <a:xfrm>
            <a:off x="1803400" y="3302000"/>
            <a:ext cx="88900" cy="1270000"/>
          </a:xfrm>
          <a:prstGeom prst="rect">
            <a:avLst/>
          </a:prstGeom>
          <a:solidFill>
            <a:srgbClr val="379D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D56C68AF-AF63-4665-F92C-495DB8CD16B0}"/>
              </a:ext>
            </a:extLst>
          </p:cNvPr>
          <p:cNvSpPr txBox="1"/>
          <p:nvPr/>
        </p:nvSpPr>
        <p:spPr>
          <a:xfrm>
            <a:off x="2032000" y="3454400"/>
            <a:ext cx="8204200" cy="276999"/>
          </a:xfrm>
          <a:prstGeom prst="rect">
            <a:avLst/>
          </a:prstGeom>
          <a:noFill/>
        </p:spPr>
        <p:txBody>
          <a:bodyPr vert="horz" wrap="square" lIns="0" tIns="0" rIns="0" bIns="0" rtlCol="0" anchor="t">
            <a:noAutofit/>
          </a:bodyPr>
          <a:lstStyle/>
          <a:p>
            <a:r>
              <a:rPr lang="en-US" sz="1700">
                <a:solidFill>
                  <a:srgbClr val="F2F5F9"/>
                </a:solidFill>
                <a:latin typeface="Consolas" panose="020B0609020204030204" pitchFamily="49" charset="0"/>
              </a:rPr>
              <a:t>operatorController.a()</a:t>
            </a:r>
          </a:p>
          <a:p>
            <a:r>
              <a:rPr lang="en-US" sz="1700">
                <a:solidFill>
                  <a:srgbClr val="F2F5F9"/>
                </a:solidFill>
                <a:latin typeface="Consolas" panose="020B0609020204030204" pitchFamily="49" charset="0"/>
              </a:rPr>
              <a:t>    .whileTrue(new BeltInCommand(beltSubsystem));</a:t>
            </a:r>
          </a:p>
        </p:txBody>
      </p:sp>
      <p:sp>
        <p:nvSpPr>
          <p:cNvPr id="21" name="TextBox 20">
            <a:extLst>
              <a:ext uri="{FF2B5EF4-FFF2-40B4-BE49-F238E27FC236}">
                <a16:creationId xmlns:a16="http://schemas.microsoft.com/office/drawing/2014/main" id="{9A3B153B-9D2F-56E0-9E30-20F7CFCB1CF7}"/>
              </a:ext>
            </a:extLst>
          </p:cNvPr>
          <p:cNvSpPr txBox="1"/>
          <p:nvPr/>
        </p:nvSpPr>
        <p:spPr>
          <a:xfrm>
            <a:off x="1600200" y="4851400"/>
            <a:ext cx="8991600" cy="276999"/>
          </a:xfrm>
          <a:prstGeom prst="rect">
            <a:avLst/>
          </a:prstGeom>
          <a:noFill/>
        </p:spPr>
        <p:txBody>
          <a:bodyPr vert="horz" wrap="square" lIns="0" tIns="0" rIns="0" bIns="0" rtlCol="0" anchor="t">
            <a:noAutofit/>
          </a:bodyPr>
          <a:lstStyle/>
          <a:p>
            <a:pPr algn="ctr"/>
            <a:r>
              <a:rPr lang="en-US" b="1" dirty="0">
                <a:solidFill>
                  <a:srgbClr val="F2F5F9"/>
                </a:solidFill>
                <a:latin typeface="Aptos" panose="020B0004020202020204" pitchFamily="34" charset="0"/>
              </a:rPr>
              <a:t>While button A is held, run the belt-in action using the belt mechanism.</a:t>
            </a:r>
          </a:p>
        </p:txBody>
      </p:sp>
      <p:sp>
        <p:nvSpPr>
          <p:cNvPr id="22" name="Rectangle: Rounded Corners 21">
            <a:extLst>
              <a:ext uri="{FF2B5EF4-FFF2-40B4-BE49-F238E27FC236}">
                <a16:creationId xmlns:a16="http://schemas.microsoft.com/office/drawing/2014/main" id="{1E3D54F4-E750-7ED6-388C-9E7AF65357CE}"/>
              </a:ext>
            </a:extLst>
          </p:cNvPr>
          <p:cNvSpPr/>
          <p:nvPr/>
        </p:nvSpPr>
        <p:spPr>
          <a:xfrm>
            <a:off x="533400" y="6261100"/>
            <a:ext cx="11125200" cy="533400"/>
          </a:xfrm>
          <a:prstGeom prst="roundRect">
            <a:avLst/>
          </a:prstGeom>
          <a:solidFill>
            <a:srgbClr val="18223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Rounded Corners 22">
            <a:extLst>
              <a:ext uri="{FF2B5EF4-FFF2-40B4-BE49-F238E27FC236}">
                <a16:creationId xmlns:a16="http://schemas.microsoft.com/office/drawing/2014/main" id="{C7FE6721-9E4A-E2F3-F95C-C82B89174343}"/>
              </a:ext>
            </a:extLst>
          </p:cNvPr>
          <p:cNvSpPr/>
          <p:nvPr/>
        </p:nvSpPr>
        <p:spPr>
          <a:xfrm>
            <a:off x="660400" y="6362700"/>
            <a:ext cx="1473200" cy="330200"/>
          </a:xfrm>
          <a:prstGeom prst="roundRect">
            <a:avLst/>
          </a:prstGeom>
          <a:solidFill>
            <a:srgbClr val="35CBB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FEEEEC55-B065-0730-3504-08BF97F2B831}"/>
              </a:ext>
            </a:extLst>
          </p:cNvPr>
          <p:cNvSpPr txBox="1"/>
          <p:nvPr/>
        </p:nvSpPr>
        <p:spPr>
          <a:xfrm>
            <a:off x="736600" y="6400800"/>
            <a:ext cx="1320800" cy="276999"/>
          </a:xfrm>
          <a:prstGeom prst="rect">
            <a:avLst/>
          </a:prstGeom>
          <a:noFill/>
        </p:spPr>
        <p:txBody>
          <a:bodyPr vert="horz" wrap="square" lIns="0" tIns="0" rIns="0" bIns="0" rtlCol="0">
            <a:noAutofit/>
          </a:bodyPr>
          <a:lstStyle/>
          <a:p>
            <a:pPr algn="ctr"/>
            <a:r>
              <a:rPr lang="en-US" sz="1050" b="1">
                <a:solidFill>
                  <a:srgbClr val="060A12"/>
                </a:solidFill>
                <a:latin typeface="Aptos" panose="020B0004020202020204" pitchFamily="34" charset="0"/>
              </a:rPr>
              <a:t>CHECK</a:t>
            </a:r>
          </a:p>
        </p:txBody>
      </p:sp>
      <p:sp>
        <p:nvSpPr>
          <p:cNvPr id="25" name="TextBox 24">
            <a:extLst>
              <a:ext uri="{FF2B5EF4-FFF2-40B4-BE49-F238E27FC236}">
                <a16:creationId xmlns:a16="http://schemas.microsoft.com/office/drawing/2014/main" id="{8BD8CC62-CD93-76EC-0690-11399654B929}"/>
              </a:ext>
            </a:extLst>
          </p:cNvPr>
          <p:cNvSpPr txBox="1"/>
          <p:nvPr/>
        </p:nvSpPr>
        <p:spPr>
          <a:xfrm>
            <a:off x="2286000" y="6362700"/>
            <a:ext cx="9207500" cy="276999"/>
          </a:xfrm>
          <a:prstGeom prst="rect">
            <a:avLst/>
          </a:prstGeom>
          <a:noFill/>
        </p:spPr>
        <p:txBody>
          <a:bodyPr vert="horz" wrap="square" lIns="0" tIns="0" rIns="0" bIns="0" rtlCol="0" anchor="t">
            <a:noAutofit/>
          </a:bodyPr>
          <a:lstStyle/>
          <a:p>
            <a:r>
              <a:rPr lang="en-US" sz="1300">
                <a:solidFill>
                  <a:srgbClr val="F2F5F9"/>
                </a:solidFill>
                <a:latin typeface="Aptos" panose="020B0004020202020204" pitchFamily="34" charset="0"/>
              </a:rPr>
              <a:t>Which controller button starts this behavior?</a:t>
            </a:r>
          </a:p>
        </p:txBody>
      </p:sp>
      <p:sp>
        <p:nvSpPr>
          <p:cNvPr id="26" name="TextBox 25">
            <a:extLst>
              <a:ext uri="{FF2B5EF4-FFF2-40B4-BE49-F238E27FC236}">
                <a16:creationId xmlns:a16="http://schemas.microsoft.com/office/drawing/2014/main" id="{0176AB54-CAC4-5060-D8AA-E021FDA074DA}"/>
              </a:ext>
            </a:extLst>
          </p:cNvPr>
          <p:cNvSpPr txBox="1"/>
          <p:nvPr/>
        </p:nvSpPr>
        <p:spPr>
          <a:xfrm>
            <a:off x="533400" y="6908800"/>
            <a:ext cx="8890000" cy="276999"/>
          </a:xfrm>
          <a:prstGeom prst="rect">
            <a:avLst/>
          </a:prstGeom>
          <a:noFill/>
        </p:spPr>
        <p:txBody>
          <a:bodyPr vert="horz" wrap="square" lIns="0" tIns="0" rIns="0" bIns="0" rtlCol="0" anchor="t">
            <a:noAutofit/>
          </a:bodyPr>
          <a:lstStyle/>
          <a:p>
            <a:r>
              <a:rPr lang="en-US" sz="850">
                <a:solidFill>
                  <a:srgbClr val="A9B4C5"/>
                </a:solidFill>
                <a:latin typeface="Aptos" panose="020B0004020202020204" pitchFamily="34" charset="0"/>
              </a:rPr>
              <a:t>Source: RobotContainer.java</a:t>
            </a:r>
          </a:p>
        </p:txBody>
      </p:sp>
      <p:sp>
        <p:nvSpPr>
          <p:cNvPr id="27" name="TextBox 26">
            <a:extLst>
              <a:ext uri="{FF2B5EF4-FFF2-40B4-BE49-F238E27FC236}">
                <a16:creationId xmlns:a16="http://schemas.microsoft.com/office/drawing/2014/main" id="{8B103A65-EC3A-9501-D4E2-8968E567E6FC}"/>
              </a:ext>
            </a:extLst>
          </p:cNvPr>
          <p:cNvSpPr txBox="1"/>
          <p:nvPr/>
        </p:nvSpPr>
        <p:spPr>
          <a:xfrm>
            <a:off x="9017000" y="6908800"/>
            <a:ext cx="2641600" cy="276999"/>
          </a:xfrm>
          <a:prstGeom prst="rect">
            <a:avLst/>
          </a:prstGeom>
          <a:noFill/>
        </p:spPr>
        <p:txBody>
          <a:bodyPr vert="horz" wrap="square" lIns="0" tIns="0" rIns="0" bIns="0" rtlCol="0" anchor="t">
            <a:noAutofit/>
          </a:bodyPr>
          <a:lstStyle/>
          <a:p>
            <a:pPr algn="r"/>
            <a:r>
              <a:rPr lang="en-US" sz="850">
                <a:solidFill>
                  <a:srgbClr val="A9B4C5"/>
                </a:solidFill>
                <a:latin typeface="Aptos" panose="020B0004020202020204" pitchFamily="34" charset="0"/>
              </a:rPr>
              <a:t>CURRENT ROBOT IMPLEMENTATION • V2</a:t>
            </a:r>
          </a:p>
        </p:txBody>
      </p:sp>
    </p:spTree>
    <p:extLst>
      <p:ext uri="{BB962C8B-B14F-4D97-AF65-F5344CB8AC3E}">
        <p14:creationId xmlns:p14="http://schemas.microsoft.com/office/powerpoint/2010/main" val="8792998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D1421"/>
        </a:solidFill>
        <a:effectLst/>
      </p:bgPr>
    </p:bg>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CDB686E6-E268-86C0-370A-DA41B3914C6F}"/>
              </a:ext>
            </a:extLst>
          </p:cNvPr>
          <p:cNvSpPr/>
          <p:nvPr/>
        </p:nvSpPr>
        <p:spPr>
          <a:xfrm>
            <a:off x="533400" y="292100"/>
            <a:ext cx="1473200" cy="330200"/>
          </a:xfrm>
          <a:prstGeom prst="roundRect">
            <a:avLst/>
          </a:prstGeom>
          <a:solidFill>
            <a:srgbClr val="379D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FE0E3706-23CA-D488-EE34-9578F436578C}"/>
              </a:ext>
            </a:extLst>
          </p:cNvPr>
          <p:cNvSpPr txBox="1"/>
          <p:nvPr/>
        </p:nvSpPr>
        <p:spPr>
          <a:xfrm>
            <a:off x="609600" y="330200"/>
            <a:ext cx="1320800" cy="276999"/>
          </a:xfrm>
          <a:prstGeom prst="rect">
            <a:avLst/>
          </a:prstGeom>
          <a:noFill/>
        </p:spPr>
        <p:txBody>
          <a:bodyPr vert="horz" wrap="square" lIns="0" tIns="0" rIns="0" bIns="0" rtlCol="0">
            <a:noAutofit/>
          </a:bodyPr>
          <a:lstStyle/>
          <a:p>
            <a:pPr algn="ctr"/>
            <a:r>
              <a:rPr lang="en-US" sz="1050" b="1">
                <a:solidFill>
                  <a:srgbClr val="060A12"/>
                </a:solidFill>
                <a:latin typeface="Aptos" panose="020B0004020202020204" pitchFamily="34" charset="0"/>
              </a:rPr>
              <a:t>SHARED CORE</a:t>
            </a:r>
          </a:p>
        </p:txBody>
      </p:sp>
      <p:sp>
        <p:nvSpPr>
          <p:cNvPr id="4" name="TextBox 3">
            <a:extLst>
              <a:ext uri="{FF2B5EF4-FFF2-40B4-BE49-F238E27FC236}">
                <a16:creationId xmlns:a16="http://schemas.microsoft.com/office/drawing/2014/main" id="{A1DFCA6A-6CA6-4153-FB00-0939F247A9FC}"/>
              </a:ext>
            </a:extLst>
          </p:cNvPr>
          <p:cNvSpPr txBox="1"/>
          <p:nvPr/>
        </p:nvSpPr>
        <p:spPr>
          <a:xfrm>
            <a:off x="533400" y="762001"/>
            <a:ext cx="10414000" cy="365898"/>
          </a:xfrm>
          <a:prstGeom prst="rect">
            <a:avLst/>
          </a:prstGeom>
          <a:noFill/>
        </p:spPr>
        <p:txBody>
          <a:bodyPr vert="horz" wrap="square" lIns="0" tIns="0" rIns="0" bIns="0" rtlCol="0" anchor="t">
            <a:noAutofit/>
          </a:bodyPr>
          <a:lstStyle/>
          <a:p>
            <a:r>
              <a:rPr lang="en-US" sz="2800" b="1" dirty="0">
                <a:solidFill>
                  <a:srgbClr val="F2F5F9"/>
                </a:solidFill>
                <a:latin typeface="Aptos Display" panose="020B0004020202020204" pitchFamily="34" charset="0"/>
              </a:rPr>
              <a:t>The triggered command runs this code</a:t>
            </a:r>
          </a:p>
        </p:txBody>
      </p:sp>
      <p:sp>
        <p:nvSpPr>
          <p:cNvPr id="5" name="TextBox 4">
            <a:extLst>
              <a:ext uri="{FF2B5EF4-FFF2-40B4-BE49-F238E27FC236}">
                <a16:creationId xmlns:a16="http://schemas.microsoft.com/office/drawing/2014/main" id="{A32CC459-8B2C-831D-CD1F-EC30F8960714}"/>
              </a:ext>
            </a:extLst>
          </p:cNvPr>
          <p:cNvSpPr txBox="1"/>
          <p:nvPr/>
        </p:nvSpPr>
        <p:spPr>
          <a:xfrm>
            <a:off x="11226800" y="355600"/>
            <a:ext cx="381000" cy="276999"/>
          </a:xfrm>
          <a:prstGeom prst="rect">
            <a:avLst/>
          </a:prstGeom>
          <a:noFill/>
        </p:spPr>
        <p:txBody>
          <a:bodyPr vert="horz" wrap="square" lIns="0" tIns="0" rIns="0" bIns="0" rtlCol="0" anchor="t">
            <a:noAutofit/>
          </a:bodyPr>
          <a:lstStyle/>
          <a:p>
            <a:pPr algn="r"/>
            <a:r>
              <a:rPr lang="en-US" sz="1000" b="1">
                <a:solidFill>
                  <a:srgbClr val="A9B4C5"/>
                </a:solidFill>
                <a:latin typeface="Aptos" panose="020B0004020202020204" pitchFamily="34" charset="0"/>
              </a:rPr>
              <a:t>06</a:t>
            </a:r>
          </a:p>
        </p:txBody>
      </p:sp>
      <p:cxnSp>
        <p:nvCxnSpPr>
          <p:cNvPr id="6" name="Straight Connector 5">
            <a:extLst>
              <a:ext uri="{FF2B5EF4-FFF2-40B4-BE49-F238E27FC236}">
                <a16:creationId xmlns:a16="http://schemas.microsoft.com/office/drawing/2014/main" id="{9893F23D-E86A-EF0F-BB83-1A6A5E3406DA}"/>
              </a:ext>
            </a:extLst>
          </p:cNvPr>
          <p:cNvCxnSpPr/>
          <p:nvPr/>
        </p:nvCxnSpPr>
        <p:spPr>
          <a:xfrm>
            <a:off x="533400" y="1371600"/>
            <a:ext cx="11125200" cy="0"/>
          </a:xfrm>
          <a:prstGeom prst="line">
            <a:avLst/>
          </a:prstGeom>
          <a:ln w="12700">
            <a:solidFill>
              <a:srgbClr val="1F2C41"/>
            </a:solidFill>
          </a:ln>
        </p:spPr>
        <p:style>
          <a:lnRef idx="1">
            <a:schemeClr val="accent1"/>
          </a:lnRef>
          <a:fillRef idx="0">
            <a:schemeClr val="accent1"/>
          </a:fillRef>
          <a:effectRef idx="0">
            <a:schemeClr val="accent1"/>
          </a:effectRef>
          <a:fontRef idx="minor">
            <a:schemeClr val="tx1"/>
          </a:fontRef>
        </p:style>
      </p:cxnSp>
      <p:sp>
        <p:nvSpPr>
          <p:cNvPr id="7" name="Rectangle: Rounded Corners 6">
            <a:extLst>
              <a:ext uri="{FF2B5EF4-FFF2-40B4-BE49-F238E27FC236}">
                <a16:creationId xmlns:a16="http://schemas.microsoft.com/office/drawing/2014/main" id="{5ECBAF2D-A3E0-5666-36EB-FF524636FF20}"/>
              </a:ext>
            </a:extLst>
          </p:cNvPr>
          <p:cNvSpPr/>
          <p:nvPr/>
        </p:nvSpPr>
        <p:spPr>
          <a:xfrm>
            <a:off x="1397000" y="1752600"/>
            <a:ext cx="9398000" cy="812800"/>
          </a:xfrm>
          <a:prstGeom prst="roundRect">
            <a:avLst/>
          </a:prstGeom>
          <a:solidFill>
            <a:srgbClr val="060A12"/>
          </a:solidFill>
          <a:ln w="15875">
            <a:solidFill>
              <a:srgbClr val="1F2C4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2DA2100A-7C71-2CA4-0314-42BCF1C96CAF}"/>
              </a:ext>
            </a:extLst>
          </p:cNvPr>
          <p:cNvSpPr/>
          <p:nvPr/>
        </p:nvSpPr>
        <p:spPr>
          <a:xfrm>
            <a:off x="1397000" y="1752600"/>
            <a:ext cx="88900" cy="812800"/>
          </a:xfrm>
          <a:prstGeom prst="rect">
            <a:avLst/>
          </a:prstGeom>
          <a:solidFill>
            <a:srgbClr val="FFA44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B0D3A5B3-8FD4-C2B7-9863-935BA010578C}"/>
              </a:ext>
            </a:extLst>
          </p:cNvPr>
          <p:cNvSpPr txBox="1"/>
          <p:nvPr/>
        </p:nvSpPr>
        <p:spPr>
          <a:xfrm>
            <a:off x="1625600" y="1905000"/>
            <a:ext cx="9017000" cy="276999"/>
          </a:xfrm>
          <a:prstGeom prst="rect">
            <a:avLst/>
          </a:prstGeom>
          <a:noFill/>
        </p:spPr>
        <p:txBody>
          <a:bodyPr vert="horz" wrap="square" lIns="0" tIns="0" rIns="0" bIns="0" rtlCol="0" anchor="t">
            <a:noAutofit/>
          </a:bodyPr>
          <a:lstStyle/>
          <a:p>
            <a:r>
              <a:rPr lang="en-US" sz="2000">
                <a:solidFill>
                  <a:srgbClr val="F2F5F9"/>
                </a:solidFill>
                <a:latin typeface="Consolas" panose="020B0609020204030204" pitchFamily="49" charset="0"/>
              </a:rPr>
              <a:t>beltSubsystem.run(Constants.Tuning.BELT_SPEED);</a:t>
            </a:r>
          </a:p>
        </p:txBody>
      </p:sp>
      <p:sp>
        <p:nvSpPr>
          <p:cNvPr id="10" name="Rectangle: Rounded Corners 9">
            <a:extLst>
              <a:ext uri="{FF2B5EF4-FFF2-40B4-BE49-F238E27FC236}">
                <a16:creationId xmlns:a16="http://schemas.microsoft.com/office/drawing/2014/main" id="{331624F1-C99F-0A7B-1664-0EB9660FF3AC}"/>
              </a:ext>
            </a:extLst>
          </p:cNvPr>
          <p:cNvSpPr/>
          <p:nvPr/>
        </p:nvSpPr>
        <p:spPr>
          <a:xfrm>
            <a:off x="863600" y="3238500"/>
            <a:ext cx="2476500" cy="1117600"/>
          </a:xfrm>
          <a:prstGeom prst="roundRect">
            <a:avLst/>
          </a:prstGeom>
          <a:solidFill>
            <a:srgbClr val="182234"/>
          </a:solidFill>
          <a:ln w="15875">
            <a:solidFill>
              <a:srgbClr val="3ECF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7C1FDBAE-77E2-35E2-1B07-4BDDA0870B27}"/>
              </a:ext>
            </a:extLst>
          </p:cNvPr>
          <p:cNvSpPr txBox="1"/>
          <p:nvPr/>
        </p:nvSpPr>
        <p:spPr>
          <a:xfrm>
            <a:off x="990600" y="3403600"/>
            <a:ext cx="2222500" cy="276999"/>
          </a:xfrm>
          <a:prstGeom prst="rect">
            <a:avLst/>
          </a:prstGeom>
          <a:noFill/>
        </p:spPr>
        <p:txBody>
          <a:bodyPr vert="horz" wrap="square" lIns="0" tIns="0" rIns="0" bIns="0" rtlCol="0" anchor="t">
            <a:noAutofit/>
          </a:bodyPr>
          <a:lstStyle/>
          <a:p>
            <a:pPr algn="ctr"/>
            <a:r>
              <a:rPr lang="en-US" sz="1600" b="1">
                <a:solidFill>
                  <a:srgbClr val="3ECF8E"/>
                </a:solidFill>
                <a:latin typeface="Consolas" panose="020B0609020204030204" pitchFamily="49" charset="0"/>
              </a:rPr>
              <a:t>beltSubsystem</a:t>
            </a:r>
          </a:p>
        </p:txBody>
      </p:sp>
      <p:sp>
        <p:nvSpPr>
          <p:cNvPr id="12" name="TextBox 11">
            <a:extLst>
              <a:ext uri="{FF2B5EF4-FFF2-40B4-BE49-F238E27FC236}">
                <a16:creationId xmlns:a16="http://schemas.microsoft.com/office/drawing/2014/main" id="{EECFE45C-8AD9-4D85-5B47-2EEC9E6AFA09}"/>
              </a:ext>
            </a:extLst>
          </p:cNvPr>
          <p:cNvSpPr txBox="1"/>
          <p:nvPr/>
        </p:nvSpPr>
        <p:spPr>
          <a:xfrm>
            <a:off x="990600" y="3835400"/>
            <a:ext cx="2222500" cy="276999"/>
          </a:xfrm>
          <a:prstGeom prst="rect">
            <a:avLst/>
          </a:prstGeom>
          <a:noFill/>
        </p:spPr>
        <p:txBody>
          <a:bodyPr vert="horz" wrap="square" lIns="0" tIns="0" rIns="0" bIns="0" rtlCol="0" anchor="t">
            <a:noAutofit/>
          </a:bodyPr>
          <a:lstStyle/>
          <a:p>
            <a:pPr algn="ctr"/>
            <a:r>
              <a:rPr lang="en-US" sz="1300">
                <a:solidFill>
                  <a:srgbClr val="F2F5F9"/>
                </a:solidFill>
                <a:latin typeface="Aptos" panose="020B0004020202020204" pitchFamily="34" charset="0"/>
              </a:rPr>
              <a:t>the belt object</a:t>
            </a:r>
          </a:p>
        </p:txBody>
      </p:sp>
      <p:sp>
        <p:nvSpPr>
          <p:cNvPr id="13" name="Rectangle: Rounded Corners 12">
            <a:extLst>
              <a:ext uri="{FF2B5EF4-FFF2-40B4-BE49-F238E27FC236}">
                <a16:creationId xmlns:a16="http://schemas.microsoft.com/office/drawing/2014/main" id="{03D2FEED-EA0A-FEA5-C6A8-1E850565F1D2}"/>
              </a:ext>
            </a:extLst>
          </p:cNvPr>
          <p:cNvSpPr/>
          <p:nvPr/>
        </p:nvSpPr>
        <p:spPr>
          <a:xfrm>
            <a:off x="3581400" y="3238500"/>
            <a:ext cx="2476500" cy="1117600"/>
          </a:xfrm>
          <a:prstGeom prst="roundRect">
            <a:avLst/>
          </a:prstGeom>
          <a:solidFill>
            <a:srgbClr val="182234"/>
          </a:solidFill>
          <a:ln w="15875">
            <a:solidFill>
              <a:srgbClr val="FFA44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2127D6BB-0E7A-F317-1922-243819467D87}"/>
              </a:ext>
            </a:extLst>
          </p:cNvPr>
          <p:cNvSpPr txBox="1"/>
          <p:nvPr/>
        </p:nvSpPr>
        <p:spPr>
          <a:xfrm>
            <a:off x="3708400" y="3403600"/>
            <a:ext cx="2222500" cy="276999"/>
          </a:xfrm>
          <a:prstGeom prst="rect">
            <a:avLst/>
          </a:prstGeom>
          <a:noFill/>
        </p:spPr>
        <p:txBody>
          <a:bodyPr vert="horz" wrap="square" lIns="0" tIns="0" rIns="0" bIns="0" rtlCol="0" anchor="t">
            <a:noAutofit/>
          </a:bodyPr>
          <a:lstStyle/>
          <a:p>
            <a:pPr algn="ctr"/>
            <a:r>
              <a:rPr lang="en-US" sz="1600" b="1">
                <a:solidFill>
                  <a:srgbClr val="FFA443"/>
                </a:solidFill>
                <a:latin typeface="Consolas" panose="020B0609020204030204" pitchFamily="49" charset="0"/>
              </a:rPr>
              <a:t>.run</a:t>
            </a:r>
          </a:p>
        </p:txBody>
      </p:sp>
      <p:sp>
        <p:nvSpPr>
          <p:cNvPr id="15" name="TextBox 14">
            <a:extLst>
              <a:ext uri="{FF2B5EF4-FFF2-40B4-BE49-F238E27FC236}">
                <a16:creationId xmlns:a16="http://schemas.microsoft.com/office/drawing/2014/main" id="{EFFC762C-F215-9BFD-1BD2-63DEA7AFAFE2}"/>
              </a:ext>
            </a:extLst>
          </p:cNvPr>
          <p:cNvSpPr txBox="1"/>
          <p:nvPr/>
        </p:nvSpPr>
        <p:spPr>
          <a:xfrm>
            <a:off x="3708400" y="3835400"/>
            <a:ext cx="2222500" cy="276999"/>
          </a:xfrm>
          <a:prstGeom prst="rect">
            <a:avLst/>
          </a:prstGeom>
          <a:noFill/>
        </p:spPr>
        <p:txBody>
          <a:bodyPr vert="horz" wrap="square" lIns="0" tIns="0" rIns="0" bIns="0" rtlCol="0" anchor="t">
            <a:noAutofit/>
          </a:bodyPr>
          <a:lstStyle/>
          <a:p>
            <a:pPr algn="ctr"/>
            <a:r>
              <a:rPr lang="en-US" sz="1300">
                <a:solidFill>
                  <a:srgbClr val="F2F5F9"/>
                </a:solidFill>
                <a:latin typeface="Aptos" panose="020B0004020202020204" pitchFamily="34" charset="0"/>
              </a:rPr>
              <a:t>the requested action</a:t>
            </a:r>
          </a:p>
        </p:txBody>
      </p:sp>
      <p:sp>
        <p:nvSpPr>
          <p:cNvPr id="16" name="Rectangle: Rounded Corners 15">
            <a:extLst>
              <a:ext uri="{FF2B5EF4-FFF2-40B4-BE49-F238E27FC236}">
                <a16:creationId xmlns:a16="http://schemas.microsoft.com/office/drawing/2014/main" id="{47C5DD21-88C1-9281-77C4-DED27A86D9BA}"/>
              </a:ext>
            </a:extLst>
          </p:cNvPr>
          <p:cNvSpPr/>
          <p:nvPr/>
        </p:nvSpPr>
        <p:spPr>
          <a:xfrm>
            <a:off x="6299200" y="3238500"/>
            <a:ext cx="2476500" cy="1117600"/>
          </a:xfrm>
          <a:prstGeom prst="roundRect">
            <a:avLst/>
          </a:prstGeom>
          <a:solidFill>
            <a:srgbClr val="182234"/>
          </a:solidFill>
          <a:ln w="15875">
            <a:solidFill>
              <a:srgbClr val="379D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41B4B242-7070-5264-5939-F19A6ADD090D}"/>
              </a:ext>
            </a:extLst>
          </p:cNvPr>
          <p:cNvSpPr txBox="1"/>
          <p:nvPr/>
        </p:nvSpPr>
        <p:spPr>
          <a:xfrm>
            <a:off x="6426200" y="3403600"/>
            <a:ext cx="2222500" cy="276999"/>
          </a:xfrm>
          <a:prstGeom prst="rect">
            <a:avLst/>
          </a:prstGeom>
          <a:noFill/>
        </p:spPr>
        <p:txBody>
          <a:bodyPr vert="horz" wrap="square" lIns="0" tIns="0" rIns="0" bIns="0" rtlCol="0" anchor="t">
            <a:noAutofit/>
          </a:bodyPr>
          <a:lstStyle/>
          <a:p>
            <a:pPr algn="ctr"/>
            <a:r>
              <a:rPr lang="en-US" sz="1600" b="1">
                <a:solidFill>
                  <a:srgbClr val="379DFF"/>
                </a:solidFill>
                <a:latin typeface="Consolas" panose="020B0609020204030204" pitchFamily="49" charset="0"/>
              </a:rPr>
              <a:t>(BELT_SPEED)</a:t>
            </a:r>
          </a:p>
        </p:txBody>
      </p:sp>
      <p:sp>
        <p:nvSpPr>
          <p:cNvPr id="18" name="TextBox 17">
            <a:extLst>
              <a:ext uri="{FF2B5EF4-FFF2-40B4-BE49-F238E27FC236}">
                <a16:creationId xmlns:a16="http://schemas.microsoft.com/office/drawing/2014/main" id="{54310955-B14E-6DB3-31C6-022C0415092C}"/>
              </a:ext>
            </a:extLst>
          </p:cNvPr>
          <p:cNvSpPr txBox="1"/>
          <p:nvPr/>
        </p:nvSpPr>
        <p:spPr>
          <a:xfrm>
            <a:off x="6426200" y="3835400"/>
            <a:ext cx="2222500" cy="276999"/>
          </a:xfrm>
          <a:prstGeom prst="rect">
            <a:avLst/>
          </a:prstGeom>
          <a:noFill/>
        </p:spPr>
        <p:txBody>
          <a:bodyPr vert="horz" wrap="square" lIns="0" tIns="0" rIns="0" bIns="0" rtlCol="0" anchor="t">
            <a:noAutofit/>
          </a:bodyPr>
          <a:lstStyle/>
          <a:p>
            <a:pPr algn="ctr"/>
            <a:r>
              <a:rPr lang="en-US" sz="1300">
                <a:solidFill>
                  <a:srgbClr val="F2F5F9"/>
                </a:solidFill>
                <a:latin typeface="Aptos" panose="020B0004020202020204" pitchFamily="34" charset="0"/>
              </a:rPr>
              <a:t>the supplied value</a:t>
            </a:r>
          </a:p>
        </p:txBody>
      </p:sp>
      <p:sp>
        <p:nvSpPr>
          <p:cNvPr id="19" name="Rectangle: Rounded Corners 18">
            <a:extLst>
              <a:ext uri="{FF2B5EF4-FFF2-40B4-BE49-F238E27FC236}">
                <a16:creationId xmlns:a16="http://schemas.microsoft.com/office/drawing/2014/main" id="{E860CADC-23EF-6FA2-22F6-009FE34B28F8}"/>
              </a:ext>
            </a:extLst>
          </p:cNvPr>
          <p:cNvSpPr/>
          <p:nvPr/>
        </p:nvSpPr>
        <p:spPr>
          <a:xfrm>
            <a:off x="9017000" y="3238500"/>
            <a:ext cx="2476500" cy="1117600"/>
          </a:xfrm>
          <a:prstGeom prst="roundRect">
            <a:avLst/>
          </a:prstGeom>
          <a:solidFill>
            <a:srgbClr val="182234"/>
          </a:solidFill>
          <a:ln w="15875">
            <a:solidFill>
              <a:srgbClr val="A9B4C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4CC75AF7-D5FE-F45E-9976-683BE718C494}"/>
              </a:ext>
            </a:extLst>
          </p:cNvPr>
          <p:cNvSpPr txBox="1"/>
          <p:nvPr/>
        </p:nvSpPr>
        <p:spPr>
          <a:xfrm>
            <a:off x="9144000" y="3403600"/>
            <a:ext cx="2222500" cy="276999"/>
          </a:xfrm>
          <a:prstGeom prst="rect">
            <a:avLst/>
          </a:prstGeom>
          <a:noFill/>
        </p:spPr>
        <p:txBody>
          <a:bodyPr vert="horz" wrap="square" lIns="0" tIns="0" rIns="0" bIns="0" rtlCol="0" anchor="t">
            <a:noAutofit/>
          </a:bodyPr>
          <a:lstStyle/>
          <a:p>
            <a:pPr algn="ctr"/>
            <a:r>
              <a:rPr lang="en-US" sz="1600" b="1">
                <a:solidFill>
                  <a:srgbClr val="A9B4C5"/>
                </a:solidFill>
                <a:latin typeface="Consolas" panose="020B0609020204030204" pitchFamily="49" charset="0"/>
              </a:rPr>
              <a:t>;</a:t>
            </a:r>
          </a:p>
        </p:txBody>
      </p:sp>
      <p:sp>
        <p:nvSpPr>
          <p:cNvPr id="21" name="TextBox 20">
            <a:extLst>
              <a:ext uri="{FF2B5EF4-FFF2-40B4-BE49-F238E27FC236}">
                <a16:creationId xmlns:a16="http://schemas.microsoft.com/office/drawing/2014/main" id="{0CC7EB28-E0CE-9001-2EA5-913CE7531A5A}"/>
              </a:ext>
            </a:extLst>
          </p:cNvPr>
          <p:cNvSpPr txBox="1"/>
          <p:nvPr/>
        </p:nvSpPr>
        <p:spPr>
          <a:xfrm>
            <a:off x="9144000" y="3835400"/>
            <a:ext cx="2222500" cy="276999"/>
          </a:xfrm>
          <a:prstGeom prst="rect">
            <a:avLst/>
          </a:prstGeom>
          <a:noFill/>
        </p:spPr>
        <p:txBody>
          <a:bodyPr vert="horz" wrap="square" lIns="0" tIns="0" rIns="0" bIns="0" rtlCol="0" anchor="t">
            <a:noAutofit/>
          </a:bodyPr>
          <a:lstStyle/>
          <a:p>
            <a:pPr algn="ctr"/>
            <a:r>
              <a:rPr lang="en-US" sz="1300">
                <a:solidFill>
                  <a:srgbClr val="F2F5F9"/>
                </a:solidFill>
                <a:latin typeface="Aptos" panose="020B0004020202020204" pitchFamily="34" charset="0"/>
              </a:rPr>
              <a:t>statement ends</a:t>
            </a:r>
          </a:p>
        </p:txBody>
      </p:sp>
      <p:sp>
        <p:nvSpPr>
          <p:cNvPr id="22" name="TextBox 21">
            <a:extLst>
              <a:ext uri="{FF2B5EF4-FFF2-40B4-BE49-F238E27FC236}">
                <a16:creationId xmlns:a16="http://schemas.microsoft.com/office/drawing/2014/main" id="{A611C371-49AD-81B6-913E-57E954AD1F2B}"/>
              </a:ext>
            </a:extLst>
          </p:cNvPr>
          <p:cNvSpPr txBox="1"/>
          <p:nvPr/>
        </p:nvSpPr>
        <p:spPr>
          <a:xfrm>
            <a:off x="2159000" y="4889500"/>
            <a:ext cx="7874000" cy="276999"/>
          </a:xfrm>
          <a:prstGeom prst="rect">
            <a:avLst/>
          </a:prstGeom>
          <a:noFill/>
        </p:spPr>
        <p:txBody>
          <a:bodyPr vert="horz" wrap="square" lIns="0" tIns="0" rIns="0" bIns="0" rtlCol="0" anchor="t">
            <a:noAutofit/>
          </a:bodyPr>
          <a:lstStyle/>
          <a:p>
            <a:pPr algn="ctr"/>
            <a:r>
              <a:rPr lang="en-US" sz="2200" b="1">
                <a:solidFill>
                  <a:srgbClr val="F2F5F9"/>
                </a:solidFill>
                <a:latin typeface="Aptos Display" panose="020B0004020202020204" pitchFamily="34" charset="0"/>
              </a:rPr>
              <a:t>You can recognize structure before you can write it.</a:t>
            </a:r>
          </a:p>
        </p:txBody>
      </p:sp>
      <p:sp>
        <p:nvSpPr>
          <p:cNvPr id="23" name="Rectangle: Rounded Corners 22">
            <a:extLst>
              <a:ext uri="{FF2B5EF4-FFF2-40B4-BE49-F238E27FC236}">
                <a16:creationId xmlns:a16="http://schemas.microsoft.com/office/drawing/2014/main" id="{5BE5C6B1-3298-2F6C-ACDD-87655FA222B9}"/>
              </a:ext>
            </a:extLst>
          </p:cNvPr>
          <p:cNvSpPr/>
          <p:nvPr/>
        </p:nvSpPr>
        <p:spPr>
          <a:xfrm>
            <a:off x="533400" y="6261100"/>
            <a:ext cx="11125200" cy="533400"/>
          </a:xfrm>
          <a:prstGeom prst="roundRect">
            <a:avLst/>
          </a:prstGeom>
          <a:solidFill>
            <a:srgbClr val="18223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Rounded Corners 23">
            <a:extLst>
              <a:ext uri="{FF2B5EF4-FFF2-40B4-BE49-F238E27FC236}">
                <a16:creationId xmlns:a16="http://schemas.microsoft.com/office/drawing/2014/main" id="{A3ECEC13-F7F6-DE67-6FA8-7AD71C7DF23B}"/>
              </a:ext>
            </a:extLst>
          </p:cNvPr>
          <p:cNvSpPr/>
          <p:nvPr/>
        </p:nvSpPr>
        <p:spPr>
          <a:xfrm>
            <a:off x="660400" y="6362700"/>
            <a:ext cx="1473200" cy="330200"/>
          </a:xfrm>
          <a:prstGeom prst="roundRect">
            <a:avLst/>
          </a:prstGeom>
          <a:solidFill>
            <a:srgbClr val="35CBB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C1FD8616-AE66-C10F-8387-71DB0AE7C66C}"/>
              </a:ext>
            </a:extLst>
          </p:cNvPr>
          <p:cNvSpPr txBox="1"/>
          <p:nvPr/>
        </p:nvSpPr>
        <p:spPr>
          <a:xfrm>
            <a:off x="736600" y="6400800"/>
            <a:ext cx="1320800" cy="276999"/>
          </a:xfrm>
          <a:prstGeom prst="rect">
            <a:avLst/>
          </a:prstGeom>
          <a:noFill/>
        </p:spPr>
        <p:txBody>
          <a:bodyPr vert="horz" wrap="square" lIns="0" tIns="0" rIns="0" bIns="0" rtlCol="0">
            <a:noAutofit/>
          </a:bodyPr>
          <a:lstStyle/>
          <a:p>
            <a:pPr algn="ctr"/>
            <a:r>
              <a:rPr lang="en-US" sz="1050" b="1">
                <a:solidFill>
                  <a:srgbClr val="060A12"/>
                </a:solidFill>
                <a:latin typeface="Aptos" panose="020B0004020202020204" pitchFamily="34" charset="0"/>
              </a:rPr>
              <a:t>READ IT</a:t>
            </a:r>
          </a:p>
        </p:txBody>
      </p:sp>
      <p:sp>
        <p:nvSpPr>
          <p:cNvPr id="26" name="TextBox 25">
            <a:extLst>
              <a:ext uri="{FF2B5EF4-FFF2-40B4-BE49-F238E27FC236}">
                <a16:creationId xmlns:a16="http://schemas.microsoft.com/office/drawing/2014/main" id="{500061C2-87DA-04D3-5048-FC5D9E87FD66}"/>
              </a:ext>
            </a:extLst>
          </p:cNvPr>
          <p:cNvSpPr txBox="1"/>
          <p:nvPr/>
        </p:nvSpPr>
        <p:spPr>
          <a:xfrm>
            <a:off x="2286000" y="6362700"/>
            <a:ext cx="9207500" cy="276999"/>
          </a:xfrm>
          <a:prstGeom prst="rect">
            <a:avLst/>
          </a:prstGeom>
          <a:noFill/>
        </p:spPr>
        <p:txBody>
          <a:bodyPr vert="horz" wrap="square" lIns="0" tIns="0" rIns="0" bIns="0" rtlCol="0" anchor="t">
            <a:noAutofit/>
          </a:bodyPr>
          <a:lstStyle/>
          <a:p>
            <a:r>
              <a:rPr lang="en-US" sz="1300">
                <a:solidFill>
                  <a:srgbClr val="F2F5F9"/>
                </a:solidFill>
                <a:latin typeface="Aptos" panose="020B0004020202020204" pitchFamily="34" charset="0"/>
              </a:rPr>
              <a:t>Ask the belt subsystem to run at the configured belt speed.</a:t>
            </a:r>
          </a:p>
        </p:txBody>
      </p:sp>
      <p:sp>
        <p:nvSpPr>
          <p:cNvPr id="27" name="TextBox 26">
            <a:extLst>
              <a:ext uri="{FF2B5EF4-FFF2-40B4-BE49-F238E27FC236}">
                <a16:creationId xmlns:a16="http://schemas.microsoft.com/office/drawing/2014/main" id="{CF08C6D9-19FC-653F-3DE3-F02F864A6509}"/>
              </a:ext>
            </a:extLst>
          </p:cNvPr>
          <p:cNvSpPr txBox="1"/>
          <p:nvPr/>
        </p:nvSpPr>
        <p:spPr>
          <a:xfrm>
            <a:off x="533400" y="6908800"/>
            <a:ext cx="8890000" cy="276999"/>
          </a:xfrm>
          <a:prstGeom prst="rect">
            <a:avLst/>
          </a:prstGeom>
          <a:noFill/>
        </p:spPr>
        <p:txBody>
          <a:bodyPr vert="horz" wrap="square" lIns="0" tIns="0" rIns="0" bIns="0" rtlCol="0" anchor="t">
            <a:noAutofit/>
          </a:bodyPr>
          <a:lstStyle/>
          <a:p>
            <a:r>
              <a:rPr lang="en-US" sz="850">
                <a:solidFill>
                  <a:srgbClr val="A9B4C5"/>
                </a:solidFill>
                <a:latin typeface="Aptos" panose="020B0004020202020204" pitchFamily="34" charset="0"/>
              </a:rPr>
              <a:t>Source: BeltInCommand.java</a:t>
            </a:r>
          </a:p>
        </p:txBody>
      </p:sp>
      <p:sp>
        <p:nvSpPr>
          <p:cNvPr id="28" name="TextBox 27">
            <a:extLst>
              <a:ext uri="{FF2B5EF4-FFF2-40B4-BE49-F238E27FC236}">
                <a16:creationId xmlns:a16="http://schemas.microsoft.com/office/drawing/2014/main" id="{A8DE8AA3-E257-258C-7775-FF85F2039B50}"/>
              </a:ext>
            </a:extLst>
          </p:cNvPr>
          <p:cNvSpPr txBox="1"/>
          <p:nvPr/>
        </p:nvSpPr>
        <p:spPr>
          <a:xfrm>
            <a:off x="9017000" y="6908800"/>
            <a:ext cx="2641600" cy="276999"/>
          </a:xfrm>
          <a:prstGeom prst="rect">
            <a:avLst/>
          </a:prstGeom>
          <a:noFill/>
        </p:spPr>
        <p:txBody>
          <a:bodyPr vert="horz" wrap="square" lIns="0" tIns="0" rIns="0" bIns="0" rtlCol="0" anchor="t">
            <a:noAutofit/>
          </a:bodyPr>
          <a:lstStyle/>
          <a:p>
            <a:pPr algn="r"/>
            <a:r>
              <a:rPr lang="en-US" sz="850">
                <a:solidFill>
                  <a:srgbClr val="A9B4C5"/>
                </a:solidFill>
                <a:latin typeface="Aptos" panose="020B0004020202020204" pitchFamily="34" charset="0"/>
              </a:rPr>
              <a:t>CURRENT ROBOT IMPLEMENTATION • V2</a:t>
            </a:r>
          </a:p>
        </p:txBody>
      </p:sp>
    </p:spTree>
    <p:extLst>
      <p:ext uri="{BB962C8B-B14F-4D97-AF65-F5344CB8AC3E}">
        <p14:creationId xmlns:p14="http://schemas.microsoft.com/office/powerpoint/2010/main" val="7596185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D1421"/>
        </a:solidFill>
        <a:effectLst/>
      </p:bgPr>
    </p:bg>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071BBE01-6D58-5A5A-A342-954E59B03F6E}"/>
              </a:ext>
            </a:extLst>
          </p:cNvPr>
          <p:cNvSpPr/>
          <p:nvPr/>
        </p:nvSpPr>
        <p:spPr>
          <a:xfrm>
            <a:off x="533400" y="292100"/>
            <a:ext cx="1473200" cy="330200"/>
          </a:xfrm>
          <a:prstGeom prst="roundRect">
            <a:avLst/>
          </a:prstGeom>
          <a:solidFill>
            <a:srgbClr val="379D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80CB1BD2-EA7E-1F69-3F88-848BD13CB396}"/>
              </a:ext>
            </a:extLst>
          </p:cNvPr>
          <p:cNvSpPr txBox="1"/>
          <p:nvPr/>
        </p:nvSpPr>
        <p:spPr>
          <a:xfrm>
            <a:off x="609600" y="330200"/>
            <a:ext cx="1320800" cy="276999"/>
          </a:xfrm>
          <a:prstGeom prst="rect">
            <a:avLst/>
          </a:prstGeom>
          <a:noFill/>
        </p:spPr>
        <p:txBody>
          <a:bodyPr vert="horz" wrap="square" lIns="0" tIns="0" rIns="0" bIns="0" rtlCol="0">
            <a:noAutofit/>
          </a:bodyPr>
          <a:lstStyle/>
          <a:p>
            <a:pPr algn="ctr"/>
            <a:r>
              <a:rPr lang="en-US" sz="1050" b="1">
                <a:solidFill>
                  <a:srgbClr val="060A12"/>
                </a:solidFill>
                <a:latin typeface="Aptos" panose="020B0004020202020204" pitchFamily="34" charset="0"/>
              </a:rPr>
              <a:t>SHARED CORE</a:t>
            </a:r>
          </a:p>
        </p:txBody>
      </p:sp>
      <p:sp>
        <p:nvSpPr>
          <p:cNvPr id="4" name="TextBox 3">
            <a:extLst>
              <a:ext uri="{FF2B5EF4-FFF2-40B4-BE49-F238E27FC236}">
                <a16:creationId xmlns:a16="http://schemas.microsoft.com/office/drawing/2014/main" id="{73F4726B-0AC2-4654-24BF-4246B9B1918C}"/>
              </a:ext>
            </a:extLst>
          </p:cNvPr>
          <p:cNvSpPr txBox="1"/>
          <p:nvPr/>
        </p:nvSpPr>
        <p:spPr>
          <a:xfrm>
            <a:off x="533400" y="762000"/>
            <a:ext cx="10414000" cy="276999"/>
          </a:xfrm>
          <a:prstGeom prst="rect">
            <a:avLst/>
          </a:prstGeom>
          <a:noFill/>
        </p:spPr>
        <p:txBody>
          <a:bodyPr vert="horz" wrap="square" lIns="0" tIns="0" rIns="0" bIns="0" rtlCol="0" anchor="t">
            <a:noAutofit/>
          </a:bodyPr>
          <a:lstStyle/>
          <a:p>
            <a:r>
              <a:rPr lang="en-US" sz="2800" b="1" dirty="0">
                <a:solidFill>
                  <a:srgbClr val="F2F5F9"/>
                </a:solidFill>
                <a:latin typeface="Aptos Display" panose="020B0004020202020204" pitchFamily="34" charset="0"/>
              </a:rPr>
              <a:t>How does all this get run?</a:t>
            </a:r>
          </a:p>
        </p:txBody>
      </p:sp>
      <p:sp>
        <p:nvSpPr>
          <p:cNvPr id="5" name="TextBox 4">
            <a:extLst>
              <a:ext uri="{FF2B5EF4-FFF2-40B4-BE49-F238E27FC236}">
                <a16:creationId xmlns:a16="http://schemas.microsoft.com/office/drawing/2014/main" id="{7D60EE0C-4D45-4696-083D-910FB76DECF4}"/>
              </a:ext>
            </a:extLst>
          </p:cNvPr>
          <p:cNvSpPr txBox="1"/>
          <p:nvPr/>
        </p:nvSpPr>
        <p:spPr>
          <a:xfrm>
            <a:off x="11226800" y="355600"/>
            <a:ext cx="381000" cy="276999"/>
          </a:xfrm>
          <a:prstGeom prst="rect">
            <a:avLst/>
          </a:prstGeom>
          <a:noFill/>
        </p:spPr>
        <p:txBody>
          <a:bodyPr vert="horz" wrap="square" lIns="0" tIns="0" rIns="0" bIns="0" rtlCol="0" anchor="t">
            <a:noAutofit/>
          </a:bodyPr>
          <a:lstStyle/>
          <a:p>
            <a:pPr algn="r"/>
            <a:r>
              <a:rPr lang="en-US" sz="1000" b="1">
                <a:solidFill>
                  <a:srgbClr val="A9B4C5"/>
                </a:solidFill>
                <a:latin typeface="Aptos" panose="020B0004020202020204" pitchFamily="34" charset="0"/>
              </a:rPr>
              <a:t>07</a:t>
            </a:r>
          </a:p>
        </p:txBody>
      </p:sp>
      <p:cxnSp>
        <p:nvCxnSpPr>
          <p:cNvPr id="6" name="Straight Connector 5">
            <a:extLst>
              <a:ext uri="{FF2B5EF4-FFF2-40B4-BE49-F238E27FC236}">
                <a16:creationId xmlns:a16="http://schemas.microsoft.com/office/drawing/2014/main" id="{47A7BBEA-65CC-00C9-E2C2-A5364503FBBD}"/>
              </a:ext>
            </a:extLst>
          </p:cNvPr>
          <p:cNvCxnSpPr/>
          <p:nvPr/>
        </p:nvCxnSpPr>
        <p:spPr>
          <a:xfrm>
            <a:off x="533400" y="1371600"/>
            <a:ext cx="11125200" cy="0"/>
          </a:xfrm>
          <a:prstGeom prst="line">
            <a:avLst/>
          </a:prstGeom>
          <a:ln w="12700">
            <a:solidFill>
              <a:srgbClr val="1F2C41"/>
            </a:solidFill>
          </a:ln>
        </p:spPr>
        <p:style>
          <a:lnRef idx="1">
            <a:schemeClr val="accent1"/>
          </a:lnRef>
          <a:fillRef idx="0">
            <a:schemeClr val="accent1"/>
          </a:fillRef>
          <a:effectRef idx="0">
            <a:schemeClr val="accent1"/>
          </a:effectRef>
          <a:fontRef idx="minor">
            <a:schemeClr val="tx1"/>
          </a:fontRef>
        </p:style>
      </p:cxnSp>
      <p:sp>
        <p:nvSpPr>
          <p:cNvPr id="7" name="Rectangle: Rounded Corners 6">
            <a:extLst>
              <a:ext uri="{FF2B5EF4-FFF2-40B4-BE49-F238E27FC236}">
                <a16:creationId xmlns:a16="http://schemas.microsoft.com/office/drawing/2014/main" id="{1041EE30-6509-4022-2D95-8D19531300B4}"/>
              </a:ext>
            </a:extLst>
          </p:cNvPr>
          <p:cNvSpPr/>
          <p:nvPr/>
        </p:nvSpPr>
        <p:spPr>
          <a:xfrm>
            <a:off x="660400" y="1739900"/>
            <a:ext cx="5461000" cy="1714500"/>
          </a:xfrm>
          <a:prstGeom prst="roundRect">
            <a:avLst/>
          </a:prstGeom>
          <a:solidFill>
            <a:srgbClr val="060A12"/>
          </a:solidFill>
          <a:ln w="15875">
            <a:solidFill>
              <a:srgbClr val="1F2C4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9109B490-50EB-6EC1-BBFB-1235355F8292}"/>
              </a:ext>
            </a:extLst>
          </p:cNvPr>
          <p:cNvSpPr/>
          <p:nvPr/>
        </p:nvSpPr>
        <p:spPr>
          <a:xfrm>
            <a:off x="660400" y="1739900"/>
            <a:ext cx="88900" cy="1714500"/>
          </a:xfrm>
          <a:prstGeom prst="rect">
            <a:avLst/>
          </a:prstGeom>
          <a:solidFill>
            <a:srgbClr val="A474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7FB161BC-0B85-6AF2-B9A7-0AC09748AF5D}"/>
              </a:ext>
            </a:extLst>
          </p:cNvPr>
          <p:cNvSpPr txBox="1"/>
          <p:nvPr/>
        </p:nvSpPr>
        <p:spPr>
          <a:xfrm>
            <a:off x="889000" y="1892300"/>
            <a:ext cx="5080000" cy="276999"/>
          </a:xfrm>
          <a:prstGeom prst="rect">
            <a:avLst/>
          </a:prstGeom>
          <a:noFill/>
        </p:spPr>
        <p:txBody>
          <a:bodyPr vert="horz" wrap="square" lIns="0" tIns="0" rIns="0" bIns="0" rtlCol="0" anchor="t">
            <a:noAutofit/>
          </a:bodyPr>
          <a:lstStyle/>
          <a:p>
            <a:r>
              <a:rPr lang="en-US" sz="1550">
                <a:solidFill>
                  <a:srgbClr val="F2F5F9"/>
                </a:solidFill>
                <a:latin typeface="Consolas" panose="020B0609020204030204" pitchFamily="49" charset="0"/>
              </a:rPr>
              <a:t>@Override</a:t>
            </a:r>
          </a:p>
          <a:p>
            <a:r>
              <a:rPr lang="en-US" sz="1550">
                <a:solidFill>
                  <a:srgbClr val="F2F5F9"/>
                </a:solidFill>
                <a:latin typeface="Consolas" panose="020B0609020204030204" pitchFamily="49" charset="0"/>
              </a:rPr>
              <a:t>public void robotPeriodic() {</a:t>
            </a:r>
          </a:p>
          <a:p>
            <a:r>
              <a:rPr lang="en-US" sz="1550">
                <a:solidFill>
                  <a:srgbClr val="F2F5F9"/>
                </a:solidFill>
                <a:latin typeface="Consolas" panose="020B0609020204030204" pitchFamily="49" charset="0"/>
              </a:rPr>
              <a:t>  CommandScheduler.getInstance().run();</a:t>
            </a:r>
          </a:p>
          <a:p>
            <a:r>
              <a:rPr lang="en-US" sz="1550">
                <a:solidFill>
                  <a:srgbClr val="F2F5F9"/>
                </a:solidFill>
                <a:latin typeface="Consolas" panose="020B0609020204030204" pitchFamily="49" charset="0"/>
              </a:rPr>
              <a:t>}</a:t>
            </a:r>
          </a:p>
        </p:txBody>
      </p:sp>
      <p:sp>
        <p:nvSpPr>
          <p:cNvPr id="10" name="Rectangle: Rounded Corners 9">
            <a:extLst>
              <a:ext uri="{FF2B5EF4-FFF2-40B4-BE49-F238E27FC236}">
                <a16:creationId xmlns:a16="http://schemas.microsoft.com/office/drawing/2014/main" id="{738B4F15-D267-71D8-E25D-8F9B5F9DF3F3}"/>
              </a:ext>
            </a:extLst>
          </p:cNvPr>
          <p:cNvSpPr/>
          <p:nvPr/>
        </p:nvSpPr>
        <p:spPr>
          <a:xfrm>
            <a:off x="6921500" y="1689100"/>
            <a:ext cx="4191000" cy="660400"/>
          </a:xfrm>
          <a:prstGeom prst="roundRect">
            <a:avLst/>
          </a:prstGeom>
          <a:solidFill>
            <a:srgbClr val="182234"/>
          </a:solidFill>
          <a:ln w="15875">
            <a:solidFill>
              <a:srgbClr val="A474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D0C881E8-AAA5-3977-C0B7-563AC99ADF68}"/>
              </a:ext>
            </a:extLst>
          </p:cNvPr>
          <p:cNvSpPr txBox="1"/>
          <p:nvPr/>
        </p:nvSpPr>
        <p:spPr>
          <a:xfrm>
            <a:off x="7112000" y="1816100"/>
            <a:ext cx="787400" cy="276999"/>
          </a:xfrm>
          <a:prstGeom prst="rect">
            <a:avLst/>
          </a:prstGeom>
          <a:noFill/>
        </p:spPr>
        <p:txBody>
          <a:bodyPr vert="horz" wrap="square" lIns="0" tIns="0" rIns="0" bIns="0" rtlCol="0" anchor="t">
            <a:noAutofit/>
          </a:bodyPr>
          <a:lstStyle/>
          <a:p>
            <a:r>
              <a:rPr lang="en-US" sz="1300" b="1">
                <a:solidFill>
                  <a:srgbClr val="A474FF"/>
                </a:solidFill>
                <a:latin typeface="Aptos" panose="020B0004020202020204" pitchFamily="34" charset="0"/>
              </a:rPr>
              <a:t>CHECK</a:t>
            </a:r>
          </a:p>
        </p:txBody>
      </p:sp>
      <p:sp>
        <p:nvSpPr>
          <p:cNvPr id="12" name="TextBox 11">
            <a:extLst>
              <a:ext uri="{FF2B5EF4-FFF2-40B4-BE49-F238E27FC236}">
                <a16:creationId xmlns:a16="http://schemas.microsoft.com/office/drawing/2014/main" id="{4AED896D-3DD3-D3CF-17AE-FE02EC56ABBA}"/>
              </a:ext>
            </a:extLst>
          </p:cNvPr>
          <p:cNvSpPr txBox="1"/>
          <p:nvPr/>
        </p:nvSpPr>
        <p:spPr>
          <a:xfrm>
            <a:off x="8064500" y="1816100"/>
            <a:ext cx="2857500" cy="276999"/>
          </a:xfrm>
          <a:prstGeom prst="rect">
            <a:avLst/>
          </a:prstGeom>
          <a:noFill/>
        </p:spPr>
        <p:txBody>
          <a:bodyPr vert="horz" wrap="square" lIns="0" tIns="0" rIns="0" bIns="0" rtlCol="0" anchor="t">
            <a:noAutofit/>
          </a:bodyPr>
          <a:lstStyle/>
          <a:p>
            <a:r>
              <a:rPr lang="en-US" sz="1600">
                <a:solidFill>
                  <a:srgbClr val="F2F5F9"/>
                </a:solidFill>
                <a:latin typeface="Aptos" panose="020B0004020202020204" pitchFamily="34" charset="0"/>
              </a:rPr>
              <a:t>controller triggers</a:t>
            </a:r>
          </a:p>
        </p:txBody>
      </p:sp>
      <p:cxnSp>
        <p:nvCxnSpPr>
          <p:cNvPr id="13" name="Straight Connector 12">
            <a:extLst>
              <a:ext uri="{FF2B5EF4-FFF2-40B4-BE49-F238E27FC236}">
                <a16:creationId xmlns:a16="http://schemas.microsoft.com/office/drawing/2014/main" id="{76F6A873-EDCE-B368-B4AB-3407DF8CED81}"/>
              </a:ext>
            </a:extLst>
          </p:cNvPr>
          <p:cNvCxnSpPr/>
          <p:nvPr/>
        </p:nvCxnSpPr>
        <p:spPr>
          <a:xfrm>
            <a:off x="9017000" y="2349500"/>
            <a:ext cx="0" cy="177800"/>
          </a:xfrm>
          <a:prstGeom prst="line">
            <a:avLst/>
          </a:prstGeom>
          <a:ln w="25400">
            <a:solidFill>
              <a:srgbClr val="A474FF"/>
            </a:solidFill>
            <a:tailEnd type="arrow"/>
          </a:ln>
        </p:spPr>
        <p:style>
          <a:lnRef idx="1">
            <a:schemeClr val="accent1"/>
          </a:lnRef>
          <a:fillRef idx="0">
            <a:schemeClr val="accent1"/>
          </a:fillRef>
          <a:effectRef idx="0">
            <a:schemeClr val="accent1"/>
          </a:effectRef>
          <a:fontRef idx="minor">
            <a:schemeClr val="tx1"/>
          </a:fontRef>
        </p:style>
      </p:cxnSp>
      <p:sp>
        <p:nvSpPr>
          <p:cNvPr id="14" name="Rectangle: Rounded Corners 13">
            <a:extLst>
              <a:ext uri="{FF2B5EF4-FFF2-40B4-BE49-F238E27FC236}">
                <a16:creationId xmlns:a16="http://schemas.microsoft.com/office/drawing/2014/main" id="{E5BC2923-930A-6C07-06C8-044596753ABC}"/>
              </a:ext>
            </a:extLst>
          </p:cNvPr>
          <p:cNvSpPr/>
          <p:nvPr/>
        </p:nvSpPr>
        <p:spPr>
          <a:xfrm>
            <a:off x="6921500" y="2527300"/>
            <a:ext cx="4191000" cy="660400"/>
          </a:xfrm>
          <a:prstGeom prst="roundRect">
            <a:avLst/>
          </a:prstGeom>
          <a:solidFill>
            <a:srgbClr val="182234"/>
          </a:solidFill>
          <a:ln w="15875">
            <a:solidFill>
              <a:srgbClr val="A474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C05257C6-62F6-5587-1640-A44EE70A8AE2}"/>
              </a:ext>
            </a:extLst>
          </p:cNvPr>
          <p:cNvSpPr txBox="1"/>
          <p:nvPr/>
        </p:nvSpPr>
        <p:spPr>
          <a:xfrm>
            <a:off x="7112000" y="2654300"/>
            <a:ext cx="787400" cy="276999"/>
          </a:xfrm>
          <a:prstGeom prst="rect">
            <a:avLst/>
          </a:prstGeom>
          <a:noFill/>
        </p:spPr>
        <p:txBody>
          <a:bodyPr vert="horz" wrap="square" lIns="0" tIns="0" rIns="0" bIns="0" rtlCol="0" anchor="t">
            <a:noAutofit/>
          </a:bodyPr>
          <a:lstStyle/>
          <a:p>
            <a:r>
              <a:rPr lang="en-US" sz="1300" b="1">
                <a:solidFill>
                  <a:srgbClr val="A474FF"/>
                </a:solidFill>
                <a:latin typeface="Aptos" panose="020B0004020202020204" pitchFamily="34" charset="0"/>
              </a:rPr>
              <a:t>START</a:t>
            </a:r>
          </a:p>
        </p:txBody>
      </p:sp>
      <p:sp>
        <p:nvSpPr>
          <p:cNvPr id="16" name="TextBox 15">
            <a:extLst>
              <a:ext uri="{FF2B5EF4-FFF2-40B4-BE49-F238E27FC236}">
                <a16:creationId xmlns:a16="http://schemas.microsoft.com/office/drawing/2014/main" id="{7D83D082-43C0-374E-C628-DE98FEA320BA}"/>
              </a:ext>
            </a:extLst>
          </p:cNvPr>
          <p:cNvSpPr txBox="1"/>
          <p:nvPr/>
        </p:nvSpPr>
        <p:spPr>
          <a:xfrm>
            <a:off x="8064500" y="2654300"/>
            <a:ext cx="2857500" cy="276999"/>
          </a:xfrm>
          <a:prstGeom prst="rect">
            <a:avLst/>
          </a:prstGeom>
          <a:noFill/>
        </p:spPr>
        <p:txBody>
          <a:bodyPr vert="horz" wrap="square" lIns="0" tIns="0" rIns="0" bIns="0" rtlCol="0" anchor="t">
            <a:noAutofit/>
          </a:bodyPr>
          <a:lstStyle/>
          <a:p>
            <a:r>
              <a:rPr lang="en-US" sz="1600">
                <a:solidFill>
                  <a:srgbClr val="F2F5F9"/>
                </a:solidFill>
                <a:latin typeface="Aptos" panose="020B0004020202020204" pitchFamily="34" charset="0"/>
              </a:rPr>
              <a:t>new commands</a:t>
            </a:r>
          </a:p>
        </p:txBody>
      </p:sp>
      <p:cxnSp>
        <p:nvCxnSpPr>
          <p:cNvPr id="17" name="Straight Connector 16">
            <a:extLst>
              <a:ext uri="{FF2B5EF4-FFF2-40B4-BE49-F238E27FC236}">
                <a16:creationId xmlns:a16="http://schemas.microsoft.com/office/drawing/2014/main" id="{C7A0F8C9-290C-E6D6-CA16-C818733EBFC2}"/>
              </a:ext>
            </a:extLst>
          </p:cNvPr>
          <p:cNvCxnSpPr/>
          <p:nvPr/>
        </p:nvCxnSpPr>
        <p:spPr>
          <a:xfrm>
            <a:off x="9017000" y="3187700"/>
            <a:ext cx="0" cy="177800"/>
          </a:xfrm>
          <a:prstGeom prst="line">
            <a:avLst/>
          </a:prstGeom>
          <a:ln w="25400">
            <a:solidFill>
              <a:srgbClr val="A474FF"/>
            </a:solidFill>
            <a:tailEnd type="arrow"/>
          </a:ln>
        </p:spPr>
        <p:style>
          <a:lnRef idx="1">
            <a:schemeClr val="accent1"/>
          </a:lnRef>
          <a:fillRef idx="0">
            <a:schemeClr val="accent1"/>
          </a:fillRef>
          <a:effectRef idx="0">
            <a:schemeClr val="accent1"/>
          </a:effectRef>
          <a:fontRef idx="minor">
            <a:schemeClr val="tx1"/>
          </a:fontRef>
        </p:style>
      </p:cxnSp>
      <p:sp>
        <p:nvSpPr>
          <p:cNvPr id="18" name="Rectangle: Rounded Corners 17">
            <a:extLst>
              <a:ext uri="{FF2B5EF4-FFF2-40B4-BE49-F238E27FC236}">
                <a16:creationId xmlns:a16="http://schemas.microsoft.com/office/drawing/2014/main" id="{BC163A2B-1A75-8B55-3748-2A38139A6E57}"/>
              </a:ext>
            </a:extLst>
          </p:cNvPr>
          <p:cNvSpPr/>
          <p:nvPr/>
        </p:nvSpPr>
        <p:spPr>
          <a:xfrm>
            <a:off x="6921500" y="3365500"/>
            <a:ext cx="4191000" cy="660400"/>
          </a:xfrm>
          <a:prstGeom prst="roundRect">
            <a:avLst/>
          </a:prstGeom>
          <a:solidFill>
            <a:srgbClr val="182234"/>
          </a:solidFill>
          <a:ln w="15875">
            <a:solidFill>
              <a:srgbClr val="A474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068F75FD-97E8-B592-02B0-782BC5FC5C39}"/>
              </a:ext>
            </a:extLst>
          </p:cNvPr>
          <p:cNvSpPr txBox="1"/>
          <p:nvPr/>
        </p:nvSpPr>
        <p:spPr>
          <a:xfrm>
            <a:off x="7112000" y="3492500"/>
            <a:ext cx="787400" cy="276999"/>
          </a:xfrm>
          <a:prstGeom prst="rect">
            <a:avLst/>
          </a:prstGeom>
          <a:noFill/>
        </p:spPr>
        <p:txBody>
          <a:bodyPr vert="horz" wrap="square" lIns="0" tIns="0" rIns="0" bIns="0" rtlCol="0" anchor="t">
            <a:noAutofit/>
          </a:bodyPr>
          <a:lstStyle/>
          <a:p>
            <a:r>
              <a:rPr lang="en-US" sz="1300" b="1">
                <a:solidFill>
                  <a:srgbClr val="A474FF"/>
                </a:solidFill>
                <a:latin typeface="Aptos" panose="020B0004020202020204" pitchFamily="34" charset="0"/>
              </a:rPr>
              <a:t>RUN</a:t>
            </a:r>
          </a:p>
        </p:txBody>
      </p:sp>
      <p:sp>
        <p:nvSpPr>
          <p:cNvPr id="20" name="TextBox 19">
            <a:extLst>
              <a:ext uri="{FF2B5EF4-FFF2-40B4-BE49-F238E27FC236}">
                <a16:creationId xmlns:a16="http://schemas.microsoft.com/office/drawing/2014/main" id="{7B4A819A-778F-D17B-FBE1-0B6C19A65689}"/>
              </a:ext>
            </a:extLst>
          </p:cNvPr>
          <p:cNvSpPr txBox="1"/>
          <p:nvPr/>
        </p:nvSpPr>
        <p:spPr>
          <a:xfrm>
            <a:off x="8064500" y="3492500"/>
            <a:ext cx="2857500" cy="276999"/>
          </a:xfrm>
          <a:prstGeom prst="rect">
            <a:avLst/>
          </a:prstGeom>
          <a:noFill/>
        </p:spPr>
        <p:txBody>
          <a:bodyPr vert="horz" wrap="square" lIns="0" tIns="0" rIns="0" bIns="0" rtlCol="0" anchor="t">
            <a:noAutofit/>
          </a:bodyPr>
          <a:lstStyle/>
          <a:p>
            <a:r>
              <a:rPr lang="en-US" sz="1600">
                <a:solidFill>
                  <a:srgbClr val="F2F5F9"/>
                </a:solidFill>
                <a:latin typeface="Aptos" panose="020B0004020202020204" pitchFamily="34" charset="0"/>
              </a:rPr>
              <a:t>active commands</a:t>
            </a:r>
          </a:p>
        </p:txBody>
      </p:sp>
      <p:cxnSp>
        <p:nvCxnSpPr>
          <p:cNvPr id="21" name="Straight Connector 20">
            <a:extLst>
              <a:ext uri="{FF2B5EF4-FFF2-40B4-BE49-F238E27FC236}">
                <a16:creationId xmlns:a16="http://schemas.microsoft.com/office/drawing/2014/main" id="{434C975B-4636-2DB5-C38D-411E71245815}"/>
              </a:ext>
            </a:extLst>
          </p:cNvPr>
          <p:cNvCxnSpPr/>
          <p:nvPr/>
        </p:nvCxnSpPr>
        <p:spPr>
          <a:xfrm>
            <a:off x="9017000" y="4025900"/>
            <a:ext cx="0" cy="177800"/>
          </a:xfrm>
          <a:prstGeom prst="line">
            <a:avLst/>
          </a:prstGeom>
          <a:ln w="25400">
            <a:solidFill>
              <a:srgbClr val="A474FF"/>
            </a:solidFill>
            <a:tailEnd type="arrow"/>
          </a:ln>
        </p:spPr>
        <p:style>
          <a:lnRef idx="1">
            <a:schemeClr val="accent1"/>
          </a:lnRef>
          <a:fillRef idx="0">
            <a:schemeClr val="accent1"/>
          </a:fillRef>
          <a:effectRef idx="0">
            <a:schemeClr val="accent1"/>
          </a:effectRef>
          <a:fontRef idx="minor">
            <a:schemeClr val="tx1"/>
          </a:fontRef>
        </p:style>
      </p:cxnSp>
      <p:sp>
        <p:nvSpPr>
          <p:cNvPr id="22" name="Rectangle: Rounded Corners 21">
            <a:extLst>
              <a:ext uri="{FF2B5EF4-FFF2-40B4-BE49-F238E27FC236}">
                <a16:creationId xmlns:a16="http://schemas.microsoft.com/office/drawing/2014/main" id="{5D4DFA39-CBBC-31F4-B42C-7908FFBD8A18}"/>
              </a:ext>
            </a:extLst>
          </p:cNvPr>
          <p:cNvSpPr/>
          <p:nvPr/>
        </p:nvSpPr>
        <p:spPr>
          <a:xfrm>
            <a:off x="6921500" y="4203700"/>
            <a:ext cx="4191000" cy="660400"/>
          </a:xfrm>
          <a:prstGeom prst="roundRect">
            <a:avLst/>
          </a:prstGeom>
          <a:solidFill>
            <a:srgbClr val="182234"/>
          </a:solidFill>
          <a:ln w="15875">
            <a:solidFill>
              <a:srgbClr val="A474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B1BB96D8-D20C-32D9-431F-4AB4411AFFDA}"/>
              </a:ext>
            </a:extLst>
          </p:cNvPr>
          <p:cNvSpPr txBox="1"/>
          <p:nvPr/>
        </p:nvSpPr>
        <p:spPr>
          <a:xfrm>
            <a:off x="7112000" y="4330700"/>
            <a:ext cx="787400" cy="276999"/>
          </a:xfrm>
          <a:prstGeom prst="rect">
            <a:avLst/>
          </a:prstGeom>
          <a:noFill/>
        </p:spPr>
        <p:txBody>
          <a:bodyPr vert="horz" wrap="square" lIns="0" tIns="0" rIns="0" bIns="0" rtlCol="0" anchor="t">
            <a:noAutofit/>
          </a:bodyPr>
          <a:lstStyle/>
          <a:p>
            <a:r>
              <a:rPr lang="en-US" sz="1300" b="1">
                <a:solidFill>
                  <a:srgbClr val="A474FF"/>
                </a:solidFill>
                <a:latin typeface="Aptos" panose="020B0004020202020204" pitchFamily="34" charset="0"/>
              </a:rPr>
              <a:t>END</a:t>
            </a:r>
          </a:p>
        </p:txBody>
      </p:sp>
      <p:sp>
        <p:nvSpPr>
          <p:cNvPr id="24" name="TextBox 23">
            <a:extLst>
              <a:ext uri="{FF2B5EF4-FFF2-40B4-BE49-F238E27FC236}">
                <a16:creationId xmlns:a16="http://schemas.microsoft.com/office/drawing/2014/main" id="{9EF2C8A0-FD02-B5BB-7115-30DC079B25B2}"/>
              </a:ext>
            </a:extLst>
          </p:cNvPr>
          <p:cNvSpPr txBox="1"/>
          <p:nvPr/>
        </p:nvSpPr>
        <p:spPr>
          <a:xfrm>
            <a:off x="8064500" y="4330700"/>
            <a:ext cx="2857500" cy="276999"/>
          </a:xfrm>
          <a:prstGeom prst="rect">
            <a:avLst/>
          </a:prstGeom>
          <a:noFill/>
        </p:spPr>
        <p:txBody>
          <a:bodyPr vert="horz" wrap="square" lIns="0" tIns="0" rIns="0" bIns="0" rtlCol="0" anchor="t">
            <a:noAutofit/>
          </a:bodyPr>
          <a:lstStyle/>
          <a:p>
            <a:r>
              <a:rPr lang="en-US" sz="1600">
                <a:solidFill>
                  <a:srgbClr val="F2F5F9"/>
                </a:solidFill>
                <a:latin typeface="Aptos" panose="020B0004020202020204" pitchFamily="34" charset="0"/>
              </a:rPr>
              <a:t>finished / interrupted</a:t>
            </a:r>
          </a:p>
        </p:txBody>
      </p:sp>
      <p:sp>
        <p:nvSpPr>
          <p:cNvPr id="25" name="TextBox 24">
            <a:extLst>
              <a:ext uri="{FF2B5EF4-FFF2-40B4-BE49-F238E27FC236}">
                <a16:creationId xmlns:a16="http://schemas.microsoft.com/office/drawing/2014/main" id="{CA119036-8AC0-CF3E-E783-C2957BE15BC1}"/>
              </a:ext>
            </a:extLst>
          </p:cNvPr>
          <p:cNvSpPr txBox="1"/>
          <p:nvPr/>
        </p:nvSpPr>
        <p:spPr>
          <a:xfrm>
            <a:off x="533400" y="4445001"/>
            <a:ext cx="5562600" cy="406399"/>
          </a:xfrm>
          <a:prstGeom prst="rect">
            <a:avLst/>
          </a:prstGeom>
          <a:noFill/>
        </p:spPr>
        <p:txBody>
          <a:bodyPr vert="horz" wrap="square" lIns="0" tIns="0" rIns="0" bIns="0" rtlCol="0" anchor="t">
            <a:noAutofit/>
          </a:bodyPr>
          <a:lstStyle/>
          <a:p>
            <a:pPr algn="ctr"/>
            <a:endParaRPr lang="en-US" sz="1600" b="1" dirty="0">
              <a:solidFill>
                <a:srgbClr val="A474FF"/>
              </a:solidFill>
              <a:latin typeface="Aptos" panose="020B0004020202020204" pitchFamily="34" charset="0"/>
            </a:endParaRPr>
          </a:p>
        </p:txBody>
      </p:sp>
      <p:sp>
        <p:nvSpPr>
          <p:cNvPr id="26" name="Rectangle: Rounded Corners 25">
            <a:extLst>
              <a:ext uri="{FF2B5EF4-FFF2-40B4-BE49-F238E27FC236}">
                <a16:creationId xmlns:a16="http://schemas.microsoft.com/office/drawing/2014/main" id="{44D44A9B-CFE0-4A8A-10A6-CA8A12246959}"/>
              </a:ext>
            </a:extLst>
          </p:cNvPr>
          <p:cNvSpPr/>
          <p:nvPr/>
        </p:nvSpPr>
        <p:spPr>
          <a:xfrm>
            <a:off x="533400" y="6261100"/>
            <a:ext cx="11125200" cy="533400"/>
          </a:xfrm>
          <a:prstGeom prst="roundRect">
            <a:avLst/>
          </a:prstGeom>
          <a:solidFill>
            <a:srgbClr val="18223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Rounded Corners 26">
            <a:extLst>
              <a:ext uri="{FF2B5EF4-FFF2-40B4-BE49-F238E27FC236}">
                <a16:creationId xmlns:a16="http://schemas.microsoft.com/office/drawing/2014/main" id="{4764F8EA-70EF-E5DA-1BEC-A84142D5EFB3}"/>
              </a:ext>
            </a:extLst>
          </p:cNvPr>
          <p:cNvSpPr/>
          <p:nvPr/>
        </p:nvSpPr>
        <p:spPr>
          <a:xfrm>
            <a:off x="660400" y="6362700"/>
            <a:ext cx="1473200" cy="330200"/>
          </a:xfrm>
          <a:prstGeom prst="roundRect">
            <a:avLst/>
          </a:prstGeom>
          <a:solidFill>
            <a:srgbClr val="FFC1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7D324A07-A300-A907-06C8-FE19F4D7D891}"/>
              </a:ext>
            </a:extLst>
          </p:cNvPr>
          <p:cNvSpPr txBox="1"/>
          <p:nvPr/>
        </p:nvSpPr>
        <p:spPr>
          <a:xfrm>
            <a:off x="736600" y="6400800"/>
            <a:ext cx="1320800" cy="276999"/>
          </a:xfrm>
          <a:prstGeom prst="rect">
            <a:avLst/>
          </a:prstGeom>
          <a:noFill/>
        </p:spPr>
        <p:txBody>
          <a:bodyPr vert="horz" wrap="square" lIns="0" tIns="0" rIns="0" bIns="0" rtlCol="0">
            <a:noAutofit/>
          </a:bodyPr>
          <a:lstStyle/>
          <a:p>
            <a:pPr algn="ctr"/>
            <a:r>
              <a:rPr lang="en-US" sz="1050" b="1">
                <a:solidFill>
                  <a:srgbClr val="060A12"/>
                </a:solidFill>
                <a:latin typeface="Aptos" panose="020B0004020202020204" pitchFamily="34" charset="0"/>
              </a:rPr>
              <a:t>PREDICT</a:t>
            </a:r>
          </a:p>
        </p:txBody>
      </p:sp>
      <p:sp>
        <p:nvSpPr>
          <p:cNvPr id="29" name="TextBox 28">
            <a:extLst>
              <a:ext uri="{FF2B5EF4-FFF2-40B4-BE49-F238E27FC236}">
                <a16:creationId xmlns:a16="http://schemas.microsoft.com/office/drawing/2014/main" id="{D1350340-FBC8-BCC7-943F-6AC00545A5B2}"/>
              </a:ext>
            </a:extLst>
          </p:cNvPr>
          <p:cNvSpPr txBox="1"/>
          <p:nvPr/>
        </p:nvSpPr>
        <p:spPr>
          <a:xfrm>
            <a:off x="2286000" y="6362700"/>
            <a:ext cx="9207500" cy="276999"/>
          </a:xfrm>
          <a:prstGeom prst="rect">
            <a:avLst/>
          </a:prstGeom>
          <a:noFill/>
        </p:spPr>
        <p:txBody>
          <a:bodyPr vert="horz" wrap="square" lIns="0" tIns="0" rIns="0" bIns="0" rtlCol="0" anchor="t">
            <a:noAutofit/>
          </a:bodyPr>
          <a:lstStyle/>
          <a:p>
            <a:r>
              <a:rPr lang="en-US" sz="1300">
                <a:solidFill>
                  <a:srgbClr val="F2F5F9"/>
                </a:solidFill>
                <a:latin typeface="Aptos" panose="020B0004020202020204" pitchFamily="34" charset="0"/>
              </a:rPr>
              <a:t>What stops working if CommandScheduler.run() is never called?</a:t>
            </a:r>
          </a:p>
        </p:txBody>
      </p:sp>
      <p:sp>
        <p:nvSpPr>
          <p:cNvPr id="30" name="TextBox 29">
            <a:extLst>
              <a:ext uri="{FF2B5EF4-FFF2-40B4-BE49-F238E27FC236}">
                <a16:creationId xmlns:a16="http://schemas.microsoft.com/office/drawing/2014/main" id="{2CF8713F-23C3-A423-94F8-FBB968E798F6}"/>
              </a:ext>
            </a:extLst>
          </p:cNvPr>
          <p:cNvSpPr txBox="1"/>
          <p:nvPr/>
        </p:nvSpPr>
        <p:spPr>
          <a:xfrm>
            <a:off x="533400" y="6908800"/>
            <a:ext cx="8890000" cy="276999"/>
          </a:xfrm>
          <a:prstGeom prst="rect">
            <a:avLst/>
          </a:prstGeom>
          <a:noFill/>
        </p:spPr>
        <p:txBody>
          <a:bodyPr vert="horz" wrap="square" lIns="0" tIns="0" rIns="0" bIns="0" rtlCol="0" anchor="t">
            <a:noAutofit/>
          </a:bodyPr>
          <a:lstStyle/>
          <a:p>
            <a:r>
              <a:rPr lang="en-US" sz="850">
                <a:solidFill>
                  <a:srgbClr val="A9B4C5"/>
                </a:solidFill>
                <a:latin typeface="Aptos" panose="020B0004020202020204" pitchFamily="34" charset="0"/>
              </a:rPr>
              <a:t>Source: Robot.java</a:t>
            </a:r>
          </a:p>
        </p:txBody>
      </p:sp>
      <p:sp>
        <p:nvSpPr>
          <p:cNvPr id="31" name="TextBox 30">
            <a:extLst>
              <a:ext uri="{FF2B5EF4-FFF2-40B4-BE49-F238E27FC236}">
                <a16:creationId xmlns:a16="http://schemas.microsoft.com/office/drawing/2014/main" id="{ED646F0D-4385-C4BE-68DC-4BE407102861}"/>
              </a:ext>
            </a:extLst>
          </p:cNvPr>
          <p:cNvSpPr txBox="1"/>
          <p:nvPr/>
        </p:nvSpPr>
        <p:spPr>
          <a:xfrm>
            <a:off x="9017000" y="6908800"/>
            <a:ext cx="2641600" cy="276999"/>
          </a:xfrm>
          <a:prstGeom prst="rect">
            <a:avLst/>
          </a:prstGeom>
          <a:noFill/>
        </p:spPr>
        <p:txBody>
          <a:bodyPr vert="horz" wrap="square" lIns="0" tIns="0" rIns="0" bIns="0" rtlCol="0" anchor="t">
            <a:noAutofit/>
          </a:bodyPr>
          <a:lstStyle/>
          <a:p>
            <a:pPr algn="r"/>
            <a:r>
              <a:rPr lang="en-US" sz="850">
                <a:solidFill>
                  <a:srgbClr val="A9B4C5"/>
                </a:solidFill>
                <a:latin typeface="Aptos" panose="020B0004020202020204" pitchFamily="34" charset="0"/>
              </a:rPr>
              <a:t>CURRENT ROBOT IMPLEMENTATION • V2</a:t>
            </a:r>
          </a:p>
        </p:txBody>
      </p:sp>
      <p:sp>
        <p:nvSpPr>
          <p:cNvPr id="33" name="TextBox 32">
            <a:extLst>
              <a:ext uri="{FF2B5EF4-FFF2-40B4-BE49-F238E27FC236}">
                <a16:creationId xmlns:a16="http://schemas.microsoft.com/office/drawing/2014/main" id="{1E1D8119-5F5A-D53A-196B-0D5A3969A920}"/>
              </a:ext>
            </a:extLst>
          </p:cNvPr>
          <p:cNvSpPr txBox="1"/>
          <p:nvPr/>
        </p:nvSpPr>
        <p:spPr>
          <a:xfrm>
            <a:off x="704850" y="3808358"/>
            <a:ext cx="6094070" cy="1569660"/>
          </a:xfrm>
          <a:prstGeom prst="rect">
            <a:avLst/>
          </a:prstGeom>
          <a:noFill/>
        </p:spPr>
        <p:txBody>
          <a:bodyPr wrap="square">
            <a:spAutoFit/>
          </a:bodyPr>
          <a:lstStyle/>
          <a:p>
            <a:pPr marL="285750" indent="-285750">
              <a:buFont typeface="Arial" panose="020B0604020202020204" pitchFamily="34" charset="0"/>
              <a:buChar char="•"/>
            </a:pPr>
            <a:r>
              <a:rPr lang="en-US" sz="1600" b="1" dirty="0" err="1">
                <a:solidFill>
                  <a:srgbClr val="F2F5F9"/>
                </a:solidFill>
                <a:latin typeface="Aptos Display" panose="020B0004020202020204" pitchFamily="34" charset="0"/>
              </a:rPr>
              <a:t>robotPeriodic</a:t>
            </a:r>
            <a:r>
              <a:rPr lang="en-US" sz="1600" b="1" dirty="0">
                <a:solidFill>
                  <a:srgbClr val="F2F5F9"/>
                </a:solidFill>
                <a:latin typeface="Aptos Display" panose="020B0004020202020204" pitchFamily="34" charset="0"/>
              </a:rPr>
              <a:t> is run every 20 </a:t>
            </a:r>
            <a:r>
              <a:rPr lang="en-US" sz="1600" b="1" dirty="0" err="1">
                <a:solidFill>
                  <a:srgbClr val="F2F5F9"/>
                </a:solidFill>
                <a:latin typeface="Aptos Display" panose="020B0004020202020204" pitchFamily="34" charset="0"/>
              </a:rPr>
              <a:t>ms</a:t>
            </a:r>
            <a:endParaRPr lang="en-US" sz="1600" b="1" dirty="0">
              <a:solidFill>
                <a:srgbClr val="F2F5F9"/>
              </a:solidFill>
              <a:latin typeface="Aptos Display" panose="020B0004020202020204" pitchFamily="34" charset="0"/>
            </a:endParaRPr>
          </a:p>
          <a:p>
            <a:pPr marL="285750" indent="-285750">
              <a:buFont typeface="Arial" panose="020B0604020202020204" pitchFamily="34" charset="0"/>
              <a:buChar char="•"/>
            </a:pPr>
            <a:endParaRPr lang="en-US" sz="1600" b="1" dirty="0">
              <a:solidFill>
                <a:srgbClr val="F2F5F9"/>
              </a:solidFill>
              <a:latin typeface="Aptos Display" panose="020B0004020202020204" pitchFamily="34" charset="0"/>
            </a:endParaRPr>
          </a:p>
          <a:p>
            <a:pPr marL="285750" indent="-285750">
              <a:buFont typeface="Arial" panose="020B0604020202020204" pitchFamily="34" charset="0"/>
              <a:buChar char="•"/>
            </a:pPr>
            <a:r>
              <a:rPr lang="en-US" sz="1600" dirty="0">
                <a:solidFill>
                  <a:schemeClr val="bg1"/>
                </a:solidFill>
              </a:rPr>
              <a:t>the scheduler is run from </a:t>
            </a:r>
            <a:r>
              <a:rPr lang="en-US" sz="1600" dirty="0" err="1">
                <a:solidFill>
                  <a:schemeClr val="bg1"/>
                </a:solidFill>
              </a:rPr>
              <a:t>robotPeriodic</a:t>
            </a:r>
            <a:endParaRPr lang="en-US" sz="1600" dirty="0">
              <a:solidFill>
                <a:schemeClr val="bg1"/>
              </a:solidFill>
            </a:endParaRPr>
          </a:p>
          <a:p>
            <a:pPr marL="285750" indent="-285750">
              <a:buFont typeface="Arial" panose="020B0604020202020204" pitchFamily="34" charset="0"/>
              <a:buChar char="•"/>
            </a:pPr>
            <a:endParaRPr lang="en-US" sz="1600" dirty="0">
              <a:solidFill>
                <a:schemeClr val="bg1"/>
              </a:solidFill>
            </a:endParaRPr>
          </a:p>
          <a:p>
            <a:pPr marL="285750" indent="-285750">
              <a:buFont typeface="Arial" panose="020B0604020202020204" pitchFamily="34" charset="0"/>
              <a:buChar char="•"/>
            </a:pPr>
            <a:r>
              <a:rPr lang="en-US" sz="1600" b="1" dirty="0">
                <a:solidFill>
                  <a:srgbClr val="F2F5F9"/>
                </a:solidFill>
                <a:latin typeface="Aptos Display" panose="020B0004020202020204" pitchFamily="34" charset="0"/>
              </a:rPr>
              <a:t>The scheduler is the robot's traffic controller</a:t>
            </a:r>
          </a:p>
          <a:p>
            <a:endParaRPr lang="en-US" sz="1600" b="1" dirty="0">
              <a:solidFill>
                <a:srgbClr val="F2F5F9"/>
              </a:solidFill>
              <a:latin typeface="Aptos Display" panose="020B0004020202020204" pitchFamily="34" charset="0"/>
            </a:endParaRPr>
          </a:p>
        </p:txBody>
      </p:sp>
    </p:spTree>
    <p:extLst>
      <p:ext uri="{BB962C8B-B14F-4D97-AF65-F5344CB8AC3E}">
        <p14:creationId xmlns:p14="http://schemas.microsoft.com/office/powerpoint/2010/main" val="32570509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D1421"/>
        </a:solidFill>
        <a:effectLst/>
      </p:bgPr>
    </p:bg>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478BB449-F418-E3D1-F3DF-FD375C100932}"/>
              </a:ext>
            </a:extLst>
          </p:cNvPr>
          <p:cNvSpPr/>
          <p:nvPr/>
        </p:nvSpPr>
        <p:spPr>
          <a:xfrm>
            <a:off x="533400" y="292100"/>
            <a:ext cx="1473200" cy="330200"/>
          </a:xfrm>
          <a:prstGeom prst="roundRect">
            <a:avLst/>
          </a:prstGeom>
          <a:solidFill>
            <a:srgbClr val="379D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9D64DDD2-0635-D735-E45D-8115BE79A687}"/>
              </a:ext>
            </a:extLst>
          </p:cNvPr>
          <p:cNvSpPr txBox="1"/>
          <p:nvPr/>
        </p:nvSpPr>
        <p:spPr>
          <a:xfrm>
            <a:off x="609600" y="330200"/>
            <a:ext cx="1320800" cy="276999"/>
          </a:xfrm>
          <a:prstGeom prst="rect">
            <a:avLst/>
          </a:prstGeom>
          <a:noFill/>
        </p:spPr>
        <p:txBody>
          <a:bodyPr vert="horz" wrap="square" lIns="0" tIns="0" rIns="0" bIns="0" rtlCol="0">
            <a:noAutofit/>
          </a:bodyPr>
          <a:lstStyle/>
          <a:p>
            <a:pPr algn="ctr"/>
            <a:r>
              <a:rPr lang="en-US" sz="1050" b="1">
                <a:solidFill>
                  <a:srgbClr val="060A12"/>
                </a:solidFill>
                <a:latin typeface="Aptos" panose="020B0004020202020204" pitchFamily="34" charset="0"/>
              </a:rPr>
              <a:t>SHARED CORE</a:t>
            </a:r>
          </a:p>
        </p:txBody>
      </p:sp>
      <p:sp>
        <p:nvSpPr>
          <p:cNvPr id="4" name="TextBox 3">
            <a:extLst>
              <a:ext uri="{FF2B5EF4-FFF2-40B4-BE49-F238E27FC236}">
                <a16:creationId xmlns:a16="http://schemas.microsoft.com/office/drawing/2014/main" id="{78D3279D-66AA-301A-59FE-CFA742E16360}"/>
              </a:ext>
            </a:extLst>
          </p:cNvPr>
          <p:cNvSpPr txBox="1"/>
          <p:nvPr/>
        </p:nvSpPr>
        <p:spPr>
          <a:xfrm>
            <a:off x="533400" y="762000"/>
            <a:ext cx="10414000" cy="276999"/>
          </a:xfrm>
          <a:prstGeom prst="rect">
            <a:avLst/>
          </a:prstGeom>
          <a:noFill/>
        </p:spPr>
        <p:txBody>
          <a:bodyPr vert="horz" wrap="square" lIns="0" tIns="0" rIns="0" bIns="0" rtlCol="0" anchor="t">
            <a:noAutofit/>
          </a:bodyPr>
          <a:lstStyle/>
          <a:p>
            <a:r>
              <a:rPr lang="en-US" sz="2800" b="1">
                <a:solidFill>
                  <a:srgbClr val="F2F5F9"/>
                </a:solidFill>
                <a:latin typeface="Aptos Display" panose="020B0004020202020204" pitchFamily="34" charset="0"/>
              </a:rPr>
              <a:t>Mechanisms become subsystems</a:t>
            </a:r>
            <a:endParaRPr lang="en-US" sz="2800" b="1" dirty="0">
              <a:solidFill>
                <a:srgbClr val="F2F5F9"/>
              </a:solidFill>
              <a:latin typeface="Aptos Display" panose="020B0004020202020204" pitchFamily="34" charset="0"/>
            </a:endParaRPr>
          </a:p>
        </p:txBody>
      </p:sp>
      <p:sp>
        <p:nvSpPr>
          <p:cNvPr id="5" name="TextBox 4">
            <a:extLst>
              <a:ext uri="{FF2B5EF4-FFF2-40B4-BE49-F238E27FC236}">
                <a16:creationId xmlns:a16="http://schemas.microsoft.com/office/drawing/2014/main" id="{B0768357-6E2D-8230-7E36-BA2013532369}"/>
              </a:ext>
            </a:extLst>
          </p:cNvPr>
          <p:cNvSpPr txBox="1"/>
          <p:nvPr/>
        </p:nvSpPr>
        <p:spPr>
          <a:xfrm>
            <a:off x="11226800" y="355600"/>
            <a:ext cx="381000" cy="276999"/>
          </a:xfrm>
          <a:prstGeom prst="rect">
            <a:avLst/>
          </a:prstGeom>
          <a:noFill/>
        </p:spPr>
        <p:txBody>
          <a:bodyPr vert="horz" wrap="square" lIns="0" tIns="0" rIns="0" bIns="0" rtlCol="0" anchor="t">
            <a:noAutofit/>
          </a:bodyPr>
          <a:lstStyle/>
          <a:p>
            <a:pPr algn="r"/>
            <a:r>
              <a:rPr lang="en-US" sz="1000" b="1">
                <a:solidFill>
                  <a:srgbClr val="A9B4C5"/>
                </a:solidFill>
                <a:latin typeface="Aptos" panose="020B0004020202020204" pitchFamily="34" charset="0"/>
              </a:rPr>
              <a:t>08</a:t>
            </a:r>
          </a:p>
        </p:txBody>
      </p:sp>
      <p:cxnSp>
        <p:nvCxnSpPr>
          <p:cNvPr id="6" name="Straight Connector 5">
            <a:extLst>
              <a:ext uri="{FF2B5EF4-FFF2-40B4-BE49-F238E27FC236}">
                <a16:creationId xmlns:a16="http://schemas.microsoft.com/office/drawing/2014/main" id="{AB2F68B9-1AF6-432D-FA94-C091AD351434}"/>
              </a:ext>
            </a:extLst>
          </p:cNvPr>
          <p:cNvCxnSpPr/>
          <p:nvPr/>
        </p:nvCxnSpPr>
        <p:spPr>
          <a:xfrm>
            <a:off x="533400" y="1371600"/>
            <a:ext cx="11125200" cy="0"/>
          </a:xfrm>
          <a:prstGeom prst="line">
            <a:avLst/>
          </a:prstGeom>
          <a:ln w="12700">
            <a:solidFill>
              <a:srgbClr val="1F2C41"/>
            </a:solidFill>
          </a:ln>
        </p:spPr>
        <p:style>
          <a:lnRef idx="1">
            <a:schemeClr val="accent1"/>
          </a:lnRef>
          <a:fillRef idx="0">
            <a:schemeClr val="accent1"/>
          </a:fillRef>
          <a:effectRef idx="0">
            <a:schemeClr val="accent1"/>
          </a:effectRef>
          <a:fontRef idx="minor">
            <a:schemeClr val="tx1"/>
          </a:fontRef>
        </p:style>
      </p:cxnSp>
      <p:sp>
        <p:nvSpPr>
          <p:cNvPr id="7" name="Rectangle: Rounded Corners 6">
            <a:extLst>
              <a:ext uri="{FF2B5EF4-FFF2-40B4-BE49-F238E27FC236}">
                <a16:creationId xmlns:a16="http://schemas.microsoft.com/office/drawing/2014/main" id="{EAEC47C5-2A67-4FD4-2867-A101E3DD3D0C}"/>
              </a:ext>
            </a:extLst>
          </p:cNvPr>
          <p:cNvSpPr/>
          <p:nvPr/>
        </p:nvSpPr>
        <p:spPr>
          <a:xfrm>
            <a:off x="533400" y="1752600"/>
            <a:ext cx="2565400" cy="1422400"/>
          </a:xfrm>
          <a:prstGeom prst="roundRect">
            <a:avLst/>
          </a:prstGeom>
          <a:solidFill>
            <a:srgbClr val="182234"/>
          </a:solidFill>
          <a:ln w="15875">
            <a:solidFill>
              <a:srgbClr val="379D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07433F61-2479-6F52-D3ED-132BF54A8D77}"/>
              </a:ext>
            </a:extLst>
          </p:cNvPr>
          <p:cNvSpPr/>
          <p:nvPr/>
        </p:nvSpPr>
        <p:spPr>
          <a:xfrm>
            <a:off x="533400" y="1752600"/>
            <a:ext cx="76200" cy="1422400"/>
          </a:xfrm>
          <a:prstGeom prst="rect">
            <a:avLst/>
          </a:prstGeom>
          <a:solidFill>
            <a:srgbClr val="379D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FCE5690D-A863-5B48-94FB-83C7F5E7547F}"/>
              </a:ext>
            </a:extLst>
          </p:cNvPr>
          <p:cNvSpPr txBox="1"/>
          <p:nvPr/>
        </p:nvSpPr>
        <p:spPr>
          <a:xfrm>
            <a:off x="1143000" y="2475299"/>
            <a:ext cx="2247900" cy="276999"/>
          </a:xfrm>
          <a:prstGeom prst="rect">
            <a:avLst/>
          </a:prstGeom>
          <a:noFill/>
        </p:spPr>
        <p:txBody>
          <a:bodyPr vert="horz" wrap="square" lIns="0" tIns="0" rIns="0" bIns="0" rtlCol="0" anchor="t">
            <a:noAutofit/>
          </a:bodyPr>
          <a:lstStyle/>
          <a:p>
            <a:r>
              <a:rPr lang="en-US" sz="1600" b="1">
                <a:solidFill>
                  <a:srgbClr val="379DFF"/>
                </a:solidFill>
                <a:latin typeface="Aptos" panose="020B0004020202020204" pitchFamily="34" charset="0"/>
              </a:rPr>
              <a:t>DriveSubsystem</a:t>
            </a:r>
            <a:endParaRPr lang="en-US" sz="1600" b="1" dirty="0">
              <a:solidFill>
                <a:srgbClr val="379DFF"/>
              </a:solidFill>
              <a:latin typeface="Aptos" panose="020B0004020202020204" pitchFamily="34" charset="0"/>
            </a:endParaRPr>
          </a:p>
        </p:txBody>
      </p:sp>
      <p:sp>
        <p:nvSpPr>
          <p:cNvPr id="10" name="TextBox 9">
            <a:extLst>
              <a:ext uri="{FF2B5EF4-FFF2-40B4-BE49-F238E27FC236}">
                <a16:creationId xmlns:a16="http://schemas.microsoft.com/office/drawing/2014/main" id="{45942242-B5E4-884A-7C68-6119E347CBC7}"/>
              </a:ext>
            </a:extLst>
          </p:cNvPr>
          <p:cNvSpPr txBox="1"/>
          <p:nvPr/>
        </p:nvSpPr>
        <p:spPr>
          <a:xfrm>
            <a:off x="1225512" y="2061975"/>
            <a:ext cx="2247900" cy="276999"/>
          </a:xfrm>
          <a:prstGeom prst="rect">
            <a:avLst/>
          </a:prstGeom>
          <a:noFill/>
        </p:spPr>
        <p:txBody>
          <a:bodyPr vert="horz" wrap="square" lIns="0" tIns="0" rIns="0" bIns="0" rtlCol="0" anchor="t">
            <a:noAutofit/>
          </a:bodyPr>
          <a:lstStyle/>
          <a:p>
            <a:r>
              <a:rPr lang="en-US" sz="1200">
                <a:solidFill>
                  <a:srgbClr val="F2F5F9"/>
                </a:solidFill>
                <a:latin typeface="Aptos" panose="020B0004020202020204" pitchFamily="34" charset="0"/>
              </a:rPr>
              <a:t>DRIVETRAIN</a:t>
            </a:r>
            <a:endParaRPr lang="en-US" sz="1200" dirty="0">
              <a:solidFill>
                <a:srgbClr val="F2F5F9"/>
              </a:solidFill>
              <a:latin typeface="Aptos" panose="020B0004020202020204" pitchFamily="34" charset="0"/>
            </a:endParaRPr>
          </a:p>
        </p:txBody>
      </p:sp>
      <p:sp>
        <p:nvSpPr>
          <p:cNvPr id="11" name="Rectangle: Rounded Corners 10">
            <a:extLst>
              <a:ext uri="{FF2B5EF4-FFF2-40B4-BE49-F238E27FC236}">
                <a16:creationId xmlns:a16="http://schemas.microsoft.com/office/drawing/2014/main" id="{0DF1ECDC-82B4-A1D4-80AA-70D1239C07BE}"/>
              </a:ext>
            </a:extLst>
          </p:cNvPr>
          <p:cNvSpPr/>
          <p:nvPr/>
        </p:nvSpPr>
        <p:spPr>
          <a:xfrm>
            <a:off x="3327400" y="1752600"/>
            <a:ext cx="2565400" cy="1422400"/>
          </a:xfrm>
          <a:prstGeom prst="roundRect">
            <a:avLst/>
          </a:prstGeom>
          <a:solidFill>
            <a:srgbClr val="182234"/>
          </a:solidFill>
          <a:ln w="15875">
            <a:solidFill>
              <a:srgbClr val="FFA44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3C7E90C6-963E-B981-F738-340397A6E250}"/>
              </a:ext>
            </a:extLst>
          </p:cNvPr>
          <p:cNvSpPr/>
          <p:nvPr/>
        </p:nvSpPr>
        <p:spPr>
          <a:xfrm>
            <a:off x="3327400" y="1752600"/>
            <a:ext cx="76200" cy="1422400"/>
          </a:xfrm>
          <a:prstGeom prst="rect">
            <a:avLst/>
          </a:prstGeom>
          <a:solidFill>
            <a:srgbClr val="FFA44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DB19457D-A08A-FE1F-77B7-FC8DF2ED882D}"/>
              </a:ext>
            </a:extLst>
          </p:cNvPr>
          <p:cNvSpPr txBox="1"/>
          <p:nvPr/>
        </p:nvSpPr>
        <p:spPr>
          <a:xfrm>
            <a:off x="4413250" y="2528274"/>
            <a:ext cx="2247900" cy="276999"/>
          </a:xfrm>
          <a:prstGeom prst="rect">
            <a:avLst/>
          </a:prstGeom>
          <a:noFill/>
        </p:spPr>
        <p:txBody>
          <a:bodyPr vert="horz" wrap="square" lIns="0" tIns="0" rIns="0" bIns="0" rtlCol="0" anchor="t">
            <a:noAutofit/>
          </a:bodyPr>
          <a:lstStyle/>
          <a:p>
            <a:r>
              <a:rPr lang="en-US" sz="1600" b="1">
                <a:solidFill>
                  <a:srgbClr val="FFA443"/>
                </a:solidFill>
                <a:latin typeface="Aptos" panose="020B0004020202020204" pitchFamily="34" charset="0"/>
              </a:rPr>
              <a:t>BeltSubsystem</a:t>
            </a:r>
            <a:endParaRPr lang="en-US" sz="1600" b="1" dirty="0">
              <a:solidFill>
                <a:srgbClr val="FFA443"/>
              </a:solidFill>
              <a:latin typeface="Aptos" panose="020B0004020202020204" pitchFamily="34" charset="0"/>
            </a:endParaRPr>
          </a:p>
        </p:txBody>
      </p:sp>
      <p:sp>
        <p:nvSpPr>
          <p:cNvPr id="14" name="TextBox 13">
            <a:extLst>
              <a:ext uri="{FF2B5EF4-FFF2-40B4-BE49-F238E27FC236}">
                <a16:creationId xmlns:a16="http://schemas.microsoft.com/office/drawing/2014/main" id="{D194BC23-9FD3-9EA9-432D-2599162376EE}"/>
              </a:ext>
            </a:extLst>
          </p:cNvPr>
          <p:cNvSpPr txBox="1"/>
          <p:nvPr/>
        </p:nvSpPr>
        <p:spPr>
          <a:xfrm>
            <a:off x="4066172" y="2061976"/>
            <a:ext cx="2247900" cy="276999"/>
          </a:xfrm>
          <a:prstGeom prst="rect">
            <a:avLst/>
          </a:prstGeom>
          <a:noFill/>
        </p:spPr>
        <p:txBody>
          <a:bodyPr vert="horz" wrap="square" lIns="0" tIns="0" rIns="0" bIns="0" rtlCol="0" anchor="t">
            <a:noAutofit/>
          </a:bodyPr>
          <a:lstStyle/>
          <a:p>
            <a:r>
              <a:rPr lang="en-US" sz="1200">
                <a:solidFill>
                  <a:srgbClr val="F2F5F9"/>
                </a:solidFill>
                <a:latin typeface="Aptos" panose="020B0004020202020204" pitchFamily="34" charset="0"/>
              </a:rPr>
              <a:t>BELT</a:t>
            </a:r>
            <a:endParaRPr lang="en-US" sz="1200" dirty="0">
              <a:solidFill>
                <a:srgbClr val="F2F5F9"/>
              </a:solidFill>
              <a:latin typeface="Aptos" panose="020B0004020202020204" pitchFamily="34" charset="0"/>
            </a:endParaRPr>
          </a:p>
        </p:txBody>
      </p:sp>
      <p:sp>
        <p:nvSpPr>
          <p:cNvPr id="15" name="Rectangle: Rounded Corners 14">
            <a:extLst>
              <a:ext uri="{FF2B5EF4-FFF2-40B4-BE49-F238E27FC236}">
                <a16:creationId xmlns:a16="http://schemas.microsoft.com/office/drawing/2014/main" id="{1CA48C63-4D16-82B7-611C-13D1C1C19DB2}"/>
              </a:ext>
            </a:extLst>
          </p:cNvPr>
          <p:cNvSpPr/>
          <p:nvPr/>
        </p:nvSpPr>
        <p:spPr>
          <a:xfrm>
            <a:off x="6121400" y="1752600"/>
            <a:ext cx="2565400" cy="1422400"/>
          </a:xfrm>
          <a:prstGeom prst="roundRect">
            <a:avLst/>
          </a:prstGeom>
          <a:solidFill>
            <a:srgbClr val="182234"/>
          </a:solidFill>
          <a:ln w="15875">
            <a:solidFill>
              <a:srgbClr val="3ECF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CB9C500-6F36-64E3-3A04-D60A0BABA4F4}"/>
              </a:ext>
            </a:extLst>
          </p:cNvPr>
          <p:cNvSpPr/>
          <p:nvPr/>
        </p:nvSpPr>
        <p:spPr>
          <a:xfrm>
            <a:off x="6121400" y="1752600"/>
            <a:ext cx="76200" cy="1422400"/>
          </a:xfrm>
          <a:prstGeom prst="rect">
            <a:avLst/>
          </a:prstGeom>
          <a:solidFill>
            <a:srgbClr val="3ECF8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9DCB5922-A238-2DDC-FAF2-DCAACAAC72E2}"/>
              </a:ext>
            </a:extLst>
          </p:cNvPr>
          <p:cNvSpPr txBox="1"/>
          <p:nvPr/>
        </p:nvSpPr>
        <p:spPr>
          <a:xfrm>
            <a:off x="6889750" y="2516851"/>
            <a:ext cx="2247900" cy="276999"/>
          </a:xfrm>
          <a:prstGeom prst="rect">
            <a:avLst/>
          </a:prstGeom>
          <a:noFill/>
        </p:spPr>
        <p:txBody>
          <a:bodyPr vert="horz" wrap="square" lIns="0" tIns="0" rIns="0" bIns="0" rtlCol="0" anchor="t">
            <a:noAutofit/>
          </a:bodyPr>
          <a:lstStyle/>
          <a:p>
            <a:r>
              <a:rPr lang="en-US" sz="1600" b="1">
                <a:solidFill>
                  <a:srgbClr val="3ECF8E"/>
                </a:solidFill>
                <a:latin typeface="Aptos" panose="020B0004020202020204" pitchFamily="34" charset="0"/>
              </a:rPr>
              <a:t>RollerSubsystem</a:t>
            </a:r>
            <a:endParaRPr lang="en-US" sz="1600" b="1" dirty="0">
              <a:solidFill>
                <a:srgbClr val="3ECF8E"/>
              </a:solidFill>
              <a:latin typeface="Aptos" panose="020B0004020202020204" pitchFamily="34" charset="0"/>
            </a:endParaRPr>
          </a:p>
        </p:txBody>
      </p:sp>
      <p:sp>
        <p:nvSpPr>
          <p:cNvPr id="18" name="TextBox 17">
            <a:extLst>
              <a:ext uri="{FF2B5EF4-FFF2-40B4-BE49-F238E27FC236}">
                <a16:creationId xmlns:a16="http://schemas.microsoft.com/office/drawing/2014/main" id="{C61F547D-9A64-5313-EB0B-E5B955C4A73E}"/>
              </a:ext>
            </a:extLst>
          </p:cNvPr>
          <p:cNvSpPr txBox="1"/>
          <p:nvPr/>
        </p:nvSpPr>
        <p:spPr>
          <a:xfrm>
            <a:off x="6740525" y="2063414"/>
            <a:ext cx="2247900" cy="276999"/>
          </a:xfrm>
          <a:prstGeom prst="rect">
            <a:avLst/>
          </a:prstGeom>
          <a:noFill/>
        </p:spPr>
        <p:txBody>
          <a:bodyPr vert="horz" wrap="square" lIns="0" tIns="0" rIns="0" bIns="0" rtlCol="0" anchor="t">
            <a:noAutofit/>
          </a:bodyPr>
          <a:lstStyle/>
          <a:p>
            <a:r>
              <a:rPr lang="en-US" sz="1200">
                <a:solidFill>
                  <a:srgbClr val="F2F5F9"/>
                </a:solidFill>
                <a:latin typeface="Aptos" panose="020B0004020202020204" pitchFamily="34" charset="0"/>
              </a:rPr>
              <a:t>ROLLER</a:t>
            </a:r>
            <a:endParaRPr lang="en-US" sz="1200" dirty="0">
              <a:solidFill>
                <a:srgbClr val="F2F5F9"/>
              </a:solidFill>
              <a:latin typeface="Aptos" panose="020B0004020202020204" pitchFamily="34" charset="0"/>
            </a:endParaRPr>
          </a:p>
        </p:txBody>
      </p:sp>
      <p:sp>
        <p:nvSpPr>
          <p:cNvPr id="19" name="Rectangle: Rounded Corners 18">
            <a:extLst>
              <a:ext uri="{FF2B5EF4-FFF2-40B4-BE49-F238E27FC236}">
                <a16:creationId xmlns:a16="http://schemas.microsoft.com/office/drawing/2014/main" id="{457ACD73-7BCD-BB1D-7121-036884300117}"/>
              </a:ext>
            </a:extLst>
          </p:cNvPr>
          <p:cNvSpPr/>
          <p:nvPr/>
        </p:nvSpPr>
        <p:spPr>
          <a:xfrm>
            <a:off x="8915400" y="1752600"/>
            <a:ext cx="2743200" cy="1422400"/>
          </a:xfrm>
          <a:prstGeom prst="roundRect">
            <a:avLst/>
          </a:prstGeom>
          <a:solidFill>
            <a:srgbClr val="182234"/>
          </a:solidFill>
          <a:ln w="15875">
            <a:solidFill>
              <a:srgbClr val="FF64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ectangle 19">
            <a:extLst>
              <a:ext uri="{FF2B5EF4-FFF2-40B4-BE49-F238E27FC236}">
                <a16:creationId xmlns:a16="http://schemas.microsoft.com/office/drawing/2014/main" id="{4EFBECD0-6C24-6564-F3EE-104A1785575B}"/>
              </a:ext>
            </a:extLst>
          </p:cNvPr>
          <p:cNvSpPr/>
          <p:nvPr/>
        </p:nvSpPr>
        <p:spPr>
          <a:xfrm>
            <a:off x="8915400" y="1752600"/>
            <a:ext cx="76200" cy="1422400"/>
          </a:xfrm>
          <a:prstGeom prst="rect">
            <a:avLst/>
          </a:prstGeom>
          <a:solidFill>
            <a:srgbClr val="FF646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91C592A1-3C80-2484-4B98-206CE5791DD7}"/>
              </a:ext>
            </a:extLst>
          </p:cNvPr>
          <p:cNvSpPr txBox="1"/>
          <p:nvPr/>
        </p:nvSpPr>
        <p:spPr>
          <a:xfrm>
            <a:off x="9836150" y="2528275"/>
            <a:ext cx="2425700" cy="276999"/>
          </a:xfrm>
          <a:prstGeom prst="rect">
            <a:avLst/>
          </a:prstGeom>
          <a:noFill/>
        </p:spPr>
        <p:txBody>
          <a:bodyPr vert="horz" wrap="square" lIns="0" tIns="0" rIns="0" bIns="0" rtlCol="0" anchor="t">
            <a:noAutofit/>
          </a:bodyPr>
          <a:lstStyle/>
          <a:p>
            <a:r>
              <a:rPr lang="en-US" sz="1600" b="1">
                <a:solidFill>
                  <a:srgbClr val="FF6464"/>
                </a:solidFill>
                <a:latin typeface="Aptos" panose="020B0004020202020204" pitchFamily="34" charset="0"/>
              </a:rPr>
              <a:t>ClimberSubsystem</a:t>
            </a:r>
            <a:endParaRPr lang="en-US" sz="1600" b="1" dirty="0">
              <a:solidFill>
                <a:srgbClr val="FF6464"/>
              </a:solidFill>
              <a:latin typeface="Aptos" panose="020B0004020202020204" pitchFamily="34" charset="0"/>
            </a:endParaRPr>
          </a:p>
        </p:txBody>
      </p:sp>
      <p:sp>
        <p:nvSpPr>
          <p:cNvPr id="22" name="TextBox 21">
            <a:extLst>
              <a:ext uri="{FF2B5EF4-FFF2-40B4-BE49-F238E27FC236}">
                <a16:creationId xmlns:a16="http://schemas.microsoft.com/office/drawing/2014/main" id="{D11F8B17-75FE-4011-C6D3-7175621A6462}"/>
              </a:ext>
            </a:extLst>
          </p:cNvPr>
          <p:cNvSpPr txBox="1"/>
          <p:nvPr/>
        </p:nvSpPr>
        <p:spPr>
          <a:xfrm>
            <a:off x="9534525" y="2066151"/>
            <a:ext cx="2425700" cy="276999"/>
          </a:xfrm>
          <a:prstGeom prst="rect">
            <a:avLst/>
          </a:prstGeom>
          <a:noFill/>
        </p:spPr>
        <p:txBody>
          <a:bodyPr vert="horz" wrap="square" lIns="0" tIns="0" rIns="0" bIns="0" rtlCol="0" anchor="t">
            <a:noAutofit/>
          </a:bodyPr>
          <a:lstStyle/>
          <a:p>
            <a:r>
              <a:rPr lang="en-US" sz="1200">
                <a:solidFill>
                  <a:srgbClr val="F2F5F9"/>
                </a:solidFill>
                <a:latin typeface="Aptos" panose="020B0004020202020204" pitchFamily="34" charset="0"/>
              </a:rPr>
              <a:t>CLIMBER</a:t>
            </a:r>
            <a:endParaRPr lang="en-US" sz="1200" dirty="0">
              <a:solidFill>
                <a:srgbClr val="F2F5F9"/>
              </a:solidFill>
              <a:latin typeface="Aptos" panose="020B0004020202020204" pitchFamily="34" charset="0"/>
            </a:endParaRPr>
          </a:p>
        </p:txBody>
      </p:sp>
      <p:sp>
        <p:nvSpPr>
          <p:cNvPr id="23" name="TextBox 22">
            <a:extLst>
              <a:ext uri="{FF2B5EF4-FFF2-40B4-BE49-F238E27FC236}">
                <a16:creationId xmlns:a16="http://schemas.microsoft.com/office/drawing/2014/main" id="{55D66ACE-8752-D6E6-47DE-A925931EF0AF}"/>
              </a:ext>
            </a:extLst>
          </p:cNvPr>
          <p:cNvSpPr txBox="1"/>
          <p:nvPr/>
        </p:nvSpPr>
        <p:spPr>
          <a:xfrm>
            <a:off x="1143000" y="3886200"/>
            <a:ext cx="9906000" cy="276999"/>
          </a:xfrm>
          <a:prstGeom prst="rect">
            <a:avLst/>
          </a:prstGeom>
          <a:noFill/>
        </p:spPr>
        <p:txBody>
          <a:bodyPr vert="horz" wrap="square" lIns="0" tIns="0" rIns="0" bIns="0" rtlCol="0" anchor="t">
            <a:noAutofit/>
          </a:bodyPr>
          <a:lstStyle/>
          <a:p>
            <a:pPr algn="ctr"/>
            <a:r>
              <a:rPr lang="en-US" sz="2200" b="1">
                <a:solidFill>
                  <a:srgbClr val="F2F5F9"/>
                </a:solidFill>
                <a:latin typeface="Aptos Display" panose="020B0004020202020204" pitchFamily="34" charset="0"/>
              </a:rPr>
              <a:t>A subsystem is the software class responsible for one independently controlled mechanism.</a:t>
            </a:r>
          </a:p>
        </p:txBody>
      </p:sp>
      <p:cxnSp>
        <p:nvCxnSpPr>
          <p:cNvPr id="24" name="Straight Connector 23">
            <a:extLst>
              <a:ext uri="{FF2B5EF4-FFF2-40B4-BE49-F238E27FC236}">
                <a16:creationId xmlns:a16="http://schemas.microsoft.com/office/drawing/2014/main" id="{2357108B-D269-7316-5DD6-18B769189314}"/>
              </a:ext>
            </a:extLst>
          </p:cNvPr>
          <p:cNvCxnSpPr/>
          <p:nvPr/>
        </p:nvCxnSpPr>
        <p:spPr>
          <a:xfrm>
            <a:off x="1816100" y="3429000"/>
            <a:ext cx="0" cy="330200"/>
          </a:xfrm>
          <a:prstGeom prst="line">
            <a:avLst/>
          </a:prstGeom>
          <a:ln w="25400">
            <a:solidFill>
              <a:srgbClr val="379DFF"/>
            </a:solidFill>
            <a:tailEnd type="arrow"/>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47D4AFFB-D860-9E6B-C030-9EA009D75A73}"/>
              </a:ext>
            </a:extLst>
          </p:cNvPr>
          <p:cNvCxnSpPr/>
          <p:nvPr/>
        </p:nvCxnSpPr>
        <p:spPr>
          <a:xfrm>
            <a:off x="4610100" y="3429000"/>
            <a:ext cx="0" cy="330200"/>
          </a:xfrm>
          <a:prstGeom prst="line">
            <a:avLst/>
          </a:prstGeom>
          <a:ln w="25400">
            <a:solidFill>
              <a:srgbClr val="FFA443"/>
            </a:solidFill>
            <a:tailEnd type="arrow"/>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026066CD-C1B4-B6DF-BDA8-C1E34493326A}"/>
              </a:ext>
            </a:extLst>
          </p:cNvPr>
          <p:cNvCxnSpPr/>
          <p:nvPr/>
        </p:nvCxnSpPr>
        <p:spPr>
          <a:xfrm>
            <a:off x="7404100" y="3429000"/>
            <a:ext cx="0" cy="330200"/>
          </a:xfrm>
          <a:prstGeom prst="line">
            <a:avLst/>
          </a:prstGeom>
          <a:ln w="25400">
            <a:solidFill>
              <a:srgbClr val="3ECF8E"/>
            </a:solidFill>
            <a:tailEnd type="arrow"/>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6E3BEE55-55FC-3478-93C3-B928B8F7FD3F}"/>
              </a:ext>
            </a:extLst>
          </p:cNvPr>
          <p:cNvCxnSpPr/>
          <p:nvPr/>
        </p:nvCxnSpPr>
        <p:spPr>
          <a:xfrm>
            <a:off x="10287000" y="3429000"/>
            <a:ext cx="0" cy="330200"/>
          </a:xfrm>
          <a:prstGeom prst="line">
            <a:avLst/>
          </a:prstGeom>
          <a:ln w="25400">
            <a:solidFill>
              <a:srgbClr val="FF6464"/>
            </a:solidFill>
            <a:tailEnd type="arrow"/>
          </a:ln>
        </p:spPr>
        <p:style>
          <a:lnRef idx="1">
            <a:schemeClr val="accent1"/>
          </a:lnRef>
          <a:fillRef idx="0">
            <a:schemeClr val="accent1"/>
          </a:fillRef>
          <a:effectRef idx="0">
            <a:schemeClr val="accent1"/>
          </a:effectRef>
          <a:fontRef idx="minor">
            <a:schemeClr val="tx1"/>
          </a:fontRef>
        </p:style>
      </p:cxnSp>
      <p:sp>
        <p:nvSpPr>
          <p:cNvPr id="28" name="Rectangle: Rounded Corners 27">
            <a:extLst>
              <a:ext uri="{FF2B5EF4-FFF2-40B4-BE49-F238E27FC236}">
                <a16:creationId xmlns:a16="http://schemas.microsoft.com/office/drawing/2014/main" id="{3ABEEA56-D992-F356-9CF6-8C77FC574C54}"/>
              </a:ext>
            </a:extLst>
          </p:cNvPr>
          <p:cNvSpPr/>
          <p:nvPr/>
        </p:nvSpPr>
        <p:spPr>
          <a:xfrm>
            <a:off x="533400" y="6261100"/>
            <a:ext cx="11125200" cy="533400"/>
          </a:xfrm>
          <a:prstGeom prst="roundRect">
            <a:avLst/>
          </a:prstGeom>
          <a:solidFill>
            <a:srgbClr val="18223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Rounded Corners 28">
            <a:extLst>
              <a:ext uri="{FF2B5EF4-FFF2-40B4-BE49-F238E27FC236}">
                <a16:creationId xmlns:a16="http://schemas.microsoft.com/office/drawing/2014/main" id="{EF62CEA9-3063-EBAC-BCC0-A2684FEDA5ED}"/>
              </a:ext>
            </a:extLst>
          </p:cNvPr>
          <p:cNvSpPr/>
          <p:nvPr/>
        </p:nvSpPr>
        <p:spPr>
          <a:xfrm>
            <a:off x="660400" y="6362700"/>
            <a:ext cx="1473200" cy="330200"/>
          </a:xfrm>
          <a:prstGeom prst="roundRect">
            <a:avLst/>
          </a:prstGeom>
          <a:solidFill>
            <a:srgbClr val="35CBB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C66F1502-5680-55ED-A227-DC79A753E205}"/>
              </a:ext>
            </a:extLst>
          </p:cNvPr>
          <p:cNvSpPr txBox="1"/>
          <p:nvPr/>
        </p:nvSpPr>
        <p:spPr>
          <a:xfrm>
            <a:off x="736600" y="6400800"/>
            <a:ext cx="1320800" cy="276999"/>
          </a:xfrm>
          <a:prstGeom prst="rect">
            <a:avLst/>
          </a:prstGeom>
          <a:noFill/>
        </p:spPr>
        <p:txBody>
          <a:bodyPr vert="horz" wrap="square" lIns="0" tIns="0" rIns="0" bIns="0" rtlCol="0">
            <a:noAutofit/>
          </a:bodyPr>
          <a:lstStyle/>
          <a:p>
            <a:pPr algn="ctr"/>
            <a:r>
              <a:rPr lang="en-US" sz="1050" b="1">
                <a:solidFill>
                  <a:srgbClr val="060A12"/>
                </a:solidFill>
                <a:latin typeface="Aptos" panose="020B0004020202020204" pitchFamily="34" charset="0"/>
              </a:rPr>
              <a:t>PREDICT</a:t>
            </a:r>
          </a:p>
        </p:txBody>
      </p:sp>
      <p:sp>
        <p:nvSpPr>
          <p:cNvPr id="31" name="TextBox 30">
            <a:extLst>
              <a:ext uri="{FF2B5EF4-FFF2-40B4-BE49-F238E27FC236}">
                <a16:creationId xmlns:a16="http://schemas.microsoft.com/office/drawing/2014/main" id="{2CEEF3F0-808C-9A78-556F-686FFF2BFCE7}"/>
              </a:ext>
            </a:extLst>
          </p:cNvPr>
          <p:cNvSpPr txBox="1"/>
          <p:nvPr/>
        </p:nvSpPr>
        <p:spPr>
          <a:xfrm>
            <a:off x="2286000" y="6362700"/>
            <a:ext cx="9207500" cy="276999"/>
          </a:xfrm>
          <a:prstGeom prst="rect">
            <a:avLst/>
          </a:prstGeom>
          <a:noFill/>
        </p:spPr>
        <p:txBody>
          <a:bodyPr vert="horz" wrap="square" lIns="0" tIns="0" rIns="0" bIns="0" rtlCol="0" anchor="t">
            <a:noAutofit/>
          </a:bodyPr>
          <a:lstStyle/>
          <a:p>
            <a:r>
              <a:rPr lang="en-US" sz="1300">
                <a:solidFill>
                  <a:srgbClr val="F2F5F9"/>
                </a:solidFill>
                <a:latin typeface="Aptos" panose="020B0004020202020204" pitchFamily="34" charset="0"/>
              </a:rPr>
              <a:t>Which subsystem should own the belt motor and call beltMotor.set(...)?</a:t>
            </a:r>
            <a:endParaRPr lang="en-US" sz="1300" dirty="0">
              <a:solidFill>
                <a:srgbClr val="F2F5F9"/>
              </a:solidFill>
              <a:latin typeface="Aptos" panose="020B0004020202020204" pitchFamily="34" charset="0"/>
            </a:endParaRPr>
          </a:p>
        </p:txBody>
      </p:sp>
      <p:sp>
        <p:nvSpPr>
          <p:cNvPr id="32" name="TextBox 31">
            <a:extLst>
              <a:ext uri="{FF2B5EF4-FFF2-40B4-BE49-F238E27FC236}">
                <a16:creationId xmlns:a16="http://schemas.microsoft.com/office/drawing/2014/main" id="{EBB4AE65-6D5B-54CC-769B-875FF6A32AFA}"/>
              </a:ext>
            </a:extLst>
          </p:cNvPr>
          <p:cNvSpPr txBox="1"/>
          <p:nvPr/>
        </p:nvSpPr>
        <p:spPr>
          <a:xfrm>
            <a:off x="9017000" y="6908800"/>
            <a:ext cx="2641600" cy="276999"/>
          </a:xfrm>
          <a:prstGeom prst="rect">
            <a:avLst/>
          </a:prstGeom>
          <a:noFill/>
        </p:spPr>
        <p:txBody>
          <a:bodyPr vert="horz" wrap="square" lIns="0" tIns="0" rIns="0" bIns="0" rtlCol="0" anchor="t">
            <a:noAutofit/>
          </a:bodyPr>
          <a:lstStyle/>
          <a:p>
            <a:pPr algn="r"/>
            <a:r>
              <a:rPr lang="en-US" sz="850">
                <a:solidFill>
                  <a:srgbClr val="A9B4C5"/>
                </a:solidFill>
                <a:latin typeface="Aptos" panose="020B0004020202020204" pitchFamily="34" charset="0"/>
              </a:rPr>
              <a:t>CURRENT ROBOT IMPLEMENTATION • V2</a:t>
            </a:r>
          </a:p>
        </p:txBody>
      </p:sp>
    </p:spTree>
    <p:extLst>
      <p:ext uri="{BB962C8B-B14F-4D97-AF65-F5344CB8AC3E}">
        <p14:creationId xmlns:p14="http://schemas.microsoft.com/office/powerpoint/2010/main" val="23922891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D1421"/>
        </a:solidFill>
        <a:effectLst/>
      </p:bgPr>
    </p:bg>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885DF2FA-0391-79E8-D98F-C1EF3BEC4A0B}"/>
              </a:ext>
            </a:extLst>
          </p:cNvPr>
          <p:cNvSpPr/>
          <p:nvPr/>
        </p:nvSpPr>
        <p:spPr>
          <a:xfrm>
            <a:off x="533400" y="292100"/>
            <a:ext cx="1473200" cy="330200"/>
          </a:xfrm>
          <a:prstGeom prst="roundRect">
            <a:avLst/>
          </a:prstGeom>
          <a:solidFill>
            <a:srgbClr val="379D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5335FE65-DCF0-6BDC-85E2-DE5DDCCEE42C}"/>
              </a:ext>
            </a:extLst>
          </p:cNvPr>
          <p:cNvSpPr txBox="1"/>
          <p:nvPr/>
        </p:nvSpPr>
        <p:spPr>
          <a:xfrm>
            <a:off x="609600" y="330200"/>
            <a:ext cx="1320800" cy="276999"/>
          </a:xfrm>
          <a:prstGeom prst="rect">
            <a:avLst/>
          </a:prstGeom>
          <a:noFill/>
        </p:spPr>
        <p:txBody>
          <a:bodyPr vert="horz" wrap="square" lIns="0" tIns="0" rIns="0" bIns="0" rtlCol="0">
            <a:noAutofit/>
          </a:bodyPr>
          <a:lstStyle/>
          <a:p>
            <a:pPr algn="ctr"/>
            <a:r>
              <a:rPr lang="en-US" sz="1050" b="1">
                <a:solidFill>
                  <a:srgbClr val="060A12"/>
                </a:solidFill>
                <a:latin typeface="Aptos" panose="020B0004020202020204" pitchFamily="34" charset="0"/>
              </a:rPr>
              <a:t>SHARED CORE</a:t>
            </a:r>
          </a:p>
        </p:txBody>
      </p:sp>
      <p:sp>
        <p:nvSpPr>
          <p:cNvPr id="4" name="TextBox 3">
            <a:extLst>
              <a:ext uri="{FF2B5EF4-FFF2-40B4-BE49-F238E27FC236}">
                <a16:creationId xmlns:a16="http://schemas.microsoft.com/office/drawing/2014/main" id="{86E19A66-3157-F356-F749-659C777F565B}"/>
              </a:ext>
            </a:extLst>
          </p:cNvPr>
          <p:cNvSpPr txBox="1"/>
          <p:nvPr/>
        </p:nvSpPr>
        <p:spPr>
          <a:xfrm>
            <a:off x="533400" y="762000"/>
            <a:ext cx="10414000" cy="276999"/>
          </a:xfrm>
          <a:prstGeom prst="rect">
            <a:avLst/>
          </a:prstGeom>
          <a:noFill/>
        </p:spPr>
        <p:txBody>
          <a:bodyPr vert="horz" wrap="square" lIns="0" tIns="0" rIns="0" bIns="0" rtlCol="0" anchor="t">
            <a:noAutofit/>
          </a:bodyPr>
          <a:lstStyle/>
          <a:p>
            <a:r>
              <a:rPr lang="en-US" sz="2800" b="1" dirty="0">
                <a:solidFill>
                  <a:srgbClr val="F2F5F9"/>
                </a:solidFill>
                <a:latin typeface="Aptos Display" panose="020B0004020202020204" pitchFamily="34" charset="0"/>
              </a:rPr>
              <a:t>Subsystem Example - </a:t>
            </a:r>
            <a:r>
              <a:rPr lang="en-US" sz="2800" b="1" dirty="0" err="1">
                <a:solidFill>
                  <a:srgbClr val="F2F5F9"/>
                </a:solidFill>
                <a:latin typeface="Aptos Display" panose="020B0004020202020204" pitchFamily="34" charset="0"/>
              </a:rPr>
              <a:t>BeltSubsystem</a:t>
            </a:r>
            <a:endParaRPr lang="en-US" sz="2800" b="1" dirty="0">
              <a:solidFill>
                <a:srgbClr val="F2F5F9"/>
              </a:solidFill>
              <a:latin typeface="Aptos Display" panose="020B0004020202020204" pitchFamily="34" charset="0"/>
            </a:endParaRPr>
          </a:p>
        </p:txBody>
      </p:sp>
      <p:sp>
        <p:nvSpPr>
          <p:cNvPr id="5" name="TextBox 4">
            <a:extLst>
              <a:ext uri="{FF2B5EF4-FFF2-40B4-BE49-F238E27FC236}">
                <a16:creationId xmlns:a16="http://schemas.microsoft.com/office/drawing/2014/main" id="{79448505-6B59-8264-A4B7-96138EEC6828}"/>
              </a:ext>
            </a:extLst>
          </p:cNvPr>
          <p:cNvSpPr txBox="1"/>
          <p:nvPr/>
        </p:nvSpPr>
        <p:spPr>
          <a:xfrm>
            <a:off x="11226800" y="355600"/>
            <a:ext cx="381000" cy="276999"/>
          </a:xfrm>
          <a:prstGeom prst="rect">
            <a:avLst/>
          </a:prstGeom>
          <a:noFill/>
        </p:spPr>
        <p:txBody>
          <a:bodyPr vert="horz" wrap="square" lIns="0" tIns="0" rIns="0" bIns="0" rtlCol="0" anchor="t">
            <a:noAutofit/>
          </a:bodyPr>
          <a:lstStyle/>
          <a:p>
            <a:pPr algn="r"/>
            <a:r>
              <a:rPr lang="en-US" sz="1000" b="1">
                <a:solidFill>
                  <a:srgbClr val="A9B4C5"/>
                </a:solidFill>
                <a:latin typeface="Aptos" panose="020B0004020202020204" pitchFamily="34" charset="0"/>
              </a:rPr>
              <a:t>09</a:t>
            </a:r>
          </a:p>
        </p:txBody>
      </p:sp>
      <p:cxnSp>
        <p:nvCxnSpPr>
          <p:cNvPr id="6" name="Straight Connector 5">
            <a:extLst>
              <a:ext uri="{FF2B5EF4-FFF2-40B4-BE49-F238E27FC236}">
                <a16:creationId xmlns:a16="http://schemas.microsoft.com/office/drawing/2014/main" id="{A56CBA92-5EB7-8037-1457-CBBDE599E45E}"/>
              </a:ext>
            </a:extLst>
          </p:cNvPr>
          <p:cNvCxnSpPr/>
          <p:nvPr/>
        </p:nvCxnSpPr>
        <p:spPr>
          <a:xfrm>
            <a:off x="533400" y="1371600"/>
            <a:ext cx="11125200" cy="0"/>
          </a:xfrm>
          <a:prstGeom prst="line">
            <a:avLst/>
          </a:prstGeom>
          <a:ln w="12700">
            <a:solidFill>
              <a:srgbClr val="1F2C41"/>
            </a:solidFill>
          </a:ln>
        </p:spPr>
        <p:style>
          <a:lnRef idx="1">
            <a:schemeClr val="accent1"/>
          </a:lnRef>
          <a:fillRef idx="0">
            <a:schemeClr val="accent1"/>
          </a:fillRef>
          <a:effectRef idx="0">
            <a:schemeClr val="accent1"/>
          </a:effectRef>
          <a:fontRef idx="minor">
            <a:schemeClr val="tx1"/>
          </a:fontRef>
        </p:style>
      </p:cxnSp>
      <p:sp>
        <p:nvSpPr>
          <p:cNvPr id="7" name="Rectangle: Rounded Corners 6">
            <a:extLst>
              <a:ext uri="{FF2B5EF4-FFF2-40B4-BE49-F238E27FC236}">
                <a16:creationId xmlns:a16="http://schemas.microsoft.com/office/drawing/2014/main" id="{5F52153B-9CF4-313F-3517-C6CEE7F529B5}"/>
              </a:ext>
            </a:extLst>
          </p:cNvPr>
          <p:cNvSpPr/>
          <p:nvPr/>
        </p:nvSpPr>
        <p:spPr>
          <a:xfrm>
            <a:off x="584200" y="1676400"/>
            <a:ext cx="6604000" cy="3022600"/>
          </a:xfrm>
          <a:prstGeom prst="roundRect">
            <a:avLst/>
          </a:prstGeom>
          <a:solidFill>
            <a:srgbClr val="060A12"/>
          </a:solidFill>
          <a:ln w="15875">
            <a:solidFill>
              <a:srgbClr val="1F2C4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C4546A91-5B18-8F52-1333-2E89EAB907F3}"/>
              </a:ext>
            </a:extLst>
          </p:cNvPr>
          <p:cNvSpPr/>
          <p:nvPr/>
        </p:nvSpPr>
        <p:spPr>
          <a:xfrm>
            <a:off x="584200" y="1676400"/>
            <a:ext cx="88900" cy="3022600"/>
          </a:xfrm>
          <a:prstGeom prst="rect">
            <a:avLst/>
          </a:prstGeom>
          <a:solidFill>
            <a:srgbClr val="3ECF8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5C5688A8-62A9-427B-060A-4237249285D2}"/>
              </a:ext>
            </a:extLst>
          </p:cNvPr>
          <p:cNvSpPr txBox="1"/>
          <p:nvPr/>
        </p:nvSpPr>
        <p:spPr>
          <a:xfrm>
            <a:off x="812800" y="1828800"/>
            <a:ext cx="6223000" cy="276999"/>
          </a:xfrm>
          <a:prstGeom prst="rect">
            <a:avLst/>
          </a:prstGeom>
          <a:noFill/>
        </p:spPr>
        <p:txBody>
          <a:bodyPr vert="horz" wrap="square" lIns="0" tIns="0" rIns="0" bIns="0" rtlCol="0" anchor="t">
            <a:noAutofit/>
          </a:bodyPr>
          <a:lstStyle/>
          <a:p>
            <a:r>
              <a:rPr lang="en-US" sz="1450" dirty="0">
                <a:solidFill>
                  <a:srgbClr val="F2F5F9"/>
                </a:solidFill>
                <a:latin typeface="Consolas" panose="020B0609020204030204" pitchFamily="49" charset="0"/>
              </a:rPr>
              <a:t>public </a:t>
            </a:r>
            <a:r>
              <a:rPr lang="en-US" sz="1450" dirty="0" err="1">
                <a:solidFill>
                  <a:srgbClr val="F2F5F9"/>
                </a:solidFill>
                <a:latin typeface="Consolas" panose="020B0609020204030204" pitchFamily="49" charset="0"/>
              </a:rPr>
              <a:t>BeltSubsystem</a:t>
            </a:r>
            <a:r>
              <a:rPr lang="en-US" sz="1450" dirty="0">
                <a:solidFill>
                  <a:srgbClr val="F2F5F9"/>
                </a:solidFill>
                <a:latin typeface="Consolas" panose="020B0609020204030204" pitchFamily="49" charset="0"/>
              </a:rPr>
              <a:t>() {</a:t>
            </a:r>
          </a:p>
          <a:p>
            <a:r>
              <a:rPr lang="en-US" sz="1450" dirty="0">
                <a:solidFill>
                  <a:srgbClr val="F2F5F9"/>
                </a:solidFill>
                <a:latin typeface="Consolas" panose="020B0609020204030204" pitchFamily="49" charset="0"/>
              </a:rPr>
              <a:t>    </a:t>
            </a:r>
            <a:r>
              <a:rPr lang="en-US" sz="1450" dirty="0" err="1">
                <a:solidFill>
                  <a:srgbClr val="F2F5F9"/>
                </a:solidFill>
                <a:latin typeface="Consolas" panose="020B0609020204030204" pitchFamily="49" charset="0"/>
              </a:rPr>
              <a:t>beltMotor</a:t>
            </a:r>
            <a:r>
              <a:rPr lang="en-US" sz="1450" dirty="0">
                <a:solidFill>
                  <a:srgbClr val="F2F5F9"/>
                </a:solidFill>
                <a:latin typeface="Consolas" panose="020B0609020204030204" pitchFamily="49" charset="0"/>
              </a:rPr>
              <a:t> = new Talon(</a:t>
            </a:r>
            <a:r>
              <a:rPr lang="en-US" sz="1450" dirty="0" err="1">
                <a:solidFill>
                  <a:srgbClr val="F2F5F9"/>
                </a:solidFill>
                <a:latin typeface="Consolas" panose="020B0609020204030204" pitchFamily="49" charset="0"/>
              </a:rPr>
              <a:t>Constants.Hardware.PWM_BELT</a:t>
            </a:r>
            <a:r>
              <a:rPr lang="en-US" sz="1450" dirty="0">
                <a:solidFill>
                  <a:srgbClr val="F2F5F9"/>
                </a:solidFill>
                <a:latin typeface="Consolas" panose="020B0609020204030204" pitchFamily="49" charset="0"/>
              </a:rPr>
              <a:t>);</a:t>
            </a:r>
          </a:p>
          <a:p>
            <a:r>
              <a:rPr lang="en-US" sz="1450" dirty="0">
                <a:solidFill>
                  <a:srgbClr val="F2F5F9"/>
                </a:solidFill>
                <a:latin typeface="Consolas" panose="020B0609020204030204" pitchFamily="49" charset="0"/>
              </a:rPr>
              <a:t>}</a:t>
            </a:r>
          </a:p>
          <a:p>
            <a:endParaRPr lang="en-US" sz="1450" dirty="0">
              <a:solidFill>
                <a:srgbClr val="F2F5F9"/>
              </a:solidFill>
              <a:latin typeface="Consolas" panose="020B0609020204030204" pitchFamily="49" charset="0"/>
            </a:endParaRPr>
          </a:p>
          <a:p>
            <a:r>
              <a:rPr lang="en-US" sz="1450" dirty="0">
                <a:solidFill>
                  <a:srgbClr val="F2F5F9"/>
                </a:solidFill>
                <a:latin typeface="Consolas" panose="020B0609020204030204" pitchFamily="49" charset="0"/>
              </a:rPr>
              <a:t>public void run(double speed) {</a:t>
            </a:r>
          </a:p>
          <a:p>
            <a:r>
              <a:rPr lang="en-US" sz="1450" dirty="0">
                <a:solidFill>
                  <a:srgbClr val="F2F5F9"/>
                </a:solidFill>
                <a:latin typeface="Consolas" panose="020B0609020204030204" pitchFamily="49" charset="0"/>
              </a:rPr>
              <a:t>    </a:t>
            </a:r>
            <a:r>
              <a:rPr lang="en-US" sz="1450" dirty="0" err="1">
                <a:solidFill>
                  <a:srgbClr val="F2F5F9"/>
                </a:solidFill>
                <a:latin typeface="Consolas" panose="020B0609020204030204" pitchFamily="49" charset="0"/>
              </a:rPr>
              <a:t>beltMotor.set</a:t>
            </a:r>
            <a:r>
              <a:rPr lang="en-US" sz="1450" dirty="0">
                <a:solidFill>
                  <a:srgbClr val="F2F5F9"/>
                </a:solidFill>
                <a:latin typeface="Consolas" panose="020B0609020204030204" pitchFamily="49" charset="0"/>
              </a:rPr>
              <a:t>(speed);</a:t>
            </a:r>
          </a:p>
          <a:p>
            <a:r>
              <a:rPr lang="en-US" sz="1450" dirty="0">
                <a:solidFill>
                  <a:srgbClr val="F2F5F9"/>
                </a:solidFill>
                <a:latin typeface="Consolas" panose="020B0609020204030204" pitchFamily="49" charset="0"/>
              </a:rPr>
              <a:t>}</a:t>
            </a:r>
          </a:p>
        </p:txBody>
      </p:sp>
      <p:sp>
        <p:nvSpPr>
          <p:cNvPr id="10" name="Rectangle: Rounded Corners 9">
            <a:extLst>
              <a:ext uri="{FF2B5EF4-FFF2-40B4-BE49-F238E27FC236}">
                <a16:creationId xmlns:a16="http://schemas.microsoft.com/office/drawing/2014/main" id="{A62C6DD9-FE22-3FA1-F487-14B0DBB80EB6}"/>
              </a:ext>
            </a:extLst>
          </p:cNvPr>
          <p:cNvSpPr/>
          <p:nvPr/>
        </p:nvSpPr>
        <p:spPr>
          <a:xfrm>
            <a:off x="7772400" y="1701800"/>
            <a:ext cx="3429000" cy="965200"/>
          </a:xfrm>
          <a:prstGeom prst="roundRect">
            <a:avLst/>
          </a:prstGeom>
          <a:solidFill>
            <a:srgbClr val="182234"/>
          </a:solidFill>
          <a:ln w="15875">
            <a:solidFill>
              <a:srgbClr val="3ECF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4829BFBB-7341-395C-1B24-EA5C71DD9F5D}"/>
              </a:ext>
            </a:extLst>
          </p:cNvPr>
          <p:cNvSpPr/>
          <p:nvPr/>
        </p:nvSpPr>
        <p:spPr>
          <a:xfrm>
            <a:off x="7772400" y="1701800"/>
            <a:ext cx="76200" cy="965200"/>
          </a:xfrm>
          <a:prstGeom prst="rect">
            <a:avLst/>
          </a:prstGeom>
          <a:solidFill>
            <a:srgbClr val="3ECF8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C999FCBE-A2EA-B132-83E3-E00F50682AE2}"/>
              </a:ext>
            </a:extLst>
          </p:cNvPr>
          <p:cNvSpPr txBox="1"/>
          <p:nvPr/>
        </p:nvSpPr>
        <p:spPr>
          <a:xfrm>
            <a:off x="7975600" y="1828800"/>
            <a:ext cx="3111500" cy="276999"/>
          </a:xfrm>
          <a:prstGeom prst="rect">
            <a:avLst/>
          </a:prstGeom>
          <a:noFill/>
        </p:spPr>
        <p:txBody>
          <a:bodyPr vert="horz" wrap="square" lIns="0" tIns="0" rIns="0" bIns="0" rtlCol="0" anchor="t">
            <a:noAutofit/>
          </a:bodyPr>
          <a:lstStyle/>
          <a:p>
            <a:r>
              <a:rPr lang="en-US" sz="1600" b="1">
                <a:solidFill>
                  <a:srgbClr val="3ECF8E"/>
                </a:solidFill>
                <a:latin typeface="Aptos" panose="020B0004020202020204" pitchFamily="34" charset="0"/>
              </a:rPr>
              <a:t>OWNS</a:t>
            </a:r>
          </a:p>
        </p:txBody>
      </p:sp>
      <p:sp>
        <p:nvSpPr>
          <p:cNvPr id="13" name="TextBox 12">
            <a:extLst>
              <a:ext uri="{FF2B5EF4-FFF2-40B4-BE49-F238E27FC236}">
                <a16:creationId xmlns:a16="http://schemas.microsoft.com/office/drawing/2014/main" id="{4163663C-3DC6-6730-A8F5-CE062A60A6D3}"/>
              </a:ext>
            </a:extLst>
          </p:cNvPr>
          <p:cNvSpPr txBox="1"/>
          <p:nvPr/>
        </p:nvSpPr>
        <p:spPr>
          <a:xfrm>
            <a:off x="7975600" y="2184400"/>
            <a:ext cx="3111500" cy="276999"/>
          </a:xfrm>
          <a:prstGeom prst="rect">
            <a:avLst/>
          </a:prstGeom>
          <a:noFill/>
        </p:spPr>
        <p:txBody>
          <a:bodyPr vert="horz" wrap="square" lIns="0" tIns="0" rIns="0" bIns="0" rtlCol="0" anchor="t">
            <a:noAutofit/>
          </a:bodyPr>
          <a:lstStyle/>
          <a:p>
            <a:r>
              <a:rPr lang="en-US" sz="1200">
                <a:solidFill>
                  <a:srgbClr val="F2F5F9"/>
                </a:solidFill>
                <a:latin typeface="Aptos" panose="020B0004020202020204" pitchFamily="34" charset="0"/>
              </a:rPr>
              <a:t>the Talon motor-controller object</a:t>
            </a:r>
          </a:p>
        </p:txBody>
      </p:sp>
      <p:sp>
        <p:nvSpPr>
          <p:cNvPr id="14" name="Rectangle: Rounded Corners 13">
            <a:extLst>
              <a:ext uri="{FF2B5EF4-FFF2-40B4-BE49-F238E27FC236}">
                <a16:creationId xmlns:a16="http://schemas.microsoft.com/office/drawing/2014/main" id="{D2C99A28-58B2-F64A-11F3-6C5B41C1D539}"/>
              </a:ext>
            </a:extLst>
          </p:cNvPr>
          <p:cNvSpPr/>
          <p:nvPr/>
        </p:nvSpPr>
        <p:spPr>
          <a:xfrm>
            <a:off x="7772400" y="2857500"/>
            <a:ext cx="3429000" cy="965200"/>
          </a:xfrm>
          <a:prstGeom prst="roundRect">
            <a:avLst/>
          </a:prstGeom>
          <a:solidFill>
            <a:srgbClr val="182234"/>
          </a:solidFill>
          <a:ln w="15875">
            <a:solidFill>
              <a:srgbClr val="3ECF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EB2D2424-462B-7794-B98D-90C24EC42E36}"/>
              </a:ext>
            </a:extLst>
          </p:cNvPr>
          <p:cNvSpPr/>
          <p:nvPr/>
        </p:nvSpPr>
        <p:spPr>
          <a:xfrm>
            <a:off x="7772400" y="2857500"/>
            <a:ext cx="76200" cy="965200"/>
          </a:xfrm>
          <a:prstGeom prst="rect">
            <a:avLst/>
          </a:prstGeom>
          <a:solidFill>
            <a:srgbClr val="3ECF8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A340AC5E-B4DB-62AE-DA45-322E48C14746}"/>
              </a:ext>
            </a:extLst>
          </p:cNvPr>
          <p:cNvSpPr txBox="1"/>
          <p:nvPr/>
        </p:nvSpPr>
        <p:spPr>
          <a:xfrm>
            <a:off x="7975600" y="2984500"/>
            <a:ext cx="3111500" cy="276999"/>
          </a:xfrm>
          <a:prstGeom prst="rect">
            <a:avLst/>
          </a:prstGeom>
          <a:noFill/>
        </p:spPr>
        <p:txBody>
          <a:bodyPr vert="horz" wrap="square" lIns="0" tIns="0" rIns="0" bIns="0" rtlCol="0" anchor="t">
            <a:noAutofit/>
          </a:bodyPr>
          <a:lstStyle/>
          <a:p>
            <a:r>
              <a:rPr lang="en-US" sz="1600" b="1">
                <a:solidFill>
                  <a:srgbClr val="3ECF8E"/>
                </a:solidFill>
                <a:latin typeface="Aptos" panose="020B0004020202020204" pitchFamily="34" charset="0"/>
              </a:rPr>
              <a:t>NAMES</a:t>
            </a:r>
          </a:p>
        </p:txBody>
      </p:sp>
      <p:sp>
        <p:nvSpPr>
          <p:cNvPr id="17" name="TextBox 16">
            <a:extLst>
              <a:ext uri="{FF2B5EF4-FFF2-40B4-BE49-F238E27FC236}">
                <a16:creationId xmlns:a16="http://schemas.microsoft.com/office/drawing/2014/main" id="{EC52F7EB-A35E-CB08-72E9-E20889619363}"/>
              </a:ext>
            </a:extLst>
          </p:cNvPr>
          <p:cNvSpPr txBox="1"/>
          <p:nvPr/>
        </p:nvSpPr>
        <p:spPr>
          <a:xfrm>
            <a:off x="7975600" y="3340100"/>
            <a:ext cx="3111500" cy="276999"/>
          </a:xfrm>
          <a:prstGeom prst="rect">
            <a:avLst/>
          </a:prstGeom>
          <a:noFill/>
        </p:spPr>
        <p:txBody>
          <a:bodyPr vert="horz" wrap="square" lIns="0" tIns="0" rIns="0" bIns="0" rtlCol="0" anchor="t">
            <a:noAutofit/>
          </a:bodyPr>
          <a:lstStyle/>
          <a:p>
            <a:r>
              <a:rPr lang="en-US" sz="1200" dirty="0">
                <a:solidFill>
                  <a:srgbClr val="F2F5F9"/>
                </a:solidFill>
                <a:latin typeface="Aptos" panose="020B0004020202020204" pitchFamily="34" charset="0"/>
              </a:rPr>
              <a:t>a mechanism action: run(speed)</a:t>
            </a:r>
          </a:p>
        </p:txBody>
      </p:sp>
      <p:sp>
        <p:nvSpPr>
          <p:cNvPr id="18" name="Rectangle: Rounded Corners 17">
            <a:extLst>
              <a:ext uri="{FF2B5EF4-FFF2-40B4-BE49-F238E27FC236}">
                <a16:creationId xmlns:a16="http://schemas.microsoft.com/office/drawing/2014/main" id="{62426000-31B5-8BD4-D1BF-B55A337833EE}"/>
              </a:ext>
            </a:extLst>
          </p:cNvPr>
          <p:cNvSpPr/>
          <p:nvPr/>
        </p:nvSpPr>
        <p:spPr>
          <a:xfrm>
            <a:off x="7772400" y="4013200"/>
            <a:ext cx="3429000" cy="965200"/>
          </a:xfrm>
          <a:prstGeom prst="roundRect">
            <a:avLst/>
          </a:prstGeom>
          <a:solidFill>
            <a:srgbClr val="182234"/>
          </a:solidFill>
          <a:ln w="15875">
            <a:solidFill>
              <a:srgbClr val="FF64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4ECBE9B8-18C8-4A55-D17A-49EB738A9E61}"/>
              </a:ext>
            </a:extLst>
          </p:cNvPr>
          <p:cNvSpPr/>
          <p:nvPr/>
        </p:nvSpPr>
        <p:spPr>
          <a:xfrm>
            <a:off x="7772400" y="4013200"/>
            <a:ext cx="76200" cy="965200"/>
          </a:xfrm>
          <a:prstGeom prst="rect">
            <a:avLst/>
          </a:prstGeom>
          <a:solidFill>
            <a:srgbClr val="FF646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D515DA40-BA5D-EB95-9472-25AFCE966EF2}"/>
              </a:ext>
            </a:extLst>
          </p:cNvPr>
          <p:cNvSpPr txBox="1"/>
          <p:nvPr/>
        </p:nvSpPr>
        <p:spPr>
          <a:xfrm>
            <a:off x="7975600" y="4140200"/>
            <a:ext cx="3111500" cy="276999"/>
          </a:xfrm>
          <a:prstGeom prst="rect">
            <a:avLst/>
          </a:prstGeom>
          <a:noFill/>
        </p:spPr>
        <p:txBody>
          <a:bodyPr vert="horz" wrap="square" lIns="0" tIns="0" rIns="0" bIns="0" rtlCol="0" anchor="t">
            <a:noAutofit/>
          </a:bodyPr>
          <a:lstStyle/>
          <a:p>
            <a:r>
              <a:rPr lang="en-US" sz="1600" b="1">
                <a:solidFill>
                  <a:srgbClr val="FF6464"/>
                </a:solidFill>
                <a:latin typeface="Aptos" panose="020B0004020202020204" pitchFamily="34" charset="0"/>
              </a:rPr>
              <a:t>TOUCHES HARDWARE</a:t>
            </a:r>
          </a:p>
        </p:txBody>
      </p:sp>
      <p:sp>
        <p:nvSpPr>
          <p:cNvPr id="21" name="TextBox 20">
            <a:extLst>
              <a:ext uri="{FF2B5EF4-FFF2-40B4-BE49-F238E27FC236}">
                <a16:creationId xmlns:a16="http://schemas.microsoft.com/office/drawing/2014/main" id="{2199921D-4631-55C4-6835-3E8FAFE089B4}"/>
              </a:ext>
            </a:extLst>
          </p:cNvPr>
          <p:cNvSpPr txBox="1"/>
          <p:nvPr/>
        </p:nvSpPr>
        <p:spPr>
          <a:xfrm>
            <a:off x="7975600" y="4495800"/>
            <a:ext cx="3111500" cy="276999"/>
          </a:xfrm>
          <a:prstGeom prst="rect">
            <a:avLst/>
          </a:prstGeom>
          <a:noFill/>
        </p:spPr>
        <p:txBody>
          <a:bodyPr vert="horz" wrap="square" lIns="0" tIns="0" rIns="0" bIns="0" rtlCol="0" anchor="t">
            <a:noAutofit/>
          </a:bodyPr>
          <a:lstStyle/>
          <a:p>
            <a:r>
              <a:rPr lang="en-US" sz="1200">
                <a:solidFill>
                  <a:srgbClr val="F2F5F9"/>
                </a:solidFill>
                <a:latin typeface="Aptos" panose="020B0004020202020204" pitchFamily="34" charset="0"/>
              </a:rPr>
              <a:t>beltMotor.set(speed)</a:t>
            </a:r>
          </a:p>
        </p:txBody>
      </p:sp>
      <p:sp>
        <p:nvSpPr>
          <p:cNvPr id="22" name="Rectangle: Rounded Corners 21">
            <a:extLst>
              <a:ext uri="{FF2B5EF4-FFF2-40B4-BE49-F238E27FC236}">
                <a16:creationId xmlns:a16="http://schemas.microsoft.com/office/drawing/2014/main" id="{3A408FD1-B285-E01A-570D-A60B23AA11F1}"/>
              </a:ext>
            </a:extLst>
          </p:cNvPr>
          <p:cNvSpPr/>
          <p:nvPr/>
        </p:nvSpPr>
        <p:spPr>
          <a:xfrm>
            <a:off x="533400" y="6261100"/>
            <a:ext cx="11125200" cy="533400"/>
          </a:xfrm>
          <a:prstGeom prst="roundRect">
            <a:avLst/>
          </a:prstGeom>
          <a:solidFill>
            <a:srgbClr val="18223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Rounded Corners 22">
            <a:extLst>
              <a:ext uri="{FF2B5EF4-FFF2-40B4-BE49-F238E27FC236}">
                <a16:creationId xmlns:a16="http://schemas.microsoft.com/office/drawing/2014/main" id="{9C2EC6B3-9766-F620-CCD3-683FD4628864}"/>
              </a:ext>
            </a:extLst>
          </p:cNvPr>
          <p:cNvSpPr/>
          <p:nvPr/>
        </p:nvSpPr>
        <p:spPr>
          <a:xfrm>
            <a:off x="660400" y="6362700"/>
            <a:ext cx="1473200" cy="330200"/>
          </a:xfrm>
          <a:prstGeom prst="roundRect">
            <a:avLst/>
          </a:prstGeom>
          <a:solidFill>
            <a:srgbClr val="35CBB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DC4005FF-C5F7-B490-4671-8490804BC3DF}"/>
              </a:ext>
            </a:extLst>
          </p:cNvPr>
          <p:cNvSpPr txBox="1"/>
          <p:nvPr/>
        </p:nvSpPr>
        <p:spPr>
          <a:xfrm>
            <a:off x="736600" y="6400800"/>
            <a:ext cx="1320800" cy="276999"/>
          </a:xfrm>
          <a:prstGeom prst="rect">
            <a:avLst/>
          </a:prstGeom>
          <a:noFill/>
        </p:spPr>
        <p:txBody>
          <a:bodyPr vert="horz" wrap="square" lIns="0" tIns="0" rIns="0" bIns="0" rtlCol="0">
            <a:noAutofit/>
          </a:bodyPr>
          <a:lstStyle/>
          <a:p>
            <a:pPr algn="ctr"/>
            <a:r>
              <a:rPr lang="en-US" sz="1050" b="1">
                <a:solidFill>
                  <a:srgbClr val="060A12"/>
                </a:solidFill>
                <a:latin typeface="Aptos" panose="020B0004020202020204" pitchFamily="34" charset="0"/>
              </a:rPr>
              <a:t>CHECK</a:t>
            </a:r>
          </a:p>
        </p:txBody>
      </p:sp>
      <p:sp>
        <p:nvSpPr>
          <p:cNvPr id="25" name="TextBox 24">
            <a:extLst>
              <a:ext uri="{FF2B5EF4-FFF2-40B4-BE49-F238E27FC236}">
                <a16:creationId xmlns:a16="http://schemas.microsoft.com/office/drawing/2014/main" id="{9601CB3C-867E-AC3F-798A-9752979DDCB6}"/>
              </a:ext>
            </a:extLst>
          </p:cNvPr>
          <p:cNvSpPr txBox="1"/>
          <p:nvPr/>
        </p:nvSpPr>
        <p:spPr>
          <a:xfrm>
            <a:off x="2286000" y="6362700"/>
            <a:ext cx="9207500" cy="276999"/>
          </a:xfrm>
          <a:prstGeom prst="rect">
            <a:avLst/>
          </a:prstGeom>
          <a:noFill/>
        </p:spPr>
        <p:txBody>
          <a:bodyPr vert="horz" wrap="square" lIns="0" tIns="0" rIns="0" bIns="0" rtlCol="0" anchor="t">
            <a:noAutofit/>
          </a:bodyPr>
          <a:lstStyle/>
          <a:p>
            <a:r>
              <a:rPr lang="en-US" sz="1300">
                <a:solidFill>
                  <a:srgbClr val="F2F5F9"/>
                </a:solidFill>
                <a:latin typeface="Aptos" panose="020B0004020202020204" pitchFamily="34" charset="0"/>
              </a:rPr>
              <a:t>Which line actually changes motor output?</a:t>
            </a:r>
          </a:p>
        </p:txBody>
      </p:sp>
      <p:sp>
        <p:nvSpPr>
          <p:cNvPr id="26" name="TextBox 25">
            <a:extLst>
              <a:ext uri="{FF2B5EF4-FFF2-40B4-BE49-F238E27FC236}">
                <a16:creationId xmlns:a16="http://schemas.microsoft.com/office/drawing/2014/main" id="{14B779B5-A960-26B5-46C2-614B0AFF89F9}"/>
              </a:ext>
            </a:extLst>
          </p:cNvPr>
          <p:cNvSpPr txBox="1"/>
          <p:nvPr/>
        </p:nvSpPr>
        <p:spPr>
          <a:xfrm>
            <a:off x="533400" y="6908800"/>
            <a:ext cx="8890000" cy="276999"/>
          </a:xfrm>
          <a:prstGeom prst="rect">
            <a:avLst/>
          </a:prstGeom>
          <a:noFill/>
        </p:spPr>
        <p:txBody>
          <a:bodyPr vert="horz" wrap="square" lIns="0" tIns="0" rIns="0" bIns="0" rtlCol="0" anchor="t">
            <a:noAutofit/>
          </a:bodyPr>
          <a:lstStyle/>
          <a:p>
            <a:r>
              <a:rPr lang="en-US" sz="850">
                <a:solidFill>
                  <a:srgbClr val="A9B4C5"/>
                </a:solidFill>
                <a:latin typeface="Aptos" panose="020B0004020202020204" pitchFamily="34" charset="0"/>
              </a:rPr>
              <a:t>Source: BeltSubsystem.java</a:t>
            </a:r>
          </a:p>
        </p:txBody>
      </p:sp>
      <p:sp>
        <p:nvSpPr>
          <p:cNvPr id="27" name="TextBox 26">
            <a:extLst>
              <a:ext uri="{FF2B5EF4-FFF2-40B4-BE49-F238E27FC236}">
                <a16:creationId xmlns:a16="http://schemas.microsoft.com/office/drawing/2014/main" id="{8C26CD0B-CBE8-F27A-F360-BD0930C0115E}"/>
              </a:ext>
            </a:extLst>
          </p:cNvPr>
          <p:cNvSpPr txBox="1"/>
          <p:nvPr/>
        </p:nvSpPr>
        <p:spPr>
          <a:xfrm>
            <a:off x="9017000" y="6908800"/>
            <a:ext cx="2641600" cy="276999"/>
          </a:xfrm>
          <a:prstGeom prst="rect">
            <a:avLst/>
          </a:prstGeom>
          <a:noFill/>
        </p:spPr>
        <p:txBody>
          <a:bodyPr vert="horz" wrap="square" lIns="0" tIns="0" rIns="0" bIns="0" rtlCol="0" anchor="t">
            <a:noAutofit/>
          </a:bodyPr>
          <a:lstStyle/>
          <a:p>
            <a:pPr algn="r"/>
            <a:r>
              <a:rPr lang="en-US" sz="850">
                <a:solidFill>
                  <a:srgbClr val="A9B4C5"/>
                </a:solidFill>
                <a:latin typeface="Aptos" panose="020B0004020202020204" pitchFamily="34" charset="0"/>
              </a:rPr>
              <a:t>CURRENT ROBOT IMPLEMENTATION • V2</a:t>
            </a:r>
          </a:p>
        </p:txBody>
      </p:sp>
    </p:spTree>
    <p:extLst>
      <p:ext uri="{BB962C8B-B14F-4D97-AF65-F5344CB8AC3E}">
        <p14:creationId xmlns:p14="http://schemas.microsoft.com/office/powerpoint/2010/main" val="9917210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D1421"/>
        </a:solidFill>
        <a:effectLst/>
      </p:bgPr>
    </p:bg>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F5CD759F-2ECC-A5E4-F9E0-632D71D25692}"/>
              </a:ext>
            </a:extLst>
          </p:cNvPr>
          <p:cNvSpPr/>
          <p:nvPr/>
        </p:nvSpPr>
        <p:spPr>
          <a:xfrm>
            <a:off x="533400" y="292100"/>
            <a:ext cx="1473200" cy="330200"/>
          </a:xfrm>
          <a:prstGeom prst="roundRect">
            <a:avLst/>
          </a:prstGeom>
          <a:solidFill>
            <a:srgbClr val="379D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C5629026-5862-4172-0CF3-A0FCA759DCF1}"/>
              </a:ext>
            </a:extLst>
          </p:cNvPr>
          <p:cNvSpPr txBox="1"/>
          <p:nvPr/>
        </p:nvSpPr>
        <p:spPr>
          <a:xfrm>
            <a:off x="609600" y="330200"/>
            <a:ext cx="1320800" cy="276999"/>
          </a:xfrm>
          <a:prstGeom prst="rect">
            <a:avLst/>
          </a:prstGeom>
          <a:noFill/>
        </p:spPr>
        <p:txBody>
          <a:bodyPr vert="horz" wrap="square" lIns="0" tIns="0" rIns="0" bIns="0" rtlCol="0">
            <a:noAutofit/>
          </a:bodyPr>
          <a:lstStyle/>
          <a:p>
            <a:pPr algn="ctr"/>
            <a:r>
              <a:rPr lang="en-US" sz="1050" b="1">
                <a:solidFill>
                  <a:srgbClr val="060A12"/>
                </a:solidFill>
                <a:latin typeface="Aptos" panose="020B0004020202020204" pitchFamily="34" charset="0"/>
              </a:rPr>
              <a:t>SHARED CORE</a:t>
            </a:r>
          </a:p>
        </p:txBody>
      </p:sp>
      <p:sp>
        <p:nvSpPr>
          <p:cNvPr id="4" name="TextBox 3">
            <a:extLst>
              <a:ext uri="{FF2B5EF4-FFF2-40B4-BE49-F238E27FC236}">
                <a16:creationId xmlns:a16="http://schemas.microsoft.com/office/drawing/2014/main" id="{6C1D4962-8034-77E2-BB14-9E39B13E8B3C}"/>
              </a:ext>
            </a:extLst>
          </p:cNvPr>
          <p:cNvSpPr txBox="1"/>
          <p:nvPr/>
        </p:nvSpPr>
        <p:spPr>
          <a:xfrm>
            <a:off x="533400" y="762000"/>
            <a:ext cx="10414000" cy="276999"/>
          </a:xfrm>
          <a:prstGeom prst="rect">
            <a:avLst/>
          </a:prstGeom>
          <a:noFill/>
        </p:spPr>
        <p:txBody>
          <a:bodyPr vert="horz" wrap="square" lIns="0" tIns="0" rIns="0" bIns="0" rtlCol="0" anchor="t">
            <a:noAutofit/>
          </a:bodyPr>
          <a:lstStyle/>
          <a:p>
            <a:r>
              <a:rPr lang="en-US" sz="2800" b="1">
                <a:solidFill>
                  <a:srgbClr val="F2F5F9"/>
                </a:solidFill>
                <a:latin typeface="Aptos Display" panose="020B0004020202020204" pitchFamily="34" charset="0"/>
              </a:rPr>
              <a:t>Commands decide what happens—and when</a:t>
            </a:r>
          </a:p>
        </p:txBody>
      </p:sp>
      <p:sp>
        <p:nvSpPr>
          <p:cNvPr id="5" name="TextBox 4">
            <a:extLst>
              <a:ext uri="{FF2B5EF4-FFF2-40B4-BE49-F238E27FC236}">
                <a16:creationId xmlns:a16="http://schemas.microsoft.com/office/drawing/2014/main" id="{ED4C1D2C-63CD-8C25-9AC8-85AB959BB41C}"/>
              </a:ext>
            </a:extLst>
          </p:cNvPr>
          <p:cNvSpPr txBox="1"/>
          <p:nvPr/>
        </p:nvSpPr>
        <p:spPr>
          <a:xfrm>
            <a:off x="11226800" y="355600"/>
            <a:ext cx="381000" cy="276999"/>
          </a:xfrm>
          <a:prstGeom prst="rect">
            <a:avLst/>
          </a:prstGeom>
          <a:noFill/>
        </p:spPr>
        <p:txBody>
          <a:bodyPr vert="horz" wrap="square" lIns="0" tIns="0" rIns="0" bIns="0" rtlCol="0" anchor="t">
            <a:noAutofit/>
          </a:bodyPr>
          <a:lstStyle/>
          <a:p>
            <a:pPr algn="r"/>
            <a:r>
              <a:rPr lang="en-US" sz="1000" b="1">
                <a:solidFill>
                  <a:srgbClr val="A9B4C5"/>
                </a:solidFill>
                <a:latin typeface="Aptos" panose="020B0004020202020204" pitchFamily="34" charset="0"/>
              </a:rPr>
              <a:t>10</a:t>
            </a:r>
          </a:p>
        </p:txBody>
      </p:sp>
      <p:cxnSp>
        <p:nvCxnSpPr>
          <p:cNvPr id="6" name="Straight Connector 5">
            <a:extLst>
              <a:ext uri="{FF2B5EF4-FFF2-40B4-BE49-F238E27FC236}">
                <a16:creationId xmlns:a16="http://schemas.microsoft.com/office/drawing/2014/main" id="{207E266D-13FD-1F23-3D92-B1C19F848911}"/>
              </a:ext>
            </a:extLst>
          </p:cNvPr>
          <p:cNvCxnSpPr/>
          <p:nvPr/>
        </p:nvCxnSpPr>
        <p:spPr>
          <a:xfrm>
            <a:off x="533400" y="1371600"/>
            <a:ext cx="11125200" cy="0"/>
          </a:xfrm>
          <a:prstGeom prst="line">
            <a:avLst/>
          </a:prstGeom>
          <a:ln w="12700">
            <a:solidFill>
              <a:srgbClr val="1F2C41"/>
            </a:solidFill>
          </a:ln>
        </p:spPr>
        <p:style>
          <a:lnRef idx="1">
            <a:schemeClr val="accent1"/>
          </a:lnRef>
          <a:fillRef idx="0">
            <a:schemeClr val="accent1"/>
          </a:fillRef>
          <a:effectRef idx="0">
            <a:schemeClr val="accent1"/>
          </a:effectRef>
          <a:fontRef idx="minor">
            <a:schemeClr val="tx1"/>
          </a:fontRef>
        </p:style>
      </p:cxnSp>
      <p:sp>
        <p:nvSpPr>
          <p:cNvPr id="7" name="Rectangle: Rounded Corners 6">
            <a:extLst>
              <a:ext uri="{FF2B5EF4-FFF2-40B4-BE49-F238E27FC236}">
                <a16:creationId xmlns:a16="http://schemas.microsoft.com/office/drawing/2014/main" id="{5303CF8C-1D89-2C08-FE7C-83F6D4648526}"/>
              </a:ext>
            </a:extLst>
          </p:cNvPr>
          <p:cNvSpPr/>
          <p:nvPr/>
        </p:nvSpPr>
        <p:spPr>
          <a:xfrm>
            <a:off x="584200" y="1676400"/>
            <a:ext cx="6540500" cy="2768600"/>
          </a:xfrm>
          <a:prstGeom prst="roundRect">
            <a:avLst/>
          </a:prstGeom>
          <a:solidFill>
            <a:srgbClr val="060A12"/>
          </a:solidFill>
          <a:ln w="15875">
            <a:solidFill>
              <a:srgbClr val="1F2C4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F1739E37-40FC-8AE6-3CEC-7256C3FACF53}"/>
              </a:ext>
            </a:extLst>
          </p:cNvPr>
          <p:cNvSpPr/>
          <p:nvPr/>
        </p:nvSpPr>
        <p:spPr>
          <a:xfrm>
            <a:off x="584200" y="1676400"/>
            <a:ext cx="88900" cy="2768600"/>
          </a:xfrm>
          <a:prstGeom prst="rect">
            <a:avLst/>
          </a:prstGeom>
          <a:solidFill>
            <a:srgbClr val="FFA44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DB0DD917-606E-F751-1760-28A6D201E0A7}"/>
              </a:ext>
            </a:extLst>
          </p:cNvPr>
          <p:cNvSpPr txBox="1"/>
          <p:nvPr/>
        </p:nvSpPr>
        <p:spPr>
          <a:xfrm>
            <a:off x="812800" y="1828800"/>
            <a:ext cx="6159500" cy="276999"/>
          </a:xfrm>
          <a:prstGeom prst="rect">
            <a:avLst/>
          </a:prstGeom>
          <a:noFill/>
        </p:spPr>
        <p:txBody>
          <a:bodyPr vert="horz" wrap="square" lIns="0" tIns="0" rIns="0" bIns="0" rtlCol="0" anchor="t">
            <a:noAutofit/>
          </a:bodyPr>
          <a:lstStyle/>
          <a:p>
            <a:r>
              <a:rPr lang="en-US" sz="1450">
                <a:solidFill>
                  <a:srgbClr val="F2F5F9"/>
                </a:solidFill>
                <a:latin typeface="Consolas" panose="020B0609020204030204" pitchFamily="49" charset="0"/>
              </a:rPr>
              <a:t>public void execute() {</a:t>
            </a:r>
          </a:p>
          <a:p>
            <a:r>
              <a:rPr lang="en-US" sz="1450">
                <a:solidFill>
                  <a:srgbClr val="F2F5F9"/>
                </a:solidFill>
                <a:latin typeface="Consolas" panose="020B0609020204030204" pitchFamily="49" charset="0"/>
              </a:rPr>
              <a:t>    beltSubsystem.run(Constants.Tuning.BELT_SPEED);</a:t>
            </a:r>
          </a:p>
          <a:p>
            <a:r>
              <a:rPr lang="en-US" sz="1450">
                <a:solidFill>
                  <a:srgbClr val="F2F5F9"/>
                </a:solidFill>
                <a:latin typeface="Consolas" panose="020B0609020204030204" pitchFamily="49" charset="0"/>
              </a:rPr>
              <a:t>}</a:t>
            </a:r>
          </a:p>
          <a:p>
            <a:endParaRPr lang="en-US" sz="1450">
              <a:solidFill>
                <a:srgbClr val="F2F5F9"/>
              </a:solidFill>
              <a:latin typeface="Consolas" panose="020B0609020204030204" pitchFamily="49" charset="0"/>
            </a:endParaRPr>
          </a:p>
          <a:p>
            <a:r>
              <a:rPr lang="en-US" sz="1450">
                <a:solidFill>
                  <a:srgbClr val="F2F5F9"/>
                </a:solidFill>
                <a:latin typeface="Consolas" panose="020B0609020204030204" pitchFamily="49" charset="0"/>
              </a:rPr>
              <a:t>public void end(boolean interrupted) {</a:t>
            </a:r>
          </a:p>
          <a:p>
            <a:r>
              <a:rPr lang="en-US" sz="1450">
                <a:solidFill>
                  <a:srgbClr val="F2F5F9"/>
                </a:solidFill>
                <a:latin typeface="Consolas" panose="020B0609020204030204" pitchFamily="49" charset="0"/>
              </a:rPr>
              <a:t>    beltSubsystem.stop();</a:t>
            </a:r>
          </a:p>
          <a:p>
            <a:r>
              <a:rPr lang="en-US" sz="1450">
                <a:solidFill>
                  <a:srgbClr val="F2F5F9"/>
                </a:solidFill>
                <a:latin typeface="Consolas" panose="020B0609020204030204" pitchFamily="49" charset="0"/>
              </a:rPr>
              <a:t>}</a:t>
            </a:r>
          </a:p>
        </p:txBody>
      </p:sp>
      <p:sp>
        <p:nvSpPr>
          <p:cNvPr id="10" name="Rectangle: Rounded Corners 9">
            <a:extLst>
              <a:ext uri="{FF2B5EF4-FFF2-40B4-BE49-F238E27FC236}">
                <a16:creationId xmlns:a16="http://schemas.microsoft.com/office/drawing/2014/main" id="{1C4A34AA-3320-4170-7EE8-00B9C43AA717}"/>
              </a:ext>
            </a:extLst>
          </p:cNvPr>
          <p:cNvSpPr/>
          <p:nvPr/>
        </p:nvSpPr>
        <p:spPr>
          <a:xfrm>
            <a:off x="7874000" y="1803400"/>
            <a:ext cx="3022600" cy="838200"/>
          </a:xfrm>
          <a:prstGeom prst="roundRect">
            <a:avLst/>
          </a:prstGeom>
          <a:solidFill>
            <a:srgbClr val="182234"/>
          </a:solidFill>
          <a:ln w="15875">
            <a:solidFill>
              <a:srgbClr val="FFA44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99917530-F148-C8D8-AC0F-3A1D87F2B981}"/>
              </a:ext>
            </a:extLst>
          </p:cNvPr>
          <p:cNvSpPr txBox="1"/>
          <p:nvPr/>
        </p:nvSpPr>
        <p:spPr>
          <a:xfrm>
            <a:off x="8102600" y="1943100"/>
            <a:ext cx="2540000" cy="276999"/>
          </a:xfrm>
          <a:prstGeom prst="rect">
            <a:avLst/>
          </a:prstGeom>
          <a:noFill/>
        </p:spPr>
        <p:txBody>
          <a:bodyPr vert="horz" wrap="square" lIns="0" tIns="0" rIns="0" bIns="0" rtlCol="0" anchor="t">
            <a:noAutofit/>
          </a:bodyPr>
          <a:lstStyle/>
          <a:p>
            <a:pPr algn="ctr"/>
            <a:r>
              <a:rPr lang="en-US" b="1">
                <a:solidFill>
                  <a:srgbClr val="FFA443"/>
                </a:solidFill>
                <a:latin typeface="Consolas" panose="020B0609020204030204" pitchFamily="49" charset="0"/>
              </a:rPr>
              <a:t>execute()</a:t>
            </a:r>
          </a:p>
        </p:txBody>
      </p:sp>
      <p:sp>
        <p:nvSpPr>
          <p:cNvPr id="12" name="TextBox 11">
            <a:extLst>
              <a:ext uri="{FF2B5EF4-FFF2-40B4-BE49-F238E27FC236}">
                <a16:creationId xmlns:a16="http://schemas.microsoft.com/office/drawing/2014/main" id="{664F3034-A684-C245-DF28-753307E8D44B}"/>
              </a:ext>
            </a:extLst>
          </p:cNvPr>
          <p:cNvSpPr txBox="1"/>
          <p:nvPr/>
        </p:nvSpPr>
        <p:spPr>
          <a:xfrm>
            <a:off x="8102600" y="2273300"/>
            <a:ext cx="2540000" cy="276999"/>
          </a:xfrm>
          <a:prstGeom prst="rect">
            <a:avLst/>
          </a:prstGeom>
          <a:noFill/>
        </p:spPr>
        <p:txBody>
          <a:bodyPr vert="horz" wrap="square" lIns="0" tIns="0" rIns="0" bIns="0" rtlCol="0" anchor="t">
            <a:noAutofit/>
          </a:bodyPr>
          <a:lstStyle/>
          <a:p>
            <a:pPr algn="ctr"/>
            <a:r>
              <a:rPr lang="en-US" sz="1300">
                <a:solidFill>
                  <a:srgbClr val="F2F5F9"/>
                </a:solidFill>
                <a:latin typeface="Aptos" panose="020B0004020202020204" pitchFamily="34" charset="0"/>
              </a:rPr>
              <a:t>request motion</a:t>
            </a:r>
          </a:p>
        </p:txBody>
      </p:sp>
      <p:cxnSp>
        <p:nvCxnSpPr>
          <p:cNvPr id="13" name="Straight Connector 12">
            <a:extLst>
              <a:ext uri="{FF2B5EF4-FFF2-40B4-BE49-F238E27FC236}">
                <a16:creationId xmlns:a16="http://schemas.microsoft.com/office/drawing/2014/main" id="{73DA0C4D-8658-E644-3041-90EB0819A114}"/>
              </a:ext>
            </a:extLst>
          </p:cNvPr>
          <p:cNvCxnSpPr/>
          <p:nvPr/>
        </p:nvCxnSpPr>
        <p:spPr>
          <a:xfrm>
            <a:off x="9385300" y="2641600"/>
            <a:ext cx="0" cy="698500"/>
          </a:xfrm>
          <a:prstGeom prst="line">
            <a:avLst/>
          </a:prstGeom>
          <a:ln w="38100">
            <a:solidFill>
              <a:srgbClr val="FFA443"/>
            </a:solidFill>
            <a:tailEnd type="arrow"/>
          </a:ln>
        </p:spPr>
        <p:style>
          <a:lnRef idx="1">
            <a:schemeClr val="accent1"/>
          </a:lnRef>
          <a:fillRef idx="0">
            <a:schemeClr val="accent1"/>
          </a:fillRef>
          <a:effectRef idx="0">
            <a:schemeClr val="accent1"/>
          </a:effectRef>
          <a:fontRef idx="minor">
            <a:schemeClr val="tx1"/>
          </a:fontRef>
        </p:style>
      </p:cxnSp>
      <p:sp>
        <p:nvSpPr>
          <p:cNvPr id="14" name="Rectangle: Rounded Corners 13">
            <a:extLst>
              <a:ext uri="{FF2B5EF4-FFF2-40B4-BE49-F238E27FC236}">
                <a16:creationId xmlns:a16="http://schemas.microsoft.com/office/drawing/2014/main" id="{1595D106-67D3-0629-A181-3AC3CD35A4C5}"/>
              </a:ext>
            </a:extLst>
          </p:cNvPr>
          <p:cNvSpPr/>
          <p:nvPr/>
        </p:nvSpPr>
        <p:spPr>
          <a:xfrm>
            <a:off x="7874000" y="3365500"/>
            <a:ext cx="3022600" cy="838200"/>
          </a:xfrm>
          <a:prstGeom prst="roundRect">
            <a:avLst/>
          </a:prstGeom>
          <a:solidFill>
            <a:srgbClr val="182234"/>
          </a:solidFill>
          <a:ln w="15875">
            <a:solidFill>
              <a:srgbClr val="FF64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49ED1705-1577-FA53-FEAD-1E794186F98C}"/>
              </a:ext>
            </a:extLst>
          </p:cNvPr>
          <p:cNvSpPr txBox="1"/>
          <p:nvPr/>
        </p:nvSpPr>
        <p:spPr>
          <a:xfrm>
            <a:off x="8102600" y="3505200"/>
            <a:ext cx="2540000" cy="276999"/>
          </a:xfrm>
          <a:prstGeom prst="rect">
            <a:avLst/>
          </a:prstGeom>
          <a:noFill/>
        </p:spPr>
        <p:txBody>
          <a:bodyPr vert="horz" wrap="square" lIns="0" tIns="0" rIns="0" bIns="0" rtlCol="0" anchor="t">
            <a:noAutofit/>
          </a:bodyPr>
          <a:lstStyle/>
          <a:p>
            <a:pPr algn="ctr"/>
            <a:r>
              <a:rPr lang="en-US" b="1">
                <a:solidFill>
                  <a:srgbClr val="FF6464"/>
                </a:solidFill>
                <a:latin typeface="Consolas" panose="020B0609020204030204" pitchFamily="49" charset="0"/>
              </a:rPr>
              <a:t>end(...)</a:t>
            </a:r>
          </a:p>
        </p:txBody>
      </p:sp>
      <p:sp>
        <p:nvSpPr>
          <p:cNvPr id="16" name="TextBox 15">
            <a:extLst>
              <a:ext uri="{FF2B5EF4-FFF2-40B4-BE49-F238E27FC236}">
                <a16:creationId xmlns:a16="http://schemas.microsoft.com/office/drawing/2014/main" id="{BC17CC16-344D-EF41-660D-2324BF30FBDE}"/>
              </a:ext>
            </a:extLst>
          </p:cNvPr>
          <p:cNvSpPr txBox="1"/>
          <p:nvPr/>
        </p:nvSpPr>
        <p:spPr>
          <a:xfrm>
            <a:off x="8102600" y="3835400"/>
            <a:ext cx="2540000" cy="276999"/>
          </a:xfrm>
          <a:prstGeom prst="rect">
            <a:avLst/>
          </a:prstGeom>
          <a:noFill/>
        </p:spPr>
        <p:txBody>
          <a:bodyPr vert="horz" wrap="square" lIns="0" tIns="0" rIns="0" bIns="0" rtlCol="0" anchor="t">
            <a:noAutofit/>
          </a:bodyPr>
          <a:lstStyle/>
          <a:p>
            <a:pPr algn="ctr"/>
            <a:r>
              <a:rPr lang="en-US" sz="1300">
                <a:solidFill>
                  <a:srgbClr val="F2F5F9"/>
                </a:solidFill>
                <a:latin typeface="Aptos" panose="020B0004020202020204" pitchFamily="34" charset="0"/>
              </a:rPr>
              <a:t>request safe stop</a:t>
            </a:r>
          </a:p>
        </p:txBody>
      </p:sp>
      <p:sp>
        <p:nvSpPr>
          <p:cNvPr id="17" name="TextBox 16">
            <a:extLst>
              <a:ext uri="{FF2B5EF4-FFF2-40B4-BE49-F238E27FC236}">
                <a16:creationId xmlns:a16="http://schemas.microsoft.com/office/drawing/2014/main" id="{CAEDF188-C524-48C1-992C-888EEE7A1082}"/>
              </a:ext>
            </a:extLst>
          </p:cNvPr>
          <p:cNvSpPr txBox="1"/>
          <p:nvPr/>
        </p:nvSpPr>
        <p:spPr>
          <a:xfrm>
            <a:off x="7048500" y="4851400"/>
            <a:ext cx="4635500" cy="276999"/>
          </a:xfrm>
          <a:prstGeom prst="rect">
            <a:avLst/>
          </a:prstGeom>
          <a:noFill/>
        </p:spPr>
        <p:txBody>
          <a:bodyPr vert="horz" wrap="square" lIns="0" tIns="0" rIns="0" bIns="0" rtlCol="0" anchor="t">
            <a:noAutofit/>
          </a:bodyPr>
          <a:lstStyle/>
          <a:p>
            <a:pPr algn="ctr"/>
            <a:r>
              <a:rPr lang="en-US" sz="1700" b="1">
                <a:solidFill>
                  <a:srgbClr val="F2F5F9"/>
                </a:solidFill>
                <a:latin typeface="Aptos" panose="020B0004020202020204" pitchFamily="34" charset="0"/>
              </a:rPr>
              <a:t>The command never knows the PWM port.</a:t>
            </a:r>
          </a:p>
        </p:txBody>
      </p:sp>
      <p:sp>
        <p:nvSpPr>
          <p:cNvPr id="18" name="Rectangle: Rounded Corners 17">
            <a:extLst>
              <a:ext uri="{FF2B5EF4-FFF2-40B4-BE49-F238E27FC236}">
                <a16:creationId xmlns:a16="http://schemas.microsoft.com/office/drawing/2014/main" id="{0453D2E3-3ECB-D920-DC1A-7DF1B478877B}"/>
              </a:ext>
            </a:extLst>
          </p:cNvPr>
          <p:cNvSpPr/>
          <p:nvPr/>
        </p:nvSpPr>
        <p:spPr>
          <a:xfrm>
            <a:off x="533400" y="6261100"/>
            <a:ext cx="11125200" cy="533400"/>
          </a:xfrm>
          <a:prstGeom prst="roundRect">
            <a:avLst/>
          </a:prstGeom>
          <a:solidFill>
            <a:srgbClr val="18223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Rounded Corners 18">
            <a:extLst>
              <a:ext uri="{FF2B5EF4-FFF2-40B4-BE49-F238E27FC236}">
                <a16:creationId xmlns:a16="http://schemas.microsoft.com/office/drawing/2014/main" id="{7C239302-1DAF-FBA8-06BB-E88D7ACFB701}"/>
              </a:ext>
            </a:extLst>
          </p:cNvPr>
          <p:cNvSpPr/>
          <p:nvPr/>
        </p:nvSpPr>
        <p:spPr>
          <a:xfrm>
            <a:off x="660400" y="6362700"/>
            <a:ext cx="1473200" cy="330200"/>
          </a:xfrm>
          <a:prstGeom prst="roundRect">
            <a:avLst/>
          </a:prstGeom>
          <a:solidFill>
            <a:srgbClr val="FFA44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61C9362-CF9D-C6AA-F67B-D9994BE29DBF}"/>
              </a:ext>
            </a:extLst>
          </p:cNvPr>
          <p:cNvSpPr txBox="1"/>
          <p:nvPr/>
        </p:nvSpPr>
        <p:spPr>
          <a:xfrm>
            <a:off x="736600" y="6400800"/>
            <a:ext cx="1320800" cy="276999"/>
          </a:xfrm>
          <a:prstGeom prst="rect">
            <a:avLst/>
          </a:prstGeom>
          <a:noFill/>
        </p:spPr>
        <p:txBody>
          <a:bodyPr vert="horz" wrap="square" lIns="0" tIns="0" rIns="0" bIns="0" rtlCol="0">
            <a:noAutofit/>
          </a:bodyPr>
          <a:lstStyle/>
          <a:p>
            <a:pPr algn="ctr"/>
            <a:r>
              <a:rPr lang="en-US" sz="1050" b="1">
                <a:solidFill>
                  <a:srgbClr val="060A12"/>
                </a:solidFill>
                <a:latin typeface="Aptos" panose="020B0004020202020204" pitchFamily="34" charset="0"/>
              </a:rPr>
              <a:t>KEY IDEA</a:t>
            </a:r>
          </a:p>
        </p:txBody>
      </p:sp>
      <p:sp>
        <p:nvSpPr>
          <p:cNvPr id="21" name="TextBox 20">
            <a:extLst>
              <a:ext uri="{FF2B5EF4-FFF2-40B4-BE49-F238E27FC236}">
                <a16:creationId xmlns:a16="http://schemas.microsoft.com/office/drawing/2014/main" id="{7F23BF1D-EA0D-F6CF-5F43-A53766BB9ABC}"/>
              </a:ext>
            </a:extLst>
          </p:cNvPr>
          <p:cNvSpPr txBox="1"/>
          <p:nvPr/>
        </p:nvSpPr>
        <p:spPr>
          <a:xfrm>
            <a:off x="2286000" y="6362700"/>
            <a:ext cx="9207500" cy="276999"/>
          </a:xfrm>
          <a:prstGeom prst="rect">
            <a:avLst/>
          </a:prstGeom>
          <a:noFill/>
        </p:spPr>
        <p:txBody>
          <a:bodyPr vert="horz" wrap="square" lIns="0" tIns="0" rIns="0" bIns="0" rtlCol="0" anchor="t">
            <a:noAutofit/>
          </a:bodyPr>
          <a:lstStyle/>
          <a:p>
            <a:r>
              <a:rPr lang="en-US" sz="1300">
                <a:solidFill>
                  <a:srgbClr val="F2F5F9"/>
                </a:solidFill>
                <a:latin typeface="Aptos" panose="020B0004020202020204" pitchFamily="34" charset="0"/>
              </a:rPr>
              <a:t>Command = intent + timing. Subsystem = mechanism operation.</a:t>
            </a:r>
          </a:p>
        </p:txBody>
      </p:sp>
      <p:sp>
        <p:nvSpPr>
          <p:cNvPr id="22" name="TextBox 21">
            <a:extLst>
              <a:ext uri="{FF2B5EF4-FFF2-40B4-BE49-F238E27FC236}">
                <a16:creationId xmlns:a16="http://schemas.microsoft.com/office/drawing/2014/main" id="{C2B74154-B95B-42D6-BAD2-2DB88E0AC084}"/>
              </a:ext>
            </a:extLst>
          </p:cNvPr>
          <p:cNvSpPr txBox="1"/>
          <p:nvPr/>
        </p:nvSpPr>
        <p:spPr>
          <a:xfrm>
            <a:off x="533400" y="6908800"/>
            <a:ext cx="8890000" cy="276999"/>
          </a:xfrm>
          <a:prstGeom prst="rect">
            <a:avLst/>
          </a:prstGeom>
          <a:noFill/>
        </p:spPr>
        <p:txBody>
          <a:bodyPr vert="horz" wrap="square" lIns="0" tIns="0" rIns="0" bIns="0" rtlCol="0" anchor="t">
            <a:noAutofit/>
          </a:bodyPr>
          <a:lstStyle/>
          <a:p>
            <a:r>
              <a:rPr lang="en-US" sz="850">
                <a:solidFill>
                  <a:srgbClr val="A9B4C5"/>
                </a:solidFill>
                <a:latin typeface="Aptos" panose="020B0004020202020204" pitchFamily="34" charset="0"/>
              </a:rPr>
              <a:t>Source: BeltInCommand.java</a:t>
            </a:r>
          </a:p>
        </p:txBody>
      </p:sp>
      <p:sp>
        <p:nvSpPr>
          <p:cNvPr id="23" name="TextBox 22">
            <a:extLst>
              <a:ext uri="{FF2B5EF4-FFF2-40B4-BE49-F238E27FC236}">
                <a16:creationId xmlns:a16="http://schemas.microsoft.com/office/drawing/2014/main" id="{F53A9673-9081-66E0-8F5A-9C018231C492}"/>
              </a:ext>
            </a:extLst>
          </p:cNvPr>
          <p:cNvSpPr txBox="1"/>
          <p:nvPr/>
        </p:nvSpPr>
        <p:spPr>
          <a:xfrm>
            <a:off x="9017000" y="6908800"/>
            <a:ext cx="2641600" cy="276999"/>
          </a:xfrm>
          <a:prstGeom prst="rect">
            <a:avLst/>
          </a:prstGeom>
          <a:noFill/>
        </p:spPr>
        <p:txBody>
          <a:bodyPr vert="horz" wrap="square" lIns="0" tIns="0" rIns="0" bIns="0" rtlCol="0" anchor="t">
            <a:noAutofit/>
          </a:bodyPr>
          <a:lstStyle/>
          <a:p>
            <a:pPr algn="r"/>
            <a:r>
              <a:rPr lang="en-US" sz="850">
                <a:solidFill>
                  <a:srgbClr val="A9B4C5"/>
                </a:solidFill>
                <a:latin typeface="Aptos" panose="020B0004020202020204" pitchFamily="34" charset="0"/>
              </a:rPr>
              <a:t>CURRENT ROBOT IMPLEMENTATION • V2</a:t>
            </a:r>
          </a:p>
        </p:txBody>
      </p:sp>
    </p:spTree>
    <p:extLst>
      <p:ext uri="{BB962C8B-B14F-4D97-AF65-F5344CB8AC3E}">
        <p14:creationId xmlns:p14="http://schemas.microsoft.com/office/powerpoint/2010/main" val="17587867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D1421"/>
        </a:solidFill>
        <a:effectLst/>
      </p:bgPr>
    </p:bg>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C834B2A5-CD81-EE3A-BCBB-6EF975E1B270}"/>
              </a:ext>
            </a:extLst>
          </p:cNvPr>
          <p:cNvSpPr/>
          <p:nvPr/>
        </p:nvSpPr>
        <p:spPr>
          <a:xfrm>
            <a:off x="533400" y="292100"/>
            <a:ext cx="1473200" cy="330200"/>
          </a:xfrm>
          <a:prstGeom prst="roundRect">
            <a:avLst/>
          </a:prstGeom>
          <a:solidFill>
            <a:srgbClr val="379D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E8B86227-54B7-1618-567C-2C3F1E3C9236}"/>
              </a:ext>
            </a:extLst>
          </p:cNvPr>
          <p:cNvSpPr txBox="1"/>
          <p:nvPr/>
        </p:nvSpPr>
        <p:spPr>
          <a:xfrm>
            <a:off x="609600" y="330200"/>
            <a:ext cx="1320800" cy="276999"/>
          </a:xfrm>
          <a:prstGeom prst="rect">
            <a:avLst/>
          </a:prstGeom>
          <a:noFill/>
        </p:spPr>
        <p:txBody>
          <a:bodyPr vert="horz" wrap="square" lIns="0" tIns="0" rIns="0" bIns="0" rtlCol="0">
            <a:noAutofit/>
          </a:bodyPr>
          <a:lstStyle/>
          <a:p>
            <a:pPr algn="ctr"/>
            <a:r>
              <a:rPr lang="en-US" sz="1050" b="1">
                <a:solidFill>
                  <a:srgbClr val="060A12"/>
                </a:solidFill>
                <a:latin typeface="Aptos" panose="020B0004020202020204" pitchFamily="34" charset="0"/>
              </a:rPr>
              <a:t>SHARED CORE</a:t>
            </a:r>
          </a:p>
        </p:txBody>
      </p:sp>
      <p:sp>
        <p:nvSpPr>
          <p:cNvPr id="4" name="TextBox 3">
            <a:extLst>
              <a:ext uri="{FF2B5EF4-FFF2-40B4-BE49-F238E27FC236}">
                <a16:creationId xmlns:a16="http://schemas.microsoft.com/office/drawing/2014/main" id="{0D4B4975-6D4A-1E6D-89F2-60001CE494FC}"/>
              </a:ext>
            </a:extLst>
          </p:cNvPr>
          <p:cNvSpPr txBox="1"/>
          <p:nvPr/>
        </p:nvSpPr>
        <p:spPr>
          <a:xfrm>
            <a:off x="533400" y="762000"/>
            <a:ext cx="10414000" cy="276999"/>
          </a:xfrm>
          <a:prstGeom prst="rect">
            <a:avLst/>
          </a:prstGeom>
          <a:noFill/>
        </p:spPr>
        <p:txBody>
          <a:bodyPr vert="horz" wrap="square" lIns="0" tIns="0" rIns="0" bIns="0" rtlCol="0" anchor="t">
            <a:noAutofit/>
          </a:bodyPr>
          <a:lstStyle/>
          <a:p>
            <a:r>
              <a:rPr lang="en-US" sz="2800" b="1">
                <a:solidFill>
                  <a:srgbClr val="F2F5F9"/>
                </a:solidFill>
                <a:latin typeface="Aptos Display" panose="020B0004020202020204" pitchFamily="34" charset="0"/>
              </a:rPr>
              <a:t>Requirements prevent two owners at once</a:t>
            </a:r>
          </a:p>
        </p:txBody>
      </p:sp>
      <p:sp>
        <p:nvSpPr>
          <p:cNvPr id="5" name="TextBox 4">
            <a:extLst>
              <a:ext uri="{FF2B5EF4-FFF2-40B4-BE49-F238E27FC236}">
                <a16:creationId xmlns:a16="http://schemas.microsoft.com/office/drawing/2014/main" id="{FE3FB566-4D0A-A84E-4557-0C1CA491DC57}"/>
              </a:ext>
            </a:extLst>
          </p:cNvPr>
          <p:cNvSpPr txBox="1"/>
          <p:nvPr/>
        </p:nvSpPr>
        <p:spPr>
          <a:xfrm>
            <a:off x="11226800" y="355600"/>
            <a:ext cx="381000" cy="276999"/>
          </a:xfrm>
          <a:prstGeom prst="rect">
            <a:avLst/>
          </a:prstGeom>
          <a:noFill/>
        </p:spPr>
        <p:txBody>
          <a:bodyPr vert="horz" wrap="square" lIns="0" tIns="0" rIns="0" bIns="0" rtlCol="0" anchor="t">
            <a:noAutofit/>
          </a:bodyPr>
          <a:lstStyle/>
          <a:p>
            <a:pPr algn="r"/>
            <a:r>
              <a:rPr lang="en-US" sz="1000" b="1">
                <a:solidFill>
                  <a:srgbClr val="A9B4C5"/>
                </a:solidFill>
                <a:latin typeface="Aptos" panose="020B0004020202020204" pitchFamily="34" charset="0"/>
              </a:rPr>
              <a:t>11</a:t>
            </a:r>
          </a:p>
        </p:txBody>
      </p:sp>
      <p:cxnSp>
        <p:nvCxnSpPr>
          <p:cNvPr id="6" name="Straight Connector 5">
            <a:extLst>
              <a:ext uri="{FF2B5EF4-FFF2-40B4-BE49-F238E27FC236}">
                <a16:creationId xmlns:a16="http://schemas.microsoft.com/office/drawing/2014/main" id="{6220CAC5-4463-AD79-2F2C-B72D8755ACEA}"/>
              </a:ext>
            </a:extLst>
          </p:cNvPr>
          <p:cNvCxnSpPr/>
          <p:nvPr/>
        </p:nvCxnSpPr>
        <p:spPr>
          <a:xfrm>
            <a:off x="533400" y="1371600"/>
            <a:ext cx="11125200" cy="0"/>
          </a:xfrm>
          <a:prstGeom prst="line">
            <a:avLst/>
          </a:prstGeom>
          <a:ln w="12700">
            <a:solidFill>
              <a:srgbClr val="1F2C41"/>
            </a:solidFill>
          </a:ln>
        </p:spPr>
        <p:style>
          <a:lnRef idx="1">
            <a:schemeClr val="accent1"/>
          </a:lnRef>
          <a:fillRef idx="0">
            <a:schemeClr val="accent1"/>
          </a:fillRef>
          <a:effectRef idx="0">
            <a:schemeClr val="accent1"/>
          </a:effectRef>
          <a:fontRef idx="minor">
            <a:schemeClr val="tx1"/>
          </a:fontRef>
        </p:style>
      </p:cxnSp>
      <p:sp>
        <p:nvSpPr>
          <p:cNvPr id="7" name="Rectangle: Rounded Corners 6">
            <a:extLst>
              <a:ext uri="{FF2B5EF4-FFF2-40B4-BE49-F238E27FC236}">
                <a16:creationId xmlns:a16="http://schemas.microsoft.com/office/drawing/2014/main" id="{488AD47F-9056-F066-14E0-FF3EA21F5B56}"/>
              </a:ext>
            </a:extLst>
          </p:cNvPr>
          <p:cNvSpPr/>
          <p:nvPr/>
        </p:nvSpPr>
        <p:spPr>
          <a:xfrm>
            <a:off x="1168400" y="1676400"/>
            <a:ext cx="9855200" cy="1498600"/>
          </a:xfrm>
          <a:prstGeom prst="roundRect">
            <a:avLst/>
          </a:prstGeom>
          <a:solidFill>
            <a:srgbClr val="060A12"/>
          </a:solidFill>
          <a:ln w="15875">
            <a:solidFill>
              <a:srgbClr val="1F2C4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7A4F668B-9097-A695-4AED-7898A8E29730}"/>
              </a:ext>
            </a:extLst>
          </p:cNvPr>
          <p:cNvSpPr/>
          <p:nvPr/>
        </p:nvSpPr>
        <p:spPr>
          <a:xfrm>
            <a:off x="1168400" y="1676400"/>
            <a:ext cx="88900" cy="1498600"/>
          </a:xfrm>
          <a:prstGeom prst="rect">
            <a:avLst/>
          </a:prstGeom>
          <a:solidFill>
            <a:srgbClr val="FFA44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9E012130-3137-5DB2-A314-4CEB18993EA5}"/>
              </a:ext>
            </a:extLst>
          </p:cNvPr>
          <p:cNvSpPr txBox="1"/>
          <p:nvPr/>
        </p:nvSpPr>
        <p:spPr>
          <a:xfrm>
            <a:off x="1397000" y="1828800"/>
            <a:ext cx="9474200" cy="276999"/>
          </a:xfrm>
          <a:prstGeom prst="rect">
            <a:avLst/>
          </a:prstGeom>
          <a:noFill/>
        </p:spPr>
        <p:txBody>
          <a:bodyPr vert="horz" wrap="square" lIns="0" tIns="0" rIns="0" bIns="0" rtlCol="0" anchor="t">
            <a:noAutofit/>
          </a:bodyPr>
          <a:lstStyle/>
          <a:p>
            <a:r>
              <a:rPr lang="en-US" sz="1600">
                <a:solidFill>
                  <a:srgbClr val="F2F5F9"/>
                </a:solidFill>
                <a:latin typeface="Consolas" panose="020B0609020204030204" pitchFamily="49" charset="0"/>
              </a:rPr>
              <a:t>public BeltInCommand(BeltSubsystem beltSubsystem) {</a:t>
            </a:r>
          </a:p>
          <a:p>
            <a:r>
              <a:rPr lang="en-US" sz="1600">
                <a:solidFill>
                  <a:srgbClr val="F2F5F9"/>
                </a:solidFill>
                <a:latin typeface="Consolas" panose="020B0609020204030204" pitchFamily="49" charset="0"/>
              </a:rPr>
              <a:t>    this.beltSubsystem = beltSubsystem;</a:t>
            </a:r>
          </a:p>
          <a:p>
            <a:r>
              <a:rPr lang="en-US" sz="1600">
                <a:solidFill>
                  <a:srgbClr val="F2F5F9"/>
                </a:solidFill>
                <a:latin typeface="Consolas" panose="020B0609020204030204" pitchFamily="49" charset="0"/>
              </a:rPr>
              <a:t>    addRequirements(beltSubsystem);</a:t>
            </a:r>
          </a:p>
          <a:p>
            <a:r>
              <a:rPr lang="en-US" sz="1600">
                <a:solidFill>
                  <a:srgbClr val="F2F5F9"/>
                </a:solidFill>
                <a:latin typeface="Consolas" panose="020B0609020204030204" pitchFamily="49" charset="0"/>
              </a:rPr>
              <a:t>}</a:t>
            </a:r>
          </a:p>
        </p:txBody>
      </p:sp>
      <p:sp>
        <p:nvSpPr>
          <p:cNvPr id="10" name="Rectangle: Rounded Corners 9">
            <a:extLst>
              <a:ext uri="{FF2B5EF4-FFF2-40B4-BE49-F238E27FC236}">
                <a16:creationId xmlns:a16="http://schemas.microsoft.com/office/drawing/2014/main" id="{8CBD5087-BCB8-32C2-AF3D-695E793CB729}"/>
              </a:ext>
            </a:extLst>
          </p:cNvPr>
          <p:cNvSpPr/>
          <p:nvPr/>
        </p:nvSpPr>
        <p:spPr>
          <a:xfrm>
            <a:off x="1104900" y="3708400"/>
            <a:ext cx="3302000" cy="1041400"/>
          </a:xfrm>
          <a:prstGeom prst="roundRect">
            <a:avLst/>
          </a:prstGeom>
          <a:solidFill>
            <a:srgbClr val="182234"/>
          </a:solidFill>
          <a:ln w="15875">
            <a:solidFill>
              <a:srgbClr val="FFA44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7F6B998-442D-BA6F-5B2B-68DDCBCC079F}"/>
              </a:ext>
            </a:extLst>
          </p:cNvPr>
          <p:cNvSpPr/>
          <p:nvPr/>
        </p:nvSpPr>
        <p:spPr>
          <a:xfrm>
            <a:off x="1104900" y="3708400"/>
            <a:ext cx="76200" cy="1041400"/>
          </a:xfrm>
          <a:prstGeom prst="rect">
            <a:avLst/>
          </a:prstGeom>
          <a:solidFill>
            <a:srgbClr val="FFA44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0E67F06E-5F4D-92F3-8668-44BC0AD6EE12}"/>
              </a:ext>
            </a:extLst>
          </p:cNvPr>
          <p:cNvSpPr txBox="1"/>
          <p:nvPr/>
        </p:nvSpPr>
        <p:spPr>
          <a:xfrm>
            <a:off x="1308100" y="3835400"/>
            <a:ext cx="2984500" cy="276999"/>
          </a:xfrm>
          <a:prstGeom prst="rect">
            <a:avLst/>
          </a:prstGeom>
          <a:noFill/>
        </p:spPr>
        <p:txBody>
          <a:bodyPr vert="horz" wrap="square" lIns="0" tIns="0" rIns="0" bIns="0" rtlCol="0" anchor="t">
            <a:noAutofit/>
          </a:bodyPr>
          <a:lstStyle/>
          <a:p>
            <a:r>
              <a:rPr lang="en-US" sz="1600" b="1">
                <a:solidFill>
                  <a:srgbClr val="FFA443"/>
                </a:solidFill>
                <a:latin typeface="Aptos" panose="020B0004020202020204" pitchFamily="34" charset="0"/>
              </a:rPr>
              <a:t>BELT IN</a:t>
            </a:r>
          </a:p>
        </p:txBody>
      </p:sp>
      <p:sp>
        <p:nvSpPr>
          <p:cNvPr id="13" name="TextBox 12">
            <a:extLst>
              <a:ext uri="{FF2B5EF4-FFF2-40B4-BE49-F238E27FC236}">
                <a16:creationId xmlns:a16="http://schemas.microsoft.com/office/drawing/2014/main" id="{E3C88EDD-9241-A6A6-9F94-EC12825A3C54}"/>
              </a:ext>
            </a:extLst>
          </p:cNvPr>
          <p:cNvSpPr txBox="1"/>
          <p:nvPr/>
        </p:nvSpPr>
        <p:spPr>
          <a:xfrm>
            <a:off x="1308100" y="4191000"/>
            <a:ext cx="2984500" cy="276999"/>
          </a:xfrm>
          <a:prstGeom prst="rect">
            <a:avLst/>
          </a:prstGeom>
          <a:noFill/>
        </p:spPr>
        <p:txBody>
          <a:bodyPr vert="horz" wrap="square" lIns="0" tIns="0" rIns="0" bIns="0" rtlCol="0" anchor="t">
            <a:noAutofit/>
          </a:bodyPr>
          <a:lstStyle/>
          <a:p>
            <a:r>
              <a:rPr lang="en-US" sz="1200">
                <a:solidFill>
                  <a:srgbClr val="F2F5F9"/>
                </a:solidFill>
                <a:latin typeface="Aptos" panose="020B0004020202020204" pitchFamily="34" charset="0"/>
              </a:rPr>
              <a:t>requires BeltSubsystem</a:t>
            </a:r>
          </a:p>
        </p:txBody>
      </p:sp>
      <p:sp>
        <p:nvSpPr>
          <p:cNvPr id="14" name="Rectangle: Rounded Corners 13">
            <a:extLst>
              <a:ext uri="{FF2B5EF4-FFF2-40B4-BE49-F238E27FC236}">
                <a16:creationId xmlns:a16="http://schemas.microsoft.com/office/drawing/2014/main" id="{7864BC64-24C7-C60D-1A08-F483FDBB53CD}"/>
              </a:ext>
            </a:extLst>
          </p:cNvPr>
          <p:cNvSpPr/>
          <p:nvPr/>
        </p:nvSpPr>
        <p:spPr>
          <a:xfrm>
            <a:off x="4445000" y="3708400"/>
            <a:ext cx="3302000" cy="1041400"/>
          </a:xfrm>
          <a:prstGeom prst="roundRect">
            <a:avLst/>
          </a:prstGeom>
          <a:solidFill>
            <a:srgbClr val="182234"/>
          </a:solidFill>
          <a:ln w="15875">
            <a:solidFill>
              <a:srgbClr val="3ECF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DD23AED8-1C94-8F39-1DDE-EE20490E6DE0}"/>
              </a:ext>
            </a:extLst>
          </p:cNvPr>
          <p:cNvSpPr/>
          <p:nvPr/>
        </p:nvSpPr>
        <p:spPr>
          <a:xfrm>
            <a:off x="4445000" y="3708400"/>
            <a:ext cx="76200" cy="1041400"/>
          </a:xfrm>
          <a:prstGeom prst="rect">
            <a:avLst/>
          </a:prstGeom>
          <a:solidFill>
            <a:srgbClr val="3ECF8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F16615EF-3BBD-E8BA-CE9A-EBAE8BEBC0A3}"/>
              </a:ext>
            </a:extLst>
          </p:cNvPr>
          <p:cNvSpPr txBox="1"/>
          <p:nvPr/>
        </p:nvSpPr>
        <p:spPr>
          <a:xfrm>
            <a:off x="4648200" y="3835400"/>
            <a:ext cx="2984500" cy="276999"/>
          </a:xfrm>
          <a:prstGeom prst="rect">
            <a:avLst/>
          </a:prstGeom>
          <a:noFill/>
        </p:spPr>
        <p:txBody>
          <a:bodyPr vert="horz" wrap="square" lIns="0" tIns="0" rIns="0" bIns="0" rtlCol="0" anchor="t">
            <a:noAutofit/>
          </a:bodyPr>
          <a:lstStyle/>
          <a:p>
            <a:r>
              <a:rPr lang="en-US" sz="1600" b="1">
                <a:solidFill>
                  <a:srgbClr val="3ECF8E"/>
                </a:solidFill>
                <a:latin typeface="Aptos" panose="020B0004020202020204" pitchFamily="34" charset="0"/>
              </a:rPr>
              <a:t>BELT SUBSYSTEM</a:t>
            </a:r>
          </a:p>
        </p:txBody>
      </p:sp>
      <p:sp>
        <p:nvSpPr>
          <p:cNvPr id="17" name="TextBox 16">
            <a:extLst>
              <a:ext uri="{FF2B5EF4-FFF2-40B4-BE49-F238E27FC236}">
                <a16:creationId xmlns:a16="http://schemas.microsoft.com/office/drawing/2014/main" id="{65E102D8-BED9-06A2-14A4-01B46E3B3A19}"/>
              </a:ext>
            </a:extLst>
          </p:cNvPr>
          <p:cNvSpPr txBox="1"/>
          <p:nvPr/>
        </p:nvSpPr>
        <p:spPr>
          <a:xfrm>
            <a:off x="4648200" y="4191000"/>
            <a:ext cx="2984500" cy="276999"/>
          </a:xfrm>
          <a:prstGeom prst="rect">
            <a:avLst/>
          </a:prstGeom>
          <a:noFill/>
        </p:spPr>
        <p:txBody>
          <a:bodyPr vert="horz" wrap="square" lIns="0" tIns="0" rIns="0" bIns="0" rtlCol="0" anchor="t">
            <a:noAutofit/>
          </a:bodyPr>
          <a:lstStyle/>
          <a:p>
            <a:r>
              <a:rPr lang="en-US" sz="1200">
                <a:solidFill>
                  <a:srgbClr val="F2F5F9"/>
                </a:solidFill>
                <a:latin typeface="Aptos" panose="020B0004020202020204" pitchFamily="34" charset="0"/>
              </a:rPr>
              <a:t>one scheduled owner</a:t>
            </a:r>
          </a:p>
        </p:txBody>
      </p:sp>
      <p:sp>
        <p:nvSpPr>
          <p:cNvPr id="18" name="Rectangle: Rounded Corners 17">
            <a:extLst>
              <a:ext uri="{FF2B5EF4-FFF2-40B4-BE49-F238E27FC236}">
                <a16:creationId xmlns:a16="http://schemas.microsoft.com/office/drawing/2014/main" id="{3219CC0B-20F6-0002-AA27-3487B9B8EC9A}"/>
              </a:ext>
            </a:extLst>
          </p:cNvPr>
          <p:cNvSpPr/>
          <p:nvPr/>
        </p:nvSpPr>
        <p:spPr>
          <a:xfrm>
            <a:off x="7785100" y="3708400"/>
            <a:ext cx="3302000" cy="1041400"/>
          </a:xfrm>
          <a:prstGeom prst="roundRect">
            <a:avLst/>
          </a:prstGeom>
          <a:solidFill>
            <a:srgbClr val="182234"/>
          </a:solidFill>
          <a:ln w="15875">
            <a:solidFill>
              <a:srgbClr val="FF64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2F0ECF1E-310D-50CE-5425-1B986B7F62A6}"/>
              </a:ext>
            </a:extLst>
          </p:cNvPr>
          <p:cNvSpPr/>
          <p:nvPr/>
        </p:nvSpPr>
        <p:spPr>
          <a:xfrm>
            <a:off x="7785100" y="3708400"/>
            <a:ext cx="76200" cy="1041400"/>
          </a:xfrm>
          <a:prstGeom prst="rect">
            <a:avLst/>
          </a:prstGeom>
          <a:solidFill>
            <a:srgbClr val="FF646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2152ED4-FF11-B7CA-2E77-B56B10676E67}"/>
              </a:ext>
            </a:extLst>
          </p:cNvPr>
          <p:cNvSpPr txBox="1"/>
          <p:nvPr/>
        </p:nvSpPr>
        <p:spPr>
          <a:xfrm>
            <a:off x="7988300" y="3835400"/>
            <a:ext cx="2984500" cy="276999"/>
          </a:xfrm>
          <a:prstGeom prst="rect">
            <a:avLst/>
          </a:prstGeom>
          <a:noFill/>
        </p:spPr>
        <p:txBody>
          <a:bodyPr vert="horz" wrap="square" lIns="0" tIns="0" rIns="0" bIns="0" rtlCol="0" anchor="t">
            <a:noAutofit/>
          </a:bodyPr>
          <a:lstStyle/>
          <a:p>
            <a:r>
              <a:rPr lang="en-US" sz="1600" b="1">
                <a:solidFill>
                  <a:srgbClr val="FF6464"/>
                </a:solidFill>
                <a:latin typeface="Aptos" panose="020B0004020202020204" pitchFamily="34" charset="0"/>
              </a:rPr>
              <a:t>BELT OUT</a:t>
            </a:r>
          </a:p>
        </p:txBody>
      </p:sp>
      <p:sp>
        <p:nvSpPr>
          <p:cNvPr id="21" name="TextBox 20">
            <a:extLst>
              <a:ext uri="{FF2B5EF4-FFF2-40B4-BE49-F238E27FC236}">
                <a16:creationId xmlns:a16="http://schemas.microsoft.com/office/drawing/2014/main" id="{3914E509-1782-80EF-9AEA-39C6082EC8D9}"/>
              </a:ext>
            </a:extLst>
          </p:cNvPr>
          <p:cNvSpPr txBox="1"/>
          <p:nvPr/>
        </p:nvSpPr>
        <p:spPr>
          <a:xfrm>
            <a:off x="7988300" y="4191000"/>
            <a:ext cx="2984500" cy="276999"/>
          </a:xfrm>
          <a:prstGeom prst="rect">
            <a:avLst/>
          </a:prstGeom>
          <a:noFill/>
        </p:spPr>
        <p:txBody>
          <a:bodyPr vert="horz" wrap="square" lIns="0" tIns="0" rIns="0" bIns="0" rtlCol="0" anchor="t">
            <a:noAutofit/>
          </a:bodyPr>
          <a:lstStyle/>
          <a:p>
            <a:r>
              <a:rPr lang="en-US" sz="1200">
                <a:solidFill>
                  <a:srgbClr val="F2F5F9"/>
                </a:solidFill>
                <a:latin typeface="Aptos" panose="020B0004020202020204" pitchFamily="34" charset="0"/>
              </a:rPr>
              <a:t>requires BeltSubsystem</a:t>
            </a:r>
          </a:p>
        </p:txBody>
      </p:sp>
      <p:cxnSp>
        <p:nvCxnSpPr>
          <p:cNvPr id="22" name="Straight Connector 21">
            <a:extLst>
              <a:ext uri="{FF2B5EF4-FFF2-40B4-BE49-F238E27FC236}">
                <a16:creationId xmlns:a16="http://schemas.microsoft.com/office/drawing/2014/main" id="{B822DCFD-0C1D-F730-138A-CD250367E22D}"/>
              </a:ext>
            </a:extLst>
          </p:cNvPr>
          <p:cNvCxnSpPr/>
          <p:nvPr/>
        </p:nvCxnSpPr>
        <p:spPr>
          <a:xfrm>
            <a:off x="4406900" y="4229100"/>
            <a:ext cx="38100" cy="0"/>
          </a:xfrm>
          <a:prstGeom prst="line">
            <a:avLst/>
          </a:prstGeom>
          <a:ln w="63500">
            <a:solidFill>
              <a:srgbClr val="A474FF"/>
            </a:solidFill>
            <a:tailEnd type="arrow"/>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C824E4AA-3564-EDB7-670B-CA442D04C8F4}"/>
              </a:ext>
            </a:extLst>
          </p:cNvPr>
          <p:cNvCxnSpPr/>
          <p:nvPr/>
        </p:nvCxnSpPr>
        <p:spPr>
          <a:xfrm flipH="1">
            <a:off x="7747000" y="4229100"/>
            <a:ext cx="38100" cy="0"/>
          </a:xfrm>
          <a:prstGeom prst="line">
            <a:avLst/>
          </a:prstGeom>
          <a:ln w="63500">
            <a:solidFill>
              <a:srgbClr val="A474FF"/>
            </a:solidFill>
            <a:tailEnd type="arrow"/>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04139D2E-F3CE-97DD-DD61-8FCBE435440F}"/>
              </a:ext>
            </a:extLst>
          </p:cNvPr>
          <p:cNvSpPr txBox="1"/>
          <p:nvPr/>
        </p:nvSpPr>
        <p:spPr>
          <a:xfrm>
            <a:off x="4216400" y="5041900"/>
            <a:ext cx="3759200" cy="276999"/>
          </a:xfrm>
          <a:prstGeom prst="rect">
            <a:avLst/>
          </a:prstGeom>
          <a:noFill/>
        </p:spPr>
        <p:txBody>
          <a:bodyPr vert="horz" wrap="square" lIns="0" tIns="0" rIns="0" bIns="0" rtlCol="0" anchor="t">
            <a:noAutofit/>
          </a:bodyPr>
          <a:lstStyle/>
          <a:p>
            <a:pPr algn="ctr"/>
            <a:r>
              <a:rPr lang="en-US" sz="1500" b="1">
                <a:solidFill>
                  <a:srgbClr val="A474FF"/>
                </a:solidFill>
                <a:latin typeface="Aptos" panose="020B0004020202020204" pitchFamily="34" charset="0"/>
              </a:rPr>
              <a:t>scheduler resolves the conflict</a:t>
            </a:r>
          </a:p>
        </p:txBody>
      </p:sp>
      <p:sp>
        <p:nvSpPr>
          <p:cNvPr id="25" name="Rectangle: Rounded Corners 24">
            <a:extLst>
              <a:ext uri="{FF2B5EF4-FFF2-40B4-BE49-F238E27FC236}">
                <a16:creationId xmlns:a16="http://schemas.microsoft.com/office/drawing/2014/main" id="{FE7A2FFE-1F4C-94B2-9273-8BC5A18E376E}"/>
              </a:ext>
            </a:extLst>
          </p:cNvPr>
          <p:cNvSpPr/>
          <p:nvPr/>
        </p:nvSpPr>
        <p:spPr>
          <a:xfrm>
            <a:off x="533400" y="6261100"/>
            <a:ext cx="11125200" cy="533400"/>
          </a:xfrm>
          <a:prstGeom prst="roundRect">
            <a:avLst/>
          </a:prstGeom>
          <a:solidFill>
            <a:srgbClr val="18223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Rounded Corners 25">
            <a:extLst>
              <a:ext uri="{FF2B5EF4-FFF2-40B4-BE49-F238E27FC236}">
                <a16:creationId xmlns:a16="http://schemas.microsoft.com/office/drawing/2014/main" id="{84B1BC8F-53CF-81BD-5203-989CDBF2B82F}"/>
              </a:ext>
            </a:extLst>
          </p:cNvPr>
          <p:cNvSpPr/>
          <p:nvPr/>
        </p:nvSpPr>
        <p:spPr>
          <a:xfrm>
            <a:off x="660400" y="6362700"/>
            <a:ext cx="1473200" cy="330200"/>
          </a:xfrm>
          <a:prstGeom prst="roundRect">
            <a:avLst/>
          </a:prstGeom>
          <a:solidFill>
            <a:srgbClr val="A474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C18F5129-D583-1B7B-486D-A3552E1D9A96}"/>
              </a:ext>
            </a:extLst>
          </p:cNvPr>
          <p:cNvSpPr txBox="1"/>
          <p:nvPr/>
        </p:nvSpPr>
        <p:spPr>
          <a:xfrm>
            <a:off x="736600" y="6400800"/>
            <a:ext cx="1320800" cy="276999"/>
          </a:xfrm>
          <a:prstGeom prst="rect">
            <a:avLst/>
          </a:prstGeom>
          <a:noFill/>
        </p:spPr>
        <p:txBody>
          <a:bodyPr vert="horz" wrap="square" lIns="0" tIns="0" rIns="0" bIns="0" rtlCol="0">
            <a:noAutofit/>
          </a:bodyPr>
          <a:lstStyle/>
          <a:p>
            <a:pPr algn="ctr"/>
            <a:r>
              <a:rPr lang="en-US" sz="1050" b="1">
                <a:solidFill>
                  <a:srgbClr val="060A12"/>
                </a:solidFill>
                <a:latin typeface="Aptos" panose="020B0004020202020204" pitchFamily="34" charset="0"/>
              </a:rPr>
              <a:t>RULE</a:t>
            </a:r>
          </a:p>
        </p:txBody>
      </p:sp>
      <p:sp>
        <p:nvSpPr>
          <p:cNvPr id="28" name="TextBox 27">
            <a:extLst>
              <a:ext uri="{FF2B5EF4-FFF2-40B4-BE49-F238E27FC236}">
                <a16:creationId xmlns:a16="http://schemas.microsoft.com/office/drawing/2014/main" id="{9A42659C-FE6B-B328-D645-566744853407}"/>
              </a:ext>
            </a:extLst>
          </p:cNvPr>
          <p:cNvSpPr txBox="1"/>
          <p:nvPr/>
        </p:nvSpPr>
        <p:spPr>
          <a:xfrm>
            <a:off x="2286000" y="6362700"/>
            <a:ext cx="9207500" cy="276999"/>
          </a:xfrm>
          <a:prstGeom prst="rect">
            <a:avLst/>
          </a:prstGeom>
          <a:noFill/>
        </p:spPr>
        <p:txBody>
          <a:bodyPr vert="horz" wrap="square" lIns="0" tIns="0" rIns="0" bIns="0" rtlCol="0" anchor="t">
            <a:noAutofit/>
          </a:bodyPr>
          <a:lstStyle/>
          <a:p>
            <a:r>
              <a:rPr lang="en-US" sz="1300">
                <a:solidFill>
                  <a:srgbClr val="F2F5F9"/>
                </a:solidFill>
                <a:latin typeface="Aptos" panose="020B0004020202020204" pitchFamily="34" charset="0"/>
              </a:rPr>
              <a:t>Add every subsystem whose controlled hardware/state the command acts on.</a:t>
            </a:r>
          </a:p>
        </p:txBody>
      </p:sp>
      <p:sp>
        <p:nvSpPr>
          <p:cNvPr id="29" name="TextBox 28">
            <a:extLst>
              <a:ext uri="{FF2B5EF4-FFF2-40B4-BE49-F238E27FC236}">
                <a16:creationId xmlns:a16="http://schemas.microsoft.com/office/drawing/2014/main" id="{D6271D10-4BFD-ED47-DE05-2257126EFA73}"/>
              </a:ext>
            </a:extLst>
          </p:cNvPr>
          <p:cNvSpPr txBox="1"/>
          <p:nvPr/>
        </p:nvSpPr>
        <p:spPr>
          <a:xfrm>
            <a:off x="533400" y="6908800"/>
            <a:ext cx="8890000" cy="276999"/>
          </a:xfrm>
          <a:prstGeom prst="rect">
            <a:avLst/>
          </a:prstGeom>
          <a:noFill/>
        </p:spPr>
        <p:txBody>
          <a:bodyPr vert="horz" wrap="square" lIns="0" tIns="0" rIns="0" bIns="0" rtlCol="0" anchor="t">
            <a:noAutofit/>
          </a:bodyPr>
          <a:lstStyle/>
          <a:p>
            <a:r>
              <a:rPr lang="en-US" sz="850">
                <a:solidFill>
                  <a:srgbClr val="A9B4C5"/>
                </a:solidFill>
                <a:latin typeface="Aptos" panose="020B0004020202020204" pitchFamily="34" charset="0"/>
              </a:rPr>
              <a:t>Source: BeltInCommand.java</a:t>
            </a:r>
          </a:p>
        </p:txBody>
      </p:sp>
      <p:sp>
        <p:nvSpPr>
          <p:cNvPr id="30" name="TextBox 29">
            <a:extLst>
              <a:ext uri="{FF2B5EF4-FFF2-40B4-BE49-F238E27FC236}">
                <a16:creationId xmlns:a16="http://schemas.microsoft.com/office/drawing/2014/main" id="{5FE83230-0A7F-95BA-A7BA-0B5874D42894}"/>
              </a:ext>
            </a:extLst>
          </p:cNvPr>
          <p:cNvSpPr txBox="1"/>
          <p:nvPr/>
        </p:nvSpPr>
        <p:spPr>
          <a:xfrm>
            <a:off x="9017000" y="6908800"/>
            <a:ext cx="2641600" cy="276999"/>
          </a:xfrm>
          <a:prstGeom prst="rect">
            <a:avLst/>
          </a:prstGeom>
          <a:noFill/>
        </p:spPr>
        <p:txBody>
          <a:bodyPr vert="horz" wrap="square" lIns="0" tIns="0" rIns="0" bIns="0" rtlCol="0" anchor="t">
            <a:noAutofit/>
          </a:bodyPr>
          <a:lstStyle/>
          <a:p>
            <a:pPr algn="r"/>
            <a:r>
              <a:rPr lang="en-US" sz="850">
                <a:solidFill>
                  <a:srgbClr val="A9B4C5"/>
                </a:solidFill>
                <a:latin typeface="Aptos" panose="020B0004020202020204" pitchFamily="34" charset="0"/>
              </a:rPr>
              <a:t>CURRENT ROBOT IMPLEMENTATION • V2</a:t>
            </a:r>
          </a:p>
        </p:txBody>
      </p:sp>
    </p:spTree>
    <p:extLst>
      <p:ext uri="{BB962C8B-B14F-4D97-AF65-F5344CB8AC3E}">
        <p14:creationId xmlns:p14="http://schemas.microsoft.com/office/powerpoint/2010/main" val="1075980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D1421"/>
        </a:solidFill>
        <a:effectLst/>
      </p:bgPr>
    </p:bg>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1EACA9B4-2E9B-9DA3-E502-AAF7BCBE2680}"/>
              </a:ext>
            </a:extLst>
          </p:cNvPr>
          <p:cNvSpPr/>
          <p:nvPr/>
        </p:nvSpPr>
        <p:spPr>
          <a:xfrm>
            <a:off x="533400" y="292100"/>
            <a:ext cx="1473200" cy="330200"/>
          </a:xfrm>
          <a:prstGeom prst="roundRect">
            <a:avLst/>
          </a:prstGeom>
          <a:solidFill>
            <a:srgbClr val="379D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52E61DC-573E-6C1E-446E-A4DB4087ABBA}"/>
              </a:ext>
            </a:extLst>
          </p:cNvPr>
          <p:cNvSpPr txBox="1"/>
          <p:nvPr/>
        </p:nvSpPr>
        <p:spPr>
          <a:xfrm>
            <a:off x="609600" y="330200"/>
            <a:ext cx="1320800" cy="276999"/>
          </a:xfrm>
          <a:prstGeom prst="rect">
            <a:avLst/>
          </a:prstGeom>
          <a:noFill/>
        </p:spPr>
        <p:txBody>
          <a:bodyPr vert="horz" wrap="square" lIns="0" tIns="0" rIns="0" bIns="0" rtlCol="0">
            <a:noAutofit/>
          </a:bodyPr>
          <a:lstStyle/>
          <a:p>
            <a:pPr algn="ctr"/>
            <a:r>
              <a:rPr lang="en-US" sz="1050" b="1">
                <a:solidFill>
                  <a:srgbClr val="060A12"/>
                </a:solidFill>
                <a:latin typeface="Aptos" panose="020B0004020202020204" pitchFamily="34" charset="0"/>
              </a:rPr>
              <a:t>SHARED CORE</a:t>
            </a:r>
          </a:p>
        </p:txBody>
      </p:sp>
      <p:sp>
        <p:nvSpPr>
          <p:cNvPr id="4" name="TextBox 3">
            <a:extLst>
              <a:ext uri="{FF2B5EF4-FFF2-40B4-BE49-F238E27FC236}">
                <a16:creationId xmlns:a16="http://schemas.microsoft.com/office/drawing/2014/main" id="{062732D7-4815-22D3-EFED-C8EBC9A69BD2}"/>
              </a:ext>
            </a:extLst>
          </p:cNvPr>
          <p:cNvSpPr txBox="1"/>
          <p:nvPr/>
        </p:nvSpPr>
        <p:spPr>
          <a:xfrm>
            <a:off x="533400" y="762000"/>
            <a:ext cx="10414000" cy="276999"/>
          </a:xfrm>
          <a:prstGeom prst="rect">
            <a:avLst/>
          </a:prstGeom>
          <a:noFill/>
        </p:spPr>
        <p:txBody>
          <a:bodyPr vert="horz" wrap="square" lIns="0" tIns="0" rIns="0" bIns="0" rtlCol="0" anchor="t">
            <a:noAutofit/>
          </a:bodyPr>
          <a:lstStyle/>
          <a:p>
            <a:r>
              <a:rPr lang="en-US" sz="2800" b="1">
                <a:solidFill>
                  <a:srgbClr val="F2F5F9"/>
                </a:solidFill>
                <a:latin typeface="Aptos Display" panose="020B0004020202020204" pitchFamily="34" charset="0"/>
              </a:rPr>
              <a:t>Bindings connect an input to an action</a:t>
            </a:r>
          </a:p>
        </p:txBody>
      </p:sp>
      <p:sp>
        <p:nvSpPr>
          <p:cNvPr id="5" name="TextBox 4">
            <a:extLst>
              <a:ext uri="{FF2B5EF4-FFF2-40B4-BE49-F238E27FC236}">
                <a16:creationId xmlns:a16="http://schemas.microsoft.com/office/drawing/2014/main" id="{3D7E0FA1-2740-0523-3AB1-81A2C0AE5D46}"/>
              </a:ext>
            </a:extLst>
          </p:cNvPr>
          <p:cNvSpPr txBox="1"/>
          <p:nvPr/>
        </p:nvSpPr>
        <p:spPr>
          <a:xfrm>
            <a:off x="11226800" y="355600"/>
            <a:ext cx="381000" cy="276999"/>
          </a:xfrm>
          <a:prstGeom prst="rect">
            <a:avLst/>
          </a:prstGeom>
          <a:noFill/>
        </p:spPr>
        <p:txBody>
          <a:bodyPr vert="horz" wrap="square" lIns="0" tIns="0" rIns="0" bIns="0" rtlCol="0" anchor="t">
            <a:noAutofit/>
          </a:bodyPr>
          <a:lstStyle/>
          <a:p>
            <a:pPr algn="r"/>
            <a:r>
              <a:rPr lang="en-US" sz="1000" b="1">
                <a:solidFill>
                  <a:srgbClr val="A9B4C5"/>
                </a:solidFill>
                <a:latin typeface="Aptos" panose="020B0004020202020204" pitchFamily="34" charset="0"/>
              </a:rPr>
              <a:t>12</a:t>
            </a:r>
          </a:p>
        </p:txBody>
      </p:sp>
      <p:cxnSp>
        <p:nvCxnSpPr>
          <p:cNvPr id="6" name="Straight Connector 5">
            <a:extLst>
              <a:ext uri="{FF2B5EF4-FFF2-40B4-BE49-F238E27FC236}">
                <a16:creationId xmlns:a16="http://schemas.microsoft.com/office/drawing/2014/main" id="{7AD7AAA5-0381-214E-D0C3-B82EA7DED159}"/>
              </a:ext>
            </a:extLst>
          </p:cNvPr>
          <p:cNvCxnSpPr/>
          <p:nvPr/>
        </p:nvCxnSpPr>
        <p:spPr>
          <a:xfrm>
            <a:off x="533400" y="1371600"/>
            <a:ext cx="11125200" cy="0"/>
          </a:xfrm>
          <a:prstGeom prst="line">
            <a:avLst/>
          </a:prstGeom>
          <a:ln w="12700">
            <a:solidFill>
              <a:srgbClr val="1F2C41"/>
            </a:solidFill>
          </a:ln>
        </p:spPr>
        <p:style>
          <a:lnRef idx="1">
            <a:schemeClr val="accent1"/>
          </a:lnRef>
          <a:fillRef idx="0">
            <a:schemeClr val="accent1"/>
          </a:fillRef>
          <a:effectRef idx="0">
            <a:schemeClr val="accent1"/>
          </a:effectRef>
          <a:fontRef idx="minor">
            <a:schemeClr val="tx1"/>
          </a:fontRef>
        </p:style>
      </p:cxnSp>
      <p:sp>
        <p:nvSpPr>
          <p:cNvPr id="7" name="Rectangle: Rounded Corners 6">
            <a:extLst>
              <a:ext uri="{FF2B5EF4-FFF2-40B4-BE49-F238E27FC236}">
                <a16:creationId xmlns:a16="http://schemas.microsoft.com/office/drawing/2014/main" id="{FBC22B50-BF5D-B5B3-3AD8-C38D875EFA71}"/>
              </a:ext>
            </a:extLst>
          </p:cNvPr>
          <p:cNvSpPr/>
          <p:nvPr/>
        </p:nvSpPr>
        <p:spPr>
          <a:xfrm>
            <a:off x="1117600" y="1676400"/>
            <a:ext cx="9956800" cy="1905000"/>
          </a:xfrm>
          <a:prstGeom prst="roundRect">
            <a:avLst/>
          </a:prstGeom>
          <a:solidFill>
            <a:srgbClr val="060A12"/>
          </a:solidFill>
          <a:ln w="15875">
            <a:solidFill>
              <a:srgbClr val="1F2C4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1BC259F8-BD58-4BD4-AECD-11E5D6DD5770}"/>
              </a:ext>
            </a:extLst>
          </p:cNvPr>
          <p:cNvSpPr/>
          <p:nvPr/>
        </p:nvSpPr>
        <p:spPr>
          <a:xfrm>
            <a:off x="1117600" y="1676400"/>
            <a:ext cx="88900" cy="1905000"/>
          </a:xfrm>
          <a:prstGeom prst="rect">
            <a:avLst/>
          </a:prstGeom>
          <a:solidFill>
            <a:srgbClr val="379D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68353D14-4E02-7D6D-033B-3BE38ED3E819}"/>
              </a:ext>
            </a:extLst>
          </p:cNvPr>
          <p:cNvSpPr txBox="1"/>
          <p:nvPr/>
        </p:nvSpPr>
        <p:spPr>
          <a:xfrm>
            <a:off x="1346200" y="1828800"/>
            <a:ext cx="9575800" cy="276999"/>
          </a:xfrm>
          <a:prstGeom prst="rect">
            <a:avLst/>
          </a:prstGeom>
          <a:noFill/>
        </p:spPr>
        <p:txBody>
          <a:bodyPr vert="horz" wrap="square" lIns="0" tIns="0" rIns="0" bIns="0" rtlCol="0" anchor="t">
            <a:noAutofit/>
          </a:bodyPr>
          <a:lstStyle/>
          <a:p>
            <a:r>
              <a:rPr lang="en-US" sz="1600">
                <a:solidFill>
                  <a:srgbClr val="F2F5F9"/>
                </a:solidFill>
                <a:latin typeface="Consolas" panose="020B0609020204030204" pitchFamily="49" charset="0"/>
              </a:rPr>
              <a:t>operatorController.a()</a:t>
            </a:r>
          </a:p>
          <a:p>
            <a:r>
              <a:rPr lang="en-US" sz="1600">
                <a:solidFill>
                  <a:srgbClr val="F2F5F9"/>
                </a:solidFill>
                <a:latin typeface="Consolas" panose="020B0609020204030204" pitchFamily="49" charset="0"/>
              </a:rPr>
              <a:t>    .whileTrue(new BeltInCommand(beltSubsystem));</a:t>
            </a:r>
          </a:p>
          <a:p>
            <a:r>
              <a:rPr lang="en-US" sz="1600">
                <a:solidFill>
                  <a:srgbClr val="F2F5F9"/>
                </a:solidFill>
                <a:latin typeface="Consolas" panose="020B0609020204030204" pitchFamily="49" charset="0"/>
              </a:rPr>
              <a:t>operatorController.b()</a:t>
            </a:r>
          </a:p>
          <a:p>
            <a:r>
              <a:rPr lang="en-US" sz="1600">
                <a:solidFill>
                  <a:srgbClr val="F2F5F9"/>
                </a:solidFill>
                <a:latin typeface="Consolas" panose="020B0609020204030204" pitchFamily="49" charset="0"/>
              </a:rPr>
              <a:t>    .whileTrue(new BeltOutCommand(beltSubsystem));</a:t>
            </a:r>
          </a:p>
        </p:txBody>
      </p:sp>
      <p:sp>
        <p:nvSpPr>
          <p:cNvPr id="10" name="Rectangle: Rounded Corners 9">
            <a:extLst>
              <a:ext uri="{FF2B5EF4-FFF2-40B4-BE49-F238E27FC236}">
                <a16:creationId xmlns:a16="http://schemas.microsoft.com/office/drawing/2014/main" id="{CD62402C-6764-0070-5FA5-333C67E4B5FC}"/>
              </a:ext>
            </a:extLst>
          </p:cNvPr>
          <p:cNvSpPr/>
          <p:nvPr/>
        </p:nvSpPr>
        <p:spPr>
          <a:xfrm>
            <a:off x="1549400" y="4178300"/>
            <a:ext cx="1397000" cy="330200"/>
          </a:xfrm>
          <a:prstGeom prst="roundRect">
            <a:avLst/>
          </a:prstGeom>
          <a:solidFill>
            <a:srgbClr val="379D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C78D5E23-D10B-B159-7F74-2828BF8B18C1}"/>
              </a:ext>
            </a:extLst>
          </p:cNvPr>
          <p:cNvSpPr txBox="1"/>
          <p:nvPr/>
        </p:nvSpPr>
        <p:spPr>
          <a:xfrm>
            <a:off x="1625600" y="4216400"/>
            <a:ext cx="1244600" cy="276999"/>
          </a:xfrm>
          <a:prstGeom prst="rect">
            <a:avLst/>
          </a:prstGeom>
          <a:noFill/>
        </p:spPr>
        <p:txBody>
          <a:bodyPr vert="horz" wrap="square" lIns="0" tIns="0" rIns="0" bIns="0" rtlCol="0">
            <a:noAutofit/>
          </a:bodyPr>
          <a:lstStyle/>
          <a:p>
            <a:pPr algn="ctr"/>
            <a:r>
              <a:rPr lang="en-US" sz="1050" b="1">
                <a:solidFill>
                  <a:srgbClr val="060A12"/>
                </a:solidFill>
                <a:latin typeface="Aptos" panose="020B0004020202020204" pitchFamily="34" charset="0"/>
              </a:rPr>
              <a:t>WHEN</a:t>
            </a:r>
          </a:p>
        </p:txBody>
      </p:sp>
      <p:cxnSp>
        <p:nvCxnSpPr>
          <p:cNvPr id="12" name="Straight Connector 11">
            <a:extLst>
              <a:ext uri="{FF2B5EF4-FFF2-40B4-BE49-F238E27FC236}">
                <a16:creationId xmlns:a16="http://schemas.microsoft.com/office/drawing/2014/main" id="{81CF28CA-C8E4-8127-5D93-D30D121CCCAF}"/>
              </a:ext>
            </a:extLst>
          </p:cNvPr>
          <p:cNvCxnSpPr/>
          <p:nvPr/>
        </p:nvCxnSpPr>
        <p:spPr>
          <a:xfrm>
            <a:off x="2984500" y="4343400"/>
            <a:ext cx="1409700" cy="0"/>
          </a:xfrm>
          <a:prstGeom prst="line">
            <a:avLst/>
          </a:prstGeom>
          <a:ln w="38100">
            <a:solidFill>
              <a:srgbClr val="379DFF"/>
            </a:solidFill>
            <a:tailEnd type="arrow"/>
          </a:ln>
        </p:spPr>
        <p:style>
          <a:lnRef idx="1">
            <a:schemeClr val="accent1"/>
          </a:lnRef>
          <a:fillRef idx="0">
            <a:schemeClr val="accent1"/>
          </a:fillRef>
          <a:effectRef idx="0">
            <a:schemeClr val="accent1"/>
          </a:effectRef>
          <a:fontRef idx="minor">
            <a:schemeClr val="tx1"/>
          </a:fontRef>
        </p:style>
      </p:cxnSp>
      <p:sp>
        <p:nvSpPr>
          <p:cNvPr id="13" name="Rectangle: Rounded Corners 12">
            <a:extLst>
              <a:ext uri="{FF2B5EF4-FFF2-40B4-BE49-F238E27FC236}">
                <a16:creationId xmlns:a16="http://schemas.microsoft.com/office/drawing/2014/main" id="{FEA33117-5579-596F-4A5C-FE7D3622B501}"/>
              </a:ext>
            </a:extLst>
          </p:cNvPr>
          <p:cNvSpPr/>
          <p:nvPr/>
        </p:nvSpPr>
        <p:spPr>
          <a:xfrm>
            <a:off x="4445000" y="4178300"/>
            <a:ext cx="1397000" cy="330200"/>
          </a:xfrm>
          <a:prstGeom prst="roundRect">
            <a:avLst/>
          </a:prstGeom>
          <a:solidFill>
            <a:srgbClr val="FFA44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DC2D593B-249C-64BC-4A65-B65232414F73}"/>
              </a:ext>
            </a:extLst>
          </p:cNvPr>
          <p:cNvSpPr txBox="1"/>
          <p:nvPr/>
        </p:nvSpPr>
        <p:spPr>
          <a:xfrm>
            <a:off x="4521200" y="4216400"/>
            <a:ext cx="1244600" cy="276999"/>
          </a:xfrm>
          <a:prstGeom prst="rect">
            <a:avLst/>
          </a:prstGeom>
          <a:noFill/>
        </p:spPr>
        <p:txBody>
          <a:bodyPr vert="horz" wrap="square" lIns="0" tIns="0" rIns="0" bIns="0" rtlCol="0">
            <a:noAutofit/>
          </a:bodyPr>
          <a:lstStyle/>
          <a:p>
            <a:pPr algn="ctr"/>
            <a:r>
              <a:rPr lang="en-US" sz="1050" b="1">
                <a:solidFill>
                  <a:srgbClr val="060A12"/>
                </a:solidFill>
                <a:latin typeface="Aptos" panose="020B0004020202020204" pitchFamily="34" charset="0"/>
              </a:rPr>
              <a:t>WHAT</a:t>
            </a:r>
          </a:p>
        </p:txBody>
      </p:sp>
      <p:cxnSp>
        <p:nvCxnSpPr>
          <p:cNvPr id="15" name="Straight Connector 14">
            <a:extLst>
              <a:ext uri="{FF2B5EF4-FFF2-40B4-BE49-F238E27FC236}">
                <a16:creationId xmlns:a16="http://schemas.microsoft.com/office/drawing/2014/main" id="{84185A8B-C638-D7C6-3A56-63AE027D956E}"/>
              </a:ext>
            </a:extLst>
          </p:cNvPr>
          <p:cNvCxnSpPr/>
          <p:nvPr/>
        </p:nvCxnSpPr>
        <p:spPr>
          <a:xfrm>
            <a:off x="5880100" y="4343400"/>
            <a:ext cx="1409700" cy="0"/>
          </a:xfrm>
          <a:prstGeom prst="line">
            <a:avLst/>
          </a:prstGeom>
          <a:ln w="38100">
            <a:solidFill>
              <a:srgbClr val="FFA443"/>
            </a:solidFill>
            <a:tailEnd type="arrow"/>
          </a:ln>
        </p:spPr>
        <p:style>
          <a:lnRef idx="1">
            <a:schemeClr val="accent1"/>
          </a:lnRef>
          <a:fillRef idx="0">
            <a:schemeClr val="accent1"/>
          </a:fillRef>
          <a:effectRef idx="0">
            <a:schemeClr val="accent1"/>
          </a:effectRef>
          <a:fontRef idx="minor">
            <a:schemeClr val="tx1"/>
          </a:fontRef>
        </p:style>
      </p:cxnSp>
      <p:sp>
        <p:nvSpPr>
          <p:cNvPr id="16" name="Rectangle: Rounded Corners 15">
            <a:extLst>
              <a:ext uri="{FF2B5EF4-FFF2-40B4-BE49-F238E27FC236}">
                <a16:creationId xmlns:a16="http://schemas.microsoft.com/office/drawing/2014/main" id="{6F70464A-77F3-425F-705D-D2B76C29D279}"/>
              </a:ext>
            </a:extLst>
          </p:cNvPr>
          <p:cNvSpPr/>
          <p:nvPr/>
        </p:nvSpPr>
        <p:spPr>
          <a:xfrm>
            <a:off x="7340600" y="4178300"/>
            <a:ext cx="1397000" cy="330200"/>
          </a:xfrm>
          <a:prstGeom prst="roundRect">
            <a:avLst/>
          </a:prstGeom>
          <a:solidFill>
            <a:srgbClr val="3ECF8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0FE49AFE-A105-ED11-A55E-E3CC7BB44B84}"/>
              </a:ext>
            </a:extLst>
          </p:cNvPr>
          <p:cNvSpPr txBox="1"/>
          <p:nvPr/>
        </p:nvSpPr>
        <p:spPr>
          <a:xfrm>
            <a:off x="7416800" y="4216400"/>
            <a:ext cx="1244600" cy="276999"/>
          </a:xfrm>
          <a:prstGeom prst="rect">
            <a:avLst/>
          </a:prstGeom>
          <a:noFill/>
        </p:spPr>
        <p:txBody>
          <a:bodyPr vert="horz" wrap="square" lIns="0" tIns="0" rIns="0" bIns="0" rtlCol="0">
            <a:noAutofit/>
          </a:bodyPr>
          <a:lstStyle/>
          <a:p>
            <a:pPr algn="ctr"/>
            <a:r>
              <a:rPr lang="en-US" sz="1050" b="1">
                <a:solidFill>
                  <a:srgbClr val="060A12"/>
                </a:solidFill>
                <a:latin typeface="Aptos" panose="020B0004020202020204" pitchFamily="34" charset="0"/>
              </a:rPr>
              <a:t>WHO</a:t>
            </a:r>
          </a:p>
        </p:txBody>
      </p:sp>
      <p:sp>
        <p:nvSpPr>
          <p:cNvPr id="18" name="TextBox 17">
            <a:extLst>
              <a:ext uri="{FF2B5EF4-FFF2-40B4-BE49-F238E27FC236}">
                <a16:creationId xmlns:a16="http://schemas.microsoft.com/office/drawing/2014/main" id="{CBC7344E-8263-3481-17E6-566B12A12972}"/>
              </a:ext>
            </a:extLst>
          </p:cNvPr>
          <p:cNvSpPr txBox="1"/>
          <p:nvPr/>
        </p:nvSpPr>
        <p:spPr>
          <a:xfrm>
            <a:off x="1371600" y="4762500"/>
            <a:ext cx="1752600" cy="276999"/>
          </a:xfrm>
          <a:prstGeom prst="rect">
            <a:avLst/>
          </a:prstGeom>
          <a:noFill/>
        </p:spPr>
        <p:txBody>
          <a:bodyPr vert="horz" wrap="square" lIns="0" tIns="0" rIns="0" bIns="0" rtlCol="0" anchor="t">
            <a:noAutofit/>
          </a:bodyPr>
          <a:lstStyle/>
          <a:p>
            <a:pPr algn="ctr"/>
            <a:r>
              <a:rPr lang="en-US" sz="1300">
                <a:solidFill>
                  <a:srgbClr val="A9B4C5"/>
                </a:solidFill>
                <a:latin typeface="Aptos" panose="020B0004020202020204" pitchFamily="34" charset="0"/>
              </a:rPr>
              <a:t>button trigger</a:t>
            </a:r>
          </a:p>
        </p:txBody>
      </p:sp>
      <p:sp>
        <p:nvSpPr>
          <p:cNvPr id="19" name="TextBox 18">
            <a:extLst>
              <a:ext uri="{FF2B5EF4-FFF2-40B4-BE49-F238E27FC236}">
                <a16:creationId xmlns:a16="http://schemas.microsoft.com/office/drawing/2014/main" id="{876684B0-2A70-5236-5961-1312FD81AD46}"/>
              </a:ext>
            </a:extLst>
          </p:cNvPr>
          <p:cNvSpPr txBox="1"/>
          <p:nvPr/>
        </p:nvSpPr>
        <p:spPr>
          <a:xfrm>
            <a:off x="4267200" y="4762500"/>
            <a:ext cx="1752600" cy="276999"/>
          </a:xfrm>
          <a:prstGeom prst="rect">
            <a:avLst/>
          </a:prstGeom>
          <a:noFill/>
        </p:spPr>
        <p:txBody>
          <a:bodyPr vert="horz" wrap="square" lIns="0" tIns="0" rIns="0" bIns="0" rtlCol="0" anchor="t">
            <a:noAutofit/>
          </a:bodyPr>
          <a:lstStyle/>
          <a:p>
            <a:pPr algn="ctr"/>
            <a:r>
              <a:rPr lang="en-US" sz="1300">
                <a:solidFill>
                  <a:srgbClr val="A9B4C5"/>
                </a:solidFill>
                <a:latin typeface="Aptos" panose="020B0004020202020204" pitchFamily="34" charset="0"/>
              </a:rPr>
              <a:t>command</a:t>
            </a:r>
          </a:p>
        </p:txBody>
      </p:sp>
      <p:sp>
        <p:nvSpPr>
          <p:cNvPr id="20" name="TextBox 19">
            <a:extLst>
              <a:ext uri="{FF2B5EF4-FFF2-40B4-BE49-F238E27FC236}">
                <a16:creationId xmlns:a16="http://schemas.microsoft.com/office/drawing/2014/main" id="{59087074-9FFA-70EA-37F2-12A9888E9FE0}"/>
              </a:ext>
            </a:extLst>
          </p:cNvPr>
          <p:cNvSpPr txBox="1"/>
          <p:nvPr/>
        </p:nvSpPr>
        <p:spPr>
          <a:xfrm>
            <a:off x="7162800" y="4762500"/>
            <a:ext cx="1752600" cy="276999"/>
          </a:xfrm>
          <a:prstGeom prst="rect">
            <a:avLst/>
          </a:prstGeom>
          <a:noFill/>
        </p:spPr>
        <p:txBody>
          <a:bodyPr vert="horz" wrap="square" lIns="0" tIns="0" rIns="0" bIns="0" rtlCol="0" anchor="t">
            <a:noAutofit/>
          </a:bodyPr>
          <a:lstStyle/>
          <a:p>
            <a:pPr algn="ctr"/>
            <a:r>
              <a:rPr lang="en-US" sz="1300">
                <a:solidFill>
                  <a:srgbClr val="A9B4C5"/>
                </a:solidFill>
                <a:latin typeface="Aptos" panose="020B0004020202020204" pitchFamily="34" charset="0"/>
              </a:rPr>
              <a:t>subsystem</a:t>
            </a:r>
          </a:p>
        </p:txBody>
      </p:sp>
      <p:sp>
        <p:nvSpPr>
          <p:cNvPr id="21" name="Rectangle: Rounded Corners 20">
            <a:extLst>
              <a:ext uri="{FF2B5EF4-FFF2-40B4-BE49-F238E27FC236}">
                <a16:creationId xmlns:a16="http://schemas.microsoft.com/office/drawing/2014/main" id="{9DCBB997-BF8B-D77E-5500-188B7BF394C3}"/>
              </a:ext>
            </a:extLst>
          </p:cNvPr>
          <p:cNvSpPr/>
          <p:nvPr/>
        </p:nvSpPr>
        <p:spPr>
          <a:xfrm>
            <a:off x="533400" y="6261100"/>
            <a:ext cx="11125200" cy="533400"/>
          </a:xfrm>
          <a:prstGeom prst="roundRect">
            <a:avLst/>
          </a:prstGeom>
          <a:solidFill>
            <a:srgbClr val="18223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Rounded Corners 21">
            <a:extLst>
              <a:ext uri="{FF2B5EF4-FFF2-40B4-BE49-F238E27FC236}">
                <a16:creationId xmlns:a16="http://schemas.microsoft.com/office/drawing/2014/main" id="{C601BCD5-1E7A-31BE-8C2F-99A8AAC45198}"/>
              </a:ext>
            </a:extLst>
          </p:cNvPr>
          <p:cNvSpPr/>
          <p:nvPr/>
        </p:nvSpPr>
        <p:spPr>
          <a:xfrm>
            <a:off x="660400" y="6362700"/>
            <a:ext cx="1473200" cy="330200"/>
          </a:xfrm>
          <a:prstGeom prst="roundRect">
            <a:avLst/>
          </a:prstGeom>
          <a:solidFill>
            <a:srgbClr val="379D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7697BB23-C37A-AA6A-A266-D55680CC2184}"/>
              </a:ext>
            </a:extLst>
          </p:cNvPr>
          <p:cNvSpPr txBox="1"/>
          <p:nvPr/>
        </p:nvSpPr>
        <p:spPr>
          <a:xfrm>
            <a:off x="736600" y="6400800"/>
            <a:ext cx="1320800" cy="276999"/>
          </a:xfrm>
          <a:prstGeom prst="rect">
            <a:avLst/>
          </a:prstGeom>
          <a:noFill/>
        </p:spPr>
        <p:txBody>
          <a:bodyPr vert="horz" wrap="square" lIns="0" tIns="0" rIns="0" bIns="0" rtlCol="0">
            <a:noAutofit/>
          </a:bodyPr>
          <a:lstStyle/>
          <a:p>
            <a:pPr algn="ctr"/>
            <a:r>
              <a:rPr lang="en-US" sz="1050" b="1">
                <a:solidFill>
                  <a:srgbClr val="060A12"/>
                </a:solidFill>
                <a:latin typeface="Aptos" panose="020B0004020202020204" pitchFamily="34" charset="0"/>
              </a:rPr>
              <a:t>TRACE</a:t>
            </a:r>
          </a:p>
        </p:txBody>
      </p:sp>
      <p:sp>
        <p:nvSpPr>
          <p:cNvPr id="24" name="TextBox 23">
            <a:extLst>
              <a:ext uri="{FF2B5EF4-FFF2-40B4-BE49-F238E27FC236}">
                <a16:creationId xmlns:a16="http://schemas.microsoft.com/office/drawing/2014/main" id="{21B451F5-E33E-A673-0129-7069DE901EB1}"/>
              </a:ext>
            </a:extLst>
          </p:cNvPr>
          <p:cNvSpPr txBox="1"/>
          <p:nvPr/>
        </p:nvSpPr>
        <p:spPr>
          <a:xfrm>
            <a:off x="2286000" y="6362700"/>
            <a:ext cx="9207500" cy="276999"/>
          </a:xfrm>
          <a:prstGeom prst="rect">
            <a:avLst/>
          </a:prstGeom>
          <a:noFill/>
        </p:spPr>
        <p:txBody>
          <a:bodyPr vert="horz" wrap="square" lIns="0" tIns="0" rIns="0" bIns="0" rtlCol="0" anchor="t">
            <a:noAutofit/>
          </a:bodyPr>
          <a:lstStyle/>
          <a:p>
            <a:r>
              <a:rPr lang="en-US" sz="1300">
                <a:solidFill>
                  <a:srgbClr val="F2F5F9"/>
                </a:solidFill>
                <a:latin typeface="Aptos" panose="020B0004020202020204" pitchFamily="34" charset="0"/>
              </a:rPr>
              <a:t>Release makes whileTrue cancel the command; end() stops the motor.</a:t>
            </a:r>
          </a:p>
        </p:txBody>
      </p:sp>
      <p:sp>
        <p:nvSpPr>
          <p:cNvPr id="25" name="TextBox 24">
            <a:extLst>
              <a:ext uri="{FF2B5EF4-FFF2-40B4-BE49-F238E27FC236}">
                <a16:creationId xmlns:a16="http://schemas.microsoft.com/office/drawing/2014/main" id="{CCDE799F-E2F5-C800-A81F-5BB12979FBBC}"/>
              </a:ext>
            </a:extLst>
          </p:cNvPr>
          <p:cNvSpPr txBox="1"/>
          <p:nvPr/>
        </p:nvSpPr>
        <p:spPr>
          <a:xfrm>
            <a:off x="533400" y="6908800"/>
            <a:ext cx="8890000" cy="276999"/>
          </a:xfrm>
          <a:prstGeom prst="rect">
            <a:avLst/>
          </a:prstGeom>
          <a:noFill/>
        </p:spPr>
        <p:txBody>
          <a:bodyPr vert="horz" wrap="square" lIns="0" tIns="0" rIns="0" bIns="0" rtlCol="0" anchor="t">
            <a:noAutofit/>
          </a:bodyPr>
          <a:lstStyle/>
          <a:p>
            <a:r>
              <a:rPr lang="en-US" sz="850">
                <a:solidFill>
                  <a:srgbClr val="A9B4C5"/>
                </a:solidFill>
                <a:latin typeface="Aptos" panose="020B0004020202020204" pitchFamily="34" charset="0"/>
              </a:rPr>
              <a:t>Source: RobotContainer.java</a:t>
            </a:r>
          </a:p>
        </p:txBody>
      </p:sp>
      <p:sp>
        <p:nvSpPr>
          <p:cNvPr id="26" name="TextBox 25">
            <a:extLst>
              <a:ext uri="{FF2B5EF4-FFF2-40B4-BE49-F238E27FC236}">
                <a16:creationId xmlns:a16="http://schemas.microsoft.com/office/drawing/2014/main" id="{DC1A4888-16EF-1EA5-32AC-9250858C1596}"/>
              </a:ext>
            </a:extLst>
          </p:cNvPr>
          <p:cNvSpPr txBox="1"/>
          <p:nvPr/>
        </p:nvSpPr>
        <p:spPr>
          <a:xfrm>
            <a:off x="9017000" y="6908800"/>
            <a:ext cx="2641600" cy="276999"/>
          </a:xfrm>
          <a:prstGeom prst="rect">
            <a:avLst/>
          </a:prstGeom>
          <a:noFill/>
        </p:spPr>
        <p:txBody>
          <a:bodyPr vert="horz" wrap="square" lIns="0" tIns="0" rIns="0" bIns="0" rtlCol="0" anchor="t">
            <a:noAutofit/>
          </a:bodyPr>
          <a:lstStyle/>
          <a:p>
            <a:pPr algn="r"/>
            <a:r>
              <a:rPr lang="en-US" sz="850">
                <a:solidFill>
                  <a:srgbClr val="A9B4C5"/>
                </a:solidFill>
                <a:latin typeface="Aptos" panose="020B0004020202020204" pitchFamily="34" charset="0"/>
              </a:rPr>
              <a:t>CURRENT ROBOT IMPLEMENTATION • V2</a:t>
            </a:r>
          </a:p>
        </p:txBody>
      </p:sp>
    </p:spTree>
    <p:extLst>
      <p:ext uri="{BB962C8B-B14F-4D97-AF65-F5344CB8AC3E}">
        <p14:creationId xmlns:p14="http://schemas.microsoft.com/office/powerpoint/2010/main" val="2442889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D1421"/>
        </a:solidFill>
        <a:effectLst/>
      </p:bgPr>
    </p:bg>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9426941F-0F4B-8604-E194-0F94BA756EB4}"/>
              </a:ext>
            </a:extLst>
          </p:cNvPr>
          <p:cNvSpPr/>
          <p:nvPr/>
        </p:nvSpPr>
        <p:spPr>
          <a:xfrm>
            <a:off x="533400" y="292100"/>
            <a:ext cx="1473200" cy="330200"/>
          </a:xfrm>
          <a:prstGeom prst="roundRect">
            <a:avLst/>
          </a:prstGeom>
          <a:solidFill>
            <a:srgbClr val="379D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FAF05ADC-4F3A-7C7B-F70B-5A9D3D0919F8}"/>
              </a:ext>
            </a:extLst>
          </p:cNvPr>
          <p:cNvSpPr txBox="1"/>
          <p:nvPr/>
        </p:nvSpPr>
        <p:spPr>
          <a:xfrm>
            <a:off x="609600" y="330200"/>
            <a:ext cx="1320800" cy="276999"/>
          </a:xfrm>
          <a:prstGeom prst="rect">
            <a:avLst/>
          </a:prstGeom>
          <a:noFill/>
        </p:spPr>
        <p:txBody>
          <a:bodyPr vert="horz" wrap="square" lIns="0" tIns="0" rIns="0" bIns="0" rtlCol="0">
            <a:noAutofit/>
          </a:bodyPr>
          <a:lstStyle/>
          <a:p>
            <a:pPr algn="ctr"/>
            <a:r>
              <a:rPr lang="en-US" sz="1050" b="1">
                <a:solidFill>
                  <a:srgbClr val="060A12"/>
                </a:solidFill>
                <a:latin typeface="Aptos" panose="020B0004020202020204" pitchFamily="34" charset="0"/>
              </a:rPr>
              <a:t>SHARED CORE</a:t>
            </a:r>
          </a:p>
        </p:txBody>
      </p:sp>
      <p:sp>
        <p:nvSpPr>
          <p:cNvPr id="4" name="TextBox 3">
            <a:extLst>
              <a:ext uri="{FF2B5EF4-FFF2-40B4-BE49-F238E27FC236}">
                <a16:creationId xmlns:a16="http://schemas.microsoft.com/office/drawing/2014/main" id="{3B374F5E-6D15-24AE-9361-1D85BF10FEFA}"/>
              </a:ext>
            </a:extLst>
          </p:cNvPr>
          <p:cNvSpPr txBox="1"/>
          <p:nvPr/>
        </p:nvSpPr>
        <p:spPr>
          <a:xfrm>
            <a:off x="533400" y="762000"/>
            <a:ext cx="10414000" cy="276999"/>
          </a:xfrm>
          <a:prstGeom prst="rect">
            <a:avLst/>
          </a:prstGeom>
          <a:noFill/>
        </p:spPr>
        <p:txBody>
          <a:bodyPr vert="horz" wrap="square" lIns="0" tIns="0" rIns="0" bIns="0" rtlCol="0" anchor="t">
            <a:noAutofit/>
          </a:bodyPr>
          <a:lstStyle/>
          <a:p>
            <a:r>
              <a:rPr lang="en-US" sz="2800" b="1">
                <a:solidFill>
                  <a:srgbClr val="F2F5F9"/>
                </a:solidFill>
                <a:latin typeface="Aptos Display" panose="020B0004020202020204" pitchFamily="34" charset="0"/>
              </a:rPr>
              <a:t>The complete belt path</a:t>
            </a:r>
          </a:p>
        </p:txBody>
      </p:sp>
      <p:sp>
        <p:nvSpPr>
          <p:cNvPr id="5" name="TextBox 4">
            <a:extLst>
              <a:ext uri="{FF2B5EF4-FFF2-40B4-BE49-F238E27FC236}">
                <a16:creationId xmlns:a16="http://schemas.microsoft.com/office/drawing/2014/main" id="{85F7444A-8725-09FE-D171-8503D7B4CE4D}"/>
              </a:ext>
            </a:extLst>
          </p:cNvPr>
          <p:cNvSpPr txBox="1"/>
          <p:nvPr/>
        </p:nvSpPr>
        <p:spPr>
          <a:xfrm>
            <a:off x="11226800" y="355600"/>
            <a:ext cx="381000" cy="276999"/>
          </a:xfrm>
          <a:prstGeom prst="rect">
            <a:avLst/>
          </a:prstGeom>
          <a:noFill/>
        </p:spPr>
        <p:txBody>
          <a:bodyPr vert="horz" wrap="square" lIns="0" tIns="0" rIns="0" bIns="0" rtlCol="0" anchor="t">
            <a:noAutofit/>
          </a:bodyPr>
          <a:lstStyle/>
          <a:p>
            <a:pPr algn="r"/>
            <a:r>
              <a:rPr lang="en-US" sz="1000" b="1">
                <a:solidFill>
                  <a:srgbClr val="A9B4C5"/>
                </a:solidFill>
                <a:latin typeface="Aptos" panose="020B0004020202020204" pitchFamily="34" charset="0"/>
              </a:rPr>
              <a:t>13</a:t>
            </a:r>
          </a:p>
        </p:txBody>
      </p:sp>
      <p:cxnSp>
        <p:nvCxnSpPr>
          <p:cNvPr id="6" name="Straight Connector 5">
            <a:extLst>
              <a:ext uri="{FF2B5EF4-FFF2-40B4-BE49-F238E27FC236}">
                <a16:creationId xmlns:a16="http://schemas.microsoft.com/office/drawing/2014/main" id="{3EB43C06-15F5-F627-E91C-B6F20A95EF32}"/>
              </a:ext>
            </a:extLst>
          </p:cNvPr>
          <p:cNvCxnSpPr/>
          <p:nvPr/>
        </p:nvCxnSpPr>
        <p:spPr>
          <a:xfrm>
            <a:off x="533400" y="1371600"/>
            <a:ext cx="11125200" cy="0"/>
          </a:xfrm>
          <a:prstGeom prst="line">
            <a:avLst/>
          </a:prstGeom>
          <a:ln w="12700">
            <a:solidFill>
              <a:srgbClr val="1F2C41"/>
            </a:solidFill>
          </a:ln>
        </p:spPr>
        <p:style>
          <a:lnRef idx="1">
            <a:schemeClr val="accent1"/>
          </a:lnRef>
          <a:fillRef idx="0">
            <a:schemeClr val="accent1"/>
          </a:fillRef>
          <a:effectRef idx="0">
            <a:schemeClr val="accent1"/>
          </a:effectRef>
          <a:fontRef idx="minor">
            <a:schemeClr val="tx1"/>
          </a:fontRef>
        </p:style>
      </p:cxnSp>
      <p:sp>
        <p:nvSpPr>
          <p:cNvPr id="7" name="Rectangle: Rounded Corners 6">
            <a:extLst>
              <a:ext uri="{FF2B5EF4-FFF2-40B4-BE49-F238E27FC236}">
                <a16:creationId xmlns:a16="http://schemas.microsoft.com/office/drawing/2014/main" id="{A28C4331-B2F3-BF78-AC16-1D051FC99582}"/>
              </a:ext>
            </a:extLst>
          </p:cNvPr>
          <p:cNvSpPr/>
          <p:nvPr/>
        </p:nvSpPr>
        <p:spPr>
          <a:xfrm>
            <a:off x="431800" y="2247900"/>
            <a:ext cx="1739900" cy="1498600"/>
          </a:xfrm>
          <a:prstGeom prst="roundRect">
            <a:avLst/>
          </a:prstGeom>
          <a:solidFill>
            <a:srgbClr val="182234"/>
          </a:solidFill>
          <a:ln w="15875">
            <a:solidFill>
              <a:srgbClr val="379D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AF67CD7E-66D2-5886-8A49-4B8F37549161}"/>
              </a:ext>
            </a:extLst>
          </p:cNvPr>
          <p:cNvSpPr txBox="1"/>
          <p:nvPr/>
        </p:nvSpPr>
        <p:spPr>
          <a:xfrm>
            <a:off x="533400" y="2349500"/>
            <a:ext cx="279400" cy="276999"/>
          </a:xfrm>
          <a:prstGeom prst="rect">
            <a:avLst/>
          </a:prstGeom>
          <a:noFill/>
        </p:spPr>
        <p:txBody>
          <a:bodyPr vert="horz" wrap="square" lIns="0" tIns="0" rIns="0" bIns="0" rtlCol="0" anchor="t">
            <a:noAutofit/>
          </a:bodyPr>
          <a:lstStyle/>
          <a:p>
            <a:r>
              <a:rPr lang="en-US" sz="1300" b="1">
                <a:solidFill>
                  <a:srgbClr val="379DFF"/>
                </a:solidFill>
                <a:latin typeface="Aptos" panose="020B0004020202020204" pitchFamily="34" charset="0"/>
              </a:rPr>
              <a:t>1</a:t>
            </a:r>
          </a:p>
        </p:txBody>
      </p:sp>
      <p:sp>
        <p:nvSpPr>
          <p:cNvPr id="9" name="TextBox 8">
            <a:extLst>
              <a:ext uri="{FF2B5EF4-FFF2-40B4-BE49-F238E27FC236}">
                <a16:creationId xmlns:a16="http://schemas.microsoft.com/office/drawing/2014/main" id="{090A3D75-23BF-C62C-4B10-899AC3B4B62E}"/>
              </a:ext>
            </a:extLst>
          </p:cNvPr>
          <p:cNvSpPr txBox="1"/>
          <p:nvPr/>
        </p:nvSpPr>
        <p:spPr>
          <a:xfrm>
            <a:off x="622300" y="2743200"/>
            <a:ext cx="1358900" cy="276999"/>
          </a:xfrm>
          <a:prstGeom prst="rect">
            <a:avLst/>
          </a:prstGeom>
          <a:noFill/>
        </p:spPr>
        <p:txBody>
          <a:bodyPr vert="horz" wrap="square" lIns="0" tIns="0" rIns="0" bIns="0" rtlCol="0" anchor="t">
            <a:noAutofit/>
          </a:bodyPr>
          <a:lstStyle/>
          <a:p>
            <a:pPr algn="ctr"/>
            <a:r>
              <a:rPr lang="en-US" sz="1500" b="1">
                <a:solidFill>
                  <a:srgbClr val="379DFF"/>
                </a:solidFill>
                <a:latin typeface="Aptos" panose="020B0004020202020204" pitchFamily="34" charset="0"/>
              </a:rPr>
              <a:t>A HELD</a:t>
            </a:r>
          </a:p>
        </p:txBody>
      </p:sp>
      <p:sp>
        <p:nvSpPr>
          <p:cNvPr id="10" name="TextBox 9">
            <a:extLst>
              <a:ext uri="{FF2B5EF4-FFF2-40B4-BE49-F238E27FC236}">
                <a16:creationId xmlns:a16="http://schemas.microsoft.com/office/drawing/2014/main" id="{FECFB818-8399-F490-880A-50F23143CE3E}"/>
              </a:ext>
            </a:extLst>
          </p:cNvPr>
          <p:cNvSpPr txBox="1"/>
          <p:nvPr/>
        </p:nvSpPr>
        <p:spPr>
          <a:xfrm>
            <a:off x="558800" y="3238500"/>
            <a:ext cx="1485900" cy="276999"/>
          </a:xfrm>
          <a:prstGeom prst="rect">
            <a:avLst/>
          </a:prstGeom>
          <a:noFill/>
        </p:spPr>
        <p:txBody>
          <a:bodyPr vert="horz" wrap="square" lIns="0" tIns="0" rIns="0" bIns="0" rtlCol="0" anchor="t">
            <a:noAutofit/>
          </a:bodyPr>
          <a:lstStyle/>
          <a:p>
            <a:pPr algn="ctr"/>
            <a:r>
              <a:rPr lang="en-US" sz="1250">
                <a:solidFill>
                  <a:srgbClr val="F2F5F9"/>
                </a:solidFill>
                <a:latin typeface="Aptos" panose="020B0004020202020204" pitchFamily="34" charset="0"/>
              </a:rPr>
              <a:t>binding</a:t>
            </a:r>
          </a:p>
        </p:txBody>
      </p:sp>
      <p:cxnSp>
        <p:nvCxnSpPr>
          <p:cNvPr id="11" name="Straight Connector 10">
            <a:extLst>
              <a:ext uri="{FF2B5EF4-FFF2-40B4-BE49-F238E27FC236}">
                <a16:creationId xmlns:a16="http://schemas.microsoft.com/office/drawing/2014/main" id="{E6A24EC8-533C-CB59-D95F-0CB82B41B914}"/>
              </a:ext>
            </a:extLst>
          </p:cNvPr>
          <p:cNvCxnSpPr/>
          <p:nvPr/>
        </p:nvCxnSpPr>
        <p:spPr>
          <a:xfrm>
            <a:off x="2171700" y="2997200"/>
            <a:ext cx="215900" cy="0"/>
          </a:xfrm>
          <a:prstGeom prst="line">
            <a:avLst/>
          </a:prstGeom>
          <a:ln w="25400">
            <a:solidFill>
              <a:srgbClr val="A9B4C5"/>
            </a:solidFill>
            <a:tailEnd type="arrow"/>
          </a:ln>
        </p:spPr>
        <p:style>
          <a:lnRef idx="1">
            <a:schemeClr val="accent1"/>
          </a:lnRef>
          <a:fillRef idx="0">
            <a:schemeClr val="accent1"/>
          </a:fillRef>
          <a:effectRef idx="0">
            <a:schemeClr val="accent1"/>
          </a:effectRef>
          <a:fontRef idx="minor">
            <a:schemeClr val="tx1"/>
          </a:fontRef>
        </p:style>
      </p:cxnSp>
      <p:sp>
        <p:nvSpPr>
          <p:cNvPr id="12" name="Rectangle: Rounded Corners 11">
            <a:extLst>
              <a:ext uri="{FF2B5EF4-FFF2-40B4-BE49-F238E27FC236}">
                <a16:creationId xmlns:a16="http://schemas.microsoft.com/office/drawing/2014/main" id="{384381E4-E90D-0EF1-D3E1-4062F6D7D579}"/>
              </a:ext>
            </a:extLst>
          </p:cNvPr>
          <p:cNvSpPr/>
          <p:nvPr/>
        </p:nvSpPr>
        <p:spPr>
          <a:xfrm>
            <a:off x="2387600" y="2247900"/>
            <a:ext cx="1739900" cy="1498600"/>
          </a:xfrm>
          <a:prstGeom prst="roundRect">
            <a:avLst/>
          </a:prstGeom>
          <a:solidFill>
            <a:srgbClr val="182234"/>
          </a:solidFill>
          <a:ln w="15875">
            <a:solidFill>
              <a:srgbClr val="A474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5AB14047-51BA-FF35-8E99-31819A7A5F4B}"/>
              </a:ext>
            </a:extLst>
          </p:cNvPr>
          <p:cNvSpPr txBox="1"/>
          <p:nvPr/>
        </p:nvSpPr>
        <p:spPr>
          <a:xfrm>
            <a:off x="2489200" y="2349500"/>
            <a:ext cx="279400" cy="276999"/>
          </a:xfrm>
          <a:prstGeom prst="rect">
            <a:avLst/>
          </a:prstGeom>
          <a:noFill/>
        </p:spPr>
        <p:txBody>
          <a:bodyPr vert="horz" wrap="square" lIns="0" tIns="0" rIns="0" bIns="0" rtlCol="0" anchor="t">
            <a:noAutofit/>
          </a:bodyPr>
          <a:lstStyle/>
          <a:p>
            <a:r>
              <a:rPr lang="en-US" sz="1300" b="1">
                <a:solidFill>
                  <a:srgbClr val="A474FF"/>
                </a:solidFill>
                <a:latin typeface="Aptos" panose="020B0004020202020204" pitchFamily="34" charset="0"/>
              </a:rPr>
              <a:t>2</a:t>
            </a:r>
          </a:p>
        </p:txBody>
      </p:sp>
      <p:sp>
        <p:nvSpPr>
          <p:cNvPr id="14" name="TextBox 13">
            <a:extLst>
              <a:ext uri="{FF2B5EF4-FFF2-40B4-BE49-F238E27FC236}">
                <a16:creationId xmlns:a16="http://schemas.microsoft.com/office/drawing/2014/main" id="{97A6B71F-FB2D-84E8-072B-756F5367E988}"/>
              </a:ext>
            </a:extLst>
          </p:cNvPr>
          <p:cNvSpPr txBox="1"/>
          <p:nvPr/>
        </p:nvSpPr>
        <p:spPr>
          <a:xfrm>
            <a:off x="2578100" y="2743200"/>
            <a:ext cx="1358900" cy="276999"/>
          </a:xfrm>
          <a:prstGeom prst="rect">
            <a:avLst/>
          </a:prstGeom>
          <a:noFill/>
        </p:spPr>
        <p:txBody>
          <a:bodyPr vert="horz" wrap="square" lIns="0" tIns="0" rIns="0" bIns="0" rtlCol="0" anchor="t">
            <a:noAutofit/>
          </a:bodyPr>
          <a:lstStyle/>
          <a:p>
            <a:pPr algn="ctr"/>
            <a:r>
              <a:rPr lang="en-US" sz="1500" b="1">
                <a:solidFill>
                  <a:srgbClr val="A474FF"/>
                </a:solidFill>
                <a:latin typeface="Aptos" panose="020B0004020202020204" pitchFamily="34" charset="0"/>
              </a:rPr>
              <a:t>SCHEDULER</a:t>
            </a:r>
          </a:p>
        </p:txBody>
      </p:sp>
      <p:sp>
        <p:nvSpPr>
          <p:cNvPr id="15" name="TextBox 14">
            <a:extLst>
              <a:ext uri="{FF2B5EF4-FFF2-40B4-BE49-F238E27FC236}">
                <a16:creationId xmlns:a16="http://schemas.microsoft.com/office/drawing/2014/main" id="{80CEAFA4-D501-1439-93F2-CD84F2D221E5}"/>
              </a:ext>
            </a:extLst>
          </p:cNvPr>
          <p:cNvSpPr txBox="1"/>
          <p:nvPr/>
        </p:nvSpPr>
        <p:spPr>
          <a:xfrm>
            <a:off x="2514600" y="3238500"/>
            <a:ext cx="1485900" cy="276999"/>
          </a:xfrm>
          <a:prstGeom prst="rect">
            <a:avLst/>
          </a:prstGeom>
          <a:noFill/>
        </p:spPr>
        <p:txBody>
          <a:bodyPr vert="horz" wrap="square" lIns="0" tIns="0" rIns="0" bIns="0" rtlCol="0" anchor="t">
            <a:noAutofit/>
          </a:bodyPr>
          <a:lstStyle/>
          <a:p>
            <a:pPr algn="ctr"/>
            <a:r>
              <a:rPr lang="en-US" sz="1250">
                <a:solidFill>
                  <a:srgbClr val="F2F5F9"/>
                </a:solidFill>
                <a:latin typeface="Aptos" panose="020B0004020202020204" pitchFamily="34" charset="0"/>
              </a:rPr>
              <a:t>starts command</a:t>
            </a:r>
          </a:p>
        </p:txBody>
      </p:sp>
      <p:cxnSp>
        <p:nvCxnSpPr>
          <p:cNvPr id="16" name="Straight Connector 15">
            <a:extLst>
              <a:ext uri="{FF2B5EF4-FFF2-40B4-BE49-F238E27FC236}">
                <a16:creationId xmlns:a16="http://schemas.microsoft.com/office/drawing/2014/main" id="{0576131B-4918-48CE-7A5D-0D5C31C5DCDF}"/>
              </a:ext>
            </a:extLst>
          </p:cNvPr>
          <p:cNvCxnSpPr/>
          <p:nvPr/>
        </p:nvCxnSpPr>
        <p:spPr>
          <a:xfrm>
            <a:off x="4127500" y="2997200"/>
            <a:ext cx="215900" cy="0"/>
          </a:xfrm>
          <a:prstGeom prst="line">
            <a:avLst/>
          </a:prstGeom>
          <a:ln w="25400">
            <a:solidFill>
              <a:srgbClr val="A9B4C5"/>
            </a:solidFill>
            <a:tailEnd type="arrow"/>
          </a:ln>
        </p:spPr>
        <p:style>
          <a:lnRef idx="1">
            <a:schemeClr val="accent1"/>
          </a:lnRef>
          <a:fillRef idx="0">
            <a:schemeClr val="accent1"/>
          </a:fillRef>
          <a:effectRef idx="0">
            <a:schemeClr val="accent1"/>
          </a:effectRef>
          <a:fontRef idx="minor">
            <a:schemeClr val="tx1"/>
          </a:fontRef>
        </p:style>
      </p:cxnSp>
      <p:sp>
        <p:nvSpPr>
          <p:cNvPr id="17" name="Rectangle: Rounded Corners 16">
            <a:extLst>
              <a:ext uri="{FF2B5EF4-FFF2-40B4-BE49-F238E27FC236}">
                <a16:creationId xmlns:a16="http://schemas.microsoft.com/office/drawing/2014/main" id="{AD6B85F3-2EE3-017F-3409-BB79FB218AFF}"/>
              </a:ext>
            </a:extLst>
          </p:cNvPr>
          <p:cNvSpPr/>
          <p:nvPr/>
        </p:nvSpPr>
        <p:spPr>
          <a:xfrm>
            <a:off x="4343400" y="2247900"/>
            <a:ext cx="1739900" cy="1498600"/>
          </a:xfrm>
          <a:prstGeom prst="roundRect">
            <a:avLst/>
          </a:prstGeom>
          <a:solidFill>
            <a:srgbClr val="182234"/>
          </a:solidFill>
          <a:ln w="15875">
            <a:solidFill>
              <a:srgbClr val="FFA44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2354B327-F750-5A24-3625-73B95B6746C7}"/>
              </a:ext>
            </a:extLst>
          </p:cNvPr>
          <p:cNvSpPr txBox="1"/>
          <p:nvPr/>
        </p:nvSpPr>
        <p:spPr>
          <a:xfrm>
            <a:off x="4445000" y="2349500"/>
            <a:ext cx="279400" cy="276999"/>
          </a:xfrm>
          <a:prstGeom prst="rect">
            <a:avLst/>
          </a:prstGeom>
          <a:noFill/>
        </p:spPr>
        <p:txBody>
          <a:bodyPr vert="horz" wrap="square" lIns="0" tIns="0" rIns="0" bIns="0" rtlCol="0" anchor="t">
            <a:noAutofit/>
          </a:bodyPr>
          <a:lstStyle/>
          <a:p>
            <a:r>
              <a:rPr lang="en-US" sz="1300" b="1">
                <a:solidFill>
                  <a:srgbClr val="FFA443"/>
                </a:solidFill>
                <a:latin typeface="Aptos" panose="020B0004020202020204" pitchFamily="34" charset="0"/>
              </a:rPr>
              <a:t>3</a:t>
            </a:r>
          </a:p>
        </p:txBody>
      </p:sp>
      <p:sp>
        <p:nvSpPr>
          <p:cNvPr id="19" name="TextBox 18">
            <a:extLst>
              <a:ext uri="{FF2B5EF4-FFF2-40B4-BE49-F238E27FC236}">
                <a16:creationId xmlns:a16="http://schemas.microsoft.com/office/drawing/2014/main" id="{2F758523-9EEA-D4D5-3397-EA3E4EDE7E6E}"/>
              </a:ext>
            </a:extLst>
          </p:cNvPr>
          <p:cNvSpPr txBox="1"/>
          <p:nvPr/>
        </p:nvSpPr>
        <p:spPr>
          <a:xfrm>
            <a:off x="4533900" y="2743200"/>
            <a:ext cx="1358900" cy="276999"/>
          </a:xfrm>
          <a:prstGeom prst="rect">
            <a:avLst/>
          </a:prstGeom>
          <a:noFill/>
        </p:spPr>
        <p:txBody>
          <a:bodyPr vert="horz" wrap="square" lIns="0" tIns="0" rIns="0" bIns="0" rtlCol="0" anchor="t">
            <a:noAutofit/>
          </a:bodyPr>
          <a:lstStyle/>
          <a:p>
            <a:pPr algn="ctr"/>
            <a:r>
              <a:rPr lang="en-US" sz="1500" b="1">
                <a:solidFill>
                  <a:srgbClr val="FFA443"/>
                </a:solidFill>
                <a:latin typeface="Aptos" panose="020B0004020202020204" pitchFamily="34" charset="0"/>
              </a:rPr>
              <a:t>EXECUTE</a:t>
            </a:r>
          </a:p>
        </p:txBody>
      </p:sp>
      <p:sp>
        <p:nvSpPr>
          <p:cNvPr id="20" name="TextBox 19">
            <a:extLst>
              <a:ext uri="{FF2B5EF4-FFF2-40B4-BE49-F238E27FC236}">
                <a16:creationId xmlns:a16="http://schemas.microsoft.com/office/drawing/2014/main" id="{619350BC-2FA3-15E2-E52D-95C332FB4378}"/>
              </a:ext>
            </a:extLst>
          </p:cNvPr>
          <p:cNvSpPr txBox="1"/>
          <p:nvPr/>
        </p:nvSpPr>
        <p:spPr>
          <a:xfrm>
            <a:off x="4470400" y="3238500"/>
            <a:ext cx="1485900" cy="276999"/>
          </a:xfrm>
          <a:prstGeom prst="rect">
            <a:avLst/>
          </a:prstGeom>
          <a:noFill/>
        </p:spPr>
        <p:txBody>
          <a:bodyPr vert="horz" wrap="square" lIns="0" tIns="0" rIns="0" bIns="0" rtlCol="0" anchor="t">
            <a:noAutofit/>
          </a:bodyPr>
          <a:lstStyle/>
          <a:p>
            <a:pPr algn="ctr"/>
            <a:r>
              <a:rPr lang="en-US" sz="1250">
                <a:solidFill>
                  <a:srgbClr val="F2F5F9"/>
                </a:solidFill>
                <a:latin typeface="Aptos" panose="020B0004020202020204" pitchFamily="34" charset="0"/>
              </a:rPr>
              <a:t>run(speed)</a:t>
            </a:r>
          </a:p>
        </p:txBody>
      </p:sp>
      <p:cxnSp>
        <p:nvCxnSpPr>
          <p:cNvPr id="21" name="Straight Connector 20">
            <a:extLst>
              <a:ext uri="{FF2B5EF4-FFF2-40B4-BE49-F238E27FC236}">
                <a16:creationId xmlns:a16="http://schemas.microsoft.com/office/drawing/2014/main" id="{80C5806C-3AC5-DD68-04ED-6ED816BE1E9D}"/>
              </a:ext>
            </a:extLst>
          </p:cNvPr>
          <p:cNvCxnSpPr/>
          <p:nvPr/>
        </p:nvCxnSpPr>
        <p:spPr>
          <a:xfrm>
            <a:off x="6083300" y="2997200"/>
            <a:ext cx="215900" cy="0"/>
          </a:xfrm>
          <a:prstGeom prst="line">
            <a:avLst/>
          </a:prstGeom>
          <a:ln w="25400">
            <a:solidFill>
              <a:srgbClr val="A9B4C5"/>
            </a:solidFill>
            <a:tailEnd type="arrow"/>
          </a:ln>
        </p:spPr>
        <p:style>
          <a:lnRef idx="1">
            <a:schemeClr val="accent1"/>
          </a:lnRef>
          <a:fillRef idx="0">
            <a:schemeClr val="accent1"/>
          </a:fillRef>
          <a:effectRef idx="0">
            <a:schemeClr val="accent1"/>
          </a:effectRef>
          <a:fontRef idx="minor">
            <a:schemeClr val="tx1"/>
          </a:fontRef>
        </p:style>
      </p:cxnSp>
      <p:sp>
        <p:nvSpPr>
          <p:cNvPr id="22" name="Rectangle: Rounded Corners 21">
            <a:extLst>
              <a:ext uri="{FF2B5EF4-FFF2-40B4-BE49-F238E27FC236}">
                <a16:creationId xmlns:a16="http://schemas.microsoft.com/office/drawing/2014/main" id="{19A8F344-648C-0A31-789B-B9860871B14A}"/>
              </a:ext>
            </a:extLst>
          </p:cNvPr>
          <p:cNvSpPr/>
          <p:nvPr/>
        </p:nvSpPr>
        <p:spPr>
          <a:xfrm>
            <a:off x="6299200" y="2247900"/>
            <a:ext cx="1739900" cy="1498600"/>
          </a:xfrm>
          <a:prstGeom prst="roundRect">
            <a:avLst/>
          </a:prstGeom>
          <a:solidFill>
            <a:srgbClr val="182234"/>
          </a:solidFill>
          <a:ln w="15875">
            <a:solidFill>
              <a:srgbClr val="3ECF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01D37A1C-88E4-6CDD-2436-A13B9E155C47}"/>
              </a:ext>
            </a:extLst>
          </p:cNvPr>
          <p:cNvSpPr txBox="1"/>
          <p:nvPr/>
        </p:nvSpPr>
        <p:spPr>
          <a:xfrm>
            <a:off x="6400800" y="2349500"/>
            <a:ext cx="279400" cy="276999"/>
          </a:xfrm>
          <a:prstGeom prst="rect">
            <a:avLst/>
          </a:prstGeom>
          <a:noFill/>
        </p:spPr>
        <p:txBody>
          <a:bodyPr vert="horz" wrap="square" lIns="0" tIns="0" rIns="0" bIns="0" rtlCol="0" anchor="t">
            <a:noAutofit/>
          </a:bodyPr>
          <a:lstStyle/>
          <a:p>
            <a:r>
              <a:rPr lang="en-US" sz="1300" b="1">
                <a:solidFill>
                  <a:srgbClr val="3ECF8E"/>
                </a:solidFill>
                <a:latin typeface="Aptos" panose="020B0004020202020204" pitchFamily="34" charset="0"/>
              </a:rPr>
              <a:t>4</a:t>
            </a:r>
          </a:p>
        </p:txBody>
      </p:sp>
      <p:sp>
        <p:nvSpPr>
          <p:cNvPr id="24" name="TextBox 23">
            <a:extLst>
              <a:ext uri="{FF2B5EF4-FFF2-40B4-BE49-F238E27FC236}">
                <a16:creationId xmlns:a16="http://schemas.microsoft.com/office/drawing/2014/main" id="{B5D0D608-37AA-8C2F-7574-BD0DFC6F2968}"/>
              </a:ext>
            </a:extLst>
          </p:cNvPr>
          <p:cNvSpPr txBox="1"/>
          <p:nvPr/>
        </p:nvSpPr>
        <p:spPr>
          <a:xfrm>
            <a:off x="6489700" y="2743200"/>
            <a:ext cx="1358900" cy="276999"/>
          </a:xfrm>
          <a:prstGeom prst="rect">
            <a:avLst/>
          </a:prstGeom>
          <a:noFill/>
        </p:spPr>
        <p:txBody>
          <a:bodyPr vert="horz" wrap="square" lIns="0" tIns="0" rIns="0" bIns="0" rtlCol="0" anchor="t">
            <a:noAutofit/>
          </a:bodyPr>
          <a:lstStyle/>
          <a:p>
            <a:pPr algn="ctr"/>
            <a:r>
              <a:rPr lang="en-US" sz="1500" b="1">
                <a:solidFill>
                  <a:srgbClr val="3ECF8E"/>
                </a:solidFill>
                <a:latin typeface="Aptos" panose="020B0004020202020204" pitchFamily="34" charset="0"/>
              </a:rPr>
              <a:t>SUBSYSTEM</a:t>
            </a:r>
          </a:p>
        </p:txBody>
      </p:sp>
      <p:sp>
        <p:nvSpPr>
          <p:cNvPr id="25" name="TextBox 24">
            <a:extLst>
              <a:ext uri="{FF2B5EF4-FFF2-40B4-BE49-F238E27FC236}">
                <a16:creationId xmlns:a16="http://schemas.microsoft.com/office/drawing/2014/main" id="{53EE47D3-3683-2935-203F-2AA4E4A65B55}"/>
              </a:ext>
            </a:extLst>
          </p:cNvPr>
          <p:cNvSpPr txBox="1"/>
          <p:nvPr/>
        </p:nvSpPr>
        <p:spPr>
          <a:xfrm>
            <a:off x="6426200" y="3238500"/>
            <a:ext cx="1485900" cy="276999"/>
          </a:xfrm>
          <a:prstGeom prst="rect">
            <a:avLst/>
          </a:prstGeom>
          <a:noFill/>
        </p:spPr>
        <p:txBody>
          <a:bodyPr vert="horz" wrap="square" lIns="0" tIns="0" rIns="0" bIns="0" rtlCol="0" anchor="t">
            <a:noAutofit/>
          </a:bodyPr>
          <a:lstStyle/>
          <a:p>
            <a:pPr algn="ctr"/>
            <a:r>
              <a:rPr lang="en-US" sz="1250">
                <a:solidFill>
                  <a:srgbClr val="F2F5F9"/>
                </a:solidFill>
                <a:latin typeface="Aptos" panose="020B0004020202020204" pitchFamily="34" charset="0"/>
              </a:rPr>
              <a:t>motor.set</a:t>
            </a:r>
          </a:p>
        </p:txBody>
      </p:sp>
      <p:cxnSp>
        <p:nvCxnSpPr>
          <p:cNvPr id="26" name="Straight Connector 25">
            <a:extLst>
              <a:ext uri="{FF2B5EF4-FFF2-40B4-BE49-F238E27FC236}">
                <a16:creationId xmlns:a16="http://schemas.microsoft.com/office/drawing/2014/main" id="{A8825D56-DBA2-903B-54BF-F5C098F11909}"/>
              </a:ext>
            </a:extLst>
          </p:cNvPr>
          <p:cNvCxnSpPr/>
          <p:nvPr/>
        </p:nvCxnSpPr>
        <p:spPr>
          <a:xfrm>
            <a:off x="8039100" y="2997200"/>
            <a:ext cx="215900" cy="0"/>
          </a:xfrm>
          <a:prstGeom prst="line">
            <a:avLst/>
          </a:prstGeom>
          <a:ln w="25400">
            <a:solidFill>
              <a:srgbClr val="A9B4C5"/>
            </a:solidFill>
            <a:tailEnd type="arrow"/>
          </a:ln>
        </p:spPr>
        <p:style>
          <a:lnRef idx="1">
            <a:schemeClr val="accent1"/>
          </a:lnRef>
          <a:fillRef idx="0">
            <a:schemeClr val="accent1"/>
          </a:fillRef>
          <a:effectRef idx="0">
            <a:schemeClr val="accent1"/>
          </a:effectRef>
          <a:fontRef idx="minor">
            <a:schemeClr val="tx1"/>
          </a:fontRef>
        </p:style>
      </p:cxnSp>
      <p:sp>
        <p:nvSpPr>
          <p:cNvPr id="27" name="Rectangle: Rounded Corners 26">
            <a:extLst>
              <a:ext uri="{FF2B5EF4-FFF2-40B4-BE49-F238E27FC236}">
                <a16:creationId xmlns:a16="http://schemas.microsoft.com/office/drawing/2014/main" id="{8A049621-5919-60B0-28B5-4EDD882F1559}"/>
              </a:ext>
            </a:extLst>
          </p:cNvPr>
          <p:cNvSpPr/>
          <p:nvPr/>
        </p:nvSpPr>
        <p:spPr>
          <a:xfrm>
            <a:off x="8255000" y="2247900"/>
            <a:ext cx="1739900" cy="1498600"/>
          </a:xfrm>
          <a:prstGeom prst="roundRect">
            <a:avLst/>
          </a:prstGeom>
          <a:solidFill>
            <a:srgbClr val="182234"/>
          </a:solidFill>
          <a:ln w="15875">
            <a:solidFill>
              <a:srgbClr val="FF64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2E7D67A9-2147-DCD4-58F7-B20EF7CD6EBA}"/>
              </a:ext>
            </a:extLst>
          </p:cNvPr>
          <p:cNvSpPr txBox="1"/>
          <p:nvPr/>
        </p:nvSpPr>
        <p:spPr>
          <a:xfrm>
            <a:off x="8356600" y="2349500"/>
            <a:ext cx="279400" cy="276999"/>
          </a:xfrm>
          <a:prstGeom prst="rect">
            <a:avLst/>
          </a:prstGeom>
          <a:noFill/>
        </p:spPr>
        <p:txBody>
          <a:bodyPr vert="horz" wrap="square" lIns="0" tIns="0" rIns="0" bIns="0" rtlCol="0" anchor="t">
            <a:noAutofit/>
          </a:bodyPr>
          <a:lstStyle/>
          <a:p>
            <a:r>
              <a:rPr lang="en-US" sz="1300" b="1">
                <a:solidFill>
                  <a:srgbClr val="FF6464"/>
                </a:solidFill>
                <a:latin typeface="Aptos" panose="020B0004020202020204" pitchFamily="34" charset="0"/>
              </a:rPr>
              <a:t>5</a:t>
            </a:r>
          </a:p>
        </p:txBody>
      </p:sp>
      <p:sp>
        <p:nvSpPr>
          <p:cNvPr id="29" name="TextBox 28">
            <a:extLst>
              <a:ext uri="{FF2B5EF4-FFF2-40B4-BE49-F238E27FC236}">
                <a16:creationId xmlns:a16="http://schemas.microsoft.com/office/drawing/2014/main" id="{33AFFBB7-F676-16C3-9FD9-89D361A5943A}"/>
              </a:ext>
            </a:extLst>
          </p:cNvPr>
          <p:cNvSpPr txBox="1"/>
          <p:nvPr/>
        </p:nvSpPr>
        <p:spPr>
          <a:xfrm>
            <a:off x="8445500" y="2743200"/>
            <a:ext cx="1358900" cy="276999"/>
          </a:xfrm>
          <a:prstGeom prst="rect">
            <a:avLst/>
          </a:prstGeom>
          <a:noFill/>
        </p:spPr>
        <p:txBody>
          <a:bodyPr vert="horz" wrap="square" lIns="0" tIns="0" rIns="0" bIns="0" rtlCol="0" anchor="t">
            <a:noAutofit/>
          </a:bodyPr>
          <a:lstStyle/>
          <a:p>
            <a:pPr algn="ctr"/>
            <a:r>
              <a:rPr lang="en-US" sz="1500" b="1">
                <a:solidFill>
                  <a:srgbClr val="FF6464"/>
                </a:solidFill>
                <a:latin typeface="Aptos" panose="020B0004020202020204" pitchFamily="34" charset="0"/>
              </a:rPr>
              <a:t>PWM</a:t>
            </a:r>
          </a:p>
        </p:txBody>
      </p:sp>
      <p:sp>
        <p:nvSpPr>
          <p:cNvPr id="30" name="TextBox 29">
            <a:extLst>
              <a:ext uri="{FF2B5EF4-FFF2-40B4-BE49-F238E27FC236}">
                <a16:creationId xmlns:a16="http://schemas.microsoft.com/office/drawing/2014/main" id="{459465D4-2AE2-7154-1FE6-798B749A4E3E}"/>
              </a:ext>
            </a:extLst>
          </p:cNvPr>
          <p:cNvSpPr txBox="1"/>
          <p:nvPr/>
        </p:nvSpPr>
        <p:spPr>
          <a:xfrm>
            <a:off x="8382000" y="3238500"/>
            <a:ext cx="1485900" cy="276999"/>
          </a:xfrm>
          <a:prstGeom prst="rect">
            <a:avLst/>
          </a:prstGeom>
          <a:noFill/>
        </p:spPr>
        <p:txBody>
          <a:bodyPr vert="horz" wrap="square" lIns="0" tIns="0" rIns="0" bIns="0" rtlCol="0" anchor="t">
            <a:noAutofit/>
          </a:bodyPr>
          <a:lstStyle/>
          <a:p>
            <a:pPr algn="ctr"/>
            <a:r>
              <a:rPr lang="en-US" sz="1250">
                <a:solidFill>
                  <a:srgbClr val="F2F5F9"/>
                </a:solidFill>
                <a:latin typeface="Aptos" panose="020B0004020202020204" pitchFamily="34" charset="0"/>
              </a:rPr>
              <a:t>belt moves</a:t>
            </a:r>
          </a:p>
        </p:txBody>
      </p:sp>
      <p:cxnSp>
        <p:nvCxnSpPr>
          <p:cNvPr id="31" name="Straight Connector 30">
            <a:extLst>
              <a:ext uri="{FF2B5EF4-FFF2-40B4-BE49-F238E27FC236}">
                <a16:creationId xmlns:a16="http://schemas.microsoft.com/office/drawing/2014/main" id="{4830F89A-1313-7293-5839-EAC3D22C13C4}"/>
              </a:ext>
            </a:extLst>
          </p:cNvPr>
          <p:cNvCxnSpPr/>
          <p:nvPr/>
        </p:nvCxnSpPr>
        <p:spPr>
          <a:xfrm>
            <a:off x="9994900" y="2997200"/>
            <a:ext cx="215900" cy="0"/>
          </a:xfrm>
          <a:prstGeom prst="line">
            <a:avLst/>
          </a:prstGeom>
          <a:ln w="25400">
            <a:solidFill>
              <a:srgbClr val="A9B4C5"/>
            </a:solidFill>
            <a:tailEnd type="arrow"/>
          </a:ln>
        </p:spPr>
        <p:style>
          <a:lnRef idx="1">
            <a:schemeClr val="accent1"/>
          </a:lnRef>
          <a:fillRef idx="0">
            <a:schemeClr val="accent1"/>
          </a:fillRef>
          <a:effectRef idx="0">
            <a:schemeClr val="accent1"/>
          </a:effectRef>
          <a:fontRef idx="minor">
            <a:schemeClr val="tx1"/>
          </a:fontRef>
        </p:style>
      </p:cxnSp>
      <p:sp>
        <p:nvSpPr>
          <p:cNvPr id="32" name="Rectangle: Rounded Corners 31">
            <a:extLst>
              <a:ext uri="{FF2B5EF4-FFF2-40B4-BE49-F238E27FC236}">
                <a16:creationId xmlns:a16="http://schemas.microsoft.com/office/drawing/2014/main" id="{04FD69F6-52BE-6BC6-1005-5FD21DA38854}"/>
              </a:ext>
            </a:extLst>
          </p:cNvPr>
          <p:cNvSpPr/>
          <p:nvPr/>
        </p:nvSpPr>
        <p:spPr>
          <a:xfrm>
            <a:off x="10210800" y="2247900"/>
            <a:ext cx="1739900" cy="1498600"/>
          </a:xfrm>
          <a:prstGeom prst="roundRect">
            <a:avLst/>
          </a:prstGeom>
          <a:solidFill>
            <a:srgbClr val="182234"/>
          </a:solidFill>
          <a:ln w="15875">
            <a:solidFill>
              <a:srgbClr val="379D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a:extLst>
              <a:ext uri="{FF2B5EF4-FFF2-40B4-BE49-F238E27FC236}">
                <a16:creationId xmlns:a16="http://schemas.microsoft.com/office/drawing/2014/main" id="{8EA282CE-AD66-F9FB-2418-1661397276F0}"/>
              </a:ext>
            </a:extLst>
          </p:cNvPr>
          <p:cNvSpPr txBox="1"/>
          <p:nvPr/>
        </p:nvSpPr>
        <p:spPr>
          <a:xfrm>
            <a:off x="10312400" y="2349500"/>
            <a:ext cx="279400" cy="276999"/>
          </a:xfrm>
          <a:prstGeom prst="rect">
            <a:avLst/>
          </a:prstGeom>
          <a:noFill/>
        </p:spPr>
        <p:txBody>
          <a:bodyPr vert="horz" wrap="square" lIns="0" tIns="0" rIns="0" bIns="0" rtlCol="0" anchor="t">
            <a:noAutofit/>
          </a:bodyPr>
          <a:lstStyle/>
          <a:p>
            <a:r>
              <a:rPr lang="en-US" sz="1300" b="1">
                <a:solidFill>
                  <a:srgbClr val="379DFF"/>
                </a:solidFill>
                <a:latin typeface="Aptos" panose="020B0004020202020204" pitchFamily="34" charset="0"/>
              </a:rPr>
              <a:t>6</a:t>
            </a:r>
          </a:p>
        </p:txBody>
      </p:sp>
      <p:sp>
        <p:nvSpPr>
          <p:cNvPr id="34" name="TextBox 33">
            <a:extLst>
              <a:ext uri="{FF2B5EF4-FFF2-40B4-BE49-F238E27FC236}">
                <a16:creationId xmlns:a16="http://schemas.microsoft.com/office/drawing/2014/main" id="{F44D98C6-709F-A073-78D5-B8CC5A6A63DE}"/>
              </a:ext>
            </a:extLst>
          </p:cNvPr>
          <p:cNvSpPr txBox="1"/>
          <p:nvPr/>
        </p:nvSpPr>
        <p:spPr>
          <a:xfrm>
            <a:off x="10401300" y="2743200"/>
            <a:ext cx="1358900" cy="276999"/>
          </a:xfrm>
          <a:prstGeom prst="rect">
            <a:avLst/>
          </a:prstGeom>
          <a:noFill/>
        </p:spPr>
        <p:txBody>
          <a:bodyPr vert="horz" wrap="square" lIns="0" tIns="0" rIns="0" bIns="0" rtlCol="0" anchor="t">
            <a:noAutofit/>
          </a:bodyPr>
          <a:lstStyle/>
          <a:p>
            <a:pPr algn="ctr"/>
            <a:r>
              <a:rPr lang="en-US" sz="1500" b="1">
                <a:solidFill>
                  <a:srgbClr val="379DFF"/>
                </a:solidFill>
                <a:latin typeface="Aptos" panose="020B0004020202020204" pitchFamily="34" charset="0"/>
              </a:rPr>
              <a:t>RELEASE</a:t>
            </a:r>
          </a:p>
        </p:txBody>
      </p:sp>
      <p:sp>
        <p:nvSpPr>
          <p:cNvPr id="35" name="TextBox 34">
            <a:extLst>
              <a:ext uri="{FF2B5EF4-FFF2-40B4-BE49-F238E27FC236}">
                <a16:creationId xmlns:a16="http://schemas.microsoft.com/office/drawing/2014/main" id="{884EC6CE-FA77-7FDF-C9D1-75D5C1C7C529}"/>
              </a:ext>
            </a:extLst>
          </p:cNvPr>
          <p:cNvSpPr txBox="1"/>
          <p:nvPr/>
        </p:nvSpPr>
        <p:spPr>
          <a:xfrm>
            <a:off x="10337800" y="3238500"/>
            <a:ext cx="1485900" cy="276999"/>
          </a:xfrm>
          <a:prstGeom prst="rect">
            <a:avLst/>
          </a:prstGeom>
          <a:noFill/>
        </p:spPr>
        <p:txBody>
          <a:bodyPr vert="horz" wrap="square" lIns="0" tIns="0" rIns="0" bIns="0" rtlCol="0" anchor="t">
            <a:noAutofit/>
          </a:bodyPr>
          <a:lstStyle/>
          <a:p>
            <a:pPr algn="ctr"/>
            <a:r>
              <a:rPr lang="en-US" sz="1250">
                <a:solidFill>
                  <a:srgbClr val="F2F5F9"/>
                </a:solidFill>
                <a:latin typeface="Aptos" panose="020B0004020202020204" pitchFamily="34" charset="0"/>
              </a:rPr>
              <a:t>end → stop</a:t>
            </a:r>
          </a:p>
        </p:txBody>
      </p:sp>
      <p:sp>
        <p:nvSpPr>
          <p:cNvPr id="36" name="TextBox 35">
            <a:extLst>
              <a:ext uri="{FF2B5EF4-FFF2-40B4-BE49-F238E27FC236}">
                <a16:creationId xmlns:a16="http://schemas.microsoft.com/office/drawing/2014/main" id="{4EC8F40D-A63F-B47B-A2C9-C14CB1CD9076}"/>
              </a:ext>
            </a:extLst>
          </p:cNvPr>
          <p:cNvSpPr txBox="1"/>
          <p:nvPr/>
        </p:nvSpPr>
        <p:spPr>
          <a:xfrm>
            <a:off x="2641600" y="4216400"/>
            <a:ext cx="1524000" cy="276999"/>
          </a:xfrm>
          <a:prstGeom prst="rect">
            <a:avLst/>
          </a:prstGeom>
          <a:noFill/>
        </p:spPr>
        <p:txBody>
          <a:bodyPr vert="horz" wrap="square" lIns="0" tIns="0" rIns="0" bIns="0" rtlCol="0" anchor="t">
            <a:noAutofit/>
          </a:bodyPr>
          <a:lstStyle/>
          <a:p>
            <a:pPr algn="ctr"/>
            <a:r>
              <a:rPr lang="en-US" sz="1200" b="1">
                <a:solidFill>
                  <a:srgbClr val="A474FF"/>
                </a:solidFill>
                <a:latin typeface="Aptos" panose="020B0004020202020204" pitchFamily="34" charset="0"/>
              </a:rPr>
              <a:t>framework</a:t>
            </a:r>
          </a:p>
        </p:txBody>
      </p:sp>
      <p:cxnSp>
        <p:nvCxnSpPr>
          <p:cNvPr id="37" name="Straight Connector 36">
            <a:extLst>
              <a:ext uri="{FF2B5EF4-FFF2-40B4-BE49-F238E27FC236}">
                <a16:creationId xmlns:a16="http://schemas.microsoft.com/office/drawing/2014/main" id="{E7726516-3294-29D2-CD6D-19760D704D45}"/>
              </a:ext>
            </a:extLst>
          </p:cNvPr>
          <p:cNvCxnSpPr/>
          <p:nvPr/>
        </p:nvCxnSpPr>
        <p:spPr>
          <a:xfrm>
            <a:off x="2324100" y="4127500"/>
            <a:ext cx="2146300" cy="0"/>
          </a:xfrm>
          <a:prstGeom prst="line">
            <a:avLst/>
          </a:prstGeom>
          <a:ln w="25400">
            <a:solidFill>
              <a:srgbClr val="A474FF"/>
            </a:solidFill>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E61D3DD5-6CD3-94CB-4662-E5C19687939B}"/>
              </a:ext>
            </a:extLst>
          </p:cNvPr>
          <p:cNvSpPr txBox="1"/>
          <p:nvPr/>
        </p:nvSpPr>
        <p:spPr>
          <a:xfrm>
            <a:off x="5041900" y="4216400"/>
            <a:ext cx="2794000" cy="276999"/>
          </a:xfrm>
          <a:prstGeom prst="rect">
            <a:avLst/>
          </a:prstGeom>
          <a:noFill/>
        </p:spPr>
        <p:txBody>
          <a:bodyPr vert="horz" wrap="square" lIns="0" tIns="0" rIns="0" bIns="0" rtlCol="0" anchor="t">
            <a:noAutofit/>
          </a:bodyPr>
          <a:lstStyle/>
          <a:p>
            <a:pPr algn="ctr"/>
            <a:r>
              <a:rPr lang="en-US" sz="1200" b="1">
                <a:solidFill>
                  <a:srgbClr val="FFA443"/>
                </a:solidFill>
                <a:latin typeface="Aptos" panose="020B0004020202020204" pitchFamily="34" charset="0"/>
              </a:rPr>
              <a:t>team-written code</a:t>
            </a:r>
          </a:p>
        </p:txBody>
      </p:sp>
      <p:cxnSp>
        <p:nvCxnSpPr>
          <p:cNvPr id="39" name="Straight Connector 38">
            <a:extLst>
              <a:ext uri="{FF2B5EF4-FFF2-40B4-BE49-F238E27FC236}">
                <a16:creationId xmlns:a16="http://schemas.microsoft.com/office/drawing/2014/main" id="{41B95551-4B4C-25DE-258E-81624A2577A0}"/>
              </a:ext>
            </a:extLst>
          </p:cNvPr>
          <p:cNvCxnSpPr/>
          <p:nvPr/>
        </p:nvCxnSpPr>
        <p:spPr>
          <a:xfrm>
            <a:off x="4572000" y="4127500"/>
            <a:ext cx="3759200" cy="0"/>
          </a:xfrm>
          <a:prstGeom prst="line">
            <a:avLst/>
          </a:prstGeom>
          <a:ln w="25400">
            <a:solidFill>
              <a:srgbClr val="FFA443"/>
            </a:solidFill>
          </a:ln>
        </p:spPr>
        <p:style>
          <a:lnRef idx="1">
            <a:schemeClr val="accent1"/>
          </a:lnRef>
          <a:fillRef idx="0">
            <a:schemeClr val="accent1"/>
          </a:fillRef>
          <a:effectRef idx="0">
            <a:schemeClr val="accent1"/>
          </a:effectRef>
          <a:fontRef idx="minor">
            <a:schemeClr val="tx1"/>
          </a:fontRef>
        </p:style>
      </p:cxnSp>
      <p:sp>
        <p:nvSpPr>
          <p:cNvPr id="40" name="Rectangle: Rounded Corners 39">
            <a:extLst>
              <a:ext uri="{FF2B5EF4-FFF2-40B4-BE49-F238E27FC236}">
                <a16:creationId xmlns:a16="http://schemas.microsoft.com/office/drawing/2014/main" id="{90788545-9A28-6444-BD64-AC5DF1792040}"/>
              </a:ext>
            </a:extLst>
          </p:cNvPr>
          <p:cNvSpPr/>
          <p:nvPr/>
        </p:nvSpPr>
        <p:spPr>
          <a:xfrm>
            <a:off x="533400" y="6261100"/>
            <a:ext cx="11125200" cy="533400"/>
          </a:xfrm>
          <a:prstGeom prst="roundRect">
            <a:avLst/>
          </a:prstGeom>
          <a:solidFill>
            <a:srgbClr val="18223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Rounded Corners 40">
            <a:extLst>
              <a:ext uri="{FF2B5EF4-FFF2-40B4-BE49-F238E27FC236}">
                <a16:creationId xmlns:a16="http://schemas.microsoft.com/office/drawing/2014/main" id="{E450F27F-DCDE-9E58-DB19-ECFB673D44E4}"/>
              </a:ext>
            </a:extLst>
          </p:cNvPr>
          <p:cNvSpPr/>
          <p:nvPr/>
        </p:nvSpPr>
        <p:spPr>
          <a:xfrm>
            <a:off x="660400" y="6362700"/>
            <a:ext cx="1473200" cy="330200"/>
          </a:xfrm>
          <a:prstGeom prst="roundRect">
            <a:avLst/>
          </a:prstGeom>
          <a:solidFill>
            <a:srgbClr val="35CBB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TextBox 41">
            <a:extLst>
              <a:ext uri="{FF2B5EF4-FFF2-40B4-BE49-F238E27FC236}">
                <a16:creationId xmlns:a16="http://schemas.microsoft.com/office/drawing/2014/main" id="{3CDFA326-1EC4-7464-C6F0-175307CA6DF9}"/>
              </a:ext>
            </a:extLst>
          </p:cNvPr>
          <p:cNvSpPr txBox="1"/>
          <p:nvPr/>
        </p:nvSpPr>
        <p:spPr>
          <a:xfrm>
            <a:off x="736600" y="6400800"/>
            <a:ext cx="1320800" cy="276999"/>
          </a:xfrm>
          <a:prstGeom prst="rect">
            <a:avLst/>
          </a:prstGeom>
          <a:noFill/>
        </p:spPr>
        <p:txBody>
          <a:bodyPr vert="horz" wrap="square" lIns="0" tIns="0" rIns="0" bIns="0" rtlCol="0">
            <a:noAutofit/>
          </a:bodyPr>
          <a:lstStyle/>
          <a:p>
            <a:pPr algn="ctr"/>
            <a:r>
              <a:rPr lang="en-US" sz="1050" b="1">
                <a:solidFill>
                  <a:srgbClr val="060A12"/>
                </a:solidFill>
                <a:latin typeface="Aptos" panose="020B0004020202020204" pitchFamily="34" charset="0"/>
              </a:rPr>
              <a:t>ACTIVITY</a:t>
            </a:r>
          </a:p>
        </p:txBody>
      </p:sp>
      <p:sp>
        <p:nvSpPr>
          <p:cNvPr id="43" name="TextBox 42">
            <a:extLst>
              <a:ext uri="{FF2B5EF4-FFF2-40B4-BE49-F238E27FC236}">
                <a16:creationId xmlns:a16="http://schemas.microsoft.com/office/drawing/2014/main" id="{810EBD27-150D-3889-09AB-A3D72D8725FF}"/>
              </a:ext>
            </a:extLst>
          </p:cNvPr>
          <p:cNvSpPr txBox="1"/>
          <p:nvPr/>
        </p:nvSpPr>
        <p:spPr>
          <a:xfrm>
            <a:off x="2286000" y="6362700"/>
            <a:ext cx="9207500" cy="276999"/>
          </a:xfrm>
          <a:prstGeom prst="rect">
            <a:avLst/>
          </a:prstGeom>
          <a:noFill/>
        </p:spPr>
        <p:txBody>
          <a:bodyPr vert="horz" wrap="square" lIns="0" tIns="0" rIns="0" bIns="0" rtlCol="0" anchor="t">
            <a:noAutofit/>
          </a:bodyPr>
          <a:lstStyle/>
          <a:p>
            <a:r>
              <a:rPr lang="en-US" sz="1300">
                <a:solidFill>
                  <a:srgbClr val="F2F5F9"/>
                </a:solidFill>
                <a:latin typeface="Aptos" panose="020B0004020202020204" pitchFamily="34" charset="0"/>
              </a:rPr>
              <a:t>Tell the story left to right without reading the code.</a:t>
            </a:r>
          </a:p>
        </p:txBody>
      </p:sp>
      <p:sp>
        <p:nvSpPr>
          <p:cNvPr id="44" name="TextBox 43">
            <a:extLst>
              <a:ext uri="{FF2B5EF4-FFF2-40B4-BE49-F238E27FC236}">
                <a16:creationId xmlns:a16="http://schemas.microsoft.com/office/drawing/2014/main" id="{E22B84B4-F429-8CCA-4BBD-313F4C68F108}"/>
              </a:ext>
            </a:extLst>
          </p:cNvPr>
          <p:cNvSpPr txBox="1"/>
          <p:nvPr/>
        </p:nvSpPr>
        <p:spPr>
          <a:xfrm>
            <a:off x="9017000" y="6908800"/>
            <a:ext cx="2641600" cy="276999"/>
          </a:xfrm>
          <a:prstGeom prst="rect">
            <a:avLst/>
          </a:prstGeom>
          <a:noFill/>
        </p:spPr>
        <p:txBody>
          <a:bodyPr vert="horz" wrap="square" lIns="0" tIns="0" rIns="0" bIns="0" rtlCol="0" anchor="t">
            <a:noAutofit/>
          </a:bodyPr>
          <a:lstStyle/>
          <a:p>
            <a:pPr algn="r"/>
            <a:r>
              <a:rPr lang="en-US" sz="850">
                <a:solidFill>
                  <a:srgbClr val="A9B4C5"/>
                </a:solidFill>
                <a:latin typeface="Aptos" panose="020B0004020202020204" pitchFamily="34" charset="0"/>
              </a:rPr>
              <a:t>CURRENT ROBOT IMPLEMENTATION • V2</a:t>
            </a:r>
          </a:p>
        </p:txBody>
      </p:sp>
    </p:spTree>
    <p:extLst>
      <p:ext uri="{BB962C8B-B14F-4D97-AF65-F5344CB8AC3E}">
        <p14:creationId xmlns:p14="http://schemas.microsoft.com/office/powerpoint/2010/main" val="22478635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D1421"/>
        </a:solidFill>
        <a:effectLst/>
      </p:bgPr>
    </p:bg>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468C2D9C-3ED8-1516-37E0-5122158315DE}"/>
              </a:ext>
            </a:extLst>
          </p:cNvPr>
          <p:cNvSpPr/>
          <p:nvPr/>
        </p:nvSpPr>
        <p:spPr>
          <a:xfrm>
            <a:off x="533400" y="292100"/>
            <a:ext cx="1473200" cy="330200"/>
          </a:xfrm>
          <a:prstGeom prst="roundRect">
            <a:avLst/>
          </a:prstGeom>
          <a:solidFill>
            <a:srgbClr val="379D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3C48A0E9-C332-CAC8-7AD8-8FE68D0B37D1}"/>
              </a:ext>
            </a:extLst>
          </p:cNvPr>
          <p:cNvSpPr txBox="1"/>
          <p:nvPr/>
        </p:nvSpPr>
        <p:spPr>
          <a:xfrm>
            <a:off x="609600" y="330200"/>
            <a:ext cx="1320800" cy="276999"/>
          </a:xfrm>
          <a:prstGeom prst="rect">
            <a:avLst/>
          </a:prstGeom>
          <a:noFill/>
        </p:spPr>
        <p:txBody>
          <a:bodyPr vert="horz" wrap="square" lIns="0" tIns="0" rIns="0" bIns="0" rtlCol="0">
            <a:noAutofit/>
          </a:bodyPr>
          <a:lstStyle/>
          <a:p>
            <a:pPr algn="ctr"/>
            <a:r>
              <a:rPr lang="en-US" sz="1050" b="1">
                <a:solidFill>
                  <a:srgbClr val="060A12"/>
                </a:solidFill>
                <a:latin typeface="Aptos" panose="020B0004020202020204" pitchFamily="34" charset="0"/>
              </a:rPr>
              <a:t>SHARED CORE</a:t>
            </a:r>
          </a:p>
        </p:txBody>
      </p:sp>
      <p:sp>
        <p:nvSpPr>
          <p:cNvPr id="4" name="TextBox 3">
            <a:extLst>
              <a:ext uri="{FF2B5EF4-FFF2-40B4-BE49-F238E27FC236}">
                <a16:creationId xmlns:a16="http://schemas.microsoft.com/office/drawing/2014/main" id="{E4315C94-3217-8A92-76B1-8F007CFD15E2}"/>
              </a:ext>
            </a:extLst>
          </p:cNvPr>
          <p:cNvSpPr txBox="1"/>
          <p:nvPr/>
        </p:nvSpPr>
        <p:spPr>
          <a:xfrm>
            <a:off x="533400" y="762000"/>
            <a:ext cx="10414000" cy="276999"/>
          </a:xfrm>
          <a:prstGeom prst="rect">
            <a:avLst/>
          </a:prstGeom>
          <a:noFill/>
        </p:spPr>
        <p:txBody>
          <a:bodyPr vert="horz" wrap="square" lIns="0" tIns="0" rIns="0" bIns="0" rtlCol="0" anchor="t">
            <a:noAutofit/>
          </a:bodyPr>
          <a:lstStyle/>
          <a:p>
            <a:r>
              <a:rPr lang="en-US" sz="2800" b="1">
                <a:solidFill>
                  <a:srgbClr val="F2F5F9"/>
                </a:solidFill>
                <a:latin typeface="Aptos Display" panose="020B0004020202020204" pitchFamily="34" charset="0"/>
              </a:rPr>
              <a:t>Subsystems separate—and sometimes cooperate</a:t>
            </a:r>
          </a:p>
        </p:txBody>
      </p:sp>
      <p:sp>
        <p:nvSpPr>
          <p:cNvPr id="5" name="TextBox 4">
            <a:extLst>
              <a:ext uri="{FF2B5EF4-FFF2-40B4-BE49-F238E27FC236}">
                <a16:creationId xmlns:a16="http://schemas.microsoft.com/office/drawing/2014/main" id="{D6B7DD8D-B215-B664-C4DC-7DE45C460E12}"/>
              </a:ext>
            </a:extLst>
          </p:cNvPr>
          <p:cNvSpPr txBox="1"/>
          <p:nvPr/>
        </p:nvSpPr>
        <p:spPr>
          <a:xfrm>
            <a:off x="11226800" y="355600"/>
            <a:ext cx="381000" cy="276999"/>
          </a:xfrm>
          <a:prstGeom prst="rect">
            <a:avLst/>
          </a:prstGeom>
          <a:noFill/>
        </p:spPr>
        <p:txBody>
          <a:bodyPr vert="horz" wrap="square" lIns="0" tIns="0" rIns="0" bIns="0" rtlCol="0" anchor="t">
            <a:noAutofit/>
          </a:bodyPr>
          <a:lstStyle/>
          <a:p>
            <a:pPr algn="r"/>
            <a:r>
              <a:rPr lang="en-US" sz="1000" b="1">
                <a:solidFill>
                  <a:srgbClr val="A9B4C5"/>
                </a:solidFill>
                <a:latin typeface="Aptos" panose="020B0004020202020204" pitchFamily="34" charset="0"/>
              </a:rPr>
              <a:t>14</a:t>
            </a:r>
          </a:p>
        </p:txBody>
      </p:sp>
      <p:cxnSp>
        <p:nvCxnSpPr>
          <p:cNvPr id="6" name="Straight Connector 5">
            <a:extLst>
              <a:ext uri="{FF2B5EF4-FFF2-40B4-BE49-F238E27FC236}">
                <a16:creationId xmlns:a16="http://schemas.microsoft.com/office/drawing/2014/main" id="{17F64113-56A5-2DE2-3876-5869D6A1F37E}"/>
              </a:ext>
            </a:extLst>
          </p:cNvPr>
          <p:cNvCxnSpPr/>
          <p:nvPr/>
        </p:nvCxnSpPr>
        <p:spPr>
          <a:xfrm>
            <a:off x="533400" y="1371600"/>
            <a:ext cx="11125200" cy="0"/>
          </a:xfrm>
          <a:prstGeom prst="line">
            <a:avLst/>
          </a:prstGeom>
          <a:ln w="12700">
            <a:solidFill>
              <a:srgbClr val="1F2C41"/>
            </a:solidFill>
          </a:ln>
        </p:spPr>
        <p:style>
          <a:lnRef idx="1">
            <a:schemeClr val="accent1"/>
          </a:lnRef>
          <a:fillRef idx="0">
            <a:schemeClr val="accent1"/>
          </a:fillRef>
          <a:effectRef idx="0">
            <a:schemeClr val="accent1"/>
          </a:effectRef>
          <a:fontRef idx="minor">
            <a:schemeClr val="tx1"/>
          </a:fontRef>
        </p:style>
      </p:cxnSp>
      <p:sp>
        <p:nvSpPr>
          <p:cNvPr id="7" name="Rectangle: Rounded Corners 6">
            <a:extLst>
              <a:ext uri="{FF2B5EF4-FFF2-40B4-BE49-F238E27FC236}">
                <a16:creationId xmlns:a16="http://schemas.microsoft.com/office/drawing/2014/main" id="{8D31806A-91CB-D44E-02B7-091222C2C60D}"/>
              </a:ext>
            </a:extLst>
          </p:cNvPr>
          <p:cNvSpPr/>
          <p:nvPr/>
        </p:nvSpPr>
        <p:spPr>
          <a:xfrm>
            <a:off x="698500" y="1816100"/>
            <a:ext cx="10795000" cy="3022600"/>
          </a:xfrm>
          <a:prstGeom prst="roundRect">
            <a:avLst/>
          </a:prstGeom>
          <a:solidFill>
            <a:srgbClr val="18223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Rounded Corners 7">
            <a:extLst>
              <a:ext uri="{FF2B5EF4-FFF2-40B4-BE49-F238E27FC236}">
                <a16:creationId xmlns:a16="http://schemas.microsoft.com/office/drawing/2014/main" id="{68B9928B-240E-54A6-FFBC-C953D5944963}"/>
              </a:ext>
            </a:extLst>
          </p:cNvPr>
          <p:cNvSpPr/>
          <p:nvPr/>
        </p:nvSpPr>
        <p:spPr>
          <a:xfrm>
            <a:off x="990600" y="2286000"/>
            <a:ext cx="2286000" cy="1397000"/>
          </a:xfrm>
          <a:prstGeom prst="roundRect">
            <a:avLst/>
          </a:prstGeom>
          <a:solidFill>
            <a:srgbClr val="0D1421"/>
          </a:solidFill>
          <a:ln w="15875">
            <a:solidFill>
              <a:srgbClr val="379D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AF6493A7-4432-9397-CF20-C5C1B3F93901}"/>
              </a:ext>
            </a:extLst>
          </p:cNvPr>
          <p:cNvSpPr txBox="1"/>
          <p:nvPr/>
        </p:nvSpPr>
        <p:spPr>
          <a:xfrm>
            <a:off x="1143000" y="2514600"/>
            <a:ext cx="1981200" cy="276999"/>
          </a:xfrm>
          <a:prstGeom prst="rect">
            <a:avLst/>
          </a:prstGeom>
          <a:noFill/>
        </p:spPr>
        <p:txBody>
          <a:bodyPr vert="horz" wrap="square" lIns="0" tIns="0" rIns="0" bIns="0" rtlCol="0" anchor="t">
            <a:noAutofit/>
          </a:bodyPr>
          <a:lstStyle/>
          <a:p>
            <a:pPr algn="ctr"/>
            <a:r>
              <a:rPr lang="en-US" b="1">
                <a:solidFill>
                  <a:srgbClr val="379DFF"/>
                </a:solidFill>
                <a:latin typeface="Aptos" panose="020B0004020202020204" pitchFamily="34" charset="0"/>
              </a:rPr>
              <a:t>DRIVE</a:t>
            </a:r>
          </a:p>
        </p:txBody>
      </p:sp>
      <p:sp>
        <p:nvSpPr>
          <p:cNvPr id="10" name="TextBox 9">
            <a:extLst>
              <a:ext uri="{FF2B5EF4-FFF2-40B4-BE49-F238E27FC236}">
                <a16:creationId xmlns:a16="http://schemas.microsoft.com/office/drawing/2014/main" id="{DB3AAAB4-4681-D5CA-EDFA-BF98983491C8}"/>
              </a:ext>
            </a:extLst>
          </p:cNvPr>
          <p:cNvSpPr txBox="1"/>
          <p:nvPr/>
        </p:nvSpPr>
        <p:spPr>
          <a:xfrm>
            <a:off x="1143000" y="3022600"/>
            <a:ext cx="1981200" cy="276999"/>
          </a:xfrm>
          <a:prstGeom prst="rect">
            <a:avLst/>
          </a:prstGeom>
          <a:noFill/>
        </p:spPr>
        <p:txBody>
          <a:bodyPr vert="horz" wrap="square" lIns="0" tIns="0" rIns="0" bIns="0" rtlCol="0" anchor="t">
            <a:noAutofit/>
          </a:bodyPr>
          <a:lstStyle/>
          <a:p>
            <a:pPr algn="ctr"/>
            <a:r>
              <a:rPr lang="en-US" sz="1400">
                <a:solidFill>
                  <a:srgbClr val="F2F5F9"/>
                </a:solidFill>
                <a:latin typeface="Aptos" panose="020B0004020202020204" pitchFamily="34" charset="0"/>
              </a:rPr>
              <a:t>4 motors</a:t>
            </a:r>
          </a:p>
        </p:txBody>
      </p:sp>
      <p:sp>
        <p:nvSpPr>
          <p:cNvPr id="11" name="Rectangle: Rounded Corners 10">
            <a:extLst>
              <a:ext uri="{FF2B5EF4-FFF2-40B4-BE49-F238E27FC236}">
                <a16:creationId xmlns:a16="http://schemas.microsoft.com/office/drawing/2014/main" id="{7E49153D-373B-6786-0030-26C3A3B7222E}"/>
              </a:ext>
            </a:extLst>
          </p:cNvPr>
          <p:cNvSpPr/>
          <p:nvPr/>
        </p:nvSpPr>
        <p:spPr>
          <a:xfrm>
            <a:off x="3594100" y="2286000"/>
            <a:ext cx="2286000" cy="1397000"/>
          </a:xfrm>
          <a:prstGeom prst="roundRect">
            <a:avLst/>
          </a:prstGeom>
          <a:solidFill>
            <a:srgbClr val="0D1421"/>
          </a:solidFill>
          <a:ln w="15875">
            <a:solidFill>
              <a:srgbClr val="FFA44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CF1C3F5D-3F79-D63D-FECE-5D50EAB9DD70}"/>
              </a:ext>
            </a:extLst>
          </p:cNvPr>
          <p:cNvSpPr txBox="1"/>
          <p:nvPr/>
        </p:nvSpPr>
        <p:spPr>
          <a:xfrm>
            <a:off x="3746500" y="2514600"/>
            <a:ext cx="1981200" cy="276999"/>
          </a:xfrm>
          <a:prstGeom prst="rect">
            <a:avLst/>
          </a:prstGeom>
          <a:noFill/>
        </p:spPr>
        <p:txBody>
          <a:bodyPr vert="horz" wrap="square" lIns="0" tIns="0" rIns="0" bIns="0" rtlCol="0" anchor="t">
            <a:noAutofit/>
          </a:bodyPr>
          <a:lstStyle/>
          <a:p>
            <a:pPr algn="ctr"/>
            <a:r>
              <a:rPr lang="en-US" b="1">
                <a:solidFill>
                  <a:srgbClr val="FFA443"/>
                </a:solidFill>
                <a:latin typeface="Aptos" panose="020B0004020202020204" pitchFamily="34" charset="0"/>
              </a:rPr>
              <a:t>BELT</a:t>
            </a:r>
          </a:p>
        </p:txBody>
      </p:sp>
      <p:sp>
        <p:nvSpPr>
          <p:cNvPr id="13" name="TextBox 12">
            <a:extLst>
              <a:ext uri="{FF2B5EF4-FFF2-40B4-BE49-F238E27FC236}">
                <a16:creationId xmlns:a16="http://schemas.microsoft.com/office/drawing/2014/main" id="{E0DC3999-60C8-3C91-0980-ADDF6E1FEDEE}"/>
              </a:ext>
            </a:extLst>
          </p:cNvPr>
          <p:cNvSpPr txBox="1"/>
          <p:nvPr/>
        </p:nvSpPr>
        <p:spPr>
          <a:xfrm>
            <a:off x="3746500" y="3022600"/>
            <a:ext cx="1981200" cy="276999"/>
          </a:xfrm>
          <a:prstGeom prst="rect">
            <a:avLst/>
          </a:prstGeom>
          <a:noFill/>
        </p:spPr>
        <p:txBody>
          <a:bodyPr vert="horz" wrap="square" lIns="0" tIns="0" rIns="0" bIns="0" rtlCol="0" anchor="t">
            <a:noAutofit/>
          </a:bodyPr>
          <a:lstStyle/>
          <a:p>
            <a:pPr algn="ctr"/>
            <a:r>
              <a:rPr lang="en-US" sz="1400">
                <a:solidFill>
                  <a:srgbClr val="F2F5F9"/>
                </a:solidFill>
                <a:latin typeface="Aptos" panose="020B0004020202020204" pitchFamily="34" charset="0"/>
              </a:rPr>
              <a:t>1 motor</a:t>
            </a:r>
          </a:p>
        </p:txBody>
      </p:sp>
      <p:sp>
        <p:nvSpPr>
          <p:cNvPr id="14" name="Rectangle: Rounded Corners 13">
            <a:extLst>
              <a:ext uri="{FF2B5EF4-FFF2-40B4-BE49-F238E27FC236}">
                <a16:creationId xmlns:a16="http://schemas.microsoft.com/office/drawing/2014/main" id="{9A461228-F9F2-45C0-38AA-8D7BF7A07532}"/>
              </a:ext>
            </a:extLst>
          </p:cNvPr>
          <p:cNvSpPr/>
          <p:nvPr/>
        </p:nvSpPr>
        <p:spPr>
          <a:xfrm>
            <a:off x="6197600" y="2286000"/>
            <a:ext cx="2286000" cy="1397000"/>
          </a:xfrm>
          <a:prstGeom prst="roundRect">
            <a:avLst/>
          </a:prstGeom>
          <a:solidFill>
            <a:srgbClr val="0D1421"/>
          </a:solidFill>
          <a:ln w="15875">
            <a:solidFill>
              <a:srgbClr val="3ECF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F8303CA3-1A6B-1D98-F275-441B09B8995A}"/>
              </a:ext>
            </a:extLst>
          </p:cNvPr>
          <p:cNvSpPr txBox="1"/>
          <p:nvPr/>
        </p:nvSpPr>
        <p:spPr>
          <a:xfrm>
            <a:off x="6350000" y="2514600"/>
            <a:ext cx="1981200" cy="276999"/>
          </a:xfrm>
          <a:prstGeom prst="rect">
            <a:avLst/>
          </a:prstGeom>
          <a:noFill/>
        </p:spPr>
        <p:txBody>
          <a:bodyPr vert="horz" wrap="square" lIns="0" tIns="0" rIns="0" bIns="0" rtlCol="0" anchor="t">
            <a:noAutofit/>
          </a:bodyPr>
          <a:lstStyle/>
          <a:p>
            <a:pPr algn="ctr"/>
            <a:r>
              <a:rPr lang="en-US" b="1">
                <a:solidFill>
                  <a:srgbClr val="3ECF8E"/>
                </a:solidFill>
                <a:latin typeface="Aptos" panose="020B0004020202020204" pitchFamily="34" charset="0"/>
              </a:rPr>
              <a:t>ROLLER</a:t>
            </a:r>
          </a:p>
        </p:txBody>
      </p:sp>
      <p:sp>
        <p:nvSpPr>
          <p:cNvPr id="16" name="TextBox 15">
            <a:extLst>
              <a:ext uri="{FF2B5EF4-FFF2-40B4-BE49-F238E27FC236}">
                <a16:creationId xmlns:a16="http://schemas.microsoft.com/office/drawing/2014/main" id="{C75FA7EB-E09A-4DE8-3C56-04BA3C22647A}"/>
              </a:ext>
            </a:extLst>
          </p:cNvPr>
          <p:cNvSpPr txBox="1"/>
          <p:nvPr/>
        </p:nvSpPr>
        <p:spPr>
          <a:xfrm>
            <a:off x="6350000" y="3022600"/>
            <a:ext cx="1981200" cy="276999"/>
          </a:xfrm>
          <a:prstGeom prst="rect">
            <a:avLst/>
          </a:prstGeom>
          <a:noFill/>
        </p:spPr>
        <p:txBody>
          <a:bodyPr vert="horz" wrap="square" lIns="0" tIns="0" rIns="0" bIns="0" rtlCol="0" anchor="t">
            <a:noAutofit/>
          </a:bodyPr>
          <a:lstStyle/>
          <a:p>
            <a:pPr algn="ctr"/>
            <a:r>
              <a:rPr lang="en-US" sz="1400">
                <a:solidFill>
                  <a:srgbClr val="F2F5F9"/>
                </a:solidFill>
                <a:latin typeface="Aptos" panose="020B0004020202020204" pitchFamily="34" charset="0"/>
              </a:rPr>
              <a:t>1 motor</a:t>
            </a:r>
          </a:p>
        </p:txBody>
      </p:sp>
      <p:sp>
        <p:nvSpPr>
          <p:cNvPr id="17" name="Rectangle: Rounded Corners 16">
            <a:extLst>
              <a:ext uri="{FF2B5EF4-FFF2-40B4-BE49-F238E27FC236}">
                <a16:creationId xmlns:a16="http://schemas.microsoft.com/office/drawing/2014/main" id="{5A6D0235-C4EC-6767-5359-12C80FEB7B11}"/>
              </a:ext>
            </a:extLst>
          </p:cNvPr>
          <p:cNvSpPr/>
          <p:nvPr/>
        </p:nvSpPr>
        <p:spPr>
          <a:xfrm>
            <a:off x="8801100" y="2286000"/>
            <a:ext cx="2286000" cy="1397000"/>
          </a:xfrm>
          <a:prstGeom prst="roundRect">
            <a:avLst/>
          </a:prstGeom>
          <a:solidFill>
            <a:srgbClr val="0D1421"/>
          </a:solidFill>
          <a:ln w="15875">
            <a:solidFill>
              <a:srgbClr val="FF64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9B82035E-8AD6-1006-53F3-4F529A39C263}"/>
              </a:ext>
            </a:extLst>
          </p:cNvPr>
          <p:cNvSpPr txBox="1"/>
          <p:nvPr/>
        </p:nvSpPr>
        <p:spPr>
          <a:xfrm>
            <a:off x="8953500" y="2514600"/>
            <a:ext cx="1981200" cy="276999"/>
          </a:xfrm>
          <a:prstGeom prst="rect">
            <a:avLst/>
          </a:prstGeom>
          <a:noFill/>
        </p:spPr>
        <p:txBody>
          <a:bodyPr vert="horz" wrap="square" lIns="0" tIns="0" rIns="0" bIns="0" rtlCol="0" anchor="t">
            <a:noAutofit/>
          </a:bodyPr>
          <a:lstStyle/>
          <a:p>
            <a:pPr algn="ctr"/>
            <a:r>
              <a:rPr lang="en-US" b="1">
                <a:solidFill>
                  <a:srgbClr val="FF6464"/>
                </a:solidFill>
                <a:latin typeface="Aptos" panose="020B0004020202020204" pitchFamily="34" charset="0"/>
              </a:rPr>
              <a:t>CLIMBER</a:t>
            </a:r>
          </a:p>
        </p:txBody>
      </p:sp>
      <p:sp>
        <p:nvSpPr>
          <p:cNvPr id="19" name="TextBox 18">
            <a:extLst>
              <a:ext uri="{FF2B5EF4-FFF2-40B4-BE49-F238E27FC236}">
                <a16:creationId xmlns:a16="http://schemas.microsoft.com/office/drawing/2014/main" id="{53AF596C-DF87-3680-1198-CCE719CF2593}"/>
              </a:ext>
            </a:extLst>
          </p:cNvPr>
          <p:cNvSpPr txBox="1"/>
          <p:nvPr/>
        </p:nvSpPr>
        <p:spPr>
          <a:xfrm>
            <a:off x="8953500" y="3022600"/>
            <a:ext cx="1981200" cy="276999"/>
          </a:xfrm>
          <a:prstGeom prst="rect">
            <a:avLst/>
          </a:prstGeom>
          <a:noFill/>
        </p:spPr>
        <p:txBody>
          <a:bodyPr vert="horz" wrap="square" lIns="0" tIns="0" rIns="0" bIns="0" rtlCol="0" anchor="t">
            <a:noAutofit/>
          </a:bodyPr>
          <a:lstStyle/>
          <a:p>
            <a:pPr algn="ctr"/>
            <a:r>
              <a:rPr lang="en-US" sz="1400">
                <a:solidFill>
                  <a:srgbClr val="F2F5F9"/>
                </a:solidFill>
                <a:latin typeface="Aptos" panose="020B0004020202020204" pitchFamily="34" charset="0"/>
              </a:rPr>
              <a:t>2 solenoids</a:t>
            </a:r>
          </a:p>
        </p:txBody>
      </p:sp>
      <p:sp>
        <p:nvSpPr>
          <p:cNvPr id="20" name="TextBox 19">
            <a:extLst>
              <a:ext uri="{FF2B5EF4-FFF2-40B4-BE49-F238E27FC236}">
                <a16:creationId xmlns:a16="http://schemas.microsoft.com/office/drawing/2014/main" id="{872C18D8-0604-09C4-1739-C1A3B4261ACF}"/>
              </a:ext>
            </a:extLst>
          </p:cNvPr>
          <p:cNvSpPr txBox="1"/>
          <p:nvPr/>
        </p:nvSpPr>
        <p:spPr>
          <a:xfrm>
            <a:off x="1778000" y="4064000"/>
            <a:ext cx="8636000" cy="276999"/>
          </a:xfrm>
          <a:prstGeom prst="rect">
            <a:avLst/>
          </a:prstGeom>
          <a:noFill/>
        </p:spPr>
        <p:txBody>
          <a:bodyPr vert="horz" wrap="square" lIns="0" tIns="0" rIns="0" bIns="0" rtlCol="0" anchor="t">
            <a:noAutofit/>
          </a:bodyPr>
          <a:lstStyle/>
          <a:p>
            <a:pPr algn="ctr"/>
            <a:r>
              <a:rPr lang="en-US" b="1">
                <a:solidFill>
                  <a:srgbClr val="F2F5F9"/>
                </a:solidFill>
                <a:latin typeface="Aptos" panose="020B0004020202020204" pitchFamily="34" charset="0"/>
              </a:rPr>
              <a:t>different requirements → can run together</a:t>
            </a:r>
          </a:p>
        </p:txBody>
      </p:sp>
      <p:sp>
        <p:nvSpPr>
          <p:cNvPr id="21" name="Rectangle: Rounded Corners 20">
            <a:extLst>
              <a:ext uri="{FF2B5EF4-FFF2-40B4-BE49-F238E27FC236}">
                <a16:creationId xmlns:a16="http://schemas.microsoft.com/office/drawing/2014/main" id="{ABC9417C-7353-3541-D836-4DABF1F53C9F}"/>
              </a:ext>
            </a:extLst>
          </p:cNvPr>
          <p:cNvSpPr/>
          <p:nvPr/>
        </p:nvSpPr>
        <p:spPr>
          <a:xfrm>
            <a:off x="533400" y="6261100"/>
            <a:ext cx="11125200" cy="533400"/>
          </a:xfrm>
          <a:prstGeom prst="roundRect">
            <a:avLst/>
          </a:prstGeom>
          <a:solidFill>
            <a:srgbClr val="18223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Rounded Corners 21">
            <a:extLst>
              <a:ext uri="{FF2B5EF4-FFF2-40B4-BE49-F238E27FC236}">
                <a16:creationId xmlns:a16="http://schemas.microsoft.com/office/drawing/2014/main" id="{933CAAB0-5E9A-37B6-CB61-0B2C2C4B52A5}"/>
              </a:ext>
            </a:extLst>
          </p:cNvPr>
          <p:cNvSpPr/>
          <p:nvPr/>
        </p:nvSpPr>
        <p:spPr>
          <a:xfrm>
            <a:off x="660400" y="6362700"/>
            <a:ext cx="1473200" cy="330200"/>
          </a:xfrm>
          <a:prstGeom prst="roundRect">
            <a:avLst/>
          </a:prstGeom>
          <a:solidFill>
            <a:srgbClr val="FFC1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405145E5-DED8-AD8D-9301-3F195C78CF99}"/>
              </a:ext>
            </a:extLst>
          </p:cNvPr>
          <p:cNvSpPr txBox="1"/>
          <p:nvPr/>
        </p:nvSpPr>
        <p:spPr>
          <a:xfrm>
            <a:off x="736600" y="6400800"/>
            <a:ext cx="1320800" cy="276999"/>
          </a:xfrm>
          <a:prstGeom prst="rect">
            <a:avLst/>
          </a:prstGeom>
          <a:noFill/>
        </p:spPr>
        <p:txBody>
          <a:bodyPr vert="horz" wrap="square" lIns="0" tIns="0" rIns="0" bIns="0" rtlCol="0">
            <a:noAutofit/>
          </a:bodyPr>
          <a:lstStyle/>
          <a:p>
            <a:pPr algn="ctr"/>
            <a:r>
              <a:rPr lang="en-US" sz="1050" b="1">
                <a:solidFill>
                  <a:srgbClr val="060A12"/>
                </a:solidFill>
                <a:latin typeface="Aptos" panose="020B0004020202020204" pitchFamily="34" charset="0"/>
              </a:rPr>
              <a:t>DESIGN</a:t>
            </a:r>
          </a:p>
        </p:txBody>
      </p:sp>
      <p:sp>
        <p:nvSpPr>
          <p:cNvPr id="24" name="TextBox 23">
            <a:extLst>
              <a:ext uri="{FF2B5EF4-FFF2-40B4-BE49-F238E27FC236}">
                <a16:creationId xmlns:a16="http://schemas.microsoft.com/office/drawing/2014/main" id="{08F47324-DBDD-6574-A8BF-82EE05AF8BC0}"/>
              </a:ext>
            </a:extLst>
          </p:cNvPr>
          <p:cNvSpPr txBox="1"/>
          <p:nvPr/>
        </p:nvSpPr>
        <p:spPr>
          <a:xfrm>
            <a:off x="2286000" y="6362700"/>
            <a:ext cx="9207500" cy="276999"/>
          </a:xfrm>
          <a:prstGeom prst="rect">
            <a:avLst/>
          </a:prstGeom>
          <a:noFill/>
        </p:spPr>
        <p:txBody>
          <a:bodyPr vert="horz" wrap="square" lIns="0" tIns="0" rIns="0" bIns="0" rtlCol="0" anchor="t">
            <a:noAutofit/>
          </a:bodyPr>
          <a:lstStyle/>
          <a:p>
            <a:r>
              <a:rPr lang="en-US" sz="1300">
                <a:solidFill>
                  <a:srgbClr val="F2F5F9"/>
                </a:solidFill>
                <a:latin typeface="Aptos" panose="020B0004020202020204" pitchFamily="34" charset="0"/>
              </a:rPr>
              <a:t>A combined scoring command would require both BeltSubsystem and RollerSubsystem.</a:t>
            </a:r>
          </a:p>
        </p:txBody>
      </p:sp>
      <p:sp>
        <p:nvSpPr>
          <p:cNvPr id="25" name="TextBox 24">
            <a:extLst>
              <a:ext uri="{FF2B5EF4-FFF2-40B4-BE49-F238E27FC236}">
                <a16:creationId xmlns:a16="http://schemas.microsoft.com/office/drawing/2014/main" id="{828E03BD-1C52-8B7B-1CB6-5DB6A0B2906E}"/>
              </a:ext>
            </a:extLst>
          </p:cNvPr>
          <p:cNvSpPr txBox="1"/>
          <p:nvPr/>
        </p:nvSpPr>
        <p:spPr>
          <a:xfrm>
            <a:off x="533400" y="6908800"/>
            <a:ext cx="8890000" cy="276999"/>
          </a:xfrm>
          <a:prstGeom prst="rect">
            <a:avLst/>
          </a:prstGeom>
          <a:noFill/>
        </p:spPr>
        <p:txBody>
          <a:bodyPr vert="horz" wrap="square" lIns="0" tIns="0" rIns="0" bIns="0" rtlCol="0" anchor="t">
            <a:noAutofit/>
          </a:bodyPr>
          <a:lstStyle/>
          <a:p>
            <a:r>
              <a:rPr lang="en-US" sz="850">
                <a:solidFill>
                  <a:srgbClr val="A9B4C5"/>
                </a:solidFill>
                <a:latin typeface="Aptos" panose="020B0004020202020204" pitchFamily="34" charset="0"/>
              </a:rPr>
              <a:t>Source: RobotContainer.java</a:t>
            </a:r>
          </a:p>
        </p:txBody>
      </p:sp>
      <p:sp>
        <p:nvSpPr>
          <p:cNvPr id="26" name="TextBox 25">
            <a:extLst>
              <a:ext uri="{FF2B5EF4-FFF2-40B4-BE49-F238E27FC236}">
                <a16:creationId xmlns:a16="http://schemas.microsoft.com/office/drawing/2014/main" id="{3033EAED-5A15-ECD9-4EEB-39FC6816932F}"/>
              </a:ext>
            </a:extLst>
          </p:cNvPr>
          <p:cNvSpPr txBox="1"/>
          <p:nvPr/>
        </p:nvSpPr>
        <p:spPr>
          <a:xfrm>
            <a:off x="9017000" y="6908800"/>
            <a:ext cx="2641600" cy="276999"/>
          </a:xfrm>
          <a:prstGeom prst="rect">
            <a:avLst/>
          </a:prstGeom>
          <a:noFill/>
        </p:spPr>
        <p:txBody>
          <a:bodyPr vert="horz" wrap="square" lIns="0" tIns="0" rIns="0" bIns="0" rtlCol="0" anchor="t">
            <a:noAutofit/>
          </a:bodyPr>
          <a:lstStyle/>
          <a:p>
            <a:pPr algn="r"/>
            <a:r>
              <a:rPr lang="en-US" sz="850">
                <a:solidFill>
                  <a:srgbClr val="A9B4C5"/>
                </a:solidFill>
                <a:latin typeface="Aptos" panose="020B0004020202020204" pitchFamily="34" charset="0"/>
              </a:rPr>
              <a:t>CURRENT ROBOT IMPLEMENTATION • V2</a:t>
            </a:r>
          </a:p>
        </p:txBody>
      </p:sp>
    </p:spTree>
    <p:extLst>
      <p:ext uri="{BB962C8B-B14F-4D97-AF65-F5344CB8AC3E}">
        <p14:creationId xmlns:p14="http://schemas.microsoft.com/office/powerpoint/2010/main" val="18062348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D1421"/>
        </a:solidFill>
        <a:effectLst/>
      </p:bgPr>
    </p:bg>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FB2AD44A-70F3-C8C1-5E23-28F7984AC739}"/>
              </a:ext>
            </a:extLst>
          </p:cNvPr>
          <p:cNvSpPr/>
          <p:nvPr/>
        </p:nvSpPr>
        <p:spPr>
          <a:xfrm>
            <a:off x="533400" y="292100"/>
            <a:ext cx="1473200" cy="330200"/>
          </a:xfrm>
          <a:prstGeom prst="roundRect">
            <a:avLst/>
          </a:prstGeom>
          <a:solidFill>
            <a:srgbClr val="379D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08C5A8DB-E126-F6CA-29A1-7EA69C651E00}"/>
              </a:ext>
            </a:extLst>
          </p:cNvPr>
          <p:cNvSpPr txBox="1"/>
          <p:nvPr/>
        </p:nvSpPr>
        <p:spPr>
          <a:xfrm>
            <a:off x="609600" y="330200"/>
            <a:ext cx="1320800" cy="276999"/>
          </a:xfrm>
          <a:prstGeom prst="rect">
            <a:avLst/>
          </a:prstGeom>
          <a:noFill/>
        </p:spPr>
        <p:txBody>
          <a:bodyPr vert="horz" wrap="square" lIns="0" tIns="0" rIns="0" bIns="0" rtlCol="0">
            <a:noAutofit/>
          </a:bodyPr>
          <a:lstStyle/>
          <a:p>
            <a:pPr algn="ctr"/>
            <a:r>
              <a:rPr lang="en-US" sz="1050" b="1">
                <a:solidFill>
                  <a:srgbClr val="060A12"/>
                </a:solidFill>
                <a:latin typeface="Aptos" panose="020B0004020202020204" pitchFamily="34" charset="0"/>
              </a:rPr>
              <a:t>SHARED CORE</a:t>
            </a:r>
          </a:p>
        </p:txBody>
      </p:sp>
      <p:sp>
        <p:nvSpPr>
          <p:cNvPr id="4" name="TextBox 3">
            <a:extLst>
              <a:ext uri="{FF2B5EF4-FFF2-40B4-BE49-F238E27FC236}">
                <a16:creationId xmlns:a16="http://schemas.microsoft.com/office/drawing/2014/main" id="{E4216F6A-800A-46A3-0CF0-DF454B1F9E08}"/>
              </a:ext>
            </a:extLst>
          </p:cNvPr>
          <p:cNvSpPr txBox="1"/>
          <p:nvPr/>
        </p:nvSpPr>
        <p:spPr>
          <a:xfrm>
            <a:off x="533400" y="762000"/>
            <a:ext cx="10414000" cy="276999"/>
          </a:xfrm>
          <a:prstGeom prst="rect">
            <a:avLst/>
          </a:prstGeom>
          <a:noFill/>
        </p:spPr>
        <p:txBody>
          <a:bodyPr vert="horz" wrap="square" lIns="0" tIns="0" rIns="0" bIns="0" rtlCol="0" anchor="t">
            <a:noAutofit/>
          </a:bodyPr>
          <a:lstStyle/>
          <a:p>
            <a:r>
              <a:rPr lang="en-US" sz="2800" b="1">
                <a:solidFill>
                  <a:srgbClr val="F2F5F9"/>
                </a:solidFill>
                <a:latin typeface="Aptos Display" panose="020B0004020202020204" pitchFamily="34" charset="0"/>
              </a:rPr>
              <a:t>Shared-core checkpoint</a:t>
            </a:r>
          </a:p>
        </p:txBody>
      </p:sp>
      <p:sp>
        <p:nvSpPr>
          <p:cNvPr id="5" name="TextBox 4">
            <a:extLst>
              <a:ext uri="{FF2B5EF4-FFF2-40B4-BE49-F238E27FC236}">
                <a16:creationId xmlns:a16="http://schemas.microsoft.com/office/drawing/2014/main" id="{97D7FB4E-60FC-F105-9044-C0EA5EDDC2FD}"/>
              </a:ext>
            </a:extLst>
          </p:cNvPr>
          <p:cNvSpPr txBox="1"/>
          <p:nvPr/>
        </p:nvSpPr>
        <p:spPr>
          <a:xfrm>
            <a:off x="11226800" y="355600"/>
            <a:ext cx="381000" cy="276999"/>
          </a:xfrm>
          <a:prstGeom prst="rect">
            <a:avLst/>
          </a:prstGeom>
          <a:noFill/>
        </p:spPr>
        <p:txBody>
          <a:bodyPr vert="horz" wrap="square" lIns="0" tIns="0" rIns="0" bIns="0" rtlCol="0" anchor="t">
            <a:noAutofit/>
          </a:bodyPr>
          <a:lstStyle/>
          <a:p>
            <a:pPr algn="r"/>
            <a:r>
              <a:rPr lang="en-US" sz="1000" b="1">
                <a:solidFill>
                  <a:srgbClr val="A9B4C5"/>
                </a:solidFill>
                <a:latin typeface="Aptos" panose="020B0004020202020204" pitchFamily="34" charset="0"/>
              </a:rPr>
              <a:t>15</a:t>
            </a:r>
          </a:p>
        </p:txBody>
      </p:sp>
      <p:cxnSp>
        <p:nvCxnSpPr>
          <p:cNvPr id="6" name="Straight Connector 5">
            <a:extLst>
              <a:ext uri="{FF2B5EF4-FFF2-40B4-BE49-F238E27FC236}">
                <a16:creationId xmlns:a16="http://schemas.microsoft.com/office/drawing/2014/main" id="{551BA8E2-FC55-1882-348E-BCE7E0327F03}"/>
              </a:ext>
            </a:extLst>
          </p:cNvPr>
          <p:cNvCxnSpPr/>
          <p:nvPr/>
        </p:nvCxnSpPr>
        <p:spPr>
          <a:xfrm>
            <a:off x="533400" y="1371600"/>
            <a:ext cx="11125200" cy="0"/>
          </a:xfrm>
          <a:prstGeom prst="line">
            <a:avLst/>
          </a:prstGeom>
          <a:ln w="12700">
            <a:solidFill>
              <a:srgbClr val="1F2C41"/>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237C7A7B-269C-74E8-1E2E-DB1D50BE0F45}"/>
              </a:ext>
            </a:extLst>
          </p:cNvPr>
          <p:cNvSpPr txBox="1"/>
          <p:nvPr/>
        </p:nvSpPr>
        <p:spPr>
          <a:xfrm>
            <a:off x="1270000" y="1676400"/>
            <a:ext cx="9652000" cy="276999"/>
          </a:xfrm>
          <a:prstGeom prst="rect">
            <a:avLst/>
          </a:prstGeom>
          <a:noFill/>
        </p:spPr>
        <p:txBody>
          <a:bodyPr vert="horz" wrap="square" lIns="0" tIns="0" rIns="0" bIns="0" rtlCol="0" anchor="t">
            <a:noAutofit/>
          </a:bodyPr>
          <a:lstStyle/>
          <a:p>
            <a:r>
              <a:rPr lang="en-US" sz="2100" b="1">
                <a:solidFill>
                  <a:srgbClr val="F2F5F9"/>
                </a:solidFill>
                <a:latin typeface="Aptos" panose="020B0004020202020204" pitchFamily="34" charset="0"/>
              </a:rPr>
              <a:t>1  Who directly calls beltMotor.set()?</a:t>
            </a:r>
          </a:p>
        </p:txBody>
      </p:sp>
      <p:cxnSp>
        <p:nvCxnSpPr>
          <p:cNvPr id="8" name="Straight Connector 7">
            <a:extLst>
              <a:ext uri="{FF2B5EF4-FFF2-40B4-BE49-F238E27FC236}">
                <a16:creationId xmlns:a16="http://schemas.microsoft.com/office/drawing/2014/main" id="{176F6318-3A07-9372-98D2-7F8AE55239F9}"/>
              </a:ext>
            </a:extLst>
          </p:cNvPr>
          <p:cNvCxnSpPr/>
          <p:nvPr/>
        </p:nvCxnSpPr>
        <p:spPr>
          <a:xfrm>
            <a:off x="1270000" y="2159000"/>
            <a:ext cx="9652000" cy="0"/>
          </a:xfrm>
          <a:prstGeom prst="line">
            <a:avLst/>
          </a:prstGeom>
          <a:ln w="12700">
            <a:solidFill>
              <a:srgbClr val="1F2C4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CDAFE0AC-283F-A938-E730-67C6805FFB21}"/>
              </a:ext>
            </a:extLst>
          </p:cNvPr>
          <p:cNvSpPr txBox="1"/>
          <p:nvPr/>
        </p:nvSpPr>
        <p:spPr>
          <a:xfrm>
            <a:off x="1270000" y="2501900"/>
            <a:ext cx="9652000" cy="276999"/>
          </a:xfrm>
          <a:prstGeom prst="rect">
            <a:avLst/>
          </a:prstGeom>
          <a:noFill/>
        </p:spPr>
        <p:txBody>
          <a:bodyPr vert="horz" wrap="square" lIns="0" tIns="0" rIns="0" bIns="0" rtlCol="0" anchor="t">
            <a:noAutofit/>
          </a:bodyPr>
          <a:lstStyle/>
          <a:p>
            <a:r>
              <a:rPr lang="en-US" sz="2100" b="1">
                <a:solidFill>
                  <a:srgbClr val="F2F5F9"/>
                </a:solidFill>
                <a:latin typeface="Aptos" panose="020B0004020202020204" pitchFamily="34" charset="0"/>
              </a:rPr>
              <a:t>2  Who decides the belt runs inward?</a:t>
            </a:r>
          </a:p>
        </p:txBody>
      </p:sp>
      <p:cxnSp>
        <p:nvCxnSpPr>
          <p:cNvPr id="10" name="Straight Connector 9">
            <a:extLst>
              <a:ext uri="{FF2B5EF4-FFF2-40B4-BE49-F238E27FC236}">
                <a16:creationId xmlns:a16="http://schemas.microsoft.com/office/drawing/2014/main" id="{A875A3C7-3DAD-C6BF-D271-A398B79D8E5D}"/>
              </a:ext>
            </a:extLst>
          </p:cNvPr>
          <p:cNvCxnSpPr/>
          <p:nvPr/>
        </p:nvCxnSpPr>
        <p:spPr>
          <a:xfrm>
            <a:off x="1270000" y="2984500"/>
            <a:ext cx="9652000" cy="0"/>
          </a:xfrm>
          <a:prstGeom prst="line">
            <a:avLst/>
          </a:prstGeom>
          <a:ln w="12700">
            <a:solidFill>
              <a:srgbClr val="1F2C41"/>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C0550154-DC69-2652-A69B-8382AD3A5C16}"/>
              </a:ext>
            </a:extLst>
          </p:cNvPr>
          <p:cNvSpPr txBox="1"/>
          <p:nvPr/>
        </p:nvSpPr>
        <p:spPr>
          <a:xfrm>
            <a:off x="1270000" y="3327400"/>
            <a:ext cx="9652000" cy="276999"/>
          </a:xfrm>
          <a:prstGeom prst="rect">
            <a:avLst/>
          </a:prstGeom>
          <a:noFill/>
        </p:spPr>
        <p:txBody>
          <a:bodyPr vert="horz" wrap="square" lIns="0" tIns="0" rIns="0" bIns="0" rtlCol="0" anchor="t">
            <a:noAutofit/>
          </a:bodyPr>
          <a:lstStyle/>
          <a:p>
            <a:r>
              <a:rPr lang="en-US" sz="2100" b="1">
                <a:solidFill>
                  <a:srgbClr val="F2F5F9"/>
                </a:solidFill>
                <a:latin typeface="Aptos" panose="020B0004020202020204" pitchFamily="34" charset="0"/>
              </a:rPr>
              <a:t>3  What connects A to that action?</a:t>
            </a:r>
          </a:p>
        </p:txBody>
      </p:sp>
      <p:cxnSp>
        <p:nvCxnSpPr>
          <p:cNvPr id="12" name="Straight Connector 11">
            <a:extLst>
              <a:ext uri="{FF2B5EF4-FFF2-40B4-BE49-F238E27FC236}">
                <a16:creationId xmlns:a16="http://schemas.microsoft.com/office/drawing/2014/main" id="{B336895D-E3FC-9AEB-65D4-C867EC552D06}"/>
              </a:ext>
            </a:extLst>
          </p:cNvPr>
          <p:cNvCxnSpPr/>
          <p:nvPr/>
        </p:nvCxnSpPr>
        <p:spPr>
          <a:xfrm>
            <a:off x="1270000" y="3810000"/>
            <a:ext cx="9652000" cy="0"/>
          </a:xfrm>
          <a:prstGeom prst="line">
            <a:avLst/>
          </a:prstGeom>
          <a:ln w="12700">
            <a:solidFill>
              <a:srgbClr val="1F2C4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D60A99EC-3A21-DE50-0967-4FC7A3AC59BE}"/>
              </a:ext>
            </a:extLst>
          </p:cNvPr>
          <p:cNvSpPr txBox="1"/>
          <p:nvPr/>
        </p:nvSpPr>
        <p:spPr>
          <a:xfrm>
            <a:off x="1270000" y="4152900"/>
            <a:ext cx="9652000" cy="276999"/>
          </a:xfrm>
          <a:prstGeom prst="rect">
            <a:avLst/>
          </a:prstGeom>
          <a:noFill/>
        </p:spPr>
        <p:txBody>
          <a:bodyPr vert="horz" wrap="square" lIns="0" tIns="0" rIns="0" bIns="0" rtlCol="0" anchor="t">
            <a:noAutofit/>
          </a:bodyPr>
          <a:lstStyle/>
          <a:p>
            <a:r>
              <a:rPr lang="en-US" sz="2100" b="1">
                <a:solidFill>
                  <a:srgbClr val="F2F5F9"/>
                </a:solidFill>
                <a:latin typeface="Aptos" panose="020B0004020202020204" pitchFamily="34" charset="0"/>
              </a:rPr>
              <a:t>4  What repeatedly runs command lifecycles?</a:t>
            </a:r>
          </a:p>
        </p:txBody>
      </p:sp>
      <p:cxnSp>
        <p:nvCxnSpPr>
          <p:cNvPr id="14" name="Straight Connector 13">
            <a:extLst>
              <a:ext uri="{FF2B5EF4-FFF2-40B4-BE49-F238E27FC236}">
                <a16:creationId xmlns:a16="http://schemas.microsoft.com/office/drawing/2014/main" id="{E22DE71E-BFA8-9B53-83AB-D1B3C5E41DDB}"/>
              </a:ext>
            </a:extLst>
          </p:cNvPr>
          <p:cNvCxnSpPr/>
          <p:nvPr/>
        </p:nvCxnSpPr>
        <p:spPr>
          <a:xfrm>
            <a:off x="1270000" y="4635500"/>
            <a:ext cx="9652000" cy="0"/>
          </a:xfrm>
          <a:prstGeom prst="line">
            <a:avLst/>
          </a:prstGeom>
          <a:ln w="12700">
            <a:solidFill>
              <a:srgbClr val="1F2C41"/>
            </a:solidFill>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0B5E7FA5-1C6B-BC84-752C-5A13BA7D06F0}"/>
              </a:ext>
            </a:extLst>
          </p:cNvPr>
          <p:cNvSpPr txBox="1"/>
          <p:nvPr/>
        </p:nvSpPr>
        <p:spPr>
          <a:xfrm>
            <a:off x="1270000" y="4978400"/>
            <a:ext cx="9652000" cy="276999"/>
          </a:xfrm>
          <a:prstGeom prst="rect">
            <a:avLst/>
          </a:prstGeom>
          <a:noFill/>
        </p:spPr>
        <p:txBody>
          <a:bodyPr vert="horz" wrap="square" lIns="0" tIns="0" rIns="0" bIns="0" rtlCol="0" anchor="t">
            <a:noAutofit/>
          </a:bodyPr>
          <a:lstStyle/>
          <a:p>
            <a:r>
              <a:rPr lang="en-US" sz="2100" b="1">
                <a:solidFill>
                  <a:srgbClr val="F2F5F9"/>
                </a:solidFill>
                <a:latin typeface="Aptos" panose="020B0004020202020204" pitchFamily="34" charset="0"/>
              </a:rPr>
              <a:t>5  Why can drive and belt run together?</a:t>
            </a:r>
          </a:p>
        </p:txBody>
      </p:sp>
      <p:cxnSp>
        <p:nvCxnSpPr>
          <p:cNvPr id="16" name="Straight Connector 15">
            <a:extLst>
              <a:ext uri="{FF2B5EF4-FFF2-40B4-BE49-F238E27FC236}">
                <a16:creationId xmlns:a16="http://schemas.microsoft.com/office/drawing/2014/main" id="{738BF879-F0CB-0E18-959B-D0F3B03DDED2}"/>
              </a:ext>
            </a:extLst>
          </p:cNvPr>
          <p:cNvCxnSpPr/>
          <p:nvPr/>
        </p:nvCxnSpPr>
        <p:spPr>
          <a:xfrm>
            <a:off x="1270000" y="5461000"/>
            <a:ext cx="9652000" cy="0"/>
          </a:xfrm>
          <a:prstGeom prst="line">
            <a:avLst/>
          </a:prstGeom>
          <a:ln w="12700">
            <a:solidFill>
              <a:srgbClr val="1F2C41"/>
            </a:solidFill>
          </a:ln>
        </p:spPr>
        <p:style>
          <a:lnRef idx="1">
            <a:schemeClr val="accent1"/>
          </a:lnRef>
          <a:fillRef idx="0">
            <a:schemeClr val="accent1"/>
          </a:fillRef>
          <a:effectRef idx="0">
            <a:schemeClr val="accent1"/>
          </a:effectRef>
          <a:fontRef idx="minor">
            <a:schemeClr val="tx1"/>
          </a:fontRef>
        </p:style>
      </p:cxnSp>
      <p:sp>
        <p:nvSpPr>
          <p:cNvPr id="17" name="Rectangle: Rounded Corners 16">
            <a:extLst>
              <a:ext uri="{FF2B5EF4-FFF2-40B4-BE49-F238E27FC236}">
                <a16:creationId xmlns:a16="http://schemas.microsoft.com/office/drawing/2014/main" id="{9647600F-ECF4-B1A9-7F03-1FC1E29D310B}"/>
              </a:ext>
            </a:extLst>
          </p:cNvPr>
          <p:cNvSpPr/>
          <p:nvPr/>
        </p:nvSpPr>
        <p:spPr>
          <a:xfrm>
            <a:off x="1460500" y="5829300"/>
            <a:ext cx="1524000" cy="330200"/>
          </a:xfrm>
          <a:prstGeom prst="roundRect">
            <a:avLst/>
          </a:prstGeom>
          <a:solidFill>
            <a:srgbClr val="35CBB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BFAFF94C-BC88-F766-C962-CB22B91EF758}"/>
              </a:ext>
            </a:extLst>
          </p:cNvPr>
          <p:cNvSpPr txBox="1"/>
          <p:nvPr/>
        </p:nvSpPr>
        <p:spPr>
          <a:xfrm>
            <a:off x="1536700" y="5867400"/>
            <a:ext cx="1371600" cy="276999"/>
          </a:xfrm>
          <a:prstGeom prst="rect">
            <a:avLst/>
          </a:prstGeom>
          <a:noFill/>
        </p:spPr>
        <p:txBody>
          <a:bodyPr vert="horz" wrap="square" lIns="0" tIns="0" rIns="0" bIns="0" rtlCol="0">
            <a:noAutofit/>
          </a:bodyPr>
          <a:lstStyle/>
          <a:p>
            <a:pPr algn="ctr"/>
            <a:r>
              <a:rPr lang="en-US" sz="1050" b="1">
                <a:solidFill>
                  <a:srgbClr val="060A12"/>
                </a:solidFill>
                <a:latin typeface="Aptos" panose="020B0004020202020204" pitchFamily="34" charset="0"/>
              </a:rPr>
              <a:t>BEGINNER</a:t>
            </a:r>
          </a:p>
        </p:txBody>
      </p:sp>
      <p:sp>
        <p:nvSpPr>
          <p:cNvPr id="19" name="TextBox 18">
            <a:extLst>
              <a:ext uri="{FF2B5EF4-FFF2-40B4-BE49-F238E27FC236}">
                <a16:creationId xmlns:a16="http://schemas.microsoft.com/office/drawing/2014/main" id="{8334E6A4-D930-B6E0-8AAF-29F02F06286B}"/>
              </a:ext>
            </a:extLst>
          </p:cNvPr>
          <p:cNvSpPr txBox="1"/>
          <p:nvPr/>
        </p:nvSpPr>
        <p:spPr>
          <a:xfrm>
            <a:off x="3124200" y="5880100"/>
            <a:ext cx="2667000" cy="276999"/>
          </a:xfrm>
          <a:prstGeom prst="rect">
            <a:avLst/>
          </a:prstGeom>
          <a:noFill/>
        </p:spPr>
        <p:txBody>
          <a:bodyPr vert="horz" wrap="square" lIns="0" tIns="0" rIns="0" bIns="0" rtlCol="0" anchor="t">
            <a:noAutofit/>
          </a:bodyPr>
          <a:lstStyle/>
          <a:p>
            <a:r>
              <a:rPr lang="en-US" sz="1400">
                <a:solidFill>
                  <a:srgbClr val="F2F5F9"/>
                </a:solidFill>
                <a:latin typeface="Aptos" panose="020B0004020202020204" pitchFamily="34" charset="0"/>
              </a:rPr>
              <a:t>trace the five roles</a:t>
            </a:r>
          </a:p>
        </p:txBody>
      </p:sp>
      <p:sp>
        <p:nvSpPr>
          <p:cNvPr id="20" name="Rectangle: Rounded Corners 19">
            <a:extLst>
              <a:ext uri="{FF2B5EF4-FFF2-40B4-BE49-F238E27FC236}">
                <a16:creationId xmlns:a16="http://schemas.microsoft.com/office/drawing/2014/main" id="{0596D75B-B7CF-1539-38B4-EFF014205DF6}"/>
              </a:ext>
            </a:extLst>
          </p:cNvPr>
          <p:cNvSpPr/>
          <p:nvPr/>
        </p:nvSpPr>
        <p:spPr>
          <a:xfrm>
            <a:off x="6248400" y="5829300"/>
            <a:ext cx="1778000" cy="330200"/>
          </a:xfrm>
          <a:prstGeom prst="roundRect">
            <a:avLst/>
          </a:prstGeom>
          <a:solidFill>
            <a:srgbClr val="FFC1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0DFD71BF-6458-847B-D6E9-4817618025BF}"/>
              </a:ext>
            </a:extLst>
          </p:cNvPr>
          <p:cNvSpPr txBox="1"/>
          <p:nvPr/>
        </p:nvSpPr>
        <p:spPr>
          <a:xfrm>
            <a:off x="6324600" y="5867400"/>
            <a:ext cx="1625600" cy="276999"/>
          </a:xfrm>
          <a:prstGeom prst="rect">
            <a:avLst/>
          </a:prstGeom>
          <a:noFill/>
        </p:spPr>
        <p:txBody>
          <a:bodyPr vert="horz" wrap="square" lIns="0" tIns="0" rIns="0" bIns="0" rtlCol="0">
            <a:noAutofit/>
          </a:bodyPr>
          <a:lstStyle/>
          <a:p>
            <a:pPr algn="ctr"/>
            <a:r>
              <a:rPr lang="en-US" sz="1050" b="1">
                <a:solidFill>
                  <a:srgbClr val="060A12"/>
                </a:solidFill>
                <a:latin typeface="Aptos" panose="020B0004020202020204" pitchFamily="34" charset="0"/>
              </a:rPr>
              <a:t>EXPERIENCED</a:t>
            </a:r>
          </a:p>
        </p:txBody>
      </p:sp>
      <p:sp>
        <p:nvSpPr>
          <p:cNvPr id="22" name="TextBox 21">
            <a:extLst>
              <a:ext uri="{FF2B5EF4-FFF2-40B4-BE49-F238E27FC236}">
                <a16:creationId xmlns:a16="http://schemas.microsoft.com/office/drawing/2014/main" id="{2248F77D-DA1A-DAA8-499A-BF42945711D1}"/>
              </a:ext>
            </a:extLst>
          </p:cNvPr>
          <p:cNvSpPr txBox="1"/>
          <p:nvPr/>
        </p:nvSpPr>
        <p:spPr>
          <a:xfrm>
            <a:off x="8178800" y="5880100"/>
            <a:ext cx="2286000" cy="276999"/>
          </a:xfrm>
          <a:prstGeom prst="rect">
            <a:avLst/>
          </a:prstGeom>
          <a:noFill/>
        </p:spPr>
        <p:txBody>
          <a:bodyPr vert="horz" wrap="square" lIns="0" tIns="0" rIns="0" bIns="0" rtlCol="0" anchor="t">
            <a:noAutofit/>
          </a:bodyPr>
          <a:lstStyle/>
          <a:p>
            <a:r>
              <a:rPr lang="en-US" sz="1400">
                <a:solidFill>
                  <a:srgbClr val="F2F5F9"/>
                </a:solidFill>
                <a:latin typeface="Aptos" panose="020B0004020202020204" pitchFamily="34" charset="0"/>
              </a:rPr>
              <a:t>predict conflicts</a:t>
            </a:r>
          </a:p>
        </p:txBody>
      </p:sp>
      <p:sp>
        <p:nvSpPr>
          <p:cNvPr id="23" name="TextBox 22">
            <a:extLst>
              <a:ext uri="{FF2B5EF4-FFF2-40B4-BE49-F238E27FC236}">
                <a16:creationId xmlns:a16="http://schemas.microsoft.com/office/drawing/2014/main" id="{474D7536-0124-F349-7151-A5974070B619}"/>
              </a:ext>
            </a:extLst>
          </p:cNvPr>
          <p:cNvSpPr txBox="1"/>
          <p:nvPr/>
        </p:nvSpPr>
        <p:spPr>
          <a:xfrm>
            <a:off x="9017000" y="6908800"/>
            <a:ext cx="2641600" cy="276999"/>
          </a:xfrm>
          <a:prstGeom prst="rect">
            <a:avLst/>
          </a:prstGeom>
          <a:noFill/>
        </p:spPr>
        <p:txBody>
          <a:bodyPr vert="horz" wrap="square" lIns="0" tIns="0" rIns="0" bIns="0" rtlCol="0" anchor="t">
            <a:noAutofit/>
          </a:bodyPr>
          <a:lstStyle/>
          <a:p>
            <a:pPr algn="r"/>
            <a:r>
              <a:rPr lang="en-US" sz="850">
                <a:solidFill>
                  <a:srgbClr val="A9B4C5"/>
                </a:solidFill>
                <a:latin typeface="Aptos" panose="020B0004020202020204" pitchFamily="34" charset="0"/>
              </a:rPr>
              <a:t>CURRENT ROBOT IMPLEMENTATION • V2</a:t>
            </a:r>
          </a:p>
        </p:txBody>
      </p:sp>
    </p:spTree>
    <p:extLst>
      <p:ext uri="{BB962C8B-B14F-4D97-AF65-F5344CB8AC3E}">
        <p14:creationId xmlns:p14="http://schemas.microsoft.com/office/powerpoint/2010/main" val="25691282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D1421"/>
        </a:solidFill>
        <a:effectLst/>
      </p:bgPr>
    </p:bg>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5EA715F6-5FAC-5BFD-C49C-D865EFF1FD85}"/>
              </a:ext>
            </a:extLst>
          </p:cNvPr>
          <p:cNvSpPr/>
          <p:nvPr/>
        </p:nvSpPr>
        <p:spPr>
          <a:xfrm>
            <a:off x="533400" y="292100"/>
            <a:ext cx="1473200" cy="330200"/>
          </a:xfrm>
          <a:prstGeom prst="roundRect">
            <a:avLst/>
          </a:prstGeom>
          <a:solidFill>
            <a:srgbClr val="35CBB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ED4EFAA6-6EBA-E06D-9E78-3B64E61531EB}"/>
              </a:ext>
            </a:extLst>
          </p:cNvPr>
          <p:cNvSpPr txBox="1"/>
          <p:nvPr/>
        </p:nvSpPr>
        <p:spPr>
          <a:xfrm>
            <a:off x="609600" y="330200"/>
            <a:ext cx="1320800" cy="276999"/>
          </a:xfrm>
          <a:prstGeom prst="rect">
            <a:avLst/>
          </a:prstGeom>
          <a:noFill/>
        </p:spPr>
        <p:txBody>
          <a:bodyPr vert="horz" wrap="square" lIns="0" tIns="0" rIns="0" bIns="0" rtlCol="0">
            <a:noAutofit/>
          </a:bodyPr>
          <a:lstStyle/>
          <a:p>
            <a:pPr algn="ctr"/>
            <a:r>
              <a:rPr lang="en-US" sz="1050" b="1">
                <a:solidFill>
                  <a:srgbClr val="060A12"/>
                </a:solidFill>
                <a:latin typeface="Aptos" panose="020B0004020202020204" pitchFamily="34" charset="0"/>
              </a:rPr>
              <a:t>BEGINNER TRACK</a:t>
            </a:r>
          </a:p>
        </p:txBody>
      </p:sp>
      <p:sp>
        <p:nvSpPr>
          <p:cNvPr id="4" name="TextBox 3">
            <a:extLst>
              <a:ext uri="{FF2B5EF4-FFF2-40B4-BE49-F238E27FC236}">
                <a16:creationId xmlns:a16="http://schemas.microsoft.com/office/drawing/2014/main" id="{3ADAB38B-1489-C3DA-42F9-C94E9FC8EBE7}"/>
              </a:ext>
            </a:extLst>
          </p:cNvPr>
          <p:cNvSpPr txBox="1"/>
          <p:nvPr/>
        </p:nvSpPr>
        <p:spPr>
          <a:xfrm>
            <a:off x="533400" y="762000"/>
            <a:ext cx="10414000" cy="276999"/>
          </a:xfrm>
          <a:prstGeom prst="rect">
            <a:avLst/>
          </a:prstGeom>
          <a:noFill/>
        </p:spPr>
        <p:txBody>
          <a:bodyPr vert="horz" wrap="square" lIns="0" tIns="0" rIns="0" bIns="0" rtlCol="0" anchor="t">
            <a:noAutofit/>
          </a:bodyPr>
          <a:lstStyle/>
          <a:p>
            <a:r>
              <a:rPr lang="en-US" sz="2800" b="1">
                <a:solidFill>
                  <a:srgbClr val="F2F5F9"/>
                </a:solidFill>
                <a:latin typeface="Aptos Display" panose="020B0004020202020204" pitchFamily="34" charset="0"/>
              </a:rPr>
              <a:t>Project map: where each role lives</a:t>
            </a:r>
          </a:p>
        </p:txBody>
      </p:sp>
      <p:sp>
        <p:nvSpPr>
          <p:cNvPr id="5" name="TextBox 4">
            <a:extLst>
              <a:ext uri="{FF2B5EF4-FFF2-40B4-BE49-F238E27FC236}">
                <a16:creationId xmlns:a16="http://schemas.microsoft.com/office/drawing/2014/main" id="{13F07AAA-5127-E111-726D-7E380B14BD7A}"/>
              </a:ext>
            </a:extLst>
          </p:cNvPr>
          <p:cNvSpPr txBox="1"/>
          <p:nvPr/>
        </p:nvSpPr>
        <p:spPr>
          <a:xfrm>
            <a:off x="11226800" y="355600"/>
            <a:ext cx="381000" cy="276999"/>
          </a:xfrm>
          <a:prstGeom prst="rect">
            <a:avLst/>
          </a:prstGeom>
          <a:noFill/>
        </p:spPr>
        <p:txBody>
          <a:bodyPr vert="horz" wrap="square" lIns="0" tIns="0" rIns="0" bIns="0" rtlCol="0" anchor="t">
            <a:noAutofit/>
          </a:bodyPr>
          <a:lstStyle/>
          <a:p>
            <a:pPr algn="r"/>
            <a:r>
              <a:rPr lang="en-US" sz="1000" b="1">
                <a:solidFill>
                  <a:srgbClr val="A9B4C5"/>
                </a:solidFill>
                <a:latin typeface="Aptos" panose="020B0004020202020204" pitchFamily="34" charset="0"/>
              </a:rPr>
              <a:t>16</a:t>
            </a:r>
          </a:p>
        </p:txBody>
      </p:sp>
      <p:cxnSp>
        <p:nvCxnSpPr>
          <p:cNvPr id="6" name="Straight Connector 5">
            <a:extLst>
              <a:ext uri="{FF2B5EF4-FFF2-40B4-BE49-F238E27FC236}">
                <a16:creationId xmlns:a16="http://schemas.microsoft.com/office/drawing/2014/main" id="{BD9ECA23-D3B0-7E0A-8593-33D26423C12E}"/>
              </a:ext>
            </a:extLst>
          </p:cNvPr>
          <p:cNvCxnSpPr/>
          <p:nvPr/>
        </p:nvCxnSpPr>
        <p:spPr>
          <a:xfrm>
            <a:off x="533400" y="1371600"/>
            <a:ext cx="11125200" cy="0"/>
          </a:xfrm>
          <a:prstGeom prst="line">
            <a:avLst/>
          </a:prstGeom>
          <a:ln w="12700">
            <a:solidFill>
              <a:srgbClr val="1F2C41"/>
            </a:solidFill>
          </a:ln>
        </p:spPr>
        <p:style>
          <a:lnRef idx="1">
            <a:schemeClr val="accent1"/>
          </a:lnRef>
          <a:fillRef idx="0">
            <a:schemeClr val="accent1"/>
          </a:fillRef>
          <a:effectRef idx="0">
            <a:schemeClr val="accent1"/>
          </a:effectRef>
          <a:fontRef idx="minor">
            <a:schemeClr val="tx1"/>
          </a:fontRef>
        </p:style>
      </p:cxnSp>
      <p:sp>
        <p:nvSpPr>
          <p:cNvPr id="7" name="Rectangle: Rounded Corners 6">
            <a:extLst>
              <a:ext uri="{FF2B5EF4-FFF2-40B4-BE49-F238E27FC236}">
                <a16:creationId xmlns:a16="http://schemas.microsoft.com/office/drawing/2014/main" id="{FB98FAA6-3C3E-49DE-3B4B-D468F2EA8E33}"/>
              </a:ext>
            </a:extLst>
          </p:cNvPr>
          <p:cNvSpPr/>
          <p:nvPr/>
        </p:nvSpPr>
        <p:spPr>
          <a:xfrm>
            <a:off x="812800" y="1739900"/>
            <a:ext cx="3937000" cy="3098800"/>
          </a:xfrm>
          <a:prstGeom prst="roundRect">
            <a:avLst/>
          </a:prstGeom>
          <a:solidFill>
            <a:srgbClr val="060A12"/>
          </a:solidFill>
          <a:ln w="15875">
            <a:solidFill>
              <a:srgbClr val="1F2C4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348FF82E-C74E-07D5-9B56-E8723C3EED4E}"/>
              </a:ext>
            </a:extLst>
          </p:cNvPr>
          <p:cNvSpPr/>
          <p:nvPr/>
        </p:nvSpPr>
        <p:spPr>
          <a:xfrm>
            <a:off x="812800" y="1739900"/>
            <a:ext cx="88900" cy="3098800"/>
          </a:xfrm>
          <a:prstGeom prst="rect">
            <a:avLst/>
          </a:prstGeom>
          <a:solidFill>
            <a:srgbClr val="35CBB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3F2B1A56-689E-FB49-85DC-4640186430DC}"/>
              </a:ext>
            </a:extLst>
          </p:cNvPr>
          <p:cNvSpPr txBox="1"/>
          <p:nvPr/>
        </p:nvSpPr>
        <p:spPr>
          <a:xfrm>
            <a:off x="1041400" y="1892300"/>
            <a:ext cx="3556000" cy="276999"/>
          </a:xfrm>
          <a:prstGeom prst="rect">
            <a:avLst/>
          </a:prstGeom>
          <a:noFill/>
        </p:spPr>
        <p:txBody>
          <a:bodyPr vert="horz" wrap="square" lIns="0" tIns="0" rIns="0" bIns="0" rtlCol="0" anchor="t">
            <a:noAutofit/>
          </a:bodyPr>
          <a:lstStyle/>
          <a:p>
            <a:r>
              <a:rPr lang="en-US" sz="1700">
                <a:solidFill>
                  <a:srgbClr val="F2F5F9"/>
                </a:solidFill>
                <a:latin typeface="Consolas" panose="020B0609020204030204" pitchFamily="49" charset="0"/>
              </a:rPr>
              <a:t>frc.robot</a:t>
            </a:r>
          </a:p>
          <a:p>
            <a:r>
              <a:rPr lang="en-US" sz="1700">
                <a:solidFill>
                  <a:srgbClr val="F2F5F9"/>
                </a:solidFill>
                <a:latin typeface="Consolas" panose="020B0609020204030204" pitchFamily="49" charset="0"/>
              </a:rPr>
              <a:t>  Robot.java</a:t>
            </a:r>
          </a:p>
          <a:p>
            <a:r>
              <a:rPr lang="en-US" sz="1700">
                <a:solidFill>
                  <a:srgbClr val="F2F5F9"/>
                </a:solidFill>
                <a:latin typeface="Consolas" panose="020B0609020204030204" pitchFamily="49" charset="0"/>
              </a:rPr>
              <a:t>  RobotContainer.java</a:t>
            </a:r>
          </a:p>
          <a:p>
            <a:r>
              <a:rPr lang="en-US" sz="1700">
                <a:solidFill>
                  <a:srgbClr val="F2F5F9"/>
                </a:solidFill>
                <a:latin typeface="Consolas" panose="020B0609020204030204" pitchFamily="49" charset="0"/>
              </a:rPr>
              <a:t>  Constants.java</a:t>
            </a:r>
          </a:p>
          <a:p>
            <a:r>
              <a:rPr lang="en-US" sz="1700">
                <a:solidFill>
                  <a:srgbClr val="F2F5F9"/>
                </a:solidFill>
                <a:latin typeface="Consolas" panose="020B0609020204030204" pitchFamily="49" charset="0"/>
              </a:rPr>
              <a:t>  commands/</a:t>
            </a:r>
          </a:p>
          <a:p>
            <a:r>
              <a:rPr lang="en-US" sz="1700">
                <a:solidFill>
                  <a:srgbClr val="F2F5F9"/>
                </a:solidFill>
                <a:latin typeface="Consolas" panose="020B0609020204030204" pitchFamily="49" charset="0"/>
              </a:rPr>
              <a:t>  subsystems/</a:t>
            </a:r>
          </a:p>
        </p:txBody>
      </p:sp>
      <p:sp>
        <p:nvSpPr>
          <p:cNvPr id="10" name="Rectangle: Rounded Corners 9">
            <a:extLst>
              <a:ext uri="{FF2B5EF4-FFF2-40B4-BE49-F238E27FC236}">
                <a16:creationId xmlns:a16="http://schemas.microsoft.com/office/drawing/2014/main" id="{7C7B20D2-7182-BEA5-9E1A-4DABC797C0C8}"/>
              </a:ext>
            </a:extLst>
          </p:cNvPr>
          <p:cNvSpPr/>
          <p:nvPr/>
        </p:nvSpPr>
        <p:spPr>
          <a:xfrm>
            <a:off x="5257800" y="1739900"/>
            <a:ext cx="6019800" cy="1879600"/>
          </a:xfrm>
          <a:prstGeom prst="roundRect">
            <a:avLst/>
          </a:prstGeom>
          <a:solidFill>
            <a:srgbClr val="060A12"/>
          </a:solidFill>
          <a:ln w="15875">
            <a:solidFill>
              <a:srgbClr val="1F2C4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6EDBB29A-C2DA-F08E-AFA7-4424EDB822BC}"/>
              </a:ext>
            </a:extLst>
          </p:cNvPr>
          <p:cNvSpPr/>
          <p:nvPr/>
        </p:nvSpPr>
        <p:spPr>
          <a:xfrm>
            <a:off x="5257800" y="1739900"/>
            <a:ext cx="88900" cy="1879600"/>
          </a:xfrm>
          <a:prstGeom prst="rect">
            <a:avLst/>
          </a:prstGeom>
          <a:solidFill>
            <a:srgbClr val="379D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3FC32171-5A9C-AE7E-84C7-AB0223166E85}"/>
              </a:ext>
            </a:extLst>
          </p:cNvPr>
          <p:cNvSpPr txBox="1"/>
          <p:nvPr/>
        </p:nvSpPr>
        <p:spPr>
          <a:xfrm>
            <a:off x="5486400" y="1892300"/>
            <a:ext cx="5638800" cy="276999"/>
          </a:xfrm>
          <a:prstGeom prst="rect">
            <a:avLst/>
          </a:prstGeom>
          <a:noFill/>
        </p:spPr>
        <p:txBody>
          <a:bodyPr vert="horz" wrap="square" lIns="0" tIns="0" rIns="0" bIns="0" rtlCol="0" anchor="t">
            <a:noAutofit/>
          </a:bodyPr>
          <a:lstStyle/>
          <a:p>
            <a:r>
              <a:rPr lang="en-US" sz="1400">
                <a:solidFill>
                  <a:srgbClr val="F2F5F9"/>
                </a:solidFill>
                <a:latin typeface="Consolas" panose="020B0609020204030204" pitchFamily="49" charset="0"/>
              </a:rPr>
              <a:t>@Override</a:t>
            </a:r>
          </a:p>
          <a:p>
            <a:r>
              <a:rPr lang="en-US" sz="1400">
                <a:solidFill>
                  <a:srgbClr val="F2F5F9"/>
                </a:solidFill>
                <a:latin typeface="Consolas" panose="020B0609020204030204" pitchFamily="49" charset="0"/>
              </a:rPr>
              <a:t>public void robotInit() {</a:t>
            </a:r>
          </a:p>
          <a:p>
            <a:r>
              <a:rPr lang="en-US" sz="1400">
                <a:solidFill>
                  <a:srgbClr val="F2F5F9"/>
                </a:solidFill>
                <a:latin typeface="Consolas" panose="020B0609020204030204" pitchFamily="49" charset="0"/>
              </a:rPr>
              <a:t>  robotContainer = new RobotContainer();</a:t>
            </a:r>
          </a:p>
          <a:p>
            <a:r>
              <a:rPr lang="en-US" sz="1400">
                <a:solidFill>
                  <a:srgbClr val="F2F5F9"/>
                </a:solidFill>
                <a:latin typeface="Consolas" panose="020B0609020204030204" pitchFamily="49" charset="0"/>
              </a:rPr>
              <a:t>  autonomousMode = new AutonomousMode(robotContainer);</a:t>
            </a:r>
          </a:p>
          <a:p>
            <a:r>
              <a:rPr lang="en-US" sz="1400">
                <a:solidFill>
                  <a:srgbClr val="F2F5F9"/>
                </a:solidFill>
                <a:latin typeface="Consolas" panose="020B0609020204030204" pitchFamily="49" charset="0"/>
              </a:rPr>
              <a:t>}</a:t>
            </a:r>
          </a:p>
        </p:txBody>
      </p:sp>
      <p:sp>
        <p:nvSpPr>
          <p:cNvPr id="13" name="TextBox 12">
            <a:extLst>
              <a:ext uri="{FF2B5EF4-FFF2-40B4-BE49-F238E27FC236}">
                <a16:creationId xmlns:a16="http://schemas.microsoft.com/office/drawing/2014/main" id="{CB3C4C49-54F8-26FE-9F01-E3EBA8CB5218}"/>
              </a:ext>
            </a:extLst>
          </p:cNvPr>
          <p:cNvSpPr txBox="1"/>
          <p:nvPr/>
        </p:nvSpPr>
        <p:spPr>
          <a:xfrm>
            <a:off x="5486400" y="4064000"/>
            <a:ext cx="1168400" cy="276999"/>
          </a:xfrm>
          <a:prstGeom prst="rect">
            <a:avLst/>
          </a:prstGeom>
          <a:noFill/>
        </p:spPr>
        <p:txBody>
          <a:bodyPr vert="horz" wrap="square" lIns="0" tIns="0" rIns="0" bIns="0" rtlCol="0" anchor="t">
            <a:noAutofit/>
          </a:bodyPr>
          <a:lstStyle/>
          <a:p>
            <a:r>
              <a:rPr lang="en-US" sz="1700" b="1">
                <a:solidFill>
                  <a:srgbClr val="379DFF"/>
                </a:solidFill>
                <a:latin typeface="Aptos" panose="020B0004020202020204" pitchFamily="34" charset="0"/>
              </a:rPr>
              <a:t>Robot</a:t>
            </a:r>
          </a:p>
        </p:txBody>
      </p:sp>
      <p:sp>
        <p:nvSpPr>
          <p:cNvPr id="14" name="TextBox 13">
            <a:extLst>
              <a:ext uri="{FF2B5EF4-FFF2-40B4-BE49-F238E27FC236}">
                <a16:creationId xmlns:a16="http://schemas.microsoft.com/office/drawing/2014/main" id="{4F31F3D5-D70D-AB41-6E00-5618A5E3E6BA}"/>
              </a:ext>
            </a:extLst>
          </p:cNvPr>
          <p:cNvSpPr txBox="1"/>
          <p:nvPr/>
        </p:nvSpPr>
        <p:spPr>
          <a:xfrm>
            <a:off x="6756400" y="4064000"/>
            <a:ext cx="3619500" cy="276999"/>
          </a:xfrm>
          <a:prstGeom prst="rect">
            <a:avLst/>
          </a:prstGeom>
          <a:noFill/>
        </p:spPr>
        <p:txBody>
          <a:bodyPr vert="horz" wrap="square" lIns="0" tIns="0" rIns="0" bIns="0" rtlCol="0" anchor="t">
            <a:noAutofit/>
          </a:bodyPr>
          <a:lstStyle/>
          <a:p>
            <a:r>
              <a:rPr lang="en-US" sz="1600">
                <a:solidFill>
                  <a:srgbClr val="F2F5F9"/>
                </a:solidFill>
                <a:latin typeface="Aptos" panose="020B0004020202020204" pitchFamily="34" charset="0"/>
              </a:rPr>
              <a:t>lifecycle + scheduler</a:t>
            </a:r>
          </a:p>
        </p:txBody>
      </p:sp>
      <p:sp>
        <p:nvSpPr>
          <p:cNvPr id="15" name="TextBox 14">
            <a:extLst>
              <a:ext uri="{FF2B5EF4-FFF2-40B4-BE49-F238E27FC236}">
                <a16:creationId xmlns:a16="http://schemas.microsoft.com/office/drawing/2014/main" id="{5A1B479C-FBDA-0BD1-41F2-7A44B37F0179}"/>
              </a:ext>
            </a:extLst>
          </p:cNvPr>
          <p:cNvSpPr txBox="1"/>
          <p:nvPr/>
        </p:nvSpPr>
        <p:spPr>
          <a:xfrm>
            <a:off x="5486400" y="4559300"/>
            <a:ext cx="1524000" cy="276999"/>
          </a:xfrm>
          <a:prstGeom prst="rect">
            <a:avLst/>
          </a:prstGeom>
          <a:noFill/>
        </p:spPr>
        <p:txBody>
          <a:bodyPr vert="horz" wrap="square" lIns="0" tIns="0" rIns="0" bIns="0" rtlCol="0" anchor="t">
            <a:noAutofit/>
          </a:bodyPr>
          <a:lstStyle/>
          <a:p>
            <a:r>
              <a:rPr lang="en-US" sz="1700" b="1">
                <a:solidFill>
                  <a:srgbClr val="FFA443"/>
                </a:solidFill>
                <a:latin typeface="Aptos" panose="020B0004020202020204" pitchFamily="34" charset="0"/>
              </a:rPr>
              <a:t>RobotContainer</a:t>
            </a:r>
          </a:p>
        </p:txBody>
      </p:sp>
      <p:sp>
        <p:nvSpPr>
          <p:cNvPr id="16" name="TextBox 15">
            <a:extLst>
              <a:ext uri="{FF2B5EF4-FFF2-40B4-BE49-F238E27FC236}">
                <a16:creationId xmlns:a16="http://schemas.microsoft.com/office/drawing/2014/main" id="{C7CD7BD8-548C-699D-7514-06DF7ACA99DE}"/>
              </a:ext>
            </a:extLst>
          </p:cNvPr>
          <p:cNvSpPr txBox="1"/>
          <p:nvPr/>
        </p:nvSpPr>
        <p:spPr>
          <a:xfrm>
            <a:off x="7175500" y="4559300"/>
            <a:ext cx="3619500" cy="276999"/>
          </a:xfrm>
          <a:prstGeom prst="rect">
            <a:avLst/>
          </a:prstGeom>
          <a:noFill/>
        </p:spPr>
        <p:txBody>
          <a:bodyPr vert="horz" wrap="square" lIns="0" tIns="0" rIns="0" bIns="0" rtlCol="0" anchor="t">
            <a:noAutofit/>
          </a:bodyPr>
          <a:lstStyle/>
          <a:p>
            <a:r>
              <a:rPr lang="en-US" sz="1600">
                <a:solidFill>
                  <a:srgbClr val="F2F5F9"/>
                </a:solidFill>
                <a:latin typeface="Aptos" panose="020B0004020202020204" pitchFamily="34" charset="0"/>
              </a:rPr>
              <a:t>objects + bindings</a:t>
            </a:r>
          </a:p>
        </p:txBody>
      </p:sp>
      <p:sp>
        <p:nvSpPr>
          <p:cNvPr id="17" name="TextBox 16">
            <a:extLst>
              <a:ext uri="{FF2B5EF4-FFF2-40B4-BE49-F238E27FC236}">
                <a16:creationId xmlns:a16="http://schemas.microsoft.com/office/drawing/2014/main" id="{2E7A3D8B-F085-B8F1-3DDA-16990CD5F1A5}"/>
              </a:ext>
            </a:extLst>
          </p:cNvPr>
          <p:cNvSpPr txBox="1"/>
          <p:nvPr/>
        </p:nvSpPr>
        <p:spPr>
          <a:xfrm>
            <a:off x="5486400" y="5054600"/>
            <a:ext cx="1168400" cy="276999"/>
          </a:xfrm>
          <a:prstGeom prst="rect">
            <a:avLst/>
          </a:prstGeom>
          <a:noFill/>
        </p:spPr>
        <p:txBody>
          <a:bodyPr vert="horz" wrap="square" lIns="0" tIns="0" rIns="0" bIns="0" rtlCol="0" anchor="t">
            <a:noAutofit/>
          </a:bodyPr>
          <a:lstStyle/>
          <a:p>
            <a:r>
              <a:rPr lang="en-US" sz="1700" b="1">
                <a:solidFill>
                  <a:srgbClr val="3ECF8E"/>
                </a:solidFill>
                <a:latin typeface="Aptos" panose="020B0004020202020204" pitchFamily="34" charset="0"/>
              </a:rPr>
              <a:t>folders</a:t>
            </a:r>
          </a:p>
        </p:txBody>
      </p:sp>
      <p:sp>
        <p:nvSpPr>
          <p:cNvPr id="18" name="TextBox 17">
            <a:extLst>
              <a:ext uri="{FF2B5EF4-FFF2-40B4-BE49-F238E27FC236}">
                <a16:creationId xmlns:a16="http://schemas.microsoft.com/office/drawing/2014/main" id="{9DD95141-DC02-9218-418A-AB8D0DA37BB8}"/>
              </a:ext>
            </a:extLst>
          </p:cNvPr>
          <p:cNvSpPr txBox="1"/>
          <p:nvPr/>
        </p:nvSpPr>
        <p:spPr>
          <a:xfrm>
            <a:off x="6756400" y="5054600"/>
            <a:ext cx="3619500" cy="276999"/>
          </a:xfrm>
          <a:prstGeom prst="rect">
            <a:avLst/>
          </a:prstGeom>
          <a:noFill/>
        </p:spPr>
        <p:txBody>
          <a:bodyPr vert="horz" wrap="square" lIns="0" tIns="0" rIns="0" bIns="0" rtlCol="0" anchor="t">
            <a:noAutofit/>
          </a:bodyPr>
          <a:lstStyle/>
          <a:p>
            <a:r>
              <a:rPr lang="en-US" sz="1600">
                <a:solidFill>
                  <a:srgbClr val="F2F5F9"/>
                </a:solidFill>
                <a:latin typeface="Aptos" panose="020B0004020202020204" pitchFamily="34" charset="0"/>
              </a:rPr>
              <a:t>actions vs hardware</a:t>
            </a:r>
          </a:p>
        </p:txBody>
      </p:sp>
      <p:sp>
        <p:nvSpPr>
          <p:cNvPr id="19" name="Rectangle: Rounded Corners 18">
            <a:extLst>
              <a:ext uri="{FF2B5EF4-FFF2-40B4-BE49-F238E27FC236}">
                <a16:creationId xmlns:a16="http://schemas.microsoft.com/office/drawing/2014/main" id="{AA533DF3-291C-8B9A-C62B-D634D97E417B}"/>
              </a:ext>
            </a:extLst>
          </p:cNvPr>
          <p:cNvSpPr/>
          <p:nvPr/>
        </p:nvSpPr>
        <p:spPr>
          <a:xfrm>
            <a:off x="533400" y="6261100"/>
            <a:ext cx="11125200" cy="533400"/>
          </a:xfrm>
          <a:prstGeom prst="roundRect">
            <a:avLst/>
          </a:prstGeom>
          <a:solidFill>
            <a:srgbClr val="18223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Rounded Corners 19">
            <a:extLst>
              <a:ext uri="{FF2B5EF4-FFF2-40B4-BE49-F238E27FC236}">
                <a16:creationId xmlns:a16="http://schemas.microsoft.com/office/drawing/2014/main" id="{864E54FE-2E40-A516-732F-7EC33595C3D1}"/>
              </a:ext>
            </a:extLst>
          </p:cNvPr>
          <p:cNvSpPr/>
          <p:nvPr/>
        </p:nvSpPr>
        <p:spPr>
          <a:xfrm>
            <a:off x="660400" y="6362700"/>
            <a:ext cx="1473200" cy="330200"/>
          </a:xfrm>
          <a:prstGeom prst="roundRect">
            <a:avLst/>
          </a:prstGeom>
          <a:solidFill>
            <a:srgbClr val="35CBB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9332AFEF-A930-ED61-E388-676EDCE13499}"/>
              </a:ext>
            </a:extLst>
          </p:cNvPr>
          <p:cNvSpPr txBox="1"/>
          <p:nvPr/>
        </p:nvSpPr>
        <p:spPr>
          <a:xfrm>
            <a:off x="736600" y="6400800"/>
            <a:ext cx="1320800" cy="276999"/>
          </a:xfrm>
          <a:prstGeom prst="rect">
            <a:avLst/>
          </a:prstGeom>
          <a:noFill/>
        </p:spPr>
        <p:txBody>
          <a:bodyPr vert="horz" wrap="square" lIns="0" tIns="0" rIns="0" bIns="0" rtlCol="0">
            <a:noAutofit/>
          </a:bodyPr>
          <a:lstStyle/>
          <a:p>
            <a:pPr algn="ctr"/>
            <a:r>
              <a:rPr lang="en-US" sz="1050" b="1">
                <a:solidFill>
                  <a:srgbClr val="060A12"/>
                </a:solidFill>
                <a:latin typeface="Aptos" panose="020B0004020202020204" pitchFamily="34" charset="0"/>
              </a:rPr>
              <a:t>FIND IT</a:t>
            </a:r>
          </a:p>
        </p:txBody>
      </p:sp>
      <p:sp>
        <p:nvSpPr>
          <p:cNvPr id="22" name="TextBox 21">
            <a:extLst>
              <a:ext uri="{FF2B5EF4-FFF2-40B4-BE49-F238E27FC236}">
                <a16:creationId xmlns:a16="http://schemas.microsoft.com/office/drawing/2014/main" id="{60269E59-DF56-A69C-177A-6A8532B41693}"/>
              </a:ext>
            </a:extLst>
          </p:cNvPr>
          <p:cNvSpPr txBox="1"/>
          <p:nvPr/>
        </p:nvSpPr>
        <p:spPr>
          <a:xfrm>
            <a:off x="2286000" y="6362700"/>
            <a:ext cx="9207500" cy="276999"/>
          </a:xfrm>
          <a:prstGeom prst="rect">
            <a:avLst/>
          </a:prstGeom>
          <a:noFill/>
        </p:spPr>
        <p:txBody>
          <a:bodyPr vert="horz" wrap="square" lIns="0" tIns="0" rIns="0" bIns="0" rtlCol="0" anchor="t">
            <a:noAutofit/>
          </a:bodyPr>
          <a:lstStyle/>
          <a:p>
            <a:r>
              <a:rPr lang="en-US" sz="1300">
                <a:solidFill>
                  <a:srgbClr val="F2F5F9"/>
                </a:solidFill>
                <a:latin typeface="Aptos" panose="020B0004020202020204" pitchFamily="34" charset="0"/>
              </a:rPr>
              <a:t>Open RobotContainer.java and locate subsystem construction.</a:t>
            </a:r>
          </a:p>
        </p:txBody>
      </p:sp>
      <p:sp>
        <p:nvSpPr>
          <p:cNvPr id="23" name="TextBox 22">
            <a:extLst>
              <a:ext uri="{FF2B5EF4-FFF2-40B4-BE49-F238E27FC236}">
                <a16:creationId xmlns:a16="http://schemas.microsoft.com/office/drawing/2014/main" id="{2A4A8FCC-560E-F2D5-8444-E03003D58DA3}"/>
              </a:ext>
            </a:extLst>
          </p:cNvPr>
          <p:cNvSpPr txBox="1"/>
          <p:nvPr/>
        </p:nvSpPr>
        <p:spPr>
          <a:xfrm>
            <a:off x="533400" y="6908800"/>
            <a:ext cx="8890000" cy="276999"/>
          </a:xfrm>
          <a:prstGeom prst="rect">
            <a:avLst/>
          </a:prstGeom>
          <a:noFill/>
        </p:spPr>
        <p:txBody>
          <a:bodyPr vert="horz" wrap="square" lIns="0" tIns="0" rIns="0" bIns="0" rtlCol="0" anchor="t">
            <a:noAutofit/>
          </a:bodyPr>
          <a:lstStyle/>
          <a:p>
            <a:r>
              <a:rPr lang="en-US" sz="850">
                <a:solidFill>
                  <a:srgbClr val="A9B4C5"/>
                </a:solidFill>
                <a:latin typeface="Aptos" panose="020B0004020202020204" pitchFamily="34" charset="0"/>
              </a:rPr>
              <a:t>Source: Robot.java</a:t>
            </a:r>
          </a:p>
        </p:txBody>
      </p:sp>
      <p:sp>
        <p:nvSpPr>
          <p:cNvPr id="24" name="TextBox 23">
            <a:extLst>
              <a:ext uri="{FF2B5EF4-FFF2-40B4-BE49-F238E27FC236}">
                <a16:creationId xmlns:a16="http://schemas.microsoft.com/office/drawing/2014/main" id="{368B6F73-7705-908F-C1B8-1B485D29FB5F}"/>
              </a:ext>
            </a:extLst>
          </p:cNvPr>
          <p:cNvSpPr txBox="1"/>
          <p:nvPr/>
        </p:nvSpPr>
        <p:spPr>
          <a:xfrm>
            <a:off x="9017000" y="6908800"/>
            <a:ext cx="2641600" cy="276999"/>
          </a:xfrm>
          <a:prstGeom prst="rect">
            <a:avLst/>
          </a:prstGeom>
          <a:noFill/>
        </p:spPr>
        <p:txBody>
          <a:bodyPr vert="horz" wrap="square" lIns="0" tIns="0" rIns="0" bIns="0" rtlCol="0" anchor="t">
            <a:noAutofit/>
          </a:bodyPr>
          <a:lstStyle/>
          <a:p>
            <a:pPr algn="r"/>
            <a:r>
              <a:rPr lang="en-US" sz="850">
                <a:solidFill>
                  <a:srgbClr val="A9B4C5"/>
                </a:solidFill>
                <a:latin typeface="Aptos" panose="020B0004020202020204" pitchFamily="34" charset="0"/>
              </a:rPr>
              <a:t>CURRENT ROBOT IMPLEMENTATION • V2</a:t>
            </a:r>
          </a:p>
        </p:txBody>
      </p:sp>
    </p:spTree>
    <p:extLst>
      <p:ext uri="{BB962C8B-B14F-4D97-AF65-F5344CB8AC3E}">
        <p14:creationId xmlns:p14="http://schemas.microsoft.com/office/powerpoint/2010/main" val="17367238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D1421"/>
        </a:solidFill>
        <a:effectLst/>
      </p:bgPr>
    </p:bg>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A9E66871-FAA8-C42F-DB30-6330BDF2E915}"/>
              </a:ext>
            </a:extLst>
          </p:cNvPr>
          <p:cNvSpPr/>
          <p:nvPr/>
        </p:nvSpPr>
        <p:spPr>
          <a:xfrm>
            <a:off x="533400" y="292100"/>
            <a:ext cx="1473200" cy="330200"/>
          </a:xfrm>
          <a:prstGeom prst="roundRect">
            <a:avLst/>
          </a:prstGeom>
          <a:solidFill>
            <a:srgbClr val="35CBB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079147CC-596E-04DE-7E6A-E0FA43963D5C}"/>
              </a:ext>
            </a:extLst>
          </p:cNvPr>
          <p:cNvSpPr txBox="1"/>
          <p:nvPr/>
        </p:nvSpPr>
        <p:spPr>
          <a:xfrm>
            <a:off x="609600" y="330200"/>
            <a:ext cx="1320800" cy="276999"/>
          </a:xfrm>
          <a:prstGeom prst="rect">
            <a:avLst/>
          </a:prstGeom>
          <a:noFill/>
        </p:spPr>
        <p:txBody>
          <a:bodyPr vert="horz" wrap="square" lIns="0" tIns="0" rIns="0" bIns="0" rtlCol="0">
            <a:noAutofit/>
          </a:bodyPr>
          <a:lstStyle/>
          <a:p>
            <a:pPr algn="ctr"/>
            <a:r>
              <a:rPr lang="en-US" sz="1050" b="1">
                <a:solidFill>
                  <a:srgbClr val="060A12"/>
                </a:solidFill>
                <a:latin typeface="Aptos" panose="020B0004020202020204" pitchFamily="34" charset="0"/>
              </a:rPr>
              <a:t>BEGINNER TRACK</a:t>
            </a:r>
          </a:p>
        </p:txBody>
      </p:sp>
      <p:sp>
        <p:nvSpPr>
          <p:cNvPr id="4" name="TextBox 3">
            <a:extLst>
              <a:ext uri="{FF2B5EF4-FFF2-40B4-BE49-F238E27FC236}">
                <a16:creationId xmlns:a16="http://schemas.microsoft.com/office/drawing/2014/main" id="{6B19F79A-AE9B-8A71-5580-72A3D0EAAE46}"/>
              </a:ext>
            </a:extLst>
          </p:cNvPr>
          <p:cNvSpPr txBox="1"/>
          <p:nvPr/>
        </p:nvSpPr>
        <p:spPr>
          <a:xfrm>
            <a:off x="533400" y="762000"/>
            <a:ext cx="10414000" cy="276999"/>
          </a:xfrm>
          <a:prstGeom prst="rect">
            <a:avLst/>
          </a:prstGeom>
          <a:noFill/>
        </p:spPr>
        <p:txBody>
          <a:bodyPr vert="horz" wrap="square" lIns="0" tIns="0" rIns="0" bIns="0" rtlCol="0" anchor="t">
            <a:noAutofit/>
          </a:bodyPr>
          <a:lstStyle/>
          <a:p>
            <a:r>
              <a:rPr lang="en-US" sz="2800" b="1">
                <a:solidFill>
                  <a:srgbClr val="F2F5F9"/>
                </a:solidFill>
                <a:latin typeface="Aptos Display" panose="020B0004020202020204" pitchFamily="34" charset="0"/>
              </a:rPr>
              <a:t>Constants make sense when hardware needs one</a:t>
            </a:r>
          </a:p>
        </p:txBody>
      </p:sp>
      <p:sp>
        <p:nvSpPr>
          <p:cNvPr id="5" name="TextBox 4">
            <a:extLst>
              <a:ext uri="{FF2B5EF4-FFF2-40B4-BE49-F238E27FC236}">
                <a16:creationId xmlns:a16="http://schemas.microsoft.com/office/drawing/2014/main" id="{08A45194-C20D-DB30-AC19-E84381EBD03A}"/>
              </a:ext>
            </a:extLst>
          </p:cNvPr>
          <p:cNvSpPr txBox="1"/>
          <p:nvPr/>
        </p:nvSpPr>
        <p:spPr>
          <a:xfrm>
            <a:off x="11226800" y="355600"/>
            <a:ext cx="381000" cy="276999"/>
          </a:xfrm>
          <a:prstGeom prst="rect">
            <a:avLst/>
          </a:prstGeom>
          <a:noFill/>
        </p:spPr>
        <p:txBody>
          <a:bodyPr vert="horz" wrap="square" lIns="0" tIns="0" rIns="0" bIns="0" rtlCol="0" anchor="t">
            <a:noAutofit/>
          </a:bodyPr>
          <a:lstStyle/>
          <a:p>
            <a:pPr algn="r"/>
            <a:r>
              <a:rPr lang="en-US" sz="1000" b="1">
                <a:solidFill>
                  <a:srgbClr val="A9B4C5"/>
                </a:solidFill>
                <a:latin typeface="Aptos" panose="020B0004020202020204" pitchFamily="34" charset="0"/>
              </a:rPr>
              <a:t>17</a:t>
            </a:r>
          </a:p>
        </p:txBody>
      </p:sp>
      <p:cxnSp>
        <p:nvCxnSpPr>
          <p:cNvPr id="6" name="Straight Connector 5">
            <a:extLst>
              <a:ext uri="{FF2B5EF4-FFF2-40B4-BE49-F238E27FC236}">
                <a16:creationId xmlns:a16="http://schemas.microsoft.com/office/drawing/2014/main" id="{1594FECA-8BCF-FF47-E02B-0FCA3D0F5DF7}"/>
              </a:ext>
            </a:extLst>
          </p:cNvPr>
          <p:cNvCxnSpPr/>
          <p:nvPr/>
        </p:nvCxnSpPr>
        <p:spPr>
          <a:xfrm>
            <a:off x="533400" y="1371600"/>
            <a:ext cx="11125200" cy="0"/>
          </a:xfrm>
          <a:prstGeom prst="line">
            <a:avLst/>
          </a:prstGeom>
          <a:ln w="12700">
            <a:solidFill>
              <a:srgbClr val="1F2C41"/>
            </a:solidFill>
          </a:ln>
        </p:spPr>
        <p:style>
          <a:lnRef idx="1">
            <a:schemeClr val="accent1"/>
          </a:lnRef>
          <a:fillRef idx="0">
            <a:schemeClr val="accent1"/>
          </a:fillRef>
          <a:effectRef idx="0">
            <a:schemeClr val="accent1"/>
          </a:effectRef>
          <a:fontRef idx="minor">
            <a:schemeClr val="tx1"/>
          </a:fontRef>
        </p:style>
      </p:cxnSp>
      <p:sp>
        <p:nvSpPr>
          <p:cNvPr id="7" name="Rectangle: Rounded Corners 6">
            <a:extLst>
              <a:ext uri="{FF2B5EF4-FFF2-40B4-BE49-F238E27FC236}">
                <a16:creationId xmlns:a16="http://schemas.microsoft.com/office/drawing/2014/main" id="{A1001F9C-D59D-AB14-FBE6-7127C4376B6F}"/>
              </a:ext>
            </a:extLst>
          </p:cNvPr>
          <p:cNvSpPr/>
          <p:nvPr/>
        </p:nvSpPr>
        <p:spPr>
          <a:xfrm>
            <a:off x="952500" y="1739900"/>
            <a:ext cx="10287000" cy="736600"/>
          </a:xfrm>
          <a:prstGeom prst="roundRect">
            <a:avLst/>
          </a:prstGeom>
          <a:solidFill>
            <a:srgbClr val="060A12"/>
          </a:solidFill>
          <a:ln w="15875">
            <a:solidFill>
              <a:srgbClr val="1F2C4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BF01A668-BBEC-5354-1CFD-B8F9AFBC8732}"/>
              </a:ext>
            </a:extLst>
          </p:cNvPr>
          <p:cNvSpPr/>
          <p:nvPr/>
        </p:nvSpPr>
        <p:spPr>
          <a:xfrm>
            <a:off x="952500" y="1739900"/>
            <a:ext cx="88900" cy="736600"/>
          </a:xfrm>
          <a:prstGeom prst="rect">
            <a:avLst/>
          </a:prstGeom>
          <a:solidFill>
            <a:srgbClr val="FF646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7988B0B1-8899-5938-8050-598B83F785A7}"/>
              </a:ext>
            </a:extLst>
          </p:cNvPr>
          <p:cNvSpPr txBox="1"/>
          <p:nvPr/>
        </p:nvSpPr>
        <p:spPr>
          <a:xfrm>
            <a:off x="1181100" y="1892300"/>
            <a:ext cx="9906000" cy="276999"/>
          </a:xfrm>
          <a:prstGeom prst="rect">
            <a:avLst/>
          </a:prstGeom>
          <a:noFill/>
        </p:spPr>
        <p:txBody>
          <a:bodyPr vert="horz" wrap="square" lIns="0" tIns="0" rIns="0" bIns="0" rtlCol="0" anchor="t">
            <a:noAutofit/>
          </a:bodyPr>
          <a:lstStyle/>
          <a:p>
            <a:r>
              <a:rPr lang="en-US" sz="1700">
                <a:solidFill>
                  <a:srgbClr val="F2F5F9"/>
                </a:solidFill>
                <a:latin typeface="Consolas" panose="020B0609020204030204" pitchFamily="49" charset="0"/>
              </a:rPr>
              <a:t>public static final int PWM_FRONT_LEFT_DRIVE = 0;</a:t>
            </a:r>
          </a:p>
        </p:txBody>
      </p:sp>
      <p:sp>
        <p:nvSpPr>
          <p:cNvPr id="10" name="Rectangle: Rounded Corners 9">
            <a:extLst>
              <a:ext uri="{FF2B5EF4-FFF2-40B4-BE49-F238E27FC236}">
                <a16:creationId xmlns:a16="http://schemas.microsoft.com/office/drawing/2014/main" id="{F2742714-D17F-83D9-ACBD-B979C6E622D8}"/>
              </a:ext>
            </a:extLst>
          </p:cNvPr>
          <p:cNvSpPr/>
          <p:nvPr/>
        </p:nvSpPr>
        <p:spPr>
          <a:xfrm>
            <a:off x="952500" y="2768600"/>
            <a:ext cx="10287000" cy="736600"/>
          </a:xfrm>
          <a:prstGeom prst="roundRect">
            <a:avLst/>
          </a:prstGeom>
          <a:solidFill>
            <a:srgbClr val="060A12"/>
          </a:solidFill>
          <a:ln w="15875">
            <a:solidFill>
              <a:srgbClr val="1F2C4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431BA403-8E90-47AE-F3EE-261F4B371D39}"/>
              </a:ext>
            </a:extLst>
          </p:cNvPr>
          <p:cNvSpPr/>
          <p:nvPr/>
        </p:nvSpPr>
        <p:spPr>
          <a:xfrm>
            <a:off x="952500" y="2768600"/>
            <a:ext cx="88900" cy="736600"/>
          </a:xfrm>
          <a:prstGeom prst="rect">
            <a:avLst/>
          </a:prstGeom>
          <a:solidFill>
            <a:srgbClr val="3ECF8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17A278EA-7897-EF4C-A417-30CA85E825D6}"/>
              </a:ext>
            </a:extLst>
          </p:cNvPr>
          <p:cNvSpPr txBox="1"/>
          <p:nvPr/>
        </p:nvSpPr>
        <p:spPr>
          <a:xfrm>
            <a:off x="1181100" y="2921000"/>
            <a:ext cx="9906000" cy="276999"/>
          </a:xfrm>
          <a:prstGeom prst="rect">
            <a:avLst/>
          </a:prstGeom>
          <a:noFill/>
        </p:spPr>
        <p:txBody>
          <a:bodyPr vert="horz" wrap="square" lIns="0" tIns="0" rIns="0" bIns="0" rtlCol="0" anchor="t">
            <a:noAutofit/>
          </a:bodyPr>
          <a:lstStyle/>
          <a:p>
            <a:r>
              <a:rPr lang="en-US" sz="1600">
                <a:solidFill>
                  <a:srgbClr val="F2F5F9"/>
                </a:solidFill>
                <a:latin typeface="Consolas" panose="020B0609020204030204" pitchFamily="49" charset="0"/>
              </a:rPr>
              <a:t>leftDriveLeader = new Talon(Constants.Hardware.PWM_FRONT_LEFT_DRIVE);</a:t>
            </a:r>
          </a:p>
        </p:txBody>
      </p:sp>
      <p:sp>
        <p:nvSpPr>
          <p:cNvPr id="13" name="Rectangle: Rounded Corners 12">
            <a:extLst>
              <a:ext uri="{FF2B5EF4-FFF2-40B4-BE49-F238E27FC236}">
                <a16:creationId xmlns:a16="http://schemas.microsoft.com/office/drawing/2014/main" id="{5538D1F7-524D-B1E0-D2FF-0AD82BDDD650}"/>
              </a:ext>
            </a:extLst>
          </p:cNvPr>
          <p:cNvSpPr/>
          <p:nvPr/>
        </p:nvSpPr>
        <p:spPr>
          <a:xfrm>
            <a:off x="952500" y="4064000"/>
            <a:ext cx="3175000" cy="1041400"/>
          </a:xfrm>
          <a:prstGeom prst="roundRect">
            <a:avLst/>
          </a:prstGeom>
          <a:solidFill>
            <a:srgbClr val="182234"/>
          </a:solidFill>
          <a:ln w="15875">
            <a:solidFill>
              <a:srgbClr val="FF64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4DCC9243-D927-32A4-E400-9B9FABAB077F}"/>
              </a:ext>
            </a:extLst>
          </p:cNvPr>
          <p:cNvSpPr txBox="1"/>
          <p:nvPr/>
        </p:nvSpPr>
        <p:spPr>
          <a:xfrm>
            <a:off x="1079500" y="4203700"/>
            <a:ext cx="2921000" cy="276999"/>
          </a:xfrm>
          <a:prstGeom prst="rect">
            <a:avLst/>
          </a:prstGeom>
          <a:noFill/>
        </p:spPr>
        <p:txBody>
          <a:bodyPr vert="horz" wrap="square" lIns="0" tIns="0" rIns="0" bIns="0" rtlCol="0" anchor="t">
            <a:noAutofit/>
          </a:bodyPr>
          <a:lstStyle/>
          <a:p>
            <a:pPr algn="ctr"/>
            <a:r>
              <a:rPr lang="en-US" sz="1300" b="1">
                <a:solidFill>
                  <a:srgbClr val="FF6464"/>
                </a:solidFill>
                <a:latin typeface="Aptos" panose="020B0004020202020204" pitchFamily="34" charset="0"/>
              </a:rPr>
              <a:t>HARDWARE</a:t>
            </a:r>
          </a:p>
        </p:txBody>
      </p:sp>
      <p:sp>
        <p:nvSpPr>
          <p:cNvPr id="15" name="TextBox 14">
            <a:extLst>
              <a:ext uri="{FF2B5EF4-FFF2-40B4-BE49-F238E27FC236}">
                <a16:creationId xmlns:a16="http://schemas.microsoft.com/office/drawing/2014/main" id="{D62E235E-D312-6BC2-604B-AD98808FC431}"/>
              </a:ext>
            </a:extLst>
          </p:cNvPr>
          <p:cNvSpPr txBox="1"/>
          <p:nvPr/>
        </p:nvSpPr>
        <p:spPr>
          <a:xfrm>
            <a:off x="1079500" y="4597400"/>
            <a:ext cx="2921000" cy="276999"/>
          </a:xfrm>
          <a:prstGeom prst="rect">
            <a:avLst/>
          </a:prstGeom>
          <a:noFill/>
        </p:spPr>
        <p:txBody>
          <a:bodyPr vert="horz" wrap="square" lIns="0" tIns="0" rIns="0" bIns="0" rtlCol="0" anchor="t">
            <a:noAutofit/>
          </a:bodyPr>
          <a:lstStyle/>
          <a:p>
            <a:pPr algn="ctr"/>
            <a:r>
              <a:rPr lang="en-US" sz="1200">
                <a:solidFill>
                  <a:srgbClr val="F2F5F9"/>
                </a:solidFill>
                <a:latin typeface="Consolas" panose="020B0609020204030204" pitchFamily="49" charset="0"/>
              </a:rPr>
              <a:t>PWM_FRONT_LEFT_DRIVE = 0</a:t>
            </a:r>
          </a:p>
        </p:txBody>
      </p:sp>
      <p:sp>
        <p:nvSpPr>
          <p:cNvPr id="16" name="Rectangle: Rounded Corners 15">
            <a:extLst>
              <a:ext uri="{FF2B5EF4-FFF2-40B4-BE49-F238E27FC236}">
                <a16:creationId xmlns:a16="http://schemas.microsoft.com/office/drawing/2014/main" id="{A569AB03-C9F8-07FF-1FF2-4C4CD69CCA52}"/>
              </a:ext>
            </a:extLst>
          </p:cNvPr>
          <p:cNvSpPr/>
          <p:nvPr/>
        </p:nvSpPr>
        <p:spPr>
          <a:xfrm>
            <a:off x="4508500" y="4064000"/>
            <a:ext cx="3175000" cy="1041400"/>
          </a:xfrm>
          <a:prstGeom prst="roundRect">
            <a:avLst/>
          </a:prstGeom>
          <a:solidFill>
            <a:srgbClr val="182234"/>
          </a:solidFill>
          <a:ln w="15875">
            <a:solidFill>
              <a:srgbClr val="379D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477EDE9F-4DA6-A5E9-3698-EB09597C4AD2}"/>
              </a:ext>
            </a:extLst>
          </p:cNvPr>
          <p:cNvSpPr txBox="1"/>
          <p:nvPr/>
        </p:nvSpPr>
        <p:spPr>
          <a:xfrm>
            <a:off x="4635500" y="4203700"/>
            <a:ext cx="2921000" cy="276999"/>
          </a:xfrm>
          <a:prstGeom prst="rect">
            <a:avLst/>
          </a:prstGeom>
          <a:noFill/>
        </p:spPr>
        <p:txBody>
          <a:bodyPr vert="horz" wrap="square" lIns="0" tIns="0" rIns="0" bIns="0" rtlCol="0" anchor="t">
            <a:noAutofit/>
          </a:bodyPr>
          <a:lstStyle/>
          <a:p>
            <a:pPr algn="ctr"/>
            <a:r>
              <a:rPr lang="en-US" sz="1300" b="1">
                <a:solidFill>
                  <a:srgbClr val="379DFF"/>
                </a:solidFill>
                <a:latin typeface="Aptos" panose="020B0004020202020204" pitchFamily="34" charset="0"/>
              </a:rPr>
              <a:t>OPERATOR</a:t>
            </a:r>
          </a:p>
        </p:txBody>
      </p:sp>
      <p:sp>
        <p:nvSpPr>
          <p:cNvPr id="18" name="TextBox 17">
            <a:extLst>
              <a:ext uri="{FF2B5EF4-FFF2-40B4-BE49-F238E27FC236}">
                <a16:creationId xmlns:a16="http://schemas.microsoft.com/office/drawing/2014/main" id="{BB752FC4-3458-BEF7-01BD-AAE6BCF1D5BD}"/>
              </a:ext>
            </a:extLst>
          </p:cNvPr>
          <p:cNvSpPr txBox="1"/>
          <p:nvPr/>
        </p:nvSpPr>
        <p:spPr>
          <a:xfrm>
            <a:off x="4635500" y="4597400"/>
            <a:ext cx="2921000" cy="276999"/>
          </a:xfrm>
          <a:prstGeom prst="rect">
            <a:avLst/>
          </a:prstGeom>
          <a:noFill/>
        </p:spPr>
        <p:txBody>
          <a:bodyPr vert="horz" wrap="square" lIns="0" tIns="0" rIns="0" bIns="0" rtlCol="0" anchor="t">
            <a:noAutofit/>
          </a:bodyPr>
          <a:lstStyle/>
          <a:p>
            <a:pPr algn="ctr"/>
            <a:r>
              <a:rPr lang="en-US" sz="1200">
                <a:solidFill>
                  <a:srgbClr val="F2F5F9"/>
                </a:solidFill>
                <a:latin typeface="Consolas" panose="020B0609020204030204" pitchFamily="49" charset="0"/>
              </a:rPr>
              <a:t>DRIVER_CONTROLLER = 0</a:t>
            </a:r>
          </a:p>
        </p:txBody>
      </p:sp>
      <p:sp>
        <p:nvSpPr>
          <p:cNvPr id="19" name="Rectangle: Rounded Corners 18">
            <a:extLst>
              <a:ext uri="{FF2B5EF4-FFF2-40B4-BE49-F238E27FC236}">
                <a16:creationId xmlns:a16="http://schemas.microsoft.com/office/drawing/2014/main" id="{61C0FBED-651B-CCBF-E60F-545A405AB20D}"/>
              </a:ext>
            </a:extLst>
          </p:cNvPr>
          <p:cNvSpPr/>
          <p:nvPr/>
        </p:nvSpPr>
        <p:spPr>
          <a:xfrm>
            <a:off x="8064500" y="4064000"/>
            <a:ext cx="3175000" cy="1041400"/>
          </a:xfrm>
          <a:prstGeom prst="roundRect">
            <a:avLst/>
          </a:prstGeom>
          <a:solidFill>
            <a:srgbClr val="182234"/>
          </a:solidFill>
          <a:ln w="15875">
            <a:solidFill>
              <a:srgbClr val="FFC1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EF7E3271-AF3C-E613-19E4-E8C774EED5DA}"/>
              </a:ext>
            </a:extLst>
          </p:cNvPr>
          <p:cNvSpPr txBox="1"/>
          <p:nvPr/>
        </p:nvSpPr>
        <p:spPr>
          <a:xfrm>
            <a:off x="8191500" y="4203700"/>
            <a:ext cx="2921000" cy="276999"/>
          </a:xfrm>
          <a:prstGeom prst="rect">
            <a:avLst/>
          </a:prstGeom>
          <a:noFill/>
        </p:spPr>
        <p:txBody>
          <a:bodyPr vert="horz" wrap="square" lIns="0" tIns="0" rIns="0" bIns="0" rtlCol="0" anchor="t">
            <a:noAutofit/>
          </a:bodyPr>
          <a:lstStyle/>
          <a:p>
            <a:pPr algn="ctr"/>
            <a:r>
              <a:rPr lang="en-US" sz="1300" b="1">
                <a:solidFill>
                  <a:srgbClr val="FFC149"/>
                </a:solidFill>
                <a:latin typeface="Aptos" panose="020B0004020202020204" pitchFamily="34" charset="0"/>
              </a:rPr>
              <a:t>TUNING</a:t>
            </a:r>
          </a:p>
        </p:txBody>
      </p:sp>
      <p:sp>
        <p:nvSpPr>
          <p:cNvPr id="21" name="TextBox 20">
            <a:extLst>
              <a:ext uri="{FF2B5EF4-FFF2-40B4-BE49-F238E27FC236}">
                <a16:creationId xmlns:a16="http://schemas.microsoft.com/office/drawing/2014/main" id="{78D800DF-B55C-07D3-3D79-E3F92C985C9C}"/>
              </a:ext>
            </a:extLst>
          </p:cNvPr>
          <p:cNvSpPr txBox="1"/>
          <p:nvPr/>
        </p:nvSpPr>
        <p:spPr>
          <a:xfrm>
            <a:off x="8191500" y="4597400"/>
            <a:ext cx="2921000" cy="276999"/>
          </a:xfrm>
          <a:prstGeom prst="rect">
            <a:avLst/>
          </a:prstGeom>
          <a:noFill/>
        </p:spPr>
        <p:txBody>
          <a:bodyPr vert="horz" wrap="square" lIns="0" tIns="0" rIns="0" bIns="0" rtlCol="0" anchor="t">
            <a:noAutofit/>
          </a:bodyPr>
          <a:lstStyle/>
          <a:p>
            <a:pPr algn="ctr"/>
            <a:r>
              <a:rPr lang="en-US" sz="1200">
                <a:solidFill>
                  <a:srgbClr val="F2F5F9"/>
                </a:solidFill>
                <a:latin typeface="Consolas" panose="020B0609020204030204" pitchFamily="49" charset="0"/>
              </a:rPr>
              <a:t>DRIVE_DEADBAND = 0.08</a:t>
            </a:r>
          </a:p>
        </p:txBody>
      </p:sp>
      <p:sp>
        <p:nvSpPr>
          <p:cNvPr id="22" name="Rectangle: Rounded Corners 21">
            <a:extLst>
              <a:ext uri="{FF2B5EF4-FFF2-40B4-BE49-F238E27FC236}">
                <a16:creationId xmlns:a16="http://schemas.microsoft.com/office/drawing/2014/main" id="{CCF31358-98B9-0743-03D1-CF0C3DA91A33}"/>
              </a:ext>
            </a:extLst>
          </p:cNvPr>
          <p:cNvSpPr/>
          <p:nvPr/>
        </p:nvSpPr>
        <p:spPr>
          <a:xfrm>
            <a:off x="533400" y="6261100"/>
            <a:ext cx="11125200" cy="533400"/>
          </a:xfrm>
          <a:prstGeom prst="roundRect">
            <a:avLst/>
          </a:prstGeom>
          <a:solidFill>
            <a:srgbClr val="18223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Rounded Corners 22">
            <a:extLst>
              <a:ext uri="{FF2B5EF4-FFF2-40B4-BE49-F238E27FC236}">
                <a16:creationId xmlns:a16="http://schemas.microsoft.com/office/drawing/2014/main" id="{2E50B2EC-5D1D-A9A6-90F8-44560D395A1C}"/>
              </a:ext>
            </a:extLst>
          </p:cNvPr>
          <p:cNvSpPr/>
          <p:nvPr/>
        </p:nvSpPr>
        <p:spPr>
          <a:xfrm>
            <a:off x="660400" y="6362700"/>
            <a:ext cx="1473200" cy="330200"/>
          </a:xfrm>
          <a:prstGeom prst="roundRect">
            <a:avLst/>
          </a:prstGeom>
          <a:solidFill>
            <a:srgbClr val="35CBB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E06B090E-223E-9AAE-7B06-AAA2482EA0CC}"/>
              </a:ext>
            </a:extLst>
          </p:cNvPr>
          <p:cNvSpPr txBox="1"/>
          <p:nvPr/>
        </p:nvSpPr>
        <p:spPr>
          <a:xfrm>
            <a:off x="736600" y="6400800"/>
            <a:ext cx="1320800" cy="276999"/>
          </a:xfrm>
          <a:prstGeom prst="rect">
            <a:avLst/>
          </a:prstGeom>
          <a:noFill/>
        </p:spPr>
        <p:txBody>
          <a:bodyPr vert="horz" wrap="square" lIns="0" tIns="0" rIns="0" bIns="0" rtlCol="0">
            <a:noAutofit/>
          </a:bodyPr>
          <a:lstStyle/>
          <a:p>
            <a:pPr algn="ctr"/>
            <a:r>
              <a:rPr lang="en-US" sz="1050" b="1">
                <a:solidFill>
                  <a:srgbClr val="060A12"/>
                </a:solidFill>
                <a:latin typeface="Aptos" panose="020B0004020202020204" pitchFamily="34" charset="0"/>
              </a:rPr>
              <a:t>WHY HERE?</a:t>
            </a:r>
          </a:p>
        </p:txBody>
      </p:sp>
      <p:sp>
        <p:nvSpPr>
          <p:cNvPr id="25" name="TextBox 24">
            <a:extLst>
              <a:ext uri="{FF2B5EF4-FFF2-40B4-BE49-F238E27FC236}">
                <a16:creationId xmlns:a16="http://schemas.microsoft.com/office/drawing/2014/main" id="{0DB49A21-82BC-B4BE-0D62-72A2CF508D27}"/>
              </a:ext>
            </a:extLst>
          </p:cNvPr>
          <p:cNvSpPr txBox="1"/>
          <p:nvPr/>
        </p:nvSpPr>
        <p:spPr>
          <a:xfrm>
            <a:off x="2286000" y="6362700"/>
            <a:ext cx="9207500" cy="276999"/>
          </a:xfrm>
          <a:prstGeom prst="rect">
            <a:avLst/>
          </a:prstGeom>
          <a:noFill/>
        </p:spPr>
        <p:txBody>
          <a:bodyPr vert="horz" wrap="square" lIns="0" tIns="0" rIns="0" bIns="0" rtlCol="0" anchor="t">
            <a:noAutofit/>
          </a:bodyPr>
          <a:lstStyle/>
          <a:p>
            <a:r>
              <a:rPr lang="en-US" sz="1300">
                <a:solidFill>
                  <a:srgbClr val="F2F5F9"/>
                </a:solidFill>
                <a:latin typeface="Aptos" panose="020B0004020202020204" pitchFamily="34" charset="0"/>
              </a:rPr>
              <a:t>The name records meaning; the subsystem no longer repeats a mystery number.</a:t>
            </a:r>
          </a:p>
        </p:txBody>
      </p:sp>
      <p:sp>
        <p:nvSpPr>
          <p:cNvPr id="26" name="TextBox 25">
            <a:extLst>
              <a:ext uri="{FF2B5EF4-FFF2-40B4-BE49-F238E27FC236}">
                <a16:creationId xmlns:a16="http://schemas.microsoft.com/office/drawing/2014/main" id="{A0DB697A-EDC0-2EC6-5ECF-CEFBCCBBFA5E}"/>
              </a:ext>
            </a:extLst>
          </p:cNvPr>
          <p:cNvSpPr txBox="1"/>
          <p:nvPr/>
        </p:nvSpPr>
        <p:spPr>
          <a:xfrm>
            <a:off x="533400" y="6908800"/>
            <a:ext cx="8890000" cy="276999"/>
          </a:xfrm>
          <a:prstGeom prst="rect">
            <a:avLst/>
          </a:prstGeom>
          <a:noFill/>
        </p:spPr>
        <p:txBody>
          <a:bodyPr vert="horz" wrap="square" lIns="0" tIns="0" rIns="0" bIns="0" rtlCol="0" anchor="t">
            <a:noAutofit/>
          </a:bodyPr>
          <a:lstStyle/>
          <a:p>
            <a:r>
              <a:rPr lang="fr-FR" sz="850">
                <a:solidFill>
                  <a:srgbClr val="A9B4C5"/>
                </a:solidFill>
                <a:latin typeface="Aptos" panose="020B0004020202020204" pitchFamily="34" charset="0"/>
              </a:rPr>
              <a:t>Sources: Constants.java; DriveSubsystem.java</a:t>
            </a:r>
            <a:endParaRPr lang="en-US" sz="850">
              <a:solidFill>
                <a:srgbClr val="A9B4C5"/>
              </a:solidFill>
              <a:latin typeface="Aptos" panose="020B0004020202020204" pitchFamily="34" charset="0"/>
            </a:endParaRPr>
          </a:p>
        </p:txBody>
      </p:sp>
      <p:sp>
        <p:nvSpPr>
          <p:cNvPr id="27" name="TextBox 26">
            <a:extLst>
              <a:ext uri="{FF2B5EF4-FFF2-40B4-BE49-F238E27FC236}">
                <a16:creationId xmlns:a16="http://schemas.microsoft.com/office/drawing/2014/main" id="{919F6DC5-F13D-EE40-2D4C-A830FB562B8D}"/>
              </a:ext>
            </a:extLst>
          </p:cNvPr>
          <p:cNvSpPr txBox="1"/>
          <p:nvPr/>
        </p:nvSpPr>
        <p:spPr>
          <a:xfrm>
            <a:off x="9017000" y="6908800"/>
            <a:ext cx="2641600" cy="276999"/>
          </a:xfrm>
          <a:prstGeom prst="rect">
            <a:avLst/>
          </a:prstGeom>
          <a:noFill/>
        </p:spPr>
        <p:txBody>
          <a:bodyPr vert="horz" wrap="square" lIns="0" tIns="0" rIns="0" bIns="0" rtlCol="0" anchor="t">
            <a:noAutofit/>
          </a:bodyPr>
          <a:lstStyle/>
          <a:p>
            <a:pPr algn="r"/>
            <a:r>
              <a:rPr lang="en-US" sz="850">
                <a:solidFill>
                  <a:srgbClr val="A9B4C5"/>
                </a:solidFill>
                <a:latin typeface="Aptos" panose="020B0004020202020204" pitchFamily="34" charset="0"/>
              </a:rPr>
              <a:t>CURRENT ROBOT IMPLEMENTATION • V2</a:t>
            </a:r>
          </a:p>
        </p:txBody>
      </p:sp>
    </p:spTree>
    <p:extLst>
      <p:ext uri="{BB962C8B-B14F-4D97-AF65-F5344CB8AC3E}">
        <p14:creationId xmlns:p14="http://schemas.microsoft.com/office/powerpoint/2010/main" val="21109942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D1421"/>
        </a:solidFill>
        <a:effectLst/>
      </p:bgPr>
    </p:bg>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BCDA71F0-5477-EE05-7D4E-8B6FA0EF96E7}"/>
              </a:ext>
            </a:extLst>
          </p:cNvPr>
          <p:cNvSpPr/>
          <p:nvPr/>
        </p:nvSpPr>
        <p:spPr>
          <a:xfrm>
            <a:off x="533400" y="292100"/>
            <a:ext cx="1473200" cy="330200"/>
          </a:xfrm>
          <a:prstGeom prst="roundRect">
            <a:avLst/>
          </a:prstGeom>
          <a:solidFill>
            <a:srgbClr val="35CBB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896CE933-F0D0-1A72-9D5B-D11BBC92ED0D}"/>
              </a:ext>
            </a:extLst>
          </p:cNvPr>
          <p:cNvSpPr txBox="1"/>
          <p:nvPr/>
        </p:nvSpPr>
        <p:spPr>
          <a:xfrm>
            <a:off x="609600" y="330200"/>
            <a:ext cx="1320800" cy="276999"/>
          </a:xfrm>
          <a:prstGeom prst="rect">
            <a:avLst/>
          </a:prstGeom>
          <a:noFill/>
        </p:spPr>
        <p:txBody>
          <a:bodyPr vert="horz" wrap="square" lIns="0" tIns="0" rIns="0" bIns="0" rtlCol="0">
            <a:noAutofit/>
          </a:bodyPr>
          <a:lstStyle/>
          <a:p>
            <a:pPr algn="ctr"/>
            <a:r>
              <a:rPr lang="en-US" sz="1050" b="1">
                <a:solidFill>
                  <a:srgbClr val="060A12"/>
                </a:solidFill>
                <a:latin typeface="Aptos" panose="020B0004020202020204" pitchFamily="34" charset="0"/>
              </a:rPr>
              <a:t>BEGINNER TRACK</a:t>
            </a:r>
          </a:p>
        </p:txBody>
      </p:sp>
      <p:sp>
        <p:nvSpPr>
          <p:cNvPr id="4" name="TextBox 3">
            <a:extLst>
              <a:ext uri="{FF2B5EF4-FFF2-40B4-BE49-F238E27FC236}">
                <a16:creationId xmlns:a16="http://schemas.microsoft.com/office/drawing/2014/main" id="{8BCC6AEE-E9EC-306C-34EC-60E40393B1DF}"/>
              </a:ext>
            </a:extLst>
          </p:cNvPr>
          <p:cNvSpPr txBox="1"/>
          <p:nvPr/>
        </p:nvSpPr>
        <p:spPr>
          <a:xfrm>
            <a:off x="533400" y="762000"/>
            <a:ext cx="10414000" cy="276999"/>
          </a:xfrm>
          <a:prstGeom prst="rect">
            <a:avLst/>
          </a:prstGeom>
          <a:noFill/>
        </p:spPr>
        <p:txBody>
          <a:bodyPr vert="horz" wrap="square" lIns="0" tIns="0" rIns="0" bIns="0" rtlCol="0" anchor="t">
            <a:noAutofit/>
          </a:bodyPr>
          <a:lstStyle/>
          <a:p>
            <a:r>
              <a:rPr lang="en-US" sz="2800" b="1">
                <a:solidFill>
                  <a:srgbClr val="F2F5F9"/>
                </a:solidFill>
                <a:latin typeface="Aptos Display" panose="020B0004020202020204" pitchFamily="34" charset="0"/>
              </a:rPr>
              <a:t>The drivetrain owns four motors</a:t>
            </a:r>
          </a:p>
        </p:txBody>
      </p:sp>
      <p:sp>
        <p:nvSpPr>
          <p:cNvPr id="5" name="TextBox 4">
            <a:extLst>
              <a:ext uri="{FF2B5EF4-FFF2-40B4-BE49-F238E27FC236}">
                <a16:creationId xmlns:a16="http://schemas.microsoft.com/office/drawing/2014/main" id="{ED5F346B-B58A-7285-FBBA-C11BC495CB59}"/>
              </a:ext>
            </a:extLst>
          </p:cNvPr>
          <p:cNvSpPr txBox="1"/>
          <p:nvPr/>
        </p:nvSpPr>
        <p:spPr>
          <a:xfrm>
            <a:off x="11226800" y="355600"/>
            <a:ext cx="381000" cy="276999"/>
          </a:xfrm>
          <a:prstGeom prst="rect">
            <a:avLst/>
          </a:prstGeom>
          <a:noFill/>
        </p:spPr>
        <p:txBody>
          <a:bodyPr vert="horz" wrap="square" lIns="0" tIns="0" rIns="0" bIns="0" rtlCol="0" anchor="t">
            <a:noAutofit/>
          </a:bodyPr>
          <a:lstStyle/>
          <a:p>
            <a:pPr algn="r"/>
            <a:r>
              <a:rPr lang="en-US" sz="1000" b="1">
                <a:solidFill>
                  <a:srgbClr val="A9B4C5"/>
                </a:solidFill>
                <a:latin typeface="Aptos" panose="020B0004020202020204" pitchFamily="34" charset="0"/>
              </a:rPr>
              <a:t>18</a:t>
            </a:r>
          </a:p>
        </p:txBody>
      </p:sp>
      <p:cxnSp>
        <p:nvCxnSpPr>
          <p:cNvPr id="6" name="Straight Connector 5">
            <a:extLst>
              <a:ext uri="{FF2B5EF4-FFF2-40B4-BE49-F238E27FC236}">
                <a16:creationId xmlns:a16="http://schemas.microsoft.com/office/drawing/2014/main" id="{B5A92151-95F3-0D9E-95D0-79E588E016FC}"/>
              </a:ext>
            </a:extLst>
          </p:cNvPr>
          <p:cNvCxnSpPr/>
          <p:nvPr/>
        </p:nvCxnSpPr>
        <p:spPr>
          <a:xfrm>
            <a:off x="533400" y="1371600"/>
            <a:ext cx="11125200" cy="0"/>
          </a:xfrm>
          <a:prstGeom prst="line">
            <a:avLst/>
          </a:prstGeom>
          <a:ln w="12700">
            <a:solidFill>
              <a:srgbClr val="1F2C41"/>
            </a:solidFill>
          </a:ln>
        </p:spPr>
        <p:style>
          <a:lnRef idx="1">
            <a:schemeClr val="accent1"/>
          </a:lnRef>
          <a:fillRef idx="0">
            <a:schemeClr val="accent1"/>
          </a:fillRef>
          <a:effectRef idx="0">
            <a:schemeClr val="accent1"/>
          </a:effectRef>
          <a:fontRef idx="minor">
            <a:schemeClr val="tx1"/>
          </a:fontRef>
        </p:style>
      </p:cxnSp>
      <p:sp>
        <p:nvSpPr>
          <p:cNvPr id="7" name="Rectangle: Rounded Corners 6">
            <a:extLst>
              <a:ext uri="{FF2B5EF4-FFF2-40B4-BE49-F238E27FC236}">
                <a16:creationId xmlns:a16="http://schemas.microsoft.com/office/drawing/2014/main" id="{8B5C61FB-1A90-9F83-F568-D74075DDA3AB}"/>
              </a:ext>
            </a:extLst>
          </p:cNvPr>
          <p:cNvSpPr/>
          <p:nvPr/>
        </p:nvSpPr>
        <p:spPr>
          <a:xfrm>
            <a:off x="558800" y="1600200"/>
            <a:ext cx="6858000" cy="3581400"/>
          </a:xfrm>
          <a:prstGeom prst="roundRect">
            <a:avLst/>
          </a:prstGeom>
          <a:solidFill>
            <a:srgbClr val="060A12"/>
          </a:solidFill>
          <a:ln w="15875">
            <a:solidFill>
              <a:srgbClr val="1F2C4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CE8878FE-C6AE-3A89-298D-7DABE1BAD2DE}"/>
              </a:ext>
            </a:extLst>
          </p:cNvPr>
          <p:cNvSpPr/>
          <p:nvPr/>
        </p:nvSpPr>
        <p:spPr>
          <a:xfrm>
            <a:off x="558800" y="1600200"/>
            <a:ext cx="88900" cy="3581400"/>
          </a:xfrm>
          <a:prstGeom prst="rect">
            <a:avLst/>
          </a:prstGeom>
          <a:solidFill>
            <a:srgbClr val="3ECF8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251C24AA-E26E-8ECD-47DE-D20FBCA1D1AC}"/>
              </a:ext>
            </a:extLst>
          </p:cNvPr>
          <p:cNvSpPr txBox="1"/>
          <p:nvPr/>
        </p:nvSpPr>
        <p:spPr>
          <a:xfrm>
            <a:off x="787400" y="1752600"/>
            <a:ext cx="6477000" cy="276999"/>
          </a:xfrm>
          <a:prstGeom prst="rect">
            <a:avLst/>
          </a:prstGeom>
          <a:noFill/>
        </p:spPr>
        <p:txBody>
          <a:bodyPr vert="horz" wrap="square" lIns="0" tIns="0" rIns="0" bIns="0" rtlCol="0" anchor="t">
            <a:noAutofit/>
          </a:bodyPr>
          <a:lstStyle/>
          <a:p>
            <a:r>
              <a:rPr lang="en-US" sz="1280">
                <a:solidFill>
                  <a:srgbClr val="F2F5F9"/>
                </a:solidFill>
                <a:latin typeface="Consolas" panose="020B0609020204030204" pitchFamily="49" charset="0"/>
              </a:rPr>
              <a:t>leftDriveLeader = new Talon(PWM_FRONT_LEFT_DRIVE);</a:t>
            </a:r>
          </a:p>
          <a:p>
            <a:r>
              <a:rPr lang="en-US" sz="1280">
                <a:solidFill>
                  <a:srgbClr val="F2F5F9"/>
                </a:solidFill>
                <a:latin typeface="Consolas" panose="020B0609020204030204" pitchFamily="49" charset="0"/>
              </a:rPr>
              <a:t>Talon leftDriveFollower = new Talon(PWM_BACK_LEFT_DRIVE);</a:t>
            </a:r>
          </a:p>
          <a:p>
            <a:r>
              <a:rPr lang="en-US" sz="1280">
                <a:solidFill>
                  <a:srgbClr val="F2F5F9"/>
                </a:solidFill>
                <a:latin typeface="Consolas" panose="020B0609020204030204" pitchFamily="49" charset="0"/>
              </a:rPr>
              <a:t>rightDriveLeader = new Talon(PWM_FRONT_RIGHT_DRIVE);</a:t>
            </a:r>
          </a:p>
          <a:p>
            <a:r>
              <a:rPr lang="en-US" sz="1280">
                <a:solidFill>
                  <a:srgbClr val="F2F5F9"/>
                </a:solidFill>
                <a:latin typeface="Consolas" panose="020B0609020204030204" pitchFamily="49" charset="0"/>
              </a:rPr>
              <a:t>Talon rightDriveFollower = new Talon(PWM_BACK_RIGHT_DRIVE);</a:t>
            </a:r>
          </a:p>
          <a:p>
            <a:endParaRPr lang="en-US" sz="1280">
              <a:solidFill>
                <a:srgbClr val="F2F5F9"/>
              </a:solidFill>
              <a:latin typeface="Consolas" panose="020B0609020204030204" pitchFamily="49" charset="0"/>
            </a:endParaRPr>
          </a:p>
          <a:p>
            <a:r>
              <a:rPr lang="en-US" sz="1280">
                <a:solidFill>
                  <a:srgbClr val="F2F5F9"/>
                </a:solidFill>
                <a:latin typeface="Consolas" panose="020B0609020204030204" pitchFamily="49" charset="0"/>
              </a:rPr>
              <a:t>leftDriveLeader.addFollower(leftDriveFollower);</a:t>
            </a:r>
          </a:p>
          <a:p>
            <a:r>
              <a:rPr lang="en-US" sz="1280">
                <a:solidFill>
                  <a:srgbClr val="F2F5F9"/>
                </a:solidFill>
                <a:latin typeface="Consolas" panose="020B0609020204030204" pitchFamily="49" charset="0"/>
              </a:rPr>
              <a:t>rightDriveLeader.addFollower(rightDriveFollower);</a:t>
            </a:r>
          </a:p>
          <a:p>
            <a:r>
              <a:rPr lang="en-US" sz="1280">
                <a:solidFill>
                  <a:srgbClr val="F2F5F9"/>
                </a:solidFill>
                <a:latin typeface="Consolas" panose="020B0609020204030204" pitchFamily="49" charset="0"/>
              </a:rPr>
              <a:t>rightDriveLeader.setInverted(true);</a:t>
            </a:r>
          </a:p>
        </p:txBody>
      </p:sp>
      <p:sp>
        <p:nvSpPr>
          <p:cNvPr id="10" name="Rectangle: Rounded Corners 9">
            <a:extLst>
              <a:ext uri="{FF2B5EF4-FFF2-40B4-BE49-F238E27FC236}">
                <a16:creationId xmlns:a16="http://schemas.microsoft.com/office/drawing/2014/main" id="{B5FB9BB6-F849-804A-9FBA-AE87E7B4828F}"/>
              </a:ext>
            </a:extLst>
          </p:cNvPr>
          <p:cNvSpPr/>
          <p:nvPr/>
        </p:nvSpPr>
        <p:spPr>
          <a:xfrm>
            <a:off x="8128000" y="1841500"/>
            <a:ext cx="1206500" cy="762000"/>
          </a:xfrm>
          <a:prstGeom prst="roundRect">
            <a:avLst/>
          </a:prstGeom>
          <a:solidFill>
            <a:srgbClr val="182234"/>
          </a:solidFill>
          <a:ln w="15875">
            <a:solidFill>
              <a:srgbClr val="379D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07C162C9-DCF1-A25C-6F63-8DF31A143188}"/>
              </a:ext>
            </a:extLst>
          </p:cNvPr>
          <p:cNvSpPr txBox="1"/>
          <p:nvPr/>
        </p:nvSpPr>
        <p:spPr>
          <a:xfrm>
            <a:off x="8255000" y="1993900"/>
            <a:ext cx="952500" cy="276999"/>
          </a:xfrm>
          <a:prstGeom prst="rect">
            <a:avLst/>
          </a:prstGeom>
          <a:noFill/>
        </p:spPr>
        <p:txBody>
          <a:bodyPr vert="horz" wrap="square" lIns="0" tIns="0" rIns="0" bIns="0" rtlCol="0" anchor="t">
            <a:noAutofit/>
          </a:bodyPr>
          <a:lstStyle/>
          <a:p>
            <a:pPr algn="ctr"/>
            <a:r>
              <a:rPr lang="en-US" sz="1400" b="1">
                <a:solidFill>
                  <a:srgbClr val="379DFF"/>
                </a:solidFill>
                <a:latin typeface="Aptos" panose="020B0004020202020204" pitchFamily="34" charset="0"/>
              </a:rPr>
              <a:t>LEFT
LEADER</a:t>
            </a:r>
          </a:p>
        </p:txBody>
      </p:sp>
      <p:sp>
        <p:nvSpPr>
          <p:cNvPr id="12" name="Rectangle: Rounded Corners 11">
            <a:extLst>
              <a:ext uri="{FF2B5EF4-FFF2-40B4-BE49-F238E27FC236}">
                <a16:creationId xmlns:a16="http://schemas.microsoft.com/office/drawing/2014/main" id="{CD54FEC9-C7CD-A5A3-7218-E2D7333D362C}"/>
              </a:ext>
            </a:extLst>
          </p:cNvPr>
          <p:cNvSpPr/>
          <p:nvPr/>
        </p:nvSpPr>
        <p:spPr>
          <a:xfrm>
            <a:off x="10033000" y="1841500"/>
            <a:ext cx="1206500" cy="762000"/>
          </a:xfrm>
          <a:prstGeom prst="roundRect">
            <a:avLst/>
          </a:prstGeom>
          <a:solidFill>
            <a:srgbClr val="182234"/>
          </a:solidFill>
          <a:ln w="15875">
            <a:solidFill>
              <a:srgbClr val="A9B4C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7CEAA30A-FB4D-8389-25DD-60048CC86083}"/>
              </a:ext>
            </a:extLst>
          </p:cNvPr>
          <p:cNvSpPr txBox="1"/>
          <p:nvPr/>
        </p:nvSpPr>
        <p:spPr>
          <a:xfrm>
            <a:off x="10160000" y="1993900"/>
            <a:ext cx="952500" cy="276999"/>
          </a:xfrm>
          <a:prstGeom prst="rect">
            <a:avLst/>
          </a:prstGeom>
          <a:noFill/>
        </p:spPr>
        <p:txBody>
          <a:bodyPr vert="horz" wrap="square" lIns="0" tIns="0" rIns="0" bIns="0" rtlCol="0" anchor="t">
            <a:noAutofit/>
          </a:bodyPr>
          <a:lstStyle/>
          <a:p>
            <a:pPr algn="ctr"/>
            <a:r>
              <a:rPr lang="en-US" sz="1300" b="1">
                <a:solidFill>
                  <a:srgbClr val="F2F5F9"/>
                </a:solidFill>
                <a:latin typeface="Aptos" panose="020B0004020202020204" pitchFamily="34" charset="0"/>
              </a:rPr>
              <a:t>LEFT
FOLLOWER</a:t>
            </a:r>
          </a:p>
        </p:txBody>
      </p:sp>
      <p:cxnSp>
        <p:nvCxnSpPr>
          <p:cNvPr id="14" name="Straight Connector 13">
            <a:extLst>
              <a:ext uri="{FF2B5EF4-FFF2-40B4-BE49-F238E27FC236}">
                <a16:creationId xmlns:a16="http://schemas.microsoft.com/office/drawing/2014/main" id="{4C8846F1-514D-920F-B9EF-AB425BF243D2}"/>
              </a:ext>
            </a:extLst>
          </p:cNvPr>
          <p:cNvCxnSpPr/>
          <p:nvPr/>
        </p:nvCxnSpPr>
        <p:spPr>
          <a:xfrm>
            <a:off x="9334500" y="2222500"/>
            <a:ext cx="698500" cy="0"/>
          </a:xfrm>
          <a:prstGeom prst="line">
            <a:avLst/>
          </a:prstGeom>
          <a:ln w="38100">
            <a:solidFill>
              <a:srgbClr val="379DFF"/>
            </a:solidFill>
            <a:tailEnd type="arrow"/>
          </a:ln>
        </p:spPr>
        <p:style>
          <a:lnRef idx="1">
            <a:schemeClr val="accent1"/>
          </a:lnRef>
          <a:fillRef idx="0">
            <a:schemeClr val="accent1"/>
          </a:fillRef>
          <a:effectRef idx="0">
            <a:schemeClr val="accent1"/>
          </a:effectRef>
          <a:fontRef idx="minor">
            <a:schemeClr val="tx1"/>
          </a:fontRef>
        </p:style>
      </p:cxnSp>
      <p:sp>
        <p:nvSpPr>
          <p:cNvPr id="15" name="Rectangle: Rounded Corners 14">
            <a:extLst>
              <a:ext uri="{FF2B5EF4-FFF2-40B4-BE49-F238E27FC236}">
                <a16:creationId xmlns:a16="http://schemas.microsoft.com/office/drawing/2014/main" id="{57C955CB-AF4F-882F-F8A5-DFBAFF9CC506}"/>
              </a:ext>
            </a:extLst>
          </p:cNvPr>
          <p:cNvSpPr/>
          <p:nvPr/>
        </p:nvSpPr>
        <p:spPr>
          <a:xfrm>
            <a:off x="8128000" y="3556000"/>
            <a:ext cx="1206500" cy="762000"/>
          </a:xfrm>
          <a:prstGeom prst="roundRect">
            <a:avLst/>
          </a:prstGeom>
          <a:solidFill>
            <a:srgbClr val="182234"/>
          </a:solidFill>
          <a:ln w="15875">
            <a:solidFill>
              <a:srgbClr val="FF64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97F4B32C-1B8C-4C0B-9445-6A59D65D93E2}"/>
              </a:ext>
            </a:extLst>
          </p:cNvPr>
          <p:cNvSpPr txBox="1"/>
          <p:nvPr/>
        </p:nvSpPr>
        <p:spPr>
          <a:xfrm>
            <a:off x="8255000" y="3708400"/>
            <a:ext cx="952500" cy="276999"/>
          </a:xfrm>
          <a:prstGeom prst="rect">
            <a:avLst/>
          </a:prstGeom>
          <a:noFill/>
        </p:spPr>
        <p:txBody>
          <a:bodyPr vert="horz" wrap="square" lIns="0" tIns="0" rIns="0" bIns="0" rtlCol="0" anchor="t">
            <a:noAutofit/>
          </a:bodyPr>
          <a:lstStyle/>
          <a:p>
            <a:pPr algn="ctr"/>
            <a:r>
              <a:rPr lang="en-US" sz="1400" b="1">
                <a:solidFill>
                  <a:srgbClr val="FF6464"/>
                </a:solidFill>
                <a:latin typeface="Aptos" panose="020B0004020202020204" pitchFamily="34" charset="0"/>
              </a:rPr>
              <a:t>RIGHT
LEADER</a:t>
            </a:r>
          </a:p>
        </p:txBody>
      </p:sp>
      <p:sp>
        <p:nvSpPr>
          <p:cNvPr id="17" name="Rectangle: Rounded Corners 16">
            <a:extLst>
              <a:ext uri="{FF2B5EF4-FFF2-40B4-BE49-F238E27FC236}">
                <a16:creationId xmlns:a16="http://schemas.microsoft.com/office/drawing/2014/main" id="{9FF51CEE-11AB-F1CD-616E-95F2AA1E0BF6}"/>
              </a:ext>
            </a:extLst>
          </p:cNvPr>
          <p:cNvSpPr/>
          <p:nvPr/>
        </p:nvSpPr>
        <p:spPr>
          <a:xfrm>
            <a:off x="10033000" y="3556000"/>
            <a:ext cx="1206500" cy="762000"/>
          </a:xfrm>
          <a:prstGeom prst="roundRect">
            <a:avLst/>
          </a:prstGeom>
          <a:solidFill>
            <a:srgbClr val="182234"/>
          </a:solidFill>
          <a:ln w="15875">
            <a:solidFill>
              <a:srgbClr val="A9B4C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8C38FD0D-F42B-0F87-D8B5-77731BCBDF1A}"/>
              </a:ext>
            </a:extLst>
          </p:cNvPr>
          <p:cNvSpPr txBox="1"/>
          <p:nvPr/>
        </p:nvSpPr>
        <p:spPr>
          <a:xfrm>
            <a:off x="10160000" y="3708400"/>
            <a:ext cx="952500" cy="276999"/>
          </a:xfrm>
          <a:prstGeom prst="rect">
            <a:avLst/>
          </a:prstGeom>
          <a:noFill/>
        </p:spPr>
        <p:txBody>
          <a:bodyPr vert="horz" wrap="square" lIns="0" tIns="0" rIns="0" bIns="0" rtlCol="0" anchor="t">
            <a:noAutofit/>
          </a:bodyPr>
          <a:lstStyle/>
          <a:p>
            <a:pPr algn="ctr"/>
            <a:r>
              <a:rPr lang="en-US" sz="1300" b="1">
                <a:solidFill>
                  <a:srgbClr val="F2F5F9"/>
                </a:solidFill>
                <a:latin typeface="Aptos" panose="020B0004020202020204" pitchFamily="34" charset="0"/>
              </a:rPr>
              <a:t>RIGHT
FOLLOWER</a:t>
            </a:r>
          </a:p>
        </p:txBody>
      </p:sp>
      <p:cxnSp>
        <p:nvCxnSpPr>
          <p:cNvPr id="19" name="Straight Connector 18">
            <a:extLst>
              <a:ext uri="{FF2B5EF4-FFF2-40B4-BE49-F238E27FC236}">
                <a16:creationId xmlns:a16="http://schemas.microsoft.com/office/drawing/2014/main" id="{ED2F0430-1EA5-DFF1-6DC9-A46F598BE281}"/>
              </a:ext>
            </a:extLst>
          </p:cNvPr>
          <p:cNvCxnSpPr/>
          <p:nvPr/>
        </p:nvCxnSpPr>
        <p:spPr>
          <a:xfrm>
            <a:off x="9334500" y="3937000"/>
            <a:ext cx="698500" cy="0"/>
          </a:xfrm>
          <a:prstGeom prst="line">
            <a:avLst/>
          </a:prstGeom>
          <a:ln w="38100">
            <a:solidFill>
              <a:srgbClr val="FF6464"/>
            </a:solidFill>
            <a:tailEnd type="arrow"/>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D6300FBF-5372-BCA7-4076-39DCCEBC1907}"/>
              </a:ext>
            </a:extLst>
          </p:cNvPr>
          <p:cNvSpPr txBox="1"/>
          <p:nvPr/>
        </p:nvSpPr>
        <p:spPr>
          <a:xfrm>
            <a:off x="8216900" y="4546600"/>
            <a:ext cx="2921000" cy="276999"/>
          </a:xfrm>
          <a:prstGeom prst="rect">
            <a:avLst/>
          </a:prstGeom>
          <a:noFill/>
        </p:spPr>
        <p:txBody>
          <a:bodyPr vert="horz" wrap="square" lIns="0" tIns="0" rIns="0" bIns="0" rtlCol="0" anchor="t">
            <a:noAutofit/>
          </a:bodyPr>
          <a:lstStyle/>
          <a:p>
            <a:pPr algn="ctr"/>
            <a:r>
              <a:rPr lang="en-US" sz="1400" b="1">
                <a:solidFill>
                  <a:srgbClr val="FF6464"/>
                </a:solidFill>
                <a:latin typeface="Aptos" panose="020B0004020202020204" pitchFamily="34" charset="0"/>
              </a:rPr>
              <a:t>right side inverted</a:t>
            </a:r>
          </a:p>
        </p:txBody>
      </p:sp>
      <p:sp>
        <p:nvSpPr>
          <p:cNvPr id="21" name="Rectangle: Rounded Corners 20">
            <a:extLst>
              <a:ext uri="{FF2B5EF4-FFF2-40B4-BE49-F238E27FC236}">
                <a16:creationId xmlns:a16="http://schemas.microsoft.com/office/drawing/2014/main" id="{BEC6224D-5E49-9D6F-326F-E8FBCA4A2200}"/>
              </a:ext>
            </a:extLst>
          </p:cNvPr>
          <p:cNvSpPr/>
          <p:nvPr/>
        </p:nvSpPr>
        <p:spPr>
          <a:xfrm>
            <a:off x="533400" y="6261100"/>
            <a:ext cx="11125200" cy="533400"/>
          </a:xfrm>
          <a:prstGeom prst="roundRect">
            <a:avLst/>
          </a:prstGeom>
          <a:solidFill>
            <a:srgbClr val="18223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Rounded Corners 21">
            <a:extLst>
              <a:ext uri="{FF2B5EF4-FFF2-40B4-BE49-F238E27FC236}">
                <a16:creationId xmlns:a16="http://schemas.microsoft.com/office/drawing/2014/main" id="{B63042FA-4687-DD0A-0593-CFA8936FD7F6}"/>
              </a:ext>
            </a:extLst>
          </p:cNvPr>
          <p:cNvSpPr/>
          <p:nvPr/>
        </p:nvSpPr>
        <p:spPr>
          <a:xfrm>
            <a:off x="660400" y="6362700"/>
            <a:ext cx="1473200" cy="330200"/>
          </a:xfrm>
          <a:prstGeom prst="roundRect">
            <a:avLst/>
          </a:prstGeom>
          <a:solidFill>
            <a:srgbClr val="35CBB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9B0A68FD-D851-D934-7B3F-9C51CA08D8AD}"/>
              </a:ext>
            </a:extLst>
          </p:cNvPr>
          <p:cNvSpPr txBox="1"/>
          <p:nvPr/>
        </p:nvSpPr>
        <p:spPr>
          <a:xfrm>
            <a:off x="736600" y="6400800"/>
            <a:ext cx="1320800" cy="276999"/>
          </a:xfrm>
          <a:prstGeom prst="rect">
            <a:avLst/>
          </a:prstGeom>
          <a:noFill/>
        </p:spPr>
        <p:txBody>
          <a:bodyPr vert="horz" wrap="square" lIns="0" tIns="0" rIns="0" bIns="0" rtlCol="0">
            <a:noAutofit/>
          </a:bodyPr>
          <a:lstStyle/>
          <a:p>
            <a:pPr algn="ctr"/>
            <a:r>
              <a:rPr lang="en-US" sz="1050" b="1">
                <a:solidFill>
                  <a:srgbClr val="060A12"/>
                </a:solidFill>
                <a:latin typeface="Aptos" panose="020B0004020202020204" pitchFamily="34" charset="0"/>
              </a:rPr>
              <a:t>NOTICE</a:t>
            </a:r>
          </a:p>
        </p:txBody>
      </p:sp>
      <p:sp>
        <p:nvSpPr>
          <p:cNvPr id="24" name="TextBox 23">
            <a:extLst>
              <a:ext uri="{FF2B5EF4-FFF2-40B4-BE49-F238E27FC236}">
                <a16:creationId xmlns:a16="http://schemas.microsoft.com/office/drawing/2014/main" id="{C2DD37F8-92F8-A6D5-C119-AC59D4FE9372}"/>
              </a:ext>
            </a:extLst>
          </p:cNvPr>
          <p:cNvSpPr txBox="1"/>
          <p:nvPr/>
        </p:nvSpPr>
        <p:spPr>
          <a:xfrm>
            <a:off x="2286000" y="6362700"/>
            <a:ext cx="9207500" cy="276999"/>
          </a:xfrm>
          <a:prstGeom prst="rect">
            <a:avLst/>
          </a:prstGeom>
          <a:noFill/>
        </p:spPr>
        <p:txBody>
          <a:bodyPr vert="horz" wrap="square" lIns="0" tIns="0" rIns="0" bIns="0" rtlCol="0" anchor="t">
            <a:noAutofit/>
          </a:bodyPr>
          <a:lstStyle/>
          <a:p>
            <a:r>
              <a:rPr lang="en-US" sz="1300">
                <a:solidFill>
                  <a:srgbClr val="F2F5F9"/>
                </a:solidFill>
                <a:latin typeface="Aptos" panose="020B0004020202020204" pitchFamily="34" charset="0"/>
              </a:rPr>
              <a:t>Follower support is standard WPILib for these PWM Talons.</a:t>
            </a:r>
          </a:p>
        </p:txBody>
      </p:sp>
      <p:sp>
        <p:nvSpPr>
          <p:cNvPr id="25" name="TextBox 24">
            <a:extLst>
              <a:ext uri="{FF2B5EF4-FFF2-40B4-BE49-F238E27FC236}">
                <a16:creationId xmlns:a16="http://schemas.microsoft.com/office/drawing/2014/main" id="{024E87FD-8627-30B2-C2D7-A0BAF80CCF30}"/>
              </a:ext>
            </a:extLst>
          </p:cNvPr>
          <p:cNvSpPr txBox="1"/>
          <p:nvPr/>
        </p:nvSpPr>
        <p:spPr>
          <a:xfrm>
            <a:off x="533400" y="6908800"/>
            <a:ext cx="8890000" cy="276999"/>
          </a:xfrm>
          <a:prstGeom prst="rect">
            <a:avLst/>
          </a:prstGeom>
          <a:noFill/>
        </p:spPr>
        <p:txBody>
          <a:bodyPr vert="horz" wrap="square" lIns="0" tIns="0" rIns="0" bIns="0" rtlCol="0" anchor="t">
            <a:noAutofit/>
          </a:bodyPr>
          <a:lstStyle/>
          <a:p>
            <a:r>
              <a:rPr lang="en-US" sz="850">
                <a:solidFill>
                  <a:srgbClr val="A9B4C5"/>
                </a:solidFill>
                <a:latin typeface="Aptos" panose="020B0004020202020204" pitchFamily="34" charset="0"/>
              </a:rPr>
              <a:t>Source: DriveSubsystem.java</a:t>
            </a:r>
          </a:p>
        </p:txBody>
      </p:sp>
      <p:sp>
        <p:nvSpPr>
          <p:cNvPr id="26" name="TextBox 25">
            <a:extLst>
              <a:ext uri="{FF2B5EF4-FFF2-40B4-BE49-F238E27FC236}">
                <a16:creationId xmlns:a16="http://schemas.microsoft.com/office/drawing/2014/main" id="{B407B6C3-FD6E-4F26-75DB-B4E219781109}"/>
              </a:ext>
            </a:extLst>
          </p:cNvPr>
          <p:cNvSpPr txBox="1"/>
          <p:nvPr/>
        </p:nvSpPr>
        <p:spPr>
          <a:xfrm>
            <a:off x="9017000" y="6908800"/>
            <a:ext cx="2641600" cy="276999"/>
          </a:xfrm>
          <a:prstGeom prst="rect">
            <a:avLst/>
          </a:prstGeom>
          <a:noFill/>
        </p:spPr>
        <p:txBody>
          <a:bodyPr vert="horz" wrap="square" lIns="0" tIns="0" rIns="0" bIns="0" rtlCol="0" anchor="t">
            <a:noAutofit/>
          </a:bodyPr>
          <a:lstStyle/>
          <a:p>
            <a:pPr algn="r"/>
            <a:r>
              <a:rPr lang="en-US" sz="850">
                <a:solidFill>
                  <a:srgbClr val="A9B4C5"/>
                </a:solidFill>
                <a:latin typeface="Aptos" panose="020B0004020202020204" pitchFamily="34" charset="0"/>
              </a:rPr>
              <a:t>CURRENT ROBOT IMPLEMENTATION • V2</a:t>
            </a:r>
          </a:p>
        </p:txBody>
      </p:sp>
    </p:spTree>
    <p:extLst>
      <p:ext uri="{BB962C8B-B14F-4D97-AF65-F5344CB8AC3E}">
        <p14:creationId xmlns:p14="http://schemas.microsoft.com/office/powerpoint/2010/main" val="12666842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D1421"/>
        </a:solidFill>
        <a:effectLst/>
      </p:bgPr>
    </p:bg>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54DE6FFD-A312-6E80-612F-41E4A58019FE}"/>
              </a:ext>
            </a:extLst>
          </p:cNvPr>
          <p:cNvSpPr/>
          <p:nvPr/>
        </p:nvSpPr>
        <p:spPr>
          <a:xfrm>
            <a:off x="533400" y="292100"/>
            <a:ext cx="1473200" cy="330200"/>
          </a:xfrm>
          <a:prstGeom prst="roundRect">
            <a:avLst/>
          </a:prstGeom>
          <a:solidFill>
            <a:srgbClr val="35CBB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4B051F5-C3AD-AF67-9AE5-926E7ECE2B61}"/>
              </a:ext>
            </a:extLst>
          </p:cNvPr>
          <p:cNvSpPr txBox="1"/>
          <p:nvPr/>
        </p:nvSpPr>
        <p:spPr>
          <a:xfrm>
            <a:off x="609600" y="330200"/>
            <a:ext cx="1320800" cy="276999"/>
          </a:xfrm>
          <a:prstGeom prst="rect">
            <a:avLst/>
          </a:prstGeom>
          <a:noFill/>
        </p:spPr>
        <p:txBody>
          <a:bodyPr vert="horz" wrap="square" lIns="0" tIns="0" rIns="0" bIns="0" rtlCol="0">
            <a:noAutofit/>
          </a:bodyPr>
          <a:lstStyle/>
          <a:p>
            <a:pPr algn="ctr"/>
            <a:r>
              <a:rPr lang="en-US" sz="1050" b="1">
                <a:solidFill>
                  <a:srgbClr val="060A12"/>
                </a:solidFill>
                <a:latin typeface="Aptos" panose="020B0004020202020204" pitchFamily="34" charset="0"/>
              </a:rPr>
              <a:t>BEGINNER TRACK</a:t>
            </a:r>
          </a:p>
        </p:txBody>
      </p:sp>
      <p:sp>
        <p:nvSpPr>
          <p:cNvPr id="4" name="TextBox 3">
            <a:extLst>
              <a:ext uri="{FF2B5EF4-FFF2-40B4-BE49-F238E27FC236}">
                <a16:creationId xmlns:a16="http://schemas.microsoft.com/office/drawing/2014/main" id="{324527EA-600F-F931-0EAA-7F940C8BDE49}"/>
              </a:ext>
            </a:extLst>
          </p:cNvPr>
          <p:cNvSpPr txBox="1"/>
          <p:nvPr/>
        </p:nvSpPr>
        <p:spPr>
          <a:xfrm>
            <a:off x="533400" y="762000"/>
            <a:ext cx="10414000" cy="276999"/>
          </a:xfrm>
          <a:prstGeom prst="rect">
            <a:avLst/>
          </a:prstGeom>
          <a:noFill/>
        </p:spPr>
        <p:txBody>
          <a:bodyPr vert="horz" wrap="square" lIns="0" tIns="0" rIns="0" bIns="0" rtlCol="0" anchor="t">
            <a:noAutofit/>
          </a:bodyPr>
          <a:lstStyle/>
          <a:p>
            <a:r>
              <a:rPr lang="en-US" sz="2800" b="1">
                <a:solidFill>
                  <a:srgbClr val="F2F5F9"/>
                </a:solidFill>
                <a:latin typeface="Aptos Display" panose="020B0004020202020204" pitchFamily="34" charset="0"/>
              </a:rPr>
              <a:t>The subsystem exposes a drivetrain action</a:t>
            </a:r>
          </a:p>
        </p:txBody>
      </p:sp>
      <p:sp>
        <p:nvSpPr>
          <p:cNvPr id="5" name="TextBox 4">
            <a:extLst>
              <a:ext uri="{FF2B5EF4-FFF2-40B4-BE49-F238E27FC236}">
                <a16:creationId xmlns:a16="http://schemas.microsoft.com/office/drawing/2014/main" id="{C5FFD6C7-169E-4DFB-E571-469475CEA305}"/>
              </a:ext>
            </a:extLst>
          </p:cNvPr>
          <p:cNvSpPr txBox="1"/>
          <p:nvPr/>
        </p:nvSpPr>
        <p:spPr>
          <a:xfrm>
            <a:off x="11226800" y="355600"/>
            <a:ext cx="381000" cy="276999"/>
          </a:xfrm>
          <a:prstGeom prst="rect">
            <a:avLst/>
          </a:prstGeom>
          <a:noFill/>
        </p:spPr>
        <p:txBody>
          <a:bodyPr vert="horz" wrap="square" lIns="0" tIns="0" rIns="0" bIns="0" rtlCol="0" anchor="t">
            <a:noAutofit/>
          </a:bodyPr>
          <a:lstStyle/>
          <a:p>
            <a:pPr algn="r"/>
            <a:r>
              <a:rPr lang="en-US" sz="1000" b="1">
                <a:solidFill>
                  <a:srgbClr val="A9B4C5"/>
                </a:solidFill>
                <a:latin typeface="Aptos" panose="020B0004020202020204" pitchFamily="34" charset="0"/>
              </a:rPr>
              <a:t>19</a:t>
            </a:r>
          </a:p>
        </p:txBody>
      </p:sp>
      <p:cxnSp>
        <p:nvCxnSpPr>
          <p:cNvPr id="6" name="Straight Connector 5">
            <a:extLst>
              <a:ext uri="{FF2B5EF4-FFF2-40B4-BE49-F238E27FC236}">
                <a16:creationId xmlns:a16="http://schemas.microsoft.com/office/drawing/2014/main" id="{6201A5E6-6306-B34F-2B30-090087650195}"/>
              </a:ext>
            </a:extLst>
          </p:cNvPr>
          <p:cNvCxnSpPr/>
          <p:nvPr/>
        </p:nvCxnSpPr>
        <p:spPr>
          <a:xfrm>
            <a:off x="533400" y="1371600"/>
            <a:ext cx="11125200" cy="0"/>
          </a:xfrm>
          <a:prstGeom prst="line">
            <a:avLst/>
          </a:prstGeom>
          <a:ln w="12700">
            <a:solidFill>
              <a:srgbClr val="1F2C41"/>
            </a:solidFill>
          </a:ln>
        </p:spPr>
        <p:style>
          <a:lnRef idx="1">
            <a:schemeClr val="accent1"/>
          </a:lnRef>
          <a:fillRef idx="0">
            <a:schemeClr val="accent1"/>
          </a:fillRef>
          <a:effectRef idx="0">
            <a:schemeClr val="accent1"/>
          </a:effectRef>
          <a:fontRef idx="minor">
            <a:schemeClr val="tx1"/>
          </a:fontRef>
        </p:style>
      </p:cxnSp>
      <p:sp>
        <p:nvSpPr>
          <p:cNvPr id="7" name="Rectangle: Rounded Corners 6">
            <a:extLst>
              <a:ext uri="{FF2B5EF4-FFF2-40B4-BE49-F238E27FC236}">
                <a16:creationId xmlns:a16="http://schemas.microsoft.com/office/drawing/2014/main" id="{F60AE2B1-1A6D-4CF0-A83B-DD7AF1B24989}"/>
              </a:ext>
            </a:extLst>
          </p:cNvPr>
          <p:cNvSpPr/>
          <p:nvPr/>
        </p:nvSpPr>
        <p:spPr>
          <a:xfrm>
            <a:off x="1270000" y="1803400"/>
            <a:ext cx="9652000" cy="1651000"/>
          </a:xfrm>
          <a:prstGeom prst="roundRect">
            <a:avLst/>
          </a:prstGeom>
          <a:solidFill>
            <a:srgbClr val="060A12"/>
          </a:solidFill>
          <a:ln w="15875">
            <a:solidFill>
              <a:srgbClr val="1F2C4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85F0BECB-B346-DECC-596E-422C5DF09219}"/>
              </a:ext>
            </a:extLst>
          </p:cNvPr>
          <p:cNvSpPr/>
          <p:nvPr/>
        </p:nvSpPr>
        <p:spPr>
          <a:xfrm>
            <a:off x="1270000" y="1803400"/>
            <a:ext cx="88900" cy="1651000"/>
          </a:xfrm>
          <a:prstGeom prst="rect">
            <a:avLst/>
          </a:prstGeom>
          <a:solidFill>
            <a:srgbClr val="3ECF8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FB413739-7301-5E41-CDD5-9376D09EBFB3}"/>
              </a:ext>
            </a:extLst>
          </p:cNvPr>
          <p:cNvSpPr txBox="1"/>
          <p:nvPr/>
        </p:nvSpPr>
        <p:spPr>
          <a:xfrm>
            <a:off x="1498600" y="1955800"/>
            <a:ext cx="9271000" cy="276999"/>
          </a:xfrm>
          <a:prstGeom prst="rect">
            <a:avLst/>
          </a:prstGeom>
          <a:noFill/>
        </p:spPr>
        <p:txBody>
          <a:bodyPr vert="horz" wrap="square" lIns="0" tIns="0" rIns="0" bIns="0" rtlCol="0" anchor="t">
            <a:noAutofit/>
          </a:bodyPr>
          <a:lstStyle/>
          <a:p>
            <a:r>
              <a:rPr lang="en-US">
                <a:solidFill>
                  <a:srgbClr val="F2F5F9"/>
                </a:solidFill>
                <a:latin typeface="Consolas" panose="020B0609020204030204" pitchFamily="49" charset="0"/>
              </a:rPr>
              <a:t>public void drive(double leftSpeed, double rightSpeed) {</a:t>
            </a:r>
          </a:p>
          <a:p>
            <a:r>
              <a:rPr lang="en-US">
                <a:solidFill>
                  <a:srgbClr val="F2F5F9"/>
                </a:solidFill>
                <a:latin typeface="Consolas" panose="020B0609020204030204" pitchFamily="49" charset="0"/>
              </a:rPr>
              <a:t>    leftDriveLeader.set(leftSpeed);</a:t>
            </a:r>
          </a:p>
          <a:p>
            <a:r>
              <a:rPr lang="en-US">
                <a:solidFill>
                  <a:srgbClr val="F2F5F9"/>
                </a:solidFill>
                <a:latin typeface="Consolas" panose="020B0609020204030204" pitchFamily="49" charset="0"/>
              </a:rPr>
              <a:t>    rightDriveLeader.set(rightSpeed);</a:t>
            </a:r>
          </a:p>
          <a:p>
            <a:r>
              <a:rPr lang="en-US">
                <a:solidFill>
                  <a:srgbClr val="F2F5F9"/>
                </a:solidFill>
                <a:latin typeface="Consolas" panose="020B0609020204030204" pitchFamily="49" charset="0"/>
              </a:rPr>
              <a:t>}</a:t>
            </a:r>
          </a:p>
        </p:txBody>
      </p:sp>
      <p:sp>
        <p:nvSpPr>
          <p:cNvPr id="10" name="Rectangle: Rounded Corners 9">
            <a:extLst>
              <a:ext uri="{FF2B5EF4-FFF2-40B4-BE49-F238E27FC236}">
                <a16:creationId xmlns:a16="http://schemas.microsoft.com/office/drawing/2014/main" id="{035C3E63-E724-F2F0-9B19-207BF9F90093}"/>
              </a:ext>
            </a:extLst>
          </p:cNvPr>
          <p:cNvSpPr/>
          <p:nvPr/>
        </p:nvSpPr>
        <p:spPr>
          <a:xfrm>
            <a:off x="1041400" y="3886200"/>
            <a:ext cx="1651000" cy="330200"/>
          </a:xfrm>
          <a:prstGeom prst="roundRect">
            <a:avLst/>
          </a:prstGeom>
          <a:solidFill>
            <a:srgbClr val="379D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F1EFB058-5C9E-F470-C816-06EAFB1051B4}"/>
              </a:ext>
            </a:extLst>
          </p:cNvPr>
          <p:cNvSpPr txBox="1"/>
          <p:nvPr/>
        </p:nvSpPr>
        <p:spPr>
          <a:xfrm>
            <a:off x="1117600" y="3924300"/>
            <a:ext cx="1498600" cy="276999"/>
          </a:xfrm>
          <a:prstGeom prst="rect">
            <a:avLst/>
          </a:prstGeom>
          <a:noFill/>
        </p:spPr>
        <p:txBody>
          <a:bodyPr vert="horz" wrap="square" lIns="0" tIns="0" rIns="0" bIns="0" rtlCol="0">
            <a:noAutofit/>
          </a:bodyPr>
          <a:lstStyle/>
          <a:p>
            <a:pPr algn="ctr"/>
            <a:r>
              <a:rPr lang="en-US" sz="1050" b="1">
                <a:solidFill>
                  <a:srgbClr val="060A12"/>
                </a:solidFill>
                <a:latin typeface="Aptos" panose="020B0004020202020204" pitchFamily="34" charset="0"/>
              </a:rPr>
              <a:t>LEFT SPEED</a:t>
            </a:r>
          </a:p>
        </p:txBody>
      </p:sp>
      <p:sp>
        <p:nvSpPr>
          <p:cNvPr id="12" name="Rectangle: Rounded Corners 11">
            <a:extLst>
              <a:ext uri="{FF2B5EF4-FFF2-40B4-BE49-F238E27FC236}">
                <a16:creationId xmlns:a16="http://schemas.microsoft.com/office/drawing/2014/main" id="{B6027C94-706E-EEBB-9AF5-6BFF7877278C}"/>
              </a:ext>
            </a:extLst>
          </p:cNvPr>
          <p:cNvSpPr/>
          <p:nvPr/>
        </p:nvSpPr>
        <p:spPr>
          <a:xfrm>
            <a:off x="1041400" y="4826000"/>
            <a:ext cx="1651000" cy="330200"/>
          </a:xfrm>
          <a:prstGeom prst="roundRect">
            <a:avLst/>
          </a:prstGeom>
          <a:solidFill>
            <a:srgbClr val="FF646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026D71CE-5E62-7961-888F-F1B55C7B2F87}"/>
              </a:ext>
            </a:extLst>
          </p:cNvPr>
          <p:cNvSpPr txBox="1"/>
          <p:nvPr/>
        </p:nvSpPr>
        <p:spPr>
          <a:xfrm>
            <a:off x="1117600" y="4864100"/>
            <a:ext cx="1498600" cy="276999"/>
          </a:xfrm>
          <a:prstGeom prst="rect">
            <a:avLst/>
          </a:prstGeom>
          <a:noFill/>
        </p:spPr>
        <p:txBody>
          <a:bodyPr vert="horz" wrap="square" lIns="0" tIns="0" rIns="0" bIns="0" rtlCol="0">
            <a:noAutofit/>
          </a:bodyPr>
          <a:lstStyle/>
          <a:p>
            <a:pPr algn="ctr"/>
            <a:r>
              <a:rPr lang="en-US" sz="1050" b="1">
                <a:solidFill>
                  <a:srgbClr val="060A12"/>
                </a:solidFill>
                <a:latin typeface="Aptos" panose="020B0004020202020204" pitchFamily="34" charset="0"/>
              </a:rPr>
              <a:t>RIGHT SPEED</a:t>
            </a:r>
          </a:p>
        </p:txBody>
      </p:sp>
      <p:sp>
        <p:nvSpPr>
          <p:cNvPr id="14" name="Rectangle: Rounded Corners 13">
            <a:extLst>
              <a:ext uri="{FF2B5EF4-FFF2-40B4-BE49-F238E27FC236}">
                <a16:creationId xmlns:a16="http://schemas.microsoft.com/office/drawing/2014/main" id="{21349384-C272-CDF0-B0F6-20B9D77CB4EC}"/>
              </a:ext>
            </a:extLst>
          </p:cNvPr>
          <p:cNvSpPr/>
          <p:nvPr/>
        </p:nvSpPr>
        <p:spPr>
          <a:xfrm>
            <a:off x="3886200" y="4102100"/>
            <a:ext cx="1955800" cy="863600"/>
          </a:xfrm>
          <a:prstGeom prst="roundRect">
            <a:avLst/>
          </a:prstGeom>
          <a:solidFill>
            <a:srgbClr val="182234"/>
          </a:solidFill>
          <a:ln w="15875">
            <a:solidFill>
              <a:srgbClr val="3ECF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4830C8B4-7621-3C33-D6C8-DCAD90C48AF7}"/>
              </a:ext>
            </a:extLst>
          </p:cNvPr>
          <p:cNvSpPr txBox="1"/>
          <p:nvPr/>
        </p:nvSpPr>
        <p:spPr>
          <a:xfrm>
            <a:off x="4051300" y="4381500"/>
            <a:ext cx="1625600" cy="276999"/>
          </a:xfrm>
          <a:prstGeom prst="rect">
            <a:avLst/>
          </a:prstGeom>
          <a:noFill/>
        </p:spPr>
        <p:txBody>
          <a:bodyPr vert="horz" wrap="square" lIns="0" tIns="0" rIns="0" bIns="0" rtlCol="0" anchor="t">
            <a:noAutofit/>
          </a:bodyPr>
          <a:lstStyle/>
          <a:p>
            <a:pPr algn="ctr"/>
            <a:r>
              <a:rPr lang="en-US" sz="1600" b="1">
                <a:solidFill>
                  <a:srgbClr val="3ECF8E"/>
                </a:solidFill>
                <a:latin typeface="Consolas" panose="020B0609020204030204" pitchFamily="49" charset="0"/>
              </a:rPr>
              <a:t>drive(left, right)</a:t>
            </a:r>
          </a:p>
        </p:txBody>
      </p:sp>
      <p:cxnSp>
        <p:nvCxnSpPr>
          <p:cNvPr id="16" name="Straight Connector 15">
            <a:extLst>
              <a:ext uri="{FF2B5EF4-FFF2-40B4-BE49-F238E27FC236}">
                <a16:creationId xmlns:a16="http://schemas.microsoft.com/office/drawing/2014/main" id="{3F7DFD4B-A330-63BA-AEDC-D1E4AC4BCBA3}"/>
              </a:ext>
            </a:extLst>
          </p:cNvPr>
          <p:cNvCxnSpPr/>
          <p:nvPr/>
        </p:nvCxnSpPr>
        <p:spPr>
          <a:xfrm>
            <a:off x="2692400" y="4051300"/>
            <a:ext cx="1193800" cy="304800"/>
          </a:xfrm>
          <a:prstGeom prst="line">
            <a:avLst/>
          </a:prstGeom>
          <a:ln w="38100">
            <a:solidFill>
              <a:srgbClr val="379DFF"/>
            </a:solidFill>
            <a:tailEnd type="arrow"/>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E3ECD7B0-146B-D342-720D-61487C8E2F5B}"/>
              </a:ext>
            </a:extLst>
          </p:cNvPr>
          <p:cNvCxnSpPr/>
          <p:nvPr/>
        </p:nvCxnSpPr>
        <p:spPr>
          <a:xfrm flipV="1">
            <a:off x="2692400" y="4711700"/>
            <a:ext cx="1193800" cy="279400"/>
          </a:xfrm>
          <a:prstGeom prst="line">
            <a:avLst/>
          </a:prstGeom>
          <a:ln w="38100">
            <a:solidFill>
              <a:srgbClr val="FF6464"/>
            </a:solidFill>
            <a:tailEnd type="arrow"/>
          </a:ln>
        </p:spPr>
        <p:style>
          <a:lnRef idx="1">
            <a:schemeClr val="accent1"/>
          </a:lnRef>
          <a:fillRef idx="0">
            <a:schemeClr val="accent1"/>
          </a:fillRef>
          <a:effectRef idx="0">
            <a:schemeClr val="accent1"/>
          </a:effectRef>
          <a:fontRef idx="minor">
            <a:schemeClr val="tx1"/>
          </a:fontRef>
        </p:style>
      </p:cxnSp>
      <p:sp>
        <p:nvSpPr>
          <p:cNvPr id="18" name="Rectangle: Rounded Corners 17">
            <a:extLst>
              <a:ext uri="{FF2B5EF4-FFF2-40B4-BE49-F238E27FC236}">
                <a16:creationId xmlns:a16="http://schemas.microsoft.com/office/drawing/2014/main" id="{F69C938A-B3B8-0EC1-DA52-9041615680B3}"/>
              </a:ext>
            </a:extLst>
          </p:cNvPr>
          <p:cNvSpPr/>
          <p:nvPr/>
        </p:nvSpPr>
        <p:spPr>
          <a:xfrm>
            <a:off x="6985000" y="3886200"/>
            <a:ext cx="1651000" cy="330200"/>
          </a:xfrm>
          <a:prstGeom prst="roundRect">
            <a:avLst/>
          </a:prstGeom>
          <a:solidFill>
            <a:srgbClr val="379D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3A3653DC-F470-0B58-0463-36EC92955447}"/>
              </a:ext>
            </a:extLst>
          </p:cNvPr>
          <p:cNvSpPr txBox="1"/>
          <p:nvPr/>
        </p:nvSpPr>
        <p:spPr>
          <a:xfrm>
            <a:off x="7061200" y="3924300"/>
            <a:ext cx="1498600" cy="276999"/>
          </a:xfrm>
          <a:prstGeom prst="rect">
            <a:avLst/>
          </a:prstGeom>
          <a:noFill/>
        </p:spPr>
        <p:txBody>
          <a:bodyPr vert="horz" wrap="square" lIns="0" tIns="0" rIns="0" bIns="0" rtlCol="0">
            <a:noAutofit/>
          </a:bodyPr>
          <a:lstStyle/>
          <a:p>
            <a:pPr algn="ctr"/>
            <a:r>
              <a:rPr lang="en-US" sz="1050" b="1">
                <a:solidFill>
                  <a:srgbClr val="060A12"/>
                </a:solidFill>
                <a:latin typeface="Aptos" panose="020B0004020202020204" pitchFamily="34" charset="0"/>
              </a:rPr>
              <a:t>LEFT LEADER</a:t>
            </a:r>
          </a:p>
        </p:txBody>
      </p:sp>
      <p:sp>
        <p:nvSpPr>
          <p:cNvPr id="20" name="Rectangle: Rounded Corners 19">
            <a:extLst>
              <a:ext uri="{FF2B5EF4-FFF2-40B4-BE49-F238E27FC236}">
                <a16:creationId xmlns:a16="http://schemas.microsoft.com/office/drawing/2014/main" id="{A2BDBEC3-10FB-256B-0E1E-D4C4969FD52C}"/>
              </a:ext>
            </a:extLst>
          </p:cNvPr>
          <p:cNvSpPr/>
          <p:nvPr/>
        </p:nvSpPr>
        <p:spPr>
          <a:xfrm>
            <a:off x="6985000" y="4826000"/>
            <a:ext cx="1651000" cy="330200"/>
          </a:xfrm>
          <a:prstGeom prst="roundRect">
            <a:avLst/>
          </a:prstGeom>
          <a:solidFill>
            <a:srgbClr val="FF646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67331151-EC1D-E17A-B8D3-3D75E9E36061}"/>
              </a:ext>
            </a:extLst>
          </p:cNvPr>
          <p:cNvSpPr txBox="1"/>
          <p:nvPr/>
        </p:nvSpPr>
        <p:spPr>
          <a:xfrm>
            <a:off x="7061200" y="4864100"/>
            <a:ext cx="1498600" cy="276999"/>
          </a:xfrm>
          <a:prstGeom prst="rect">
            <a:avLst/>
          </a:prstGeom>
          <a:noFill/>
        </p:spPr>
        <p:txBody>
          <a:bodyPr vert="horz" wrap="square" lIns="0" tIns="0" rIns="0" bIns="0" rtlCol="0">
            <a:noAutofit/>
          </a:bodyPr>
          <a:lstStyle/>
          <a:p>
            <a:pPr algn="ctr"/>
            <a:r>
              <a:rPr lang="en-US" sz="1050" b="1">
                <a:solidFill>
                  <a:srgbClr val="060A12"/>
                </a:solidFill>
                <a:latin typeface="Aptos" panose="020B0004020202020204" pitchFamily="34" charset="0"/>
              </a:rPr>
              <a:t>RIGHT LEADER</a:t>
            </a:r>
          </a:p>
        </p:txBody>
      </p:sp>
      <p:cxnSp>
        <p:nvCxnSpPr>
          <p:cNvPr id="22" name="Straight Connector 21">
            <a:extLst>
              <a:ext uri="{FF2B5EF4-FFF2-40B4-BE49-F238E27FC236}">
                <a16:creationId xmlns:a16="http://schemas.microsoft.com/office/drawing/2014/main" id="{C793743E-2C8A-CB62-F64E-69C1CC1EF5A6}"/>
              </a:ext>
            </a:extLst>
          </p:cNvPr>
          <p:cNvCxnSpPr/>
          <p:nvPr/>
        </p:nvCxnSpPr>
        <p:spPr>
          <a:xfrm flipV="1">
            <a:off x="5842000" y="4051300"/>
            <a:ext cx="1143000" cy="304800"/>
          </a:xfrm>
          <a:prstGeom prst="line">
            <a:avLst/>
          </a:prstGeom>
          <a:ln w="38100">
            <a:solidFill>
              <a:srgbClr val="379DFF"/>
            </a:solidFill>
            <a:tailEnd type="arrow"/>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774E1300-21D4-8D9F-D32B-995E99BEFF46}"/>
              </a:ext>
            </a:extLst>
          </p:cNvPr>
          <p:cNvCxnSpPr/>
          <p:nvPr/>
        </p:nvCxnSpPr>
        <p:spPr>
          <a:xfrm>
            <a:off x="5842000" y="4711700"/>
            <a:ext cx="1143000" cy="279400"/>
          </a:xfrm>
          <a:prstGeom prst="line">
            <a:avLst/>
          </a:prstGeom>
          <a:ln w="38100">
            <a:solidFill>
              <a:srgbClr val="FF6464"/>
            </a:solidFill>
            <a:tailEnd type="arrow"/>
          </a:ln>
        </p:spPr>
        <p:style>
          <a:lnRef idx="1">
            <a:schemeClr val="accent1"/>
          </a:lnRef>
          <a:fillRef idx="0">
            <a:schemeClr val="accent1"/>
          </a:fillRef>
          <a:effectRef idx="0">
            <a:schemeClr val="accent1"/>
          </a:effectRef>
          <a:fontRef idx="minor">
            <a:schemeClr val="tx1"/>
          </a:fontRef>
        </p:style>
      </p:cxnSp>
      <p:sp>
        <p:nvSpPr>
          <p:cNvPr id="24" name="Rectangle: Rounded Corners 23">
            <a:extLst>
              <a:ext uri="{FF2B5EF4-FFF2-40B4-BE49-F238E27FC236}">
                <a16:creationId xmlns:a16="http://schemas.microsoft.com/office/drawing/2014/main" id="{1F1F3887-17AA-0E98-2DE4-F6306BB41BF9}"/>
              </a:ext>
            </a:extLst>
          </p:cNvPr>
          <p:cNvSpPr/>
          <p:nvPr/>
        </p:nvSpPr>
        <p:spPr>
          <a:xfrm>
            <a:off x="9652000" y="3886200"/>
            <a:ext cx="1841500" cy="330200"/>
          </a:xfrm>
          <a:prstGeom prst="roundRect">
            <a:avLst/>
          </a:prstGeom>
          <a:solidFill>
            <a:srgbClr val="A9B4C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0B44D3E3-CF05-5685-82F0-7CBA6B4CFD92}"/>
              </a:ext>
            </a:extLst>
          </p:cNvPr>
          <p:cNvSpPr txBox="1"/>
          <p:nvPr/>
        </p:nvSpPr>
        <p:spPr>
          <a:xfrm>
            <a:off x="9728200" y="3924300"/>
            <a:ext cx="1689100" cy="276999"/>
          </a:xfrm>
          <a:prstGeom prst="rect">
            <a:avLst/>
          </a:prstGeom>
          <a:noFill/>
        </p:spPr>
        <p:txBody>
          <a:bodyPr vert="horz" wrap="square" lIns="0" tIns="0" rIns="0" bIns="0" rtlCol="0">
            <a:noAutofit/>
          </a:bodyPr>
          <a:lstStyle/>
          <a:p>
            <a:pPr algn="ctr"/>
            <a:r>
              <a:rPr lang="en-US" sz="1050" b="1">
                <a:solidFill>
                  <a:srgbClr val="F2F5F9"/>
                </a:solidFill>
                <a:latin typeface="Aptos" panose="020B0004020202020204" pitchFamily="34" charset="0"/>
              </a:rPr>
              <a:t>LEFT FOLLOWER</a:t>
            </a:r>
          </a:p>
        </p:txBody>
      </p:sp>
      <p:sp>
        <p:nvSpPr>
          <p:cNvPr id="26" name="Rectangle: Rounded Corners 25">
            <a:extLst>
              <a:ext uri="{FF2B5EF4-FFF2-40B4-BE49-F238E27FC236}">
                <a16:creationId xmlns:a16="http://schemas.microsoft.com/office/drawing/2014/main" id="{51942AB9-9FDC-31B4-4757-D6DAF3685929}"/>
              </a:ext>
            </a:extLst>
          </p:cNvPr>
          <p:cNvSpPr/>
          <p:nvPr/>
        </p:nvSpPr>
        <p:spPr>
          <a:xfrm>
            <a:off x="9652000" y="4826000"/>
            <a:ext cx="1841500" cy="330200"/>
          </a:xfrm>
          <a:prstGeom prst="roundRect">
            <a:avLst/>
          </a:prstGeom>
          <a:solidFill>
            <a:srgbClr val="A9B4C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0BE0AC04-A228-C9B5-5FE5-770B16DDEF2A}"/>
              </a:ext>
            </a:extLst>
          </p:cNvPr>
          <p:cNvSpPr txBox="1"/>
          <p:nvPr/>
        </p:nvSpPr>
        <p:spPr>
          <a:xfrm>
            <a:off x="9728200" y="4864100"/>
            <a:ext cx="1689100" cy="276999"/>
          </a:xfrm>
          <a:prstGeom prst="rect">
            <a:avLst/>
          </a:prstGeom>
          <a:noFill/>
        </p:spPr>
        <p:txBody>
          <a:bodyPr vert="horz" wrap="square" lIns="0" tIns="0" rIns="0" bIns="0" rtlCol="0">
            <a:noAutofit/>
          </a:bodyPr>
          <a:lstStyle/>
          <a:p>
            <a:pPr algn="ctr"/>
            <a:r>
              <a:rPr lang="en-US" sz="1050" b="1">
                <a:solidFill>
                  <a:srgbClr val="F2F5F9"/>
                </a:solidFill>
                <a:latin typeface="Aptos" panose="020B0004020202020204" pitchFamily="34" charset="0"/>
              </a:rPr>
              <a:t>RIGHT FOLLOWER</a:t>
            </a:r>
          </a:p>
        </p:txBody>
      </p:sp>
      <p:cxnSp>
        <p:nvCxnSpPr>
          <p:cNvPr id="28" name="Straight Connector 27">
            <a:extLst>
              <a:ext uri="{FF2B5EF4-FFF2-40B4-BE49-F238E27FC236}">
                <a16:creationId xmlns:a16="http://schemas.microsoft.com/office/drawing/2014/main" id="{FB02E007-3F7E-4144-8385-92CD8DB8EF79}"/>
              </a:ext>
            </a:extLst>
          </p:cNvPr>
          <p:cNvCxnSpPr/>
          <p:nvPr/>
        </p:nvCxnSpPr>
        <p:spPr>
          <a:xfrm>
            <a:off x="8636000" y="4051300"/>
            <a:ext cx="1016000" cy="0"/>
          </a:xfrm>
          <a:prstGeom prst="line">
            <a:avLst/>
          </a:prstGeom>
          <a:ln w="38100">
            <a:solidFill>
              <a:srgbClr val="379DFF"/>
            </a:solidFill>
            <a:tailEnd type="arrow"/>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4CC0FCB9-4A52-C591-CDDA-DC0797DA6EF0}"/>
              </a:ext>
            </a:extLst>
          </p:cNvPr>
          <p:cNvCxnSpPr/>
          <p:nvPr/>
        </p:nvCxnSpPr>
        <p:spPr>
          <a:xfrm>
            <a:off x="8636000" y="4991100"/>
            <a:ext cx="1016000" cy="0"/>
          </a:xfrm>
          <a:prstGeom prst="line">
            <a:avLst/>
          </a:prstGeom>
          <a:ln w="38100">
            <a:solidFill>
              <a:srgbClr val="FF6464"/>
            </a:solidFill>
            <a:tailEnd type="arrow"/>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36B52748-E48F-910C-B613-83C0F5BBADC5}"/>
              </a:ext>
            </a:extLst>
          </p:cNvPr>
          <p:cNvSpPr txBox="1"/>
          <p:nvPr/>
        </p:nvSpPr>
        <p:spPr>
          <a:xfrm>
            <a:off x="2540000" y="5575300"/>
            <a:ext cx="7112000" cy="276999"/>
          </a:xfrm>
          <a:prstGeom prst="rect">
            <a:avLst/>
          </a:prstGeom>
          <a:noFill/>
        </p:spPr>
        <p:txBody>
          <a:bodyPr vert="horz" wrap="square" lIns="0" tIns="0" rIns="0" bIns="0" rtlCol="0" anchor="t">
            <a:noAutofit/>
          </a:bodyPr>
          <a:lstStyle/>
          <a:p>
            <a:pPr algn="ctr"/>
            <a:r>
              <a:rPr lang="en-US" sz="1500" b="1">
                <a:solidFill>
                  <a:srgbClr val="F2F5F9"/>
                </a:solidFill>
                <a:latin typeface="Aptos" panose="020B0004020202020204" pitchFamily="34" charset="0"/>
              </a:rPr>
              <a:t>Each request controls one side; each follower mirrors its leader.</a:t>
            </a:r>
          </a:p>
        </p:txBody>
      </p:sp>
      <p:sp>
        <p:nvSpPr>
          <p:cNvPr id="31" name="Rectangle: Rounded Corners 30">
            <a:extLst>
              <a:ext uri="{FF2B5EF4-FFF2-40B4-BE49-F238E27FC236}">
                <a16:creationId xmlns:a16="http://schemas.microsoft.com/office/drawing/2014/main" id="{95CAD013-F90F-8D1D-48A6-5B9E359054D3}"/>
              </a:ext>
            </a:extLst>
          </p:cNvPr>
          <p:cNvSpPr/>
          <p:nvPr/>
        </p:nvSpPr>
        <p:spPr>
          <a:xfrm>
            <a:off x="533400" y="6261100"/>
            <a:ext cx="11125200" cy="533400"/>
          </a:xfrm>
          <a:prstGeom prst="roundRect">
            <a:avLst/>
          </a:prstGeom>
          <a:solidFill>
            <a:srgbClr val="18223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Rounded Corners 31">
            <a:extLst>
              <a:ext uri="{FF2B5EF4-FFF2-40B4-BE49-F238E27FC236}">
                <a16:creationId xmlns:a16="http://schemas.microsoft.com/office/drawing/2014/main" id="{83E18BAB-531A-04A8-A724-19E9F5031A3D}"/>
              </a:ext>
            </a:extLst>
          </p:cNvPr>
          <p:cNvSpPr/>
          <p:nvPr/>
        </p:nvSpPr>
        <p:spPr>
          <a:xfrm>
            <a:off x="660400" y="6362700"/>
            <a:ext cx="1473200" cy="330200"/>
          </a:xfrm>
          <a:prstGeom prst="roundRect">
            <a:avLst/>
          </a:prstGeom>
          <a:solidFill>
            <a:srgbClr val="35CBB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a:extLst>
              <a:ext uri="{FF2B5EF4-FFF2-40B4-BE49-F238E27FC236}">
                <a16:creationId xmlns:a16="http://schemas.microsoft.com/office/drawing/2014/main" id="{6AB48D60-0941-2A5B-F305-CE453739372E}"/>
              </a:ext>
            </a:extLst>
          </p:cNvPr>
          <p:cNvSpPr txBox="1"/>
          <p:nvPr/>
        </p:nvSpPr>
        <p:spPr>
          <a:xfrm>
            <a:off x="736600" y="6400800"/>
            <a:ext cx="1320800" cy="276999"/>
          </a:xfrm>
          <a:prstGeom prst="rect">
            <a:avLst/>
          </a:prstGeom>
          <a:noFill/>
        </p:spPr>
        <p:txBody>
          <a:bodyPr vert="horz" wrap="square" lIns="0" tIns="0" rIns="0" bIns="0" rtlCol="0">
            <a:noAutofit/>
          </a:bodyPr>
          <a:lstStyle/>
          <a:p>
            <a:pPr algn="ctr"/>
            <a:r>
              <a:rPr lang="en-US" sz="1050" b="1">
                <a:solidFill>
                  <a:srgbClr val="060A12"/>
                </a:solidFill>
                <a:latin typeface="Aptos" panose="020B0004020202020204" pitchFamily="34" charset="0"/>
              </a:rPr>
              <a:t>PREDICT</a:t>
            </a:r>
          </a:p>
        </p:txBody>
      </p:sp>
      <p:sp>
        <p:nvSpPr>
          <p:cNvPr id="34" name="TextBox 33">
            <a:extLst>
              <a:ext uri="{FF2B5EF4-FFF2-40B4-BE49-F238E27FC236}">
                <a16:creationId xmlns:a16="http://schemas.microsoft.com/office/drawing/2014/main" id="{8036959D-371F-E88B-6239-739380DC0267}"/>
              </a:ext>
            </a:extLst>
          </p:cNvPr>
          <p:cNvSpPr txBox="1"/>
          <p:nvPr/>
        </p:nvSpPr>
        <p:spPr>
          <a:xfrm>
            <a:off x="2286000" y="6362700"/>
            <a:ext cx="9207500" cy="276999"/>
          </a:xfrm>
          <a:prstGeom prst="rect">
            <a:avLst/>
          </a:prstGeom>
          <a:noFill/>
        </p:spPr>
        <p:txBody>
          <a:bodyPr vert="horz" wrap="square" lIns="0" tIns="0" rIns="0" bIns="0" rtlCol="0" anchor="t">
            <a:noAutofit/>
          </a:bodyPr>
          <a:lstStyle/>
          <a:p>
            <a:r>
              <a:rPr lang="en-US" sz="1300">
                <a:solidFill>
                  <a:srgbClr val="F2F5F9"/>
                </a:solidFill>
                <a:latin typeface="Aptos" panose="020B0004020202020204" pitchFamily="34" charset="0"/>
              </a:rPr>
              <a:t>Which class should call drive() during teleoperated control?</a:t>
            </a:r>
          </a:p>
        </p:txBody>
      </p:sp>
      <p:sp>
        <p:nvSpPr>
          <p:cNvPr id="35" name="TextBox 34">
            <a:extLst>
              <a:ext uri="{FF2B5EF4-FFF2-40B4-BE49-F238E27FC236}">
                <a16:creationId xmlns:a16="http://schemas.microsoft.com/office/drawing/2014/main" id="{D73CBE58-DC4D-F8A7-19E7-888337D0EF48}"/>
              </a:ext>
            </a:extLst>
          </p:cNvPr>
          <p:cNvSpPr txBox="1"/>
          <p:nvPr/>
        </p:nvSpPr>
        <p:spPr>
          <a:xfrm>
            <a:off x="533400" y="6908800"/>
            <a:ext cx="8890000" cy="276999"/>
          </a:xfrm>
          <a:prstGeom prst="rect">
            <a:avLst/>
          </a:prstGeom>
          <a:noFill/>
        </p:spPr>
        <p:txBody>
          <a:bodyPr vert="horz" wrap="square" lIns="0" tIns="0" rIns="0" bIns="0" rtlCol="0" anchor="t">
            <a:noAutofit/>
          </a:bodyPr>
          <a:lstStyle/>
          <a:p>
            <a:r>
              <a:rPr lang="en-US" sz="850">
                <a:solidFill>
                  <a:srgbClr val="A9B4C5"/>
                </a:solidFill>
                <a:latin typeface="Aptos" panose="020B0004020202020204" pitchFamily="34" charset="0"/>
              </a:rPr>
              <a:t>Source: DriveSubsystem.java</a:t>
            </a:r>
          </a:p>
        </p:txBody>
      </p:sp>
      <p:sp>
        <p:nvSpPr>
          <p:cNvPr id="36" name="TextBox 35">
            <a:extLst>
              <a:ext uri="{FF2B5EF4-FFF2-40B4-BE49-F238E27FC236}">
                <a16:creationId xmlns:a16="http://schemas.microsoft.com/office/drawing/2014/main" id="{5EA025C7-2810-A25B-E781-EB16050457B7}"/>
              </a:ext>
            </a:extLst>
          </p:cNvPr>
          <p:cNvSpPr txBox="1"/>
          <p:nvPr/>
        </p:nvSpPr>
        <p:spPr>
          <a:xfrm>
            <a:off x="9017000" y="6908800"/>
            <a:ext cx="2641600" cy="276999"/>
          </a:xfrm>
          <a:prstGeom prst="rect">
            <a:avLst/>
          </a:prstGeom>
          <a:noFill/>
        </p:spPr>
        <p:txBody>
          <a:bodyPr vert="horz" wrap="square" lIns="0" tIns="0" rIns="0" bIns="0" rtlCol="0" anchor="t">
            <a:noAutofit/>
          </a:bodyPr>
          <a:lstStyle/>
          <a:p>
            <a:pPr algn="r"/>
            <a:r>
              <a:rPr lang="en-US" sz="850">
                <a:solidFill>
                  <a:srgbClr val="A9B4C5"/>
                </a:solidFill>
                <a:latin typeface="Aptos" panose="020B0004020202020204" pitchFamily="34" charset="0"/>
              </a:rPr>
              <a:t>CURRENT ROBOT IMPLEMENTATION • V2</a:t>
            </a:r>
          </a:p>
        </p:txBody>
      </p:sp>
    </p:spTree>
    <p:extLst>
      <p:ext uri="{BB962C8B-B14F-4D97-AF65-F5344CB8AC3E}">
        <p14:creationId xmlns:p14="http://schemas.microsoft.com/office/powerpoint/2010/main" val="24507196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D1421"/>
        </a:solidFill>
        <a:effectLst/>
      </p:bgPr>
    </p:bg>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9AB811CB-7C5C-C21D-6E68-222F5060533E}"/>
              </a:ext>
            </a:extLst>
          </p:cNvPr>
          <p:cNvSpPr/>
          <p:nvPr/>
        </p:nvSpPr>
        <p:spPr>
          <a:xfrm>
            <a:off x="533400" y="292100"/>
            <a:ext cx="1473200" cy="330200"/>
          </a:xfrm>
          <a:prstGeom prst="roundRect">
            <a:avLst/>
          </a:prstGeom>
          <a:solidFill>
            <a:srgbClr val="35CBB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5328B94B-4343-46F1-BF65-BA5707E3EAC5}"/>
              </a:ext>
            </a:extLst>
          </p:cNvPr>
          <p:cNvSpPr txBox="1"/>
          <p:nvPr/>
        </p:nvSpPr>
        <p:spPr>
          <a:xfrm>
            <a:off x="609600" y="330200"/>
            <a:ext cx="1320800" cy="276999"/>
          </a:xfrm>
          <a:prstGeom prst="rect">
            <a:avLst/>
          </a:prstGeom>
          <a:noFill/>
        </p:spPr>
        <p:txBody>
          <a:bodyPr vert="horz" wrap="square" lIns="0" tIns="0" rIns="0" bIns="0" rtlCol="0">
            <a:noAutofit/>
          </a:bodyPr>
          <a:lstStyle/>
          <a:p>
            <a:pPr algn="ctr"/>
            <a:r>
              <a:rPr lang="en-US" sz="1050" b="1">
                <a:solidFill>
                  <a:srgbClr val="060A12"/>
                </a:solidFill>
                <a:latin typeface="Aptos" panose="020B0004020202020204" pitchFamily="34" charset="0"/>
              </a:rPr>
              <a:t>BEGINNER TRACK</a:t>
            </a:r>
          </a:p>
        </p:txBody>
      </p:sp>
      <p:sp>
        <p:nvSpPr>
          <p:cNvPr id="4" name="TextBox 3">
            <a:extLst>
              <a:ext uri="{FF2B5EF4-FFF2-40B4-BE49-F238E27FC236}">
                <a16:creationId xmlns:a16="http://schemas.microsoft.com/office/drawing/2014/main" id="{96D0CFCF-9178-2D2C-06F9-8350187CEEBB}"/>
              </a:ext>
            </a:extLst>
          </p:cNvPr>
          <p:cNvSpPr txBox="1"/>
          <p:nvPr/>
        </p:nvSpPr>
        <p:spPr>
          <a:xfrm>
            <a:off x="533400" y="762000"/>
            <a:ext cx="10960100" cy="277000"/>
          </a:xfrm>
          <a:prstGeom prst="rect">
            <a:avLst/>
          </a:prstGeom>
          <a:noFill/>
        </p:spPr>
        <p:txBody>
          <a:bodyPr vert="horz" wrap="square" lIns="0" tIns="0" rIns="0" bIns="0" rtlCol="0" anchor="t">
            <a:noAutofit/>
          </a:bodyPr>
          <a:lstStyle/>
          <a:p>
            <a:r>
              <a:rPr lang="en-US" sz="2800" b="1" dirty="0">
                <a:solidFill>
                  <a:srgbClr val="F2F5F9"/>
                </a:solidFill>
                <a:latin typeface="Aptos Display" panose="020B0004020202020204" pitchFamily="34" charset="0"/>
              </a:rPr>
              <a:t>A default command runs </a:t>
            </a:r>
            <a:r>
              <a:rPr lang="en-US" sz="2800" dirty="0">
                <a:solidFill>
                  <a:schemeClr val="bg1"/>
                </a:solidFill>
                <a:latin typeface="Aptos Display" panose="020B0004020202020204" pitchFamily="34" charset="0"/>
              </a:rPr>
              <a:t>when no other command requires the subsystem</a:t>
            </a:r>
            <a:endParaRPr lang="en-US" sz="2800" b="1" dirty="0">
              <a:solidFill>
                <a:schemeClr val="bg1"/>
              </a:solidFill>
              <a:latin typeface="Aptos Display" panose="020B0004020202020204" pitchFamily="34" charset="0"/>
            </a:endParaRPr>
          </a:p>
        </p:txBody>
      </p:sp>
      <p:sp>
        <p:nvSpPr>
          <p:cNvPr id="5" name="TextBox 4">
            <a:extLst>
              <a:ext uri="{FF2B5EF4-FFF2-40B4-BE49-F238E27FC236}">
                <a16:creationId xmlns:a16="http://schemas.microsoft.com/office/drawing/2014/main" id="{DAB1B188-89A9-01DF-3353-97020B587379}"/>
              </a:ext>
            </a:extLst>
          </p:cNvPr>
          <p:cNvSpPr txBox="1"/>
          <p:nvPr/>
        </p:nvSpPr>
        <p:spPr>
          <a:xfrm>
            <a:off x="11226800" y="355600"/>
            <a:ext cx="381000" cy="276999"/>
          </a:xfrm>
          <a:prstGeom prst="rect">
            <a:avLst/>
          </a:prstGeom>
          <a:noFill/>
        </p:spPr>
        <p:txBody>
          <a:bodyPr vert="horz" wrap="square" lIns="0" tIns="0" rIns="0" bIns="0" rtlCol="0" anchor="t">
            <a:noAutofit/>
          </a:bodyPr>
          <a:lstStyle/>
          <a:p>
            <a:pPr algn="r"/>
            <a:r>
              <a:rPr lang="en-US" sz="1000" b="1">
                <a:solidFill>
                  <a:srgbClr val="A9B4C5"/>
                </a:solidFill>
                <a:latin typeface="Aptos" panose="020B0004020202020204" pitchFamily="34" charset="0"/>
              </a:rPr>
              <a:t>20</a:t>
            </a:r>
          </a:p>
        </p:txBody>
      </p:sp>
      <p:cxnSp>
        <p:nvCxnSpPr>
          <p:cNvPr id="6" name="Straight Connector 5">
            <a:extLst>
              <a:ext uri="{FF2B5EF4-FFF2-40B4-BE49-F238E27FC236}">
                <a16:creationId xmlns:a16="http://schemas.microsoft.com/office/drawing/2014/main" id="{E69CCED7-6688-CA61-4191-BEA2987D0AE0}"/>
              </a:ext>
            </a:extLst>
          </p:cNvPr>
          <p:cNvCxnSpPr/>
          <p:nvPr/>
        </p:nvCxnSpPr>
        <p:spPr>
          <a:xfrm>
            <a:off x="533400" y="1371600"/>
            <a:ext cx="11125200" cy="0"/>
          </a:xfrm>
          <a:prstGeom prst="line">
            <a:avLst/>
          </a:prstGeom>
          <a:ln w="12700">
            <a:solidFill>
              <a:srgbClr val="1F2C41"/>
            </a:solidFill>
          </a:ln>
        </p:spPr>
        <p:style>
          <a:lnRef idx="1">
            <a:schemeClr val="accent1"/>
          </a:lnRef>
          <a:fillRef idx="0">
            <a:schemeClr val="accent1"/>
          </a:fillRef>
          <a:effectRef idx="0">
            <a:schemeClr val="accent1"/>
          </a:effectRef>
          <a:fontRef idx="minor">
            <a:schemeClr val="tx1"/>
          </a:fontRef>
        </p:style>
      </p:cxnSp>
      <p:sp>
        <p:nvSpPr>
          <p:cNvPr id="7" name="Rectangle: Rounded Corners 6">
            <a:extLst>
              <a:ext uri="{FF2B5EF4-FFF2-40B4-BE49-F238E27FC236}">
                <a16:creationId xmlns:a16="http://schemas.microsoft.com/office/drawing/2014/main" id="{16E66B47-B681-CBEB-3660-B651F57D2678}"/>
              </a:ext>
            </a:extLst>
          </p:cNvPr>
          <p:cNvSpPr/>
          <p:nvPr/>
        </p:nvSpPr>
        <p:spPr>
          <a:xfrm>
            <a:off x="584200" y="1625600"/>
            <a:ext cx="6248400" cy="2857500"/>
          </a:xfrm>
          <a:prstGeom prst="roundRect">
            <a:avLst/>
          </a:prstGeom>
          <a:solidFill>
            <a:srgbClr val="060A12"/>
          </a:solidFill>
          <a:ln w="15875">
            <a:solidFill>
              <a:srgbClr val="1F2C4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FC348A50-ACE7-1281-4DED-E2CC86B23A5A}"/>
              </a:ext>
            </a:extLst>
          </p:cNvPr>
          <p:cNvSpPr/>
          <p:nvPr/>
        </p:nvSpPr>
        <p:spPr>
          <a:xfrm>
            <a:off x="584200" y="1625600"/>
            <a:ext cx="88900" cy="2857500"/>
          </a:xfrm>
          <a:prstGeom prst="rect">
            <a:avLst/>
          </a:prstGeom>
          <a:solidFill>
            <a:srgbClr val="FFA44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AC1CE9B2-2D99-52A8-B4E3-D408DAC514F5}"/>
              </a:ext>
            </a:extLst>
          </p:cNvPr>
          <p:cNvSpPr txBox="1"/>
          <p:nvPr/>
        </p:nvSpPr>
        <p:spPr>
          <a:xfrm>
            <a:off x="812800" y="1778000"/>
            <a:ext cx="5867400" cy="276999"/>
          </a:xfrm>
          <a:prstGeom prst="rect">
            <a:avLst/>
          </a:prstGeom>
          <a:noFill/>
        </p:spPr>
        <p:txBody>
          <a:bodyPr vert="horz" wrap="square" lIns="0" tIns="0" rIns="0" bIns="0" rtlCol="0" anchor="t">
            <a:noAutofit/>
          </a:bodyPr>
          <a:lstStyle/>
          <a:p>
            <a:r>
              <a:rPr lang="en-US" sz="1450">
                <a:solidFill>
                  <a:srgbClr val="F2F5F9"/>
                </a:solidFill>
                <a:latin typeface="Consolas" panose="020B0609020204030204" pitchFamily="49" charset="0"/>
              </a:rPr>
              <a:t>driveSubsystem.setDefaultCommand(</a:t>
            </a:r>
          </a:p>
          <a:p>
            <a:r>
              <a:rPr lang="en-US" sz="1450">
                <a:solidFill>
                  <a:srgbClr val="F2F5F9"/>
                </a:solidFill>
                <a:latin typeface="Consolas" panose="020B0609020204030204" pitchFamily="49" charset="0"/>
              </a:rPr>
              <a:t>    new DriveTeleopCommand(</a:t>
            </a:r>
          </a:p>
          <a:p>
            <a:r>
              <a:rPr lang="en-US" sz="1450">
                <a:solidFill>
                  <a:srgbClr val="F2F5F9"/>
                </a:solidFill>
                <a:latin typeface="Consolas" panose="020B0609020204030204" pitchFamily="49" charset="0"/>
              </a:rPr>
              <a:t>        driveSubsystem,</a:t>
            </a:r>
          </a:p>
          <a:p>
            <a:r>
              <a:rPr lang="en-US" sz="1450">
                <a:solidFill>
                  <a:srgbClr val="F2F5F9"/>
                </a:solidFill>
                <a:latin typeface="Consolas" panose="020B0609020204030204" pitchFamily="49" charset="0"/>
              </a:rPr>
              <a:t>        this::getLeftDriveValue,</a:t>
            </a:r>
          </a:p>
          <a:p>
            <a:r>
              <a:rPr lang="en-US" sz="1450">
                <a:solidFill>
                  <a:srgbClr val="F2F5F9"/>
                </a:solidFill>
                <a:latin typeface="Consolas" panose="020B0609020204030204" pitchFamily="49" charset="0"/>
              </a:rPr>
              <a:t>        this::getRightDriveValue,</a:t>
            </a:r>
          </a:p>
          <a:p>
            <a:r>
              <a:rPr lang="en-US" sz="1450">
                <a:solidFill>
                  <a:srgbClr val="F2F5F9"/>
                </a:solidFill>
                <a:latin typeface="Consolas" panose="020B0609020204030204" pitchFamily="49" charset="0"/>
              </a:rPr>
              <a:t>        driveSpeedMode));</a:t>
            </a:r>
          </a:p>
        </p:txBody>
      </p:sp>
      <p:sp>
        <p:nvSpPr>
          <p:cNvPr id="10" name="Rectangle: Rounded Corners 9">
            <a:extLst>
              <a:ext uri="{FF2B5EF4-FFF2-40B4-BE49-F238E27FC236}">
                <a16:creationId xmlns:a16="http://schemas.microsoft.com/office/drawing/2014/main" id="{5256DF9B-D81A-C52D-7988-86710946BBBE}"/>
              </a:ext>
            </a:extLst>
          </p:cNvPr>
          <p:cNvSpPr/>
          <p:nvPr/>
        </p:nvSpPr>
        <p:spPr>
          <a:xfrm>
            <a:off x="7721600" y="1752600"/>
            <a:ext cx="3365500" cy="965200"/>
          </a:xfrm>
          <a:prstGeom prst="roundRect">
            <a:avLst/>
          </a:prstGeom>
          <a:solidFill>
            <a:srgbClr val="182234"/>
          </a:solidFill>
          <a:ln w="15875">
            <a:solidFill>
              <a:srgbClr val="A474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D15788BC-77E7-5CB4-DA7D-4A3BBCBE0C27}"/>
              </a:ext>
            </a:extLst>
          </p:cNvPr>
          <p:cNvSpPr/>
          <p:nvPr/>
        </p:nvSpPr>
        <p:spPr>
          <a:xfrm>
            <a:off x="7721600" y="1752600"/>
            <a:ext cx="76200" cy="965200"/>
          </a:xfrm>
          <a:prstGeom prst="rect">
            <a:avLst/>
          </a:prstGeom>
          <a:solidFill>
            <a:srgbClr val="A474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8855F59D-03A5-DA40-A7FC-357F0B73F709}"/>
              </a:ext>
            </a:extLst>
          </p:cNvPr>
          <p:cNvSpPr txBox="1"/>
          <p:nvPr/>
        </p:nvSpPr>
        <p:spPr>
          <a:xfrm>
            <a:off x="7924800" y="1879600"/>
            <a:ext cx="3048000" cy="276999"/>
          </a:xfrm>
          <a:prstGeom prst="rect">
            <a:avLst/>
          </a:prstGeom>
          <a:noFill/>
        </p:spPr>
        <p:txBody>
          <a:bodyPr vert="horz" wrap="square" lIns="0" tIns="0" rIns="0" bIns="0" rtlCol="0" anchor="t">
            <a:noAutofit/>
          </a:bodyPr>
          <a:lstStyle/>
          <a:p>
            <a:r>
              <a:rPr lang="en-US" sz="1600" b="1">
                <a:solidFill>
                  <a:srgbClr val="A474FF"/>
                </a:solidFill>
                <a:latin typeface="Aptos" panose="020B0004020202020204" pitchFamily="34" charset="0"/>
              </a:rPr>
              <a:t>DRIVETRAIN FREE</a:t>
            </a:r>
          </a:p>
        </p:txBody>
      </p:sp>
      <p:sp>
        <p:nvSpPr>
          <p:cNvPr id="13" name="TextBox 12">
            <a:extLst>
              <a:ext uri="{FF2B5EF4-FFF2-40B4-BE49-F238E27FC236}">
                <a16:creationId xmlns:a16="http://schemas.microsoft.com/office/drawing/2014/main" id="{4DCC58D0-51A4-755C-D651-CA86D0B71A5A}"/>
              </a:ext>
            </a:extLst>
          </p:cNvPr>
          <p:cNvSpPr txBox="1"/>
          <p:nvPr/>
        </p:nvSpPr>
        <p:spPr>
          <a:xfrm>
            <a:off x="7924800" y="2235200"/>
            <a:ext cx="3048000" cy="276999"/>
          </a:xfrm>
          <a:prstGeom prst="rect">
            <a:avLst/>
          </a:prstGeom>
          <a:noFill/>
        </p:spPr>
        <p:txBody>
          <a:bodyPr vert="horz" wrap="square" lIns="0" tIns="0" rIns="0" bIns="0" rtlCol="0" anchor="t">
            <a:noAutofit/>
          </a:bodyPr>
          <a:lstStyle/>
          <a:p>
            <a:r>
              <a:rPr lang="en-US" sz="1200">
                <a:solidFill>
                  <a:srgbClr val="F2F5F9"/>
                </a:solidFill>
                <a:latin typeface="Aptos" panose="020B0004020202020204" pitchFamily="34" charset="0"/>
              </a:rPr>
              <a:t>scheduler selects default</a:t>
            </a:r>
          </a:p>
        </p:txBody>
      </p:sp>
      <p:cxnSp>
        <p:nvCxnSpPr>
          <p:cNvPr id="14" name="Straight Connector 13">
            <a:extLst>
              <a:ext uri="{FF2B5EF4-FFF2-40B4-BE49-F238E27FC236}">
                <a16:creationId xmlns:a16="http://schemas.microsoft.com/office/drawing/2014/main" id="{EBDF5320-0AF1-7311-66C9-6579082D35B6}"/>
              </a:ext>
            </a:extLst>
          </p:cNvPr>
          <p:cNvCxnSpPr/>
          <p:nvPr/>
        </p:nvCxnSpPr>
        <p:spPr>
          <a:xfrm>
            <a:off x="9398000" y="2717800"/>
            <a:ext cx="0" cy="444500"/>
          </a:xfrm>
          <a:prstGeom prst="line">
            <a:avLst/>
          </a:prstGeom>
          <a:ln w="38100">
            <a:solidFill>
              <a:srgbClr val="A474FF"/>
            </a:solidFill>
            <a:tailEnd type="arrow"/>
          </a:ln>
        </p:spPr>
        <p:style>
          <a:lnRef idx="1">
            <a:schemeClr val="accent1"/>
          </a:lnRef>
          <a:fillRef idx="0">
            <a:schemeClr val="accent1"/>
          </a:fillRef>
          <a:effectRef idx="0">
            <a:schemeClr val="accent1"/>
          </a:effectRef>
          <a:fontRef idx="minor">
            <a:schemeClr val="tx1"/>
          </a:fontRef>
        </p:style>
      </p:cxnSp>
      <p:sp>
        <p:nvSpPr>
          <p:cNvPr id="15" name="Rectangle: Rounded Corners 14">
            <a:extLst>
              <a:ext uri="{FF2B5EF4-FFF2-40B4-BE49-F238E27FC236}">
                <a16:creationId xmlns:a16="http://schemas.microsoft.com/office/drawing/2014/main" id="{A700CCD5-A78D-7028-8F03-CB24F2B3BDDD}"/>
              </a:ext>
            </a:extLst>
          </p:cNvPr>
          <p:cNvSpPr/>
          <p:nvPr/>
        </p:nvSpPr>
        <p:spPr>
          <a:xfrm>
            <a:off x="7721600" y="3187700"/>
            <a:ext cx="3365500" cy="965200"/>
          </a:xfrm>
          <a:prstGeom prst="roundRect">
            <a:avLst/>
          </a:prstGeom>
          <a:solidFill>
            <a:srgbClr val="182234"/>
          </a:solidFill>
          <a:ln w="15875">
            <a:solidFill>
              <a:srgbClr val="FFA44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4E70065C-8151-AE34-2A78-B58D7C48690A}"/>
              </a:ext>
            </a:extLst>
          </p:cNvPr>
          <p:cNvSpPr/>
          <p:nvPr/>
        </p:nvSpPr>
        <p:spPr>
          <a:xfrm>
            <a:off x="7721600" y="3187700"/>
            <a:ext cx="76200" cy="965200"/>
          </a:xfrm>
          <a:prstGeom prst="rect">
            <a:avLst/>
          </a:prstGeom>
          <a:solidFill>
            <a:srgbClr val="FFA44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122AF0CE-D8EB-322C-8FA9-04C950F8CCB9}"/>
              </a:ext>
            </a:extLst>
          </p:cNvPr>
          <p:cNvSpPr txBox="1"/>
          <p:nvPr/>
        </p:nvSpPr>
        <p:spPr>
          <a:xfrm>
            <a:off x="7924800" y="3314700"/>
            <a:ext cx="3048000" cy="276999"/>
          </a:xfrm>
          <a:prstGeom prst="rect">
            <a:avLst/>
          </a:prstGeom>
          <a:noFill/>
        </p:spPr>
        <p:txBody>
          <a:bodyPr vert="horz" wrap="square" lIns="0" tIns="0" rIns="0" bIns="0" rtlCol="0" anchor="t">
            <a:noAutofit/>
          </a:bodyPr>
          <a:lstStyle/>
          <a:p>
            <a:r>
              <a:rPr lang="en-US" sz="1600" b="1">
                <a:solidFill>
                  <a:srgbClr val="FFA443"/>
                </a:solidFill>
                <a:latin typeface="Aptos" panose="020B0004020202020204" pitchFamily="34" charset="0"/>
              </a:rPr>
              <a:t>DRIVE TELEOP</a:t>
            </a:r>
          </a:p>
        </p:txBody>
      </p:sp>
      <p:sp>
        <p:nvSpPr>
          <p:cNvPr id="18" name="TextBox 17">
            <a:extLst>
              <a:ext uri="{FF2B5EF4-FFF2-40B4-BE49-F238E27FC236}">
                <a16:creationId xmlns:a16="http://schemas.microsoft.com/office/drawing/2014/main" id="{AE126717-7896-66AC-DA5D-A1B2F4969818}"/>
              </a:ext>
            </a:extLst>
          </p:cNvPr>
          <p:cNvSpPr txBox="1"/>
          <p:nvPr/>
        </p:nvSpPr>
        <p:spPr>
          <a:xfrm>
            <a:off x="7924800" y="3670300"/>
            <a:ext cx="3048000" cy="276999"/>
          </a:xfrm>
          <a:prstGeom prst="rect">
            <a:avLst/>
          </a:prstGeom>
          <a:noFill/>
        </p:spPr>
        <p:txBody>
          <a:bodyPr vert="horz" wrap="square" lIns="0" tIns="0" rIns="0" bIns="0" rtlCol="0" anchor="t">
            <a:noAutofit/>
          </a:bodyPr>
          <a:lstStyle/>
          <a:p>
            <a:r>
              <a:rPr lang="en-US" sz="1200">
                <a:solidFill>
                  <a:srgbClr val="F2F5F9"/>
                </a:solidFill>
                <a:latin typeface="Aptos" panose="020B0004020202020204" pitchFamily="34" charset="0"/>
              </a:rPr>
              <a:t>reads current stick values</a:t>
            </a:r>
          </a:p>
        </p:txBody>
      </p:sp>
      <p:cxnSp>
        <p:nvCxnSpPr>
          <p:cNvPr id="19" name="Straight Connector 18">
            <a:extLst>
              <a:ext uri="{FF2B5EF4-FFF2-40B4-BE49-F238E27FC236}">
                <a16:creationId xmlns:a16="http://schemas.microsoft.com/office/drawing/2014/main" id="{DE9647A6-A744-D9CB-B046-72C200A46B77}"/>
              </a:ext>
            </a:extLst>
          </p:cNvPr>
          <p:cNvCxnSpPr/>
          <p:nvPr/>
        </p:nvCxnSpPr>
        <p:spPr>
          <a:xfrm>
            <a:off x="9398000" y="4152900"/>
            <a:ext cx="0" cy="444500"/>
          </a:xfrm>
          <a:prstGeom prst="line">
            <a:avLst/>
          </a:prstGeom>
          <a:ln w="38100">
            <a:solidFill>
              <a:srgbClr val="FFA443"/>
            </a:solidFill>
            <a:tailEnd type="arrow"/>
          </a:ln>
        </p:spPr>
        <p:style>
          <a:lnRef idx="1">
            <a:schemeClr val="accent1"/>
          </a:lnRef>
          <a:fillRef idx="0">
            <a:schemeClr val="accent1"/>
          </a:fillRef>
          <a:effectRef idx="0">
            <a:schemeClr val="accent1"/>
          </a:effectRef>
          <a:fontRef idx="minor">
            <a:schemeClr val="tx1"/>
          </a:fontRef>
        </p:style>
      </p:cxnSp>
      <p:sp>
        <p:nvSpPr>
          <p:cNvPr id="20" name="Rectangle: Rounded Corners 19">
            <a:extLst>
              <a:ext uri="{FF2B5EF4-FFF2-40B4-BE49-F238E27FC236}">
                <a16:creationId xmlns:a16="http://schemas.microsoft.com/office/drawing/2014/main" id="{AA2B4AD7-0D01-610F-4AD5-F39CEC63CD0A}"/>
              </a:ext>
            </a:extLst>
          </p:cNvPr>
          <p:cNvSpPr/>
          <p:nvPr/>
        </p:nvSpPr>
        <p:spPr>
          <a:xfrm>
            <a:off x="7721600" y="4622800"/>
            <a:ext cx="3365500" cy="965200"/>
          </a:xfrm>
          <a:prstGeom prst="roundRect">
            <a:avLst/>
          </a:prstGeom>
          <a:solidFill>
            <a:srgbClr val="182234"/>
          </a:solidFill>
          <a:ln w="15875">
            <a:solidFill>
              <a:srgbClr val="FF64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36514274-37D9-48B4-E0B8-171A6D66EAF8}"/>
              </a:ext>
            </a:extLst>
          </p:cNvPr>
          <p:cNvSpPr/>
          <p:nvPr/>
        </p:nvSpPr>
        <p:spPr>
          <a:xfrm>
            <a:off x="7721600" y="4622800"/>
            <a:ext cx="76200" cy="965200"/>
          </a:xfrm>
          <a:prstGeom prst="rect">
            <a:avLst/>
          </a:prstGeom>
          <a:solidFill>
            <a:srgbClr val="FF646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D260FAFF-CE32-1F9B-2042-E8F55B2741FB}"/>
              </a:ext>
            </a:extLst>
          </p:cNvPr>
          <p:cNvSpPr txBox="1"/>
          <p:nvPr/>
        </p:nvSpPr>
        <p:spPr>
          <a:xfrm>
            <a:off x="7924800" y="4749800"/>
            <a:ext cx="3048000" cy="276999"/>
          </a:xfrm>
          <a:prstGeom prst="rect">
            <a:avLst/>
          </a:prstGeom>
          <a:noFill/>
        </p:spPr>
        <p:txBody>
          <a:bodyPr vert="horz" wrap="square" lIns="0" tIns="0" rIns="0" bIns="0" rtlCol="0" anchor="t">
            <a:noAutofit/>
          </a:bodyPr>
          <a:lstStyle/>
          <a:p>
            <a:r>
              <a:rPr lang="en-US" sz="1600" b="1">
                <a:solidFill>
                  <a:srgbClr val="FF6464"/>
                </a:solidFill>
                <a:latin typeface="Aptos" panose="020B0004020202020204" pitchFamily="34" charset="0"/>
              </a:rPr>
              <a:t>OTHER DRIVE COMMAND</a:t>
            </a:r>
          </a:p>
        </p:txBody>
      </p:sp>
      <p:sp>
        <p:nvSpPr>
          <p:cNvPr id="23" name="TextBox 22">
            <a:extLst>
              <a:ext uri="{FF2B5EF4-FFF2-40B4-BE49-F238E27FC236}">
                <a16:creationId xmlns:a16="http://schemas.microsoft.com/office/drawing/2014/main" id="{8DBE6350-F2BC-7277-0748-37A063EDA9C9}"/>
              </a:ext>
            </a:extLst>
          </p:cNvPr>
          <p:cNvSpPr txBox="1"/>
          <p:nvPr/>
        </p:nvSpPr>
        <p:spPr>
          <a:xfrm>
            <a:off x="7924800" y="5105400"/>
            <a:ext cx="3048000" cy="276999"/>
          </a:xfrm>
          <a:prstGeom prst="rect">
            <a:avLst/>
          </a:prstGeom>
          <a:noFill/>
        </p:spPr>
        <p:txBody>
          <a:bodyPr vert="horz" wrap="square" lIns="0" tIns="0" rIns="0" bIns="0" rtlCol="0" anchor="t">
            <a:noAutofit/>
          </a:bodyPr>
          <a:lstStyle/>
          <a:p>
            <a:r>
              <a:rPr lang="en-US" sz="1200">
                <a:solidFill>
                  <a:srgbClr val="F2F5F9"/>
                </a:solidFill>
                <a:latin typeface="Aptos" panose="020B0004020202020204" pitchFamily="34" charset="0"/>
              </a:rPr>
              <a:t>interrupts the default</a:t>
            </a:r>
          </a:p>
        </p:txBody>
      </p:sp>
      <p:sp>
        <p:nvSpPr>
          <p:cNvPr id="24" name="Rectangle: Rounded Corners 23">
            <a:extLst>
              <a:ext uri="{FF2B5EF4-FFF2-40B4-BE49-F238E27FC236}">
                <a16:creationId xmlns:a16="http://schemas.microsoft.com/office/drawing/2014/main" id="{B14879A3-D2B8-8DE5-D878-FA79836DAE08}"/>
              </a:ext>
            </a:extLst>
          </p:cNvPr>
          <p:cNvSpPr/>
          <p:nvPr/>
        </p:nvSpPr>
        <p:spPr>
          <a:xfrm>
            <a:off x="533400" y="6261100"/>
            <a:ext cx="11125200" cy="533400"/>
          </a:xfrm>
          <a:prstGeom prst="roundRect">
            <a:avLst/>
          </a:prstGeom>
          <a:solidFill>
            <a:srgbClr val="18223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Rounded Corners 24">
            <a:extLst>
              <a:ext uri="{FF2B5EF4-FFF2-40B4-BE49-F238E27FC236}">
                <a16:creationId xmlns:a16="http://schemas.microsoft.com/office/drawing/2014/main" id="{A7245735-2729-4FBD-E5CA-846625098CC6}"/>
              </a:ext>
            </a:extLst>
          </p:cNvPr>
          <p:cNvSpPr/>
          <p:nvPr/>
        </p:nvSpPr>
        <p:spPr>
          <a:xfrm>
            <a:off x="660400" y="6362700"/>
            <a:ext cx="1473200" cy="330200"/>
          </a:xfrm>
          <a:prstGeom prst="roundRect">
            <a:avLst/>
          </a:prstGeom>
          <a:solidFill>
            <a:srgbClr val="35CBB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7A53EF9F-484B-9AA4-B7D4-A1A8750A0D3B}"/>
              </a:ext>
            </a:extLst>
          </p:cNvPr>
          <p:cNvSpPr txBox="1"/>
          <p:nvPr/>
        </p:nvSpPr>
        <p:spPr>
          <a:xfrm>
            <a:off x="736600" y="6400800"/>
            <a:ext cx="1320800" cy="276999"/>
          </a:xfrm>
          <a:prstGeom prst="rect">
            <a:avLst/>
          </a:prstGeom>
          <a:noFill/>
        </p:spPr>
        <p:txBody>
          <a:bodyPr vert="horz" wrap="square" lIns="0" tIns="0" rIns="0" bIns="0" rtlCol="0">
            <a:noAutofit/>
          </a:bodyPr>
          <a:lstStyle/>
          <a:p>
            <a:pPr algn="ctr"/>
            <a:r>
              <a:rPr lang="en-US" sz="1050" b="1">
                <a:solidFill>
                  <a:srgbClr val="060A12"/>
                </a:solidFill>
                <a:latin typeface="Aptos" panose="020B0004020202020204" pitchFamily="34" charset="0"/>
              </a:rPr>
              <a:t>KEY IDEA</a:t>
            </a:r>
          </a:p>
        </p:txBody>
      </p:sp>
      <p:sp>
        <p:nvSpPr>
          <p:cNvPr id="27" name="TextBox 26">
            <a:extLst>
              <a:ext uri="{FF2B5EF4-FFF2-40B4-BE49-F238E27FC236}">
                <a16:creationId xmlns:a16="http://schemas.microsoft.com/office/drawing/2014/main" id="{35B90B27-0D3A-8006-5FFD-E0826B63D249}"/>
              </a:ext>
            </a:extLst>
          </p:cNvPr>
          <p:cNvSpPr txBox="1"/>
          <p:nvPr/>
        </p:nvSpPr>
        <p:spPr>
          <a:xfrm>
            <a:off x="2286000" y="6362700"/>
            <a:ext cx="9207500" cy="276999"/>
          </a:xfrm>
          <a:prstGeom prst="rect">
            <a:avLst/>
          </a:prstGeom>
          <a:noFill/>
        </p:spPr>
        <p:txBody>
          <a:bodyPr vert="horz" wrap="square" lIns="0" tIns="0" rIns="0" bIns="0" rtlCol="0" anchor="t">
            <a:noAutofit/>
          </a:bodyPr>
          <a:lstStyle/>
          <a:p>
            <a:r>
              <a:rPr lang="en-US" sz="1300">
                <a:solidFill>
                  <a:srgbClr val="F2F5F9"/>
                </a:solidFill>
                <a:latin typeface="Aptos" panose="020B0004020202020204" pitchFamily="34" charset="0"/>
              </a:rPr>
              <a:t>Default does not mean “runs once”; it fills otherwise unused subsystem time.</a:t>
            </a:r>
          </a:p>
        </p:txBody>
      </p:sp>
      <p:sp>
        <p:nvSpPr>
          <p:cNvPr id="28" name="TextBox 27">
            <a:extLst>
              <a:ext uri="{FF2B5EF4-FFF2-40B4-BE49-F238E27FC236}">
                <a16:creationId xmlns:a16="http://schemas.microsoft.com/office/drawing/2014/main" id="{F2A18F25-3F69-53F6-3456-FBA33B5F540D}"/>
              </a:ext>
            </a:extLst>
          </p:cNvPr>
          <p:cNvSpPr txBox="1"/>
          <p:nvPr/>
        </p:nvSpPr>
        <p:spPr>
          <a:xfrm>
            <a:off x="533400" y="6908800"/>
            <a:ext cx="8890000" cy="276999"/>
          </a:xfrm>
          <a:prstGeom prst="rect">
            <a:avLst/>
          </a:prstGeom>
          <a:noFill/>
        </p:spPr>
        <p:txBody>
          <a:bodyPr vert="horz" wrap="square" lIns="0" tIns="0" rIns="0" bIns="0" rtlCol="0" anchor="t">
            <a:noAutofit/>
          </a:bodyPr>
          <a:lstStyle/>
          <a:p>
            <a:r>
              <a:rPr lang="en-US" sz="850">
                <a:solidFill>
                  <a:srgbClr val="A9B4C5"/>
                </a:solidFill>
                <a:latin typeface="Aptos" panose="020B0004020202020204" pitchFamily="34" charset="0"/>
              </a:rPr>
              <a:t>Source: RobotContainer.java</a:t>
            </a:r>
          </a:p>
        </p:txBody>
      </p:sp>
      <p:sp>
        <p:nvSpPr>
          <p:cNvPr id="29" name="TextBox 28">
            <a:extLst>
              <a:ext uri="{FF2B5EF4-FFF2-40B4-BE49-F238E27FC236}">
                <a16:creationId xmlns:a16="http://schemas.microsoft.com/office/drawing/2014/main" id="{0313CEC6-FB2C-2237-7C4D-E72DFB35923D}"/>
              </a:ext>
            </a:extLst>
          </p:cNvPr>
          <p:cNvSpPr txBox="1"/>
          <p:nvPr/>
        </p:nvSpPr>
        <p:spPr>
          <a:xfrm>
            <a:off x="9017000" y="6908800"/>
            <a:ext cx="2641600" cy="276999"/>
          </a:xfrm>
          <a:prstGeom prst="rect">
            <a:avLst/>
          </a:prstGeom>
          <a:noFill/>
        </p:spPr>
        <p:txBody>
          <a:bodyPr vert="horz" wrap="square" lIns="0" tIns="0" rIns="0" bIns="0" rtlCol="0" anchor="t">
            <a:noAutofit/>
          </a:bodyPr>
          <a:lstStyle/>
          <a:p>
            <a:pPr algn="r"/>
            <a:r>
              <a:rPr lang="en-US" sz="850">
                <a:solidFill>
                  <a:srgbClr val="A9B4C5"/>
                </a:solidFill>
                <a:latin typeface="Aptos" panose="020B0004020202020204" pitchFamily="34" charset="0"/>
              </a:rPr>
              <a:t>CURRENT ROBOT IMPLEMENTATION • V2</a:t>
            </a:r>
          </a:p>
        </p:txBody>
      </p:sp>
    </p:spTree>
    <p:extLst>
      <p:ext uri="{BB962C8B-B14F-4D97-AF65-F5344CB8AC3E}">
        <p14:creationId xmlns:p14="http://schemas.microsoft.com/office/powerpoint/2010/main" val="10853965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D1421"/>
        </a:solidFill>
        <a:effectLst/>
      </p:bgPr>
    </p:bg>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CEA29E91-CDFC-FD67-15E0-ED367BDAEC09}"/>
              </a:ext>
            </a:extLst>
          </p:cNvPr>
          <p:cNvSpPr/>
          <p:nvPr/>
        </p:nvSpPr>
        <p:spPr>
          <a:xfrm>
            <a:off x="533400" y="292100"/>
            <a:ext cx="1473200" cy="330200"/>
          </a:xfrm>
          <a:prstGeom prst="roundRect">
            <a:avLst/>
          </a:prstGeom>
          <a:solidFill>
            <a:srgbClr val="35CBB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832DADEB-C83B-D282-30A3-CEC515445B28}"/>
              </a:ext>
            </a:extLst>
          </p:cNvPr>
          <p:cNvSpPr txBox="1"/>
          <p:nvPr/>
        </p:nvSpPr>
        <p:spPr>
          <a:xfrm>
            <a:off x="609600" y="330200"/>
            <a:ext cx="1320800" cy="276999"/>
          </a:xfrm>
          <a:prstGeom prst="rect">
            <a:avLst/>
          </a:prstGeom>
          <a:noFill/>
        </p:spPr>
        <p:txBody>
          <a:bodyPr vert="horz" wrap="square" lIns="0" tIns="0" rIns="0" bIns="0" rtlCol="0">
            <a:noAutofit/>
          </a:bodyPr>
          <a:lstStyle/>
          <a:p>
            <a:pPr algn="ctr"/>
            <a:r>
              <a:rPr lang="en-US" sz="1050" b="1">
                <a:solidFill>
                  <a:srgbClr val="060A12"/>
                </a:solidFill>
                <a:latin typeface="Aptos" panose="020B0004020202020204" pitchFamily="34" charset="0"/>
              </a:rPr>
              <a:t>BEGINNER TRACK</a:t>
            </a:r>
          </a:p>
        </p:txBody>
      </p:sp>
      <p:sp>
        <p:nvSpPr>
          <p:cNvPr id="4" name="TextBox 3">
            <a:extLst>
              <a:ext uri="{FF2B5EF4-FFF2-40B4-BE49-F238E27FC236}">
                <a16:creationId xmlns:a16="http://schemas.microsoft.com/office/drawing/2014/main" id="{5F913A5D-4819-44E6-C63D-B7CD3B622D41}"/>
              </a:ext>
            </a:extLst>
          </p:cNvPr>
          <p:cNvSpPr txBox="1"/>
          <p:nvPr/>
        </p:nvSpPr>
        <p:spPr>
          <a:xfrm>
            <a:off x="533400" y="762000"/>
            <a:ext cx="10414000" cy="276999"/>
          </a:xfrm>
          <a:prstGeom prst="rect">
            <a:avLst/>
          </a:prstGeom>
          <a:noFill/>
        </p:spPr>
        <p:txBody>
          <a:bodyPr vert="horz" wrap="square" lIns="0" tIns="0" rIns="0" bIns="0" rtlCol="0" anchor="t">
            <a:noAutofit/>
          </a:bodyPr>
          <a:lstStyle/>
          <a:p>
            <a:r>
              <a:rPr lang="en-US" sz="2800" b="1">
                <a:solidFill>
                  <a:srgbClr val="F2F5F9"/>
                </a:solidFill>
                <a:latin typeface="Aptos Display" panose="020B0004020202020204" pitchFamily="34" charset="0"/>
              </a:rPr>
              <a:t>Drive input follows the same five-role path</a:t>
            </a:r>
          </a:p>
        </p:txBody>
      </p:sp>
      <p:sp>
        <p:nvSpPr>
          <p:cNvPr id="5" name="TextBox 4">
            <a:extLst>
              <a:ext uri="{FF2B5EF4-FFF2-40B4-BE49-F238E27FC236}">
                <a16:creationId xmlns:a16="http://schemas.microsoft.com/office/drawing/2014/main" id="{20309C17-1E88-121B-0299-5B83F6D64D6F}"/>
              </a:ext>
            </a:extLst>
          </p:cNvPr>
          <p:cNvSpPr txBox="1"/>
          <p:nvPr/>
        </p:nvSpPr>
        <p:spPr>
          <a:xfrm>
            <a:off x="11226800" y="355600"/>
            <a:ext cx="381000" cy="276999"/>
          </a:xfrm>
          <a:prstGeom prst="rect">
            <a:avLst/>
          </a:prstGeom>
          <a:noFill/>
        </p:spPr>
        <p:txBody>
          <a:bodyPr vert="horz" wrap="square" lIns="0" tIns="0" rIns="0" bIns="0" rtlCol="0" anchor="t">
            <a:noAutofit/>
          </a:bodyPr>
          <a:lstStyle/>
          <a:p>
            <a:pPr algn="r"/>
            <a:r>
              <a:rPr lang="en-US" sz="1000" b="1">
                <a:solidFill>
                  <a:srgbClr val="A9B4C5"/>
                </a:solidFill>
                <a:latin typeface="Aptos" panose="020B0004020202020204" pitchFamily="34" charset="0"/>
              </a:rPr>
              <a:t>21</a:t>
            </a:r>
          </a:p>
        </p:txBody>
      </p:sp>
      <p:cxnSp>
        <p:nvCxnSpPr>
          <p:cNvPr id="6" name="Straight Connector 5">
            <a:extLst>
              <a:ext uri="{FF2B5EF4-FFF2-40B4-BE49-F238E27FC236}">
                <a16:creationId xmlns:a16="http://schemas.microsoft.com/office/drawing/2014/main" id="{074E14EE-EC52-B817-B107-43485F2025DF}"/>
              </a:ext>
            </a:extLst>
          </p:cNvPr>
          <p:cNvCxnSpPr/>
          <p:nvPr/>
        </p:nvCxnSpPr>
        <p:spPr>
          <a:xfrm>
            <a:off x="533400" y="1371600"/>
            <a:ext cx="11125200" cy="0"/>
          </a:xfrm>
          <a:prstGeom prst="line">
            <a:avLst/>
          </a:prstGeom>
          <a:ln w="12700">
            <a:solidFill>
              <a:srgbClr val="1F2C41"/>
            </a:solidFill>
          </a:ln>
        </p:spPr>
        <p:style>
          <a:lnRef idx="1">
            <a:schemeClr val="accent1"/>
          </a:lnRef>
          <a:fillRef idx="0">
            <a:schemeClr val="accent1"/>
          </a:fillRef>
          <a:effectRef idx="0">
            <a:schemeClr val="accent1"/>
          </a:effectRef>
          <a:fontRef idx="minor">
            <a:schemeClr val="tx1"/>
          </a:fontRef>
        </p:style>
      </p:cxnSp>
      <p:sp>
        <p:nvSpPr>
          <p:cNvPr id="7" name="Rectangle: Rounded Corners 6">
            <a:extLst>
              <a:ext uri="{FF2B5EF4-FFF2-40B4-BE49-F238E27FC236}">
                <a16:creationId xmlns:a16="http://schemas.microsoft.com/office/drawing/2014/main" id="{B75B77DE-A074-E55B-D715-669FA3527001}"/>
              </a:ext>
            </a:extLst>
          </p:cNvPr>
          <p:cNvSpPr/>
          <p:nvPr/>
        </p:nvSpPr>
        <p:spPr>
          <a:xfrm>
            <a:off x="609600" y="1651000"/>
            <a:ext cx="5461000" cy="2286000"/>
          </a:xfrm>
          <a:prstGeom prst="roundRect">
            <a:avLst/>
          </a:prstGeom>
          <a:solidFill>
            <a:srgbClr val="060A12"/>
          </a:solidFill>
          <a:ln w="15875">
            <a:solidFill>
              <a:srgbClr val="1F2C4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BF8B695F-6051-BAB6-508B-DF7D1EA9F404}"/>
              </a:ext>
            </a:extLst>
          </p:cNvPr>
          <p:cNvSpPr/>
          <p:nvPr/>
        </p:nvSpPr>
        <p:spPr>
          <a:xfrm>
            <a:off x="609600" y="1651000"/>
            <a:ext cx="88900" cy="2286000"/>
          </a:xfrm>
          <a:prstGeom prst="rect">
            <a:avLst/>
          </a:prstGeom>
          <a:solidFill>
            <a:srgbClr val="379D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3897F9AD-8236-9AA0-E27B-79EA433FAEF1}"/>
              </a:ext>
            </a:extLst>
          </p:cNvPr>
          <p:cNvSpPr txBox="1"/>
          <p:nvPr/>
        </p:nvSpPr>
        <p:spPr>
          <a:xfrm>
            <a:off x="838200" y="1803400"/>
            <a:ext cx="5080000" cy="276999"/>
          </a:xfrm>
          <a:prstGeom prst="rect">
            <a:avLst/>
          </a:prstGeom>
          <a:noFill/>
        </p:spPr>
        <p:txBody>
          <a:bodyPr vert="horz" wrap="square" lIns="0" tIns="0" rIns="0" bIns="0" rtlCol="0" anchor="t">
            <a:noAutofit/>
          </a:bodyPr>
          <a:lstStyle/>
          <a:p>
            <a:r>
              <a:rPr lang="en-US" sz="1450">
                <a:solidFill>
                  <a:srgbClr val="F2F5F9"/>
                </a:solidFill>
                <a:latin typeface="Consolas" panose="020B0609020204030204" pitchFamily="49" charset="0"/>
              </a:rPr>
              <a:t>private double getLeftDriveValue() {</a:t>
            </a:r>
          </a:p>
          <a:p>
            <a:r>
              <a:rPr lang="en-US" sz="1450">
                <a:solidFill>
                  <a:srgbClr val="F2F5F9"/>
                </a:solidFill>
                <a:latin typeface="Consolas" panose="020B0609020204030204" pitchFamily="49" charset="0"/>
              </a:rPr>
              <a:t>    return -MathUtil.applyDeadband(</a:t>
            </a:r>
          </a:p>
          <a:p>
            <a:r>
              <a:rPr lang="en-US" sz="1450">
                <a:solidFill>
                  <a:srgbClr val="F2F5F9"/>
                </a:solidFill>
                <a:latin typeface="Consolas" panose="020B0609020204030204" pitchFamily="49" charset="0"/>
              </a:rPr>
              <a:t>        driverController.getLeftY(),</a:t>
            </a:r>
          </a:p>
          <a:p>
            <a:r>
              <a:rPr lang="en-US" sz="1450">
                <a:solidFill>
                  <a:srgbClr val="F2F5F9"/>
                </a:solidFill>
                <a:latin typeface="Consolas" panose="020B0609020204030204" pitchFamily="49" charset="0"/>
              </a:rPr>
              <a:t>        Constants.Tuning.DRIVE_DEADBAND);</a:t>
            </a:r>
          </a:p>
          <a:p>
            <a:r>
              <a:rPr lang="en-US" sz="1450">
                <a:solidFill>
                  <a:srgbClr val="F2F5F9"/>
                </a:solidFill>
                <a:latin typeface="Consolas" panose="020B0609020204030204" pitchFamily="49" charset="0"/>
              </a:rPr>
              <a:t>}</a:t>
            </a:r>
          </a:p>
        </p:txBody>
      </p:sp>
      <p:sp>
        <p:nvSpPr>
          <p:cNvPr id="10" name="Rectangle: Rounded Corners 9">
            <a:extLst>
              <a:ext uri="{FF2B5EF4-FFF2-40B4-BE49-F238E27FC236}">
                <a16:creationId xmlns:a16="http://schemas.microsoft.com/office/drawing/2014/main" id="{CFD68FFF-BDE9-EFB3-4782-EEDE66A3EA29}"/>
              </a:ext>
            </a:extLst>
          </p:cNvPr>
          <p:cNvSpPr/>
          <p:nvPr/>
        </p:nvSpPr>
        <p:spPr>
          <a:xfrm>
            <a:off x="6451600" y="1651000"/>
            <a:ext cx="5130800" cy="1651000"/>
          </a:xfrm>
          <a:prstGeom prst="roundRect">
            <a:avLst/>
          </a:prstGeom>
          <a:solidFill>
            <a:srgbClr val="060A12"/>
          </a:solidFill>
          <a:ln w="15875">
            <a:solidFill>
              <a:srgbClr val="1F2C4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A6A8635A-E65F-88E3-F8BA-4535BDD59695}"/>
              </a:ext>
            </a:extLst>
          </p:cNvPr>
          <p:cNvSpPr/>
          <p:nvPr/>
        </p:nvSpPr>
        <p:spPr>
          <a:xfrm>
            <a:off x="6451600" y="1651000"/>
            <a:ext cx="88900" cy="1651000"/>
          </a:xfrm>
          <a:prstGeom prst="rect">
            <a:avLst/>
          </a:prstGeom>
          <a:solidFill>
            <a:srgbClr val="FFA44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2F4C7C29-C7FA-5690-6672-9D6E94C39315}"/>
              </a:ext>
            </a:extLst>
          </p:cNvPr>
          <p:cNvSpPr txBox="1"/>
          <p:nvPr/>
        </p:nvSpPr>
        <p:spPr>
          <a:xfrm>
            <a:off x="6680200" y="1803400"/>
            <a:ext cx="4749800" cy="276999"/>
          </a:xfrm>
          <a:prstGeom prst="rect">
            <a:avLst/>
          </a:prstGeom>
          <a:noFill/>
        </p:spPr>
        <p:txBody>
          <a:bodyPr vert="horz" wrap="square" lIns="0" tIns="0" rIns="0" bIns="0" rtlCol="0" anchor="t">
            <a:noAutofit/>
          </a:bodyPr>
          <a:lstStyle/>
          <a:p>
            <a:r>
              <a:rPr lang="en-US" sz="1450">
                <a:solidFill>
                  <a:srgbClr val="F2F5F9"/>
                </a:solidFill>
                <a:latin typeface="Consolas" panose="020B0609020204030204" pitchFamily="49" charset="0"/>
              </a:rPr>
              <a:t>driveSubsystem.drive(</a:t>
            </a:r>
          </a:p>
          <a:p>
            <a:r>
              <a:rPr lang="en-US" sz="1450">
                <a:solidFill>
                  <a:srgbClr val="F2F5F9"/>
                </a:solidFill>
                <a:latin typeface="Consolas" panose="020B0609020204030204" pitchFamily="49" charset="0"/>
              </a:rPr>
              <a:t>    scale(leftDriveSupplier.getAsDouble()),</a:t>
            </a:r>
          </a:p>
          <a:p>
            <a:r>
              <a:rPr lang="en-US" sz="1450">
                <a:solidFill>
                  <a:srgbClr val="F2F5F9"/>
                </a:solidFill>
                <a:latin typeface="Consolas" panose="020B0609020204030204" pitchFamily="49" charset="0"/>
              </a:rPr>
              <a:t>    scale(rightDriveSupplier.getAsDouble()));</a:t>
            </a:r>
          </a:p>
        </p:txBody>
      </p:sp>
      <p:sp>
        <p:nvSpPr>
          <p:cNvPr id="13" name="Rectangle: Rounded Corners 12">
            <a:extLst>
              <a:ext uri="{FF2B5EF4-FFF2-40B4-BE49-F238E27FC236}">
                <a16:creationId xmlns:a16="http://schemas.microsoft.com/office/drawing/2014/main" id="{36AF0B87-C4E6-74DD-FA39-C08E4A9829FF}"/>
              </a:ext>
            </a:extLst>
          </p:cNvPr>
          <p:cNvSpPr/>
          <p:nvPr/>
        </p:nvSpPr>
        <p:spPr>
          <a:xfrm>
            <a:off x="673100" y="4610100"/>
            <a:ext cx="1803400" cy="330200"/>
          </a:xfrm>
          <a:prstGeom prst="roundRect">
            <a:avLst/>
          </a:prstGeom>
          <a:solidFill>
            <a:srgbClr val="379D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AAC53CBB-C52B-D3B3-1A94-35EE293B386C}"/>
              </a:ext>
            </a:extLst>
          </p:cNvPr>
          <p:cNvSpPr txBox="1"/>
          <p:nvPr/>
        </p:nvSpPr>
        <p:spPr>
          <a:xfrm>
            <a:off x="749300" y="4648200"/>
            <a:ext cx="1651000" cy="276999"/>
          </a:xfrm>
          <a:prstGeom prst="rect">
            <a:avLst/>
          </a:prstGeom>
          <a:noFill/>
        </p:spPr>
        <p:txBody>
          <a:bodyPr vert="horz" wrap="square" lIns="0" tIns="0" rIns="0" bIns="0" rtlCol="0">
            <a:noAutofit/>
          </a:bodyPr>
          <a:lstStyle/>
          <a:p>
            <a:pPr algn="ctr"/>
            <a:r>
              <a:rPr lang="en-US" sz="1050" b="1">
                <a:solidFill>
                  <a:srgbClr val="060A12"/>
                </a:solidFill>
                <a:latin typeface="Aptos" panose="020B0004020202020204" pitchFamily="34" charset="0"/>
              </a:rPr>
              <a:t>STICK</a:t>
            </a:r>
          </a:p>
        </p:txBody>
      </p:sp>
      <p:cxnSp>
        <p:nvCxnSpPr>
          <p:cNvPr id="15" name="Straight Connector 14">
            <a:extLst>
              <a:ext uri="{FF2B5EF4-FFF2-40B4-BE49-F238E27FC236}">
                <a16:creationId xmlns:a16="http://schemas.microsoft.com/office/drawing/2014/main" id="{1915DE9C-32E8-C8C7-2BC1-28FC8ED1F4E6}"/>
              </a:ext>
            </a:extLst>
          </p:cNvPr>
          <p:cNvCxnSpPr/>
          <p:nvPr/>
        </p:nvCxnSpPr>
        <p:spPr>
          <a:xfrm>
            <a:off x="2476500" y="4775200"/>
            <a:ext cx="279400" cy="0"/>
          </a:xfrm>
          <a:prstGeom prst="line">
            <a:avLst/>
          </a:prstGeom>
          <a:ln w="25400">
            <a:solidFill>
              <a:srgbClr val="A9B4C5"/>
            </a:solidFill>
            <a:tailEnd type="arrow"/>
          </a:ln>
        </p:spPr>
        <p:style>
          <a:lnRef idx="1">
            <a:schemeClr val="accent1"/>
          </a:lnRef>
          <a:fillRef idx="0">
            <a:schemeClr val="accent1"/>
          </a:fillRef>
          <a:effectRef idx="0">
            <a:schemeClr val="accent1"/>
          </a:effectRef>
          <a:fontRef idx="minor">
            <a:schemeClr val="tx1"/>
          </a:fontRef>
        </p:style>
      </p:cxnSp>
      <p:sp>
        <p:nvSpPr>
          <p:cNvPr id="16" name="Rectangle: Rounded Corners 15">
            <a:extLst>
              <a:ext uri="{FF2B5EF4-FFF2-40B4-BE49-F238E27FC236}">
                <a16:creationId xmlns:a16="http://schemas.microsoft.com/office/drawing/2014/main" id="{ECAD3D8F-6600-BAE3-087A-DB0FE67DB3F6}"/>
              </a:ext>
            </a:extLst>
          </p:cNvPr>
          <p:cNvSpPr/>
          <p:nvPr/>
        </p:nvSpPr>
        <p:spPr>
          <a:xfrm>
            <a:off x="2908300" y="4610100"/>
            <a:ext cx="1803400" cy="330200"/>
          </a:xfrm>
          <a:prstGeom prst="roundRect">
            <a:avLst/>
          </a:prstGeom>
          <a:solidFill>
            <a:srgbClr val="FFC1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BFB986F9-B458-110F-02B4-E4704C6D0787}"/>
              </a:ext>
            </a:extLst>
          </p:cNvPr>
          <p:cNvSpPr txBox="1"/>
          <p:nvPr/>
        </p:nvSpPr>
        <p:spPr>
          <a:xfrm>
            <a:off x="2984500" y="4648200"/>
            <a:ext cx="1651000" cy="276999"/>
          </a:xfrm>
          <a:prstGeom prst="rect">
            <a:avLst/>
          </a:prstGeom>
          <a:noFill/>
        </p:spPr>
        <p:txBody>
          <a:bodyPr vert="horz" wrap="square" lIns="0" tIns="0" rIns="0" bIns="0" rtlCol="0">
            <a:noAutofit/>
          </a:bodyPr>
          <a:lstStyle/>
          <a:p>
            <a:pPr algn="ctr"/>
            <a:r>
              <a:rPr lang="en-US" sz="1050" b="1">
                <a:solidFill>
                  <a:srgbClr val="060A12"/>
                </a:solidFill>
                <a:latin typeface="Aptos" panose="020B0004020202020204" pitchFamily="34" charset="0"/>
              </a:rPr>
              <a:t>DEADBAND</a:t>
            </a:r>
          </a:p>
        </p:txBody>
      </p:sp>
      <p:cxnSp>
        <p:nvCxnSpPr>
          <p:cNvPr id="18" name="Straight Connector 17">
            <a:extLst>
              <a:ext uri="{FF2B5EF4-FFF2-40B4-BE49-F238E27FC236}">
                <a16:creationId xmlns:a16="http://schemas.microsoft.com/office/drawing/2014/main" id="{1805AF1C-4CF3-87AA-7D76-A0258B0AB5E0}"/>
              </a:ext>
            </a:extLst>
          </p:cNvPr>
          <p:cNvCxnSpPr/>
          <p:nvPr/>
        </p:nvCxnSpPr>
        <p:spPr>
          <a:xfrm>
            <a:off x="4711700" y="4775200"/>
            <a:ext cx="279400" cy="0"/>
          </a:xfrm>
          <a:prstGeom prst="line">
            <a:avLst/>
          </a:prstGeom>
          <a:ln w="25400">
            <a:solidFill>
              <a:srgbClr val="A9B4C5"/>
            </a:solidFill>
            <a:tailEnd type="arrow"/>
          </a:ln>
        </p:spPr>
        <p:style>
          <a:lnRef idx="1">
            <a:schemeClr val="accent1"/>
          </a:lnRef>
          <a:fillRef idx="0">
            <a:schemeClr val="accent1"/>
          </a:fillRef>
          <a:effectRef idx="0">
            <a:schemeClr val="accent1"/>
          </a:effectRef>
          <a:fontRef idx="minor">
            <a:schemeClr val="tx1"/>
          </a:fontRef>
        </p:style>
      </p:cxnSp>
      <p:sp>
        <p:nvSpPr>
          <p:cNvPr id="19" name="Rectangle: Rounded Corners 18">
            <a:extLst>
              <a:ext uri="{FF2B5EF4-FFF2-40B4-BE49-F238E27FC236}">
                <a16:creationId xmlns:a16="http://schemas.microsoft.com/office/drawing/2014/main" id="{D1466D27-6C16-D7BE-5DE4-3EF676974C6B}"/>
              </a:ext>
            </a:extLst>
          </p:cNvPr>
          <p:cNvSpPr/>
          <p:nvPr/>
        </p:nvSpPr>
        <p:spPr>
          <a:xfrm>
            <a:off x="5143500" y="4610100"/>
            <a:ext cx="1803400" cy="330200"/>
          </a:xfrm>
          <a:prstGeom prst="roundRect">
            <a:avLst/>
          </a:prstGeom>
          <a:solidFill>
            <a:srgbClr val="FFA44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C4628F5F-13EC-249D-AB7C-0479A0DB2A84}"/>
              </a:ext>
            </a:extLst>
          </p:cNvPr>
          <p:cNvSpPr txBox="1"/>
          <p:nvPr/>
        </p:nvSpPr>
        <p:spPr>
          <a:xfrm>
            <a:off x="5219700" y="4648200"/>
            <a:ext cx="1651000" cy="276999"/>
          </a:xfrm>
          <a:prstGeom prst="rect">
            <a:avLst/>
          </a:prstGeom>
          <a:noFill/>
        </p:spPr>
        <p:txBody>
          <a:bodyPr vert="horz" wrap="square" lIns="0" tIns="0" rIns="0" bIns="0" rtlCol="0">
            <a:noAutofit/>
          </a:bodyPr>
          <a:lstStyle/>
          <a:p>
            <a:pPr algn="ctr"/>
            <a:r>
              <a:rPr lang="en-US" sz="1050" b="1">
                <a:solidFill>
                  <a:srgbClr val="060A12"/>
                </a:solidFill>
                <a:latin typeface="Aptos" panose="020B0004020202020204" pitchFamily="34" charset="0"/>
              </a:rPr>
              <a:t>SCALE</a:t>
            </a:r>
          </a:p>
        </p:txBody>
      </p:sp>
      <p:cxnSp>
        <p:nvCxnSpPr>
          <p:cNvPr id="21" name="Straight Connector 20">
            <a:extLst>
              <a:ext uri="{FF2B5EF4-FFF2-40B4-BE49-F238E27FC236}">
                <a16:creationId xmlns:a16="http://schemas.microsoft.com/office/drawing/2014/main" id="{4C064E16-9FA1-1396-057B-98F4BE32BCCB}"/>
              </a:ext>
            </a:extLst>
          </p:cNvPr>
          <p:cNvCxnSpPr/>
          <p:nvPr/>
        </p:nvCxnSpPr>
        <p:spPr>
          <a:xfrm>
            <a:off x="6946900" y="4775200"/>
            <a:ext cx="279400" cy="0"/>
          </a:xfrm>
          <a:prstGeom prst="line">
            <a:avLst/>
          </a:prstGeom>
          <a:ln w="25400">
            <a:solidFill>
              <a:srgbClr val="A9B4C5"/>
            </a:solidFill>
            <a:tailEnd type="arrow"/>
          </a:ln>
        </p:spPr>
        <p:style>
          <a:lnRef idx="1">
            <a:schemeClr val="accent1"/>
          </a:lnRef>
          <a:fillRef idx="0">
            <a:schemeClr val="accent1"/>
          </a:fillRef>
          <a:effectRef idx="0">
            <a:schemeClr val="accent1"/>
          </a:effectRef>
          <a:fontRef idx="minor">
            <a:schemeClr val="tx1"/>
          </a:fontRef>
        </p:style>
      </p:cxnSp>
      <p:sp>
        <p:nvSpPr>
          <p:cNvPr id="22" name="Rectangle: Rounded Corners 21">
            <a:extLst>
              <a:ext uri="{FF2B5EF4-FFF2-40B4-BE49-F238E27FC236}">
                <a16:creationId xmlns:a16="http://schemas.microsoft.com/office/drawing/2014/main" id="{B899572A-B9FC-E5F9-E22E-21E71E978C52}"/>
              </a:ext>
            </a:extLst>
          </p:cNvPr>
          <p:cNvSpPr/>
          <p:nvPr/>
        </p:nvSpPr>
        <p:spPr>
          <a:xfrm>
            <a:off x="7378700" y="4610100"/>
            <a:ext cx="1803400" cy="330200"/>
          </a:xfrm>
          <a:prstGeom prst="roundRect">
            <a:avLst/>
          </a:prstGeom>
          <a:solidFill>
            <a:srgbClr val="3ECF8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3D84D7A0-D6F8-CE03-1F6D-C5F618A69D90}"/>
              </a:ext>
            </a:extLst>
          </p:cNvPr>
          <p:cNvSpPr txBox="1"/>
          <p:nvPr/>
        </p:nvSpPr>
        <p:spPr>
          <a:xfrm>
            <a:off x="7454900" y="4648200"/>
            <a:ext cx="1651000" cy="276999"/>
          </a:xfrm>
          <a:prstGeom prst="rect">
            <a:avLst/>
          </a:prstGeom>
          <a:noFill/>
        </p:spPr>
        <p:txBody>
          <a:bodyPr vert="horz" wrap="square" lIns="0" tIns="0" rIns="0" bIns="0" rtlCol="0">
            <a:noAutofit/>
          </a:bodyPr>
          <a:lstStyle/>
          <a:p>
            <a:pPr algn="ctr"/>
            <a:r>
              <a:rPr lang="en-US" sz="1050" b="1">
                <a:solidFill>
                  <a:srgbClr val="060A12"/>
                </a:solidFill>
                <a:latin typeface="Aptos" panose="020B0004020202020204" pitchFamily="34" charset="0"/>
              </a:rPr>
              <a:t>DRIVE</a:t>
            </a:r>
          </a:p>
        </p:txBody>
      </p:sp>
      <p:cxnSp>
        <p:nvCxnSpPr>
          <p:cNvPr id="24" name="Straight Connector 23">
            <a:extLst>
              <a:ext uri="{FF2B5EF4-FFF2-40B4-BE49-F238E27FC236}">
                <a16:creationId xmlns:a16="http://schemas.microsoft.com/office/drawing/2014/main" id="{E23DA023-90AB-546B-0089-2E3FADFBB30F}"/>
              </a:ext>
            </a:extLst>
          </p:cNvPr>
          <p:cNvCxnSpPr/>
          <p:nvPr/>
        </p:nvCxnSpPr>
        <p:spPr>
          <a:xfrm>
            <a:off x="9182100" y="4775200"/>
            <a:ext cx="279400" cy="0"/>
          </a:xfrm>
          <a:prstGeom prst="line">
            <a:avLst/>
          </a:prstGeom>
          <a:ln w="25400">
            <a:solidFill>
              <a:srgbClr val="A9B4C5"/>
            </a:solidFill>
            <a:tailEnd type="arrow"/>
          </a:ln>
        </p:spPr>
        <p:style>
          <a:lnRef idx="1">
            <a:schemeClr val="accent1"/>
          </a:lnRef>
          <a:fillRef idx="0">
            <a:schemeClr val="accent1"/>
          </a:fillRef>
          <a:effectRef idx="0">
            <a:schemeClr val="accent1"/>
          </a:effectRef>
          <a:fontRef idx="minor">
            <a:schemeClr val="tx1"/>
          </a:fontRef>
        </p:style>
      </p:cxnSp>
      <p:sp>
        <p:nvSpPr>
          <p:cNvPr id="25" name="Rectangle: Rounded Corners 24">
            <a:extLst>
              <a:ext uri="{FF2B5EF4-FFF2-40B4-BE49-F238E27FC236}">
                <a16:creationId xmlns:a16="http://schemas.microsoft.com/office/drawing/2014/main" id="{FB72DCE1-0733-CA46-E5D2-D1568E9655DC}"/>
              </a:ext>
            </a:extLst>
          </p:cNvPr>
          <p:cNvSpPr/>
          <p:nvPr/>
        </p:nvSpPr>
        <p:spPr>
          <a:xfrm>
            <a:off x="9613900" y="4610100"/>
            <a:ext cx="1803400" cy="330200"/>
          </a:xfrm>
          <a:prstGeom prst="roundRect">
            <a:avLst/>
          </a:prstGeom>
          <a:solidFill>
            <a:srgbClr val="FF646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CB03A818-AD27-94C9-5F92-CE026EBD4CD2}"/>
              </a:ext>
            </a:extLst>
          </p:cNvPr>
          <p:cNvSpPr txBox="1"/>
          <p:nvPr/>
        </p:nvSpPr>
        <p:spPr>
          <a:xfrm>
            <a:off x="9690100" y="4648200"/>
            <a:ext cx="1651000" cy="276999"/>
          </a:xfrm>
          <a:prstGeom prst="rect">
            <a:avLst/>
          </a:prstGeom>
          <a:noFill/>
        </p:spPr>
        <p:txBody>
          <a:bodyPr vert="horz" wrap="square" lIns="0" tIns="0" rIns="0" bIns="0" rtlCol="0">
            <a:noAutofit/>
          </a:bodyPr>
          <a:lstStyle/>
          <a:p>
            <a:pPr algn="ctr"/>
            <a:r>
              <a:rPr lang="en-US" sz="1050" b="1">
                <a:solidFill>
                  <a:srgbClr val="060A12"/>
                </a:solidFill>
                <a:latin typeface="Aptos" panose="020B0004020202020204" pitchFamily="34" charset="0"/>
              </a:rPr>
              <a:t>MOTORS</a:t>
            </a:r>
          </a:p>
        </p:txBody>
      </p:sp>
      <p:sp>
        <p:nvSpPr>
          <p:cNvPr id="27" name="Rectangle: Rounded Corners 26">
            <a:extLst>
              <a:ext uri="{FF2B5EF4-FFF2-40B4-BE49-F238E27FC236}">
                <a16:creationId xmlns:a16="http://schemas.microsoft.com/office/drawing/2014/main" id="{3C69CAF2-2F05-1197-F2BF-E76849764640}"/>
              </a:ext>
            </a:extLst>
          </p:cNvPr>
          <p:cNvSpPr/>
          <p:nvPr/>
        </p:nvSpPr>
        <p:spPr>
          <a:xfrm>
            <a:off x="533400" y="6261100"/>
            <a:ext cx="11125200" cy="533400"/>
          </a:xfrm>
          <a:prstGeom prst="roundRect">
            <a:avLst/>
          </a:prstGeom>
          <a:solidFill>
            <a:srgbClr val="18223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Rounded Corners 27">
            <a:extLst>
              <a:ext uri="{FF2B5EF4-FFF2-40B4-BE49-F238E27FC236}">
                <a16:creationId xmlns:a16="http://schemas.microsoft.com/office/drawing/2014/main" id="{E60AE2C1-C24C-1D71-676C-D84AF8C0BA88}"/>
              </a:ext>
            </a:extLst>
          </p:cNvPr>
          <p:cNvSpPr/>
          <p:nvPr/>
        </p:nvSpPr>
        <p:spPr>
          <a:xfrm>
            <a:off x="660400" y="6362700"/>
            <a:ext cx="1473200" cy="330200"/>
          </a:xfrm>
          <a:prstGeom prst="roundRect">
            <a:avLst/>
          </a:prstGeom>
          <a:solidFill>
            <a:srgbClr val="35CBB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A65F2FE3-B1A4-3448-1508-09E5F18BE863}"/>
              </a:ext>
            </a:extLst>
          </p:cNvPr>
          <p:cNvSpPr txBox="1"/>
          <p:nvPr/>
        </p:nvSpPr>
        <p:spPr>
          <a:xfrm>
            <a:off x="736600" y="6400800"/>
            <a:ext cx="1320800" cy="276999"/>
          </a:xfrm>
          <a:prstGeom prst="rect">
            <a:avLst/>
          </a:prstGeom>
          <a:noFill/>
        </p:spPr>
        <p:txBody>
          <a:bodyPr vert="horz" wrap="square" lIns="0" tIns="0" rIns="0" bIns="0" rtlCol="0">
            <a:noAutofit/>
          </a:bodyPr>
          <a:lstStyle/>
          <a:p>
            <a:pPr algn="ctr"/>
            <a:r>
              <a:rPr lang="en-US" sz="1050" b="1">
                <a:solidFill>
                  <a:srgbClr val="060A12"/>
                </a:solidFill>
                <a:latin typeface="Aptos" panose="020B0004020202020204" pitchFamily="34" charset="0"/>
              </a:rPr>
              <a:t>TRY IT</a:t>
            </a:r>
          </a:p>
        </p:txBody>
      </p:sp>
      <p:sp>
        <p:nvSpPr>
          <p:cNvPr id="30" name="TextBox 29">
            <a:extLst>
              <a:ext uri="{FF2B5EF4-FFF2-40B4-BE49-F238E27FC236}">
                <a16:creationId xmlns:a16="http://schemas.microsoft.com/office/drawing/2014/main" id="{ECC839E3-60F4-2660-F7DB-DAD4D982055A}"/>
              </a:ext>
            </a:extLst>
          </p:cNvPr>
          <p:cNvSpPr txBox="1"/>
          <p:nvPr/>
        </p:nvSpPr>
        <p:spPr>
          <a:xfrm>
            <a:off x="2286000" y="6362700"/>
            <a:ext cx="9207500" cy="276999"/>
          </a:xfrm>
          <a:prstGeom prst="rect">
            <a:avLst/>
          </a:prstGeom>
          <a:noFill/>
        </p:spPr>
        <p:txBody>
          <a:bodyPr vert="horz" wrap="square" lIns="0" tIns="0" rIns="0" bIns="0" rtlCol="0" anchor="t">
            <a:noAutofit/>
          </a:bodyPr>
          <a:lstStyle/>
          <a:p>
            <a:r>
              <a:rPr lang="en-US" sz="1300">
                <a:solidFill>
                  <a:srgbClr val="F2F5F9"/>
                </a:solidFill>
                <a:latin typeface="Aptos" panose="020B0004020202020204" pitchFamily="34" charset="0"/>
              </a:rPr>
              <a:t>Find the matching right-stick method; predict a NORMAL_DRIVE_SCALE change.</a:t>
            </a:r>
          </a:p>
        </p:txBody>
      </p:sp>
      <p:sp>
        <p:nvSpPr>
          <p:cNvPr id="31" name="TextBox 30">
            <a:extLst>
              <a:ext uri="{FF2B5EF4-FFF2-40B4-BE49-F238E27FC236}">
                <a16:creationId xmlns:a16="http://schemas.microsoft.com/office/drawing/2014/main" id="{B57FBA5A-3D61-91FF-6F96-63CA906CA664}"/>
              </a:ext>
            </a:extLst>
          </p:cNvPr>
          <p:cNvSpPr txBox="1"/>
          <p:nvPr/>
        </p:nvSpPr>
        <p:spPr>
          <a:xfrm>
            <a:off x="533400" y="6908800"/>
            <a:ext cx="8890000" cy="276999"/>
          </a:xfrm>
          <a:prstGeom prst="rect">
            <a:avLst/>
          </a:prstGeom>
          <a:noFill/>
        </p:spPr>
        <p:txBody>
          <a:bodyPr vert="horz" wrap="square" lIns="0" tIns="0" rIns="0" bIns="0" rtlCol="0" anchor="t">
            <a:noAutofit/>
          </a:bodyPr>
          <a:lstStyle/>
          <a:p>
            <a:r>
              <a:rPr lang="en-US" sz="850">
                <a:solidFill>
                  <a:srgbClr val="A9B4C5"/>
                </a:solidFill>
                <a:latin typeface="Aptos" panose="020B0004020202020204" pitchFamily="34" charset="0"/>
              </a:rPr>
              <a:t>Sources: RobotContainer.java; DriveTeleopCommand.java</a:t>
            </a:r>
          </a:p>
        </p:txBody>
      </p:sp>
      <p:sp>
        <p:nvSpPr>
          <p:cNvPr id="32" name="TextBox 31">
            <a:extLst>
              <a:ext uri="{FF2B5EF4-FFF2-40B4-BE49-F238E27FC236}">
                <a16:creationId xmlns:a16="http://schemas.microsoft.com/office/drawing/2014/main" id="{4B238B38-9F37-EEB9-45F1-DF034037F288}"/>
              </a:ext>
            </a:extLst>
          </p:cNvPr>
          <p:cNvSpPr txBox="1"/>
          <p:nvPr/>
        </p:nvSpPr>
        <p:spPr>
          <a:xfrm>
            <a:off x="9017000" y="6908800"/>
            <a:ext cx="2641600" cy="276999"/>
          </a:xfrm>
          <a:prstGeom prst="rect">
            <a:avLst/>
          </a:prstGeom>
          <a:noFill/>
        </p:spPr>
        <p:txBody>
          <a:bodyPr vert="horz" wrap="square" lIns="0" tIns="0" rIns="0" bIns="0" rtlCol="0" anchor="t">
            <a:noAutofit/>
          </a:bodyPr>
          <a:lstStyle/>
          <a:p>
            <a:pPr algn="r"/>
            <a:r>
              <a:rPr lang="en-US" sz="850">
                <a:solidFill>
                  <a:srgbClr val="A9B4C5"/>
                </a:solidFill>
                <a:latin typeface="Aptos" panose="020B0004020202020204" pitchFamily="34" charset="0"/>
              </a:rPr>
              <a:t>CURRENT ROBOT IMPLEMENTATION • V2</a:t>
            </a:r>
          </a:p>
        </p:txBody>
      </p:sp>
    </p:spTree>
    <p:extLst>
      <p:ext uri="{BB962C8B-B14F-4D97-AF65-F5344CB8AC3E}">
        <p14:creationId xmlns:p14="http://schemas.microsoft.com/office/powerpoint/2010/main" val="19958717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D1421"/>
        </a:solidFill>
        <a:effectLst/>
      </p:bgPr>
    </p:bg>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D82678F1-4398-0071-45A2-201F213F74F5}"/>
              </a:ext>
            </a:extLst>
          </p:cNvPr>
          <p:cNvSpPr/>
          <p:nvPr/>
        </p:nvSpPr>
        <p:spPr>
          <a:xfrm>
            <a:off x="533400" y="292100"/>
            <a:ext cx="1473200" cy="330200"/>
          </a:xfrm>
          <a:prstGeom prst="roundRect">
            <a:avLst/>
          </a:prstGeom>
          <a:solidFill>
            <a:srgbClr val="FFC1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A5BBB714-B5F9-8586-2649-C5878BE24755}"/>
              </a:ext>
            </a:extLst>
          </p:cNvPr>
          <p:cNvSpPr txBox="1"/>
          <p:nvPr/>
        </p:nvSpPr>
        <p:spPr>
          <a:xfrm>
            <a:off x="609600" y="330200"/>
            <a:ext cx="1320800" cy="276999"/>
          </a:xfrm>
          <a:prstGeom prst="rect">
            <a:avLst/>
          </a:prstGeom>
          <a:noFill/>
        </p:spPr>
        <p:txBody>
          <a:bodyPr vert="horz" wrap="square" lIns="0" tIns="0" rIns="0" bIns="0" rtlCol="0">
            <a:noAutofit/>
          </a:bodyPr>
          <a:lstStyle/>
          <a:p>
            <a:pPr algn="ctr"/>
            <a:r>
              <a:rPr lang="en-US" sz="1050" b="1">
                <a:solidFill>
                  <a:srgbClr val="060A12"/>
                </a:solidFill>
                <a:latin typeface="Aptos" panose="020B0004020202020204" pitchFamily="34" charset="0"/>
              </a:rPr>
              <a:t>EXPERIENCED TRACK</a:t>
            </a:r>
          </a:p>
        </p:txBody>
      </p:sp>
      <p:sp>
        <p:nvSpPr>
          <p:cNvPr id="4" name="TextBox 3">
            <a:extLst>
              <a:ext uri="{FF2B5EF4-FFF2-40B4-BE49-F238E27FC236}">
                <a16:creationId xmlns:a16="http://schemas.microsoft.com/office/drawing/2014/main" id="{F1596200-0AC8-9903-AEDC-076AD1BA1418}"/>
              </a:ext>
            </a:extLst>
          </p:cNvPr>
          <p:cNvSpPr txBox="1"/>
          <p:nvPr/>
        </p:nvSpPr>
        <p:spPr>
          <a:xfrm>
            <a:off x="533400" y="762000"/>
            <a:ext cx="10414000" cy="276999"/>
          </a:xfrm>
          <a:prstGeom prst="rect">
            <a:avLst/>
          </a:prstGeom>
          <a:noFill/>
        </p:spPr>
        <p:txBody>
          <a:bodyPr vert="horz" wrap="square" lIns="0" tIns="0" rIns="0" bIns="0" rtlCol="0" anchor="t">
            <a:noAutofit/>
          </a:bodyPr>
          <a:lstStyle/>
          <a:p>
            <a:r>
              <a:rPr lang="en-US" sz="2800" b="1">
                <a:solidFill>
                  <a:srgbClr val="F2F5F9"/>
                </a:solidFill>
                <a:latin typeface="Aptos Display" panose="020B0004020202020204" pitchFamily="34" charset="0"/>
              </a:rPr>
              <a:t>Slow mode changes state, not drivetrain ownership</a:t>
            </a:r>
          </a:p>
        </p:txBody>
      </p:sp>
      <p:sp>
        <p:nvSpPr>
          <p:cNvPr id="5" name="TextBox 4">
            <a:extLst>
              <a:ext uri="{FF2B5EF4-FFF2-40B4-BE49-F238E27FC236}">
                <a16:creationId xmlns:a16="http://schemas.microsoft.com/office/drawing/2014/main" id="{0F58FC7B-55D6-F083-BD89-F16C9427E8BC}"/>
              </a:ext>
            </a:extLst>
          </p:cNvPr>
          <p:cNvSpPr txBox="1"/>
          <p:nvPr/>
        </p:nvSpPr>
        <p:spPr>
          <a:xfrm>
            <a:off x="11226800" y="355600"/>
            <a:ext cx="381000" cy="276999"/>
          </a:xfrm>
          <a:prstGeom prst="rect">
            <a:avLst/>
          </a:prstGeom>
          <a:noFill/>
        </p:spPr>
        <p:txBody>
          <a:bodyPr vert="horz" wrap="square" lIns="0" tIns="0" rIns="0" bIns="0" rtlCol="0" anchor="t">
            <a:noAutofit/>
          </a:bodyPr>
          <a:lstStyle/>
          <a:p>
            <a:pPr algn="r"/>
            <a:r>
              <a:rPr lang="en-US" sz="1000" b="1">
                <a:solidFill>
                  <a:srgbClr val="A9B4C5"/>
                </a:solidFill>
                <a:latin typeface="Aptos" panose="020B0004020202020204" pitchFamily="34" charset="0"/>
              </a:rPr>
              <a:t>22</a:t>
            </a:r>
          </a:p>
        </p:txBody>
      </p:sp>
      <p:cxnSp>
        <p:nvCxnSpPr>
          <p:cNvPr id="6" name="Straight Connector 5">
            <a:extLst>
              <a:ext uri="{FF2B5EF4-FFF2-40B4-BE49-F238E27FC236}">
                <a16:creationId xmlns:a16="http://schemas.microsoft.com/office/drawing/2014/main" id="{10D1E9B2-075C-26BD-D4D5-C6E7B2A12C9D}"/>
              </a:ext>
            </a:extLst>
          </p:cNvPr>
          <p:cNvCxnSpPr/>
          <p:nvPr/>
        </p:nvCxnSpPr>
        <p:spPr>
          <a:xfrm>
            <a:off x="533400" y="1371600"/>
            <a:ext cx="11125200" cy="0"/>
          </a:xfrm>
          <a:prstGeom prst="line">
            <a:avLst/>
          </a:prstGeom>
          <a:ln w="12700">
            <a:solidFill>
              <a:srgbClr val="1F2C41"/>
            </a:solidFill>
          </a:ln>
        </p:spPr>
        <p:style>
          <a:lnRef idx="1">
            <a:schemeClr val="accent1"/>
          </a:lnRef>
          <a:fillRef idx="0">
            <a:schemeClr val="accent1"/>
          </a:fillRef>
          <a:effectRef idx="0">
            <a:schemeClr val="accent1"/>
          </a:effectRef>
          <a:fontRef idx="minor">
            <a:schemeClr val="tx1"/>
          </a:fontRef>
        </p:style>
      </p:cxnSp>
      <p:sp>
        <p:nvSpPr>
          <p:cNvPr id="7" name="Rectangle: Rounded Corners 6">
            <a:extLst>
              <a:ext uri="{FF2B5EF4-FFF2-40B4-BE49-F238E27FC236}">
                <a16:creationId xmlns:a16="http://schemas.microsoft.com/office/drawing/2014/main" id="{848DEB59-2DB1-5020-C091-8878359B95B6}"/>
              </a:ext>
            </a:extLst>
          </p:cNvPr>
          <p:cNvSpPr/>
          <p:nvPr/>
        </p:nvSpPr>
        <p:spPr>
          <a:xfrm>
            <a:off x="635000" y="1676400"/>
            <a:ext cx="4876800" cy="1397000"/>
          </a:xfrm>
          <a:prstGeom prst="roundRect">
            <a:avLst/>
          </a:prstGeom>
          <a:solidFill>
            <a:srgbClr val="060A12"/>
          </a:solidFill>
          <a:ln w="15875">
            <a:solidFill>
              <a:srgbClr val="1F2C4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3E5CACF5-D30D-B003-D420-2130622AABA6}"/>
              </a:ext>
            </a:extLst>
          </p:cNvPr>
          <p:cNvSpPr/>
          <p:nvPr/>
        </p:nvSpPr>
        <p:spPr>
          <a:xfrm>
            <a:off x="635000" y="1676400"/>
            <a:ext cx="88900" cy="1397000"/>
          </a:xfrm>
          <a:prstGeom prst="rect">
            <a:avLst/>
          </a:prstGeom>
          <a:solidFill>
            <a:srgbClr val="FFC1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200FA7F4-8501-0334-F3D2-87A67A006D53}"/>
              </a:ext>
            </a:extLst>
          </p:cNvPr>
          <p:cNvSpPr txBox="1"/>
          <p:nvPr/>
        </p:nvSpPr>
        <p:spPr>
          <a:xfrm>
            <a:off x="863600" y="1828800"/>
            <a:ext cx="4495800" cy="276999"/>
          </a:xfrm>
          <a:prstGeom prst="rect">
            <a:avLst/>
          </a:prstGeom>
          <a:noFill/>
        </p:spPr>
        <p:txBody>
          <a:bodyPr vert="horz" wrap="square" lIns="0" tIns="0" rIns="0" bIns="0" rtlCol="0" anchor="t">
            <a:noAutofit/>
          </a:bodyPr>
          <a:lstStyle/>
          <a:p>
            <a:r>
              <a:rPr lang="en-US" sz="1600">
                <a:solidFill>
                  <a:srgbClr val="F2F5F9"/>
                </a:solidFill>
                <a:latin typeface="Consolas" panose="020B0609020204030204" pitchFamily="49" charset="0"/>
              </a:rPr>
              <a:t>NORMAL_DRIVE_SCALE = 0.8</a:t>
            </a:r>
          </a:p>
          <a:p>
            <a:r>
              <a:rPr lang="en-US" sz="1600">
                <a:solidFill>
                  <a:srgbClr val="F2F5F9"/>
                </a:solidFill>
                <a:latin typeface="Consolas" panose="020B0609020204030204" pitchFamily="49" charset="0"/>
              </a:rPr>
              <a:t>SLOW_DRIVE_SCALE = 0.4</a:t>
            </a:r>
          </a:p>
          <a:p>
            <a:r>
              <a:rPr lang="en-US" sz="1600">
                <a:solidFill>
                  <a:srgbClr val="F2F5F9"/>
                </a:solidFill>
                <a:latin typeface="Consolas" panose="020B0609020204030204" pitchFamily="49" charset="0"/>
              </a:rPr>
              <a:t>DRIVE_DEADBAND = 0.08</a:t>
            </a:r>
          </a:p>
        </p:txBody>
      </p:sp>
      <p:sp>
        <p:nvSpPr>
          <p:cNvPr id="10" name="Rectangle: Rounded Corners 9">
            <a:extLst>
              <a:ext uri="{FF2B5EF4-FFF2-40B4-BE49-F238E27FC236}">
                <a16:creationId xmlns:a16="http://schemas.microsoft.com/office/drawing/2014/main" id="{89605BF5-3086-0530-AD9E-86E26AA31F89}"/>
              </a:ext>
            </a:extLst>
          </p:cNvPr>
          <p:cNvSpPr/>
          <p:nvPr/>
        </p:nvSpPr>
        <p:spPr>
          <a:xfrm>
            <a:off x="6032500" y="1676400"/>
            <a:ext cx="5524500" cy="2286000"/>
          </a:xfrm>
          <a:prstGeom prst="roundRect">
            <a:avLst/>
          </a:prstGeom>
          <a:solidFill>
            <a:srgbClr val="060A12"/>
          </a:solidFill>
          <a:ln w="15875">
            <a:solidFill>
              <a:srgbClr val="1F2C4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A7121EF8-79C5-6782-69F8-D0212E2B053F}"/>
              </a:ext>
            </a:extLst>
          </p:cNvPr>
          <p:cNvSpPr/>
          <p:nvPr/>
        </p:nvSpPr>
        <p:spPr>
          <a:xfrm>
            <a:off x="6032500" y="1676400"/>
            <a:ext cx="88900" cy="2286000"/>
          </a:xfrm>
          <a:prstGeom prst="rect">
            <a:avLst/>
          </a:prstGeom>
          <a:solidFill>
            <a:srgbClr val="FFA44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500CBD63-31A5-74A6-0FA0-C90E71013E0C}"/>
              </a:ext>
            </a:extLst>
          </p:cNvPr>
          <p:cNvSpPr txBox="1"/>
          <p:nvPr/>
        </p:nvSpPr>
        <p:spPr>
          <a:xfrm>
            <a:off x="6261100" y="1828800"/>
            <a:ext cx="5143500" cy="276999"/>
          </a:xfrm>
          <a:prstGeom prst="rect">
            <a:avLst/>
          </a:prstGeom>
          <a:noFill/>
        </p:spPr>
        <p:txBody>
          <a:bodyPr vert="horz" wrap="square" lIns="0" tIns="0" rIns="0" bIns="0" rtlCol="0" anchor="t">
            <a:noAutofit/>
          </a:bodyPr>
          <a:lstStyle/>
          <a:p>
            <a:r>
              <a:rPr lang="en-US" sz="1400">
                <a:solidFill>
                  <a:srgbClr val="F2F5F9"/>
                </a:solidFill>
                <a:latin typeface="Consolas" panose="020B0609020204030204" pitchFamily="49" charset="0"/>
              </a:rPr>
              <a:t>public void initialize() {</a:t>
            </a:r>
          </a:p>
          <a:p>
            <a:r>
              <a:rPr lang="en-US" sz="1400">
                <a:solidFill>
                  <a:srgbClr val="F2F5F9"/>
                </a:solidFill>
                <a:latin typeface="Consolas" panose="020B0609020204030204" pitchFamily="49" charset="0"/>
              </a:rPr>
              <a:t>    driveSpeedMode.setSlow(true);</a:t>
            </a:r>
          </a:p>
          <a:p>
            <a:r>
              <a:rPr lang="en-US" sz="1400">
                <a:solidFill>
                  <a:srgbClr val="F2F5F9"/>
                </a:solidFill>
                <a:latin typeface="Consolas" panose="020B0609020204030204" pitchFamily="49" charset="0"/>
              </a:rPr>
              <a:t>}</a:t>
            </a:r>
          </a:p>
          <a:p>
            <a:endParaRPr lang="en-US" sz="1400">
              <a:solidFill>
                <a:srgbClr val="F2F5F9"/>
              </a:solidFill>
              <a:latin typeface="Consolas" panose="020B0609020204030204" pitchFamily="49" charset="0"/>
            </a:endParaRPr>
          </a:p>
          <a:p>
            <a:r>
              <a:rPr lang="en-US" sz="1400">
                <a:solidFill>
                  <a:srgbClr val="F2F5F9"/>
                </a:solidFill>
                <a:latin typeface="Consolas" panose="020B0609020204030204" pitchFamily="49" charset="0"/>
              </a:rPr>
              <a:t>public void end(boolean interrupted) {</a:t>
            </a:r>
          </a:p>
          <a:p>
            <a:r>
              <a:rPr lang="en-US" sz="1400">
                <a:solidFill>
                  <a:srgbClr val="F2F5F9"/>
                </a:solidFill>
                <a:latin typeface="Consolas" panose="020B0609020204030204" pitchFamily="49" charset="0"/>
              </a:rPr>
              <a:t>    driveSpeedMode.setSlow(false);</a:t>
            </a:r>
          </a:p>
          <a:p>
            <a:r>
              <a:rPr lang="en-US" sz="1400">
                <a:solidFill>
                  <a:srgbClr val="F2F5F9"/>
                </a:solidFill>
                <a:latin typeface="Consolas" panose="020B0609020204030204" pitchFamily="49" charset="0"/>
              </a:rPr>
              <a:t>}</a:t>
            </a:r>
          </a:p>
        </p:txBody>
      </p:sp>
      <p:sp>
        <p:nvSpPr>
          <p:cNvPr id="13" name="Rectangle: Rounded Corners 12">
            <a:extLst>
              <a:ext uri="{FF2B5EF4-FFF2-40B4-BE49-F238E27FC236}">
                <a16:creationId xmlns:a16="http://schemas.microsoft.com/office/drawing/2014/main" id="{7148D569-6552-D49D-9A96-6F7F18DBF4E8}"/>
              </a:ext>
            </a:extLst>
          </p:cNvPr>
          <p:cNvSpPr/>
          <p:nvPr/>
        </p:nvSpPr>
        <p:spPr>
          <a:xfrm>
            <a:off x="1092200" y="4406900"/>
            <a:ext cx="4445000" cy="914400"/>
          </a:xfrm>
          <a:prstGeom prst="roundRect">
            <a:avLst/>
          </a:prstGeom>
          <a:solidFill>
            <a:srgbClr val="182234"/>
          </a:solidFill>
          <a:ln w="15875">
            <a:solidFill>
              <a:srgbClr val="3ECF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B2EAA99C-C715-AA0B-38CD-5FDD36D276C8}"/>
              </a:ext>
            </a:extLst>
          </p:cNvPr>
          <p:cNvSpPr/>
          <p:nvPr/>
        </p:nvSpPr>
        <p:spPr>
          <a:xfrm>
            <a:off x="1092200" y="4406900"/>
            <a:ext cx="76200" cy="914400"/>
          </a:xfrm>
          <a:prstGeom prst="rect">
            <a:avLst/>
          </a:prstGeom>
          <a:solidFill>
            <a:srgbClr val="3ECF8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572756F1-0DE1-637B-24D7-A3463467B44A}"/>
              </a:ext>
            </a:extLst>
          </p:cNvPr>
          <p:cNvSpPr txBox="1"/>
          <p:nvPr/>
        </p:nvSpPr>
        <p:spPr>
          <a:xfrm>
            <a:off x="1295400" y="4533900"/>
            <a:ext cx="4127500" cy="276999"/>
          </a:xfrm>
          <a:prstGeom prst="rect">
            <a:avLst/>
          </a:prstGeom>
          <a:noFill/>
        </p:spPr>
        <p:txBody>
          <a:bodyPr vert="horz" wrap="square" lIns="0" tIns="0" rIns="0" bIns="0" rtlCol="0" anchor="t">
            <a:noAutofit/>
          </a:bodyPr>
          <a:lstStyle/>
          <a:p>
            <a:r>
              <a:rPr lang="en-US" sz="1600" b="1">
                <a:solidFill>
                  <a:srgbClr val="3ECF8E"/>
                </a:solidFill>
                <a:latin typeface="Aptos" panose="020B0004020202020204" pitchFamily="34" charset="0"/>
              </a:rPr>
              <a:t>DriveTeleopCommand</a:t>
            </a:r>
          </a:p>
        </p:txBody>
      </p:sp>
      <p:sp>
        <p:nvSpPr>
          <p:cNvPr id="16" name="TextBox 15">
            <a:extLst>
              <a:ext uri="{FF2B5EF4-FFF2-40B4-BE49-F238E27FC236}">
                <a16:creationId xmlns:a16="http://schemas.microsoft.com/office/drawing/2014/main" id="{763249B2-9B42-B929-D8CD-E61040873FBE}"/>
              </a:ext>
            </a:extLst>
          </p:cNvPr>
          <p:cNvSpPr txBox="1"/>
          <p:nvPr/>
        </p:nvSpPr>
        <p:spPr>
          <a:xfrm>
            <a:off x="1295400" y="4889500"/>
            <a:ext cx="4127500" cy="276999"/>
          </a:xfrm>
          <a:prstGeom prst="rect">
            <a:avLst/>
          </a:prstGeom>
          <a:noFill/>
        </p:spPr>
        <p:txBody>
          <a:bodyPr vert="horz" wrap="square" lIns="0" tIns="0" rIns="0" bIns="0" rtlCol="0" anchor="t">
            <a:noAutofit/>
          </a:bodyPr>
          <a:lstStyle/>
          <a:p>
            <a:r>
              <a:rPr lang="en-US" sz="1200">
                <a:solidFill>
                  <a:srgbClr val="F2F5F9"/>
                </a:solidFill>
                <a:latin typeface="Aptos" panose="020B0004020202020204" pitchFamily="34" charset="0"/>
              </a:rPr>
              <a:t>keeps DriveSubsystem requirement</a:t>
            </a:r>
          </a:p>
        </p:txBody>
      </p:sp>
      <p:sp>
        <p:nvSpPr>
          <p:cNvPr id="17" name="Rectangle: Rounded Corners 16">
            <a:extLst>
              <a:ext uri="{FF2B5EF4-FFF2-40B4-BE49-F238E27FC236}">
                <a16:creationId xmlns:a16="http://schemas.microsoft.com/office/drawing/2014/main" id="{4835AC28-B5EE-F82F-FA33-159FFC039A5C}"/>
              </a:ext>
            </a:extLst>
          </p:cNvPr>
          <p:cNvSpPr/>
          <p:nvPr/>
        </p:nvSpPr>
        <p:spPr>
          <a:xfrm>
            <a:off x="6616700" y="4406900"/>
            <a:ext cx="4445000" cy="914400"/>
          </a:xfrm>
          <a:prstGeom prst="roundRect">
            <a:avLst/>
          </a:prstGeom>
          <a:solidFill>
            <a:srgbClr val="182234"/>
          </a:solidFill>
          <a:ln w="15875">
            <a:solidFill>
              <a:srgbClr val="FFC1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F0819577-9737-8640-BC9B-F5664E373FBA}"/>
              </a:ext>
            </a:extLst>
          </p:cNvPr>
          <p:cNvSpPr/>
          <p:nvPr/>
        </p:nvSpPr>
        <p:spPr>
          <a:xfrm>
            <a:off x="6616700" y="4406900"/>
            <a:ext cx="76200" cy="914400"/>
          </a:xfrm>
          <a:prstGeom prst="rect">
            <a:avLst/>
          </a:prstGeom>
          <a:solidFill>
            <a:srgbClr val="FFC1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26C0D309-C129-A725-A678-77EE2964DEDA}"/>
              </a:ext>
            </a:extLst>
          </p:cNvPr>
          <p:cNvSpPr txBox="1"/>
          <p:nvPr/>
        </p:nvSpPr>
        <p:spPr>
          <a:xfrm>
            <a:off x="6819900" y="4533900"/>
            <a:ext cx="4127500" cy="276999"/>
          </a:xfrm>
          <a:prstGeom prst="rect">
            <a:avLst/>
          </a:prstGeom>
          <a:noFill/>
        </p:spPr>
        <p:txBody>
          <a:bodyPr vert="horz" wrap="square" lIns="0" tIns="0" rIns="0" bIns="0" rtlCol="0" anchor="t">
            <a:noAutofit/>
          </a:bodyPr>
          <a:lstStyle/>
          <a:p>
            <a:r>
              <a:rPr lang="en-US" sz="1600" b="1">
                <a:solidFill>
                  <a:srgbClr val="FFC149"/>
                </a:solidFill>
                <a:latin typeface="Aptos" panose="020B0004020202020204" pitchFamily="34" charset="0"/>
              </a:rPr>
              <a:t>SlowDriveCommand</a:t>
            </a:r>
          </a:p>
        </p:txBody>
      </p:sp>
      <p:sp>
        <p:nvSpPr>
          <p:cNvPr id="20" name="TextBox 19">
            <a:extLst>
              <a:ext uri="{FF2B5EF4-FFF2-40B4-BE49-F238E27FC236}">
                <a16:creationId xmlns:a16="http://schemas.microsoft.com/office/drawing/2014/main" id="{AE2726E1-B46B-1234-51B2-C2A984A23F66}"/>
              </a:ext>
            </a:extLst>
          </p:cNvPr>
          <p:cNvSpPr txBox="1"/>
          <p:nvPr/>
        </p:nvSpPr>
        <p:spPr>
          <a:xfrm>
            <a:off x="6819900" y="4889500"/>
            <a:ext cx="4127500" cy="276999"/>
          </a:xfrm>
          <a:prstGeom prst="rect">
            <a:avLst/>
          </a:prstGeom>
          <a:noFill/>
        </p:spPr>
        <p:txBody>
          <a:bodyPr vert="horz" wrap="square" lIns="0" tIns="0" rIns="0" bIns="0" rtlCol="0" anchor="t">
            <a:noAutofit/>
          </a:bodyPr>
          <a:lstStyle/>
          <a:p>
            <a:r>
              <a:rPr lang="en-US" sz="1200">
                <a:solidFill>
                  <a:srgbClr val="F2F5F9"/>
                </a:solidFill>
                <a:latin typeface="Aptos" panose="020B0004020202020204" pitchFamily="34" charset="0"/>
              </a:rPr>
              <a:t>changes shared mode; no requirement</a:t>
            </a:r>
          </a:p>
        </p:txBody>
      </p:sp>
      <p:cxnSp>
        <p:nvCxnSpPr>
          <p:cNvPr id="21" name="Straight Connector 20">
            <a:extLst>
              <a:ext uri="{FF2B5EF4-FFF2-40B4-BE49-F238E27FC236}">
                <a16:creationId xmlns:a16="http://schemas.microsoft.com/office/drawing/2014/main" id="{E368BC0E-F67B-4D93-A53C-F015B37760EB}"/>
              </a:ext>
            </a:extLst>
          </p:cNvPr>
          <p:cNvCxnSpPr/>
          <p:nvPr/>
        </p:nvCxnSpPr>
        <p:spPr>
          <a:xfrm>
            <a:off x="5537200" y="4864100"/>
            <a:ext cx="1079500" cy="0"/>
          </a:xfrm>
          <a:prstGeom prst="line">
            <a:avLst/>
          </a:prstGeom>
          <a:ln w="38100">
            <a:solidFill>
              <a:srgbClr val="A474FF"/>
            </a:solidFill>
            <a:tailEnd type="arrow"/>
          </a:ln>
        </p:spPr>
        <p:style>
          <a:lnRef idx="1">
            <a:schemeClr val="accent1"/>
          </a:lnRef>
          <a:fillRef idx="0">
            <a:schemeClr val="accent1"/>
          </a:fillRef>
          <a:effectRef idx="0">
            <a:schemeClr val="accent1"/>
          </a:effectRef>
          <a:fontRef idx="minor">
            <a:schemeClr val="tx1"/>
          </a:fontRef>
        </p:style>
      </p:cxnSp>
      <p:sp>
        <p:nvSpPr>
          <p:cNvPr id="22" name="Rectangle: Rounded Corners 21">
            <a:extLst>
              <a:ext uri="{FF2B5EF4-FFF2-40B4-BE49-F238E27FC236}">
                <a16:creationId xmlns:a16="http://schemas.microsoft.com/office/drawing/2014/main" id="{7173D519-AC93-0E45-280A-19DB6501E6F4}"/>
              </a:ext>
            </a:extLst>
          </p:cNvPr>
          <p:cNvSpPr/>
          <p:nvPr/>
        </p:nvSpPr>
        <p:spPr>
          <a:xfrm>
            <a:off x="533400" y="6261100"/>
            <a:ext cx="11125200" cy="533400"/>
          </a:xfrm>
          <a:prstGeom prst="roundRect">
            <a:avLst/>
          </a:prstGeom>
          <a:solidFill>
            <a:srgbClr val="18223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Rounded Corners 22">
            <a:extLst>
              <a:ext uri="{FF2B5EF4-FFF2-40B4-BE49-F238E27FC236}">
                <a16:creationId xmlns:a16="http://schemas.microsoft.com/office/drawing/2014/main" id="{E83304F0-47DE-087F-9A7A-2260C99C883E}"/>
              </a:ext>
            </a:extLst>
          </p:cNvPr>
          <p:cNvSpPr/>
          <p:nvPr/>
        </p:nvSpPr>
        <p:spPr>
          <a:xfrm>
            <a:off x="660400" y="6362700"/>
            <a:ext cx="1473200" cy="330200"/>
          </a:xfrm>
          <a:prstGeom prst="roundRect">
            <a:avLst/>
          </a:prstGeom>
          <a:solidFill>
            <a:srgbClr val="FFC1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17A6426B-4140-9E73-8392-C7AC63050569}"/>
              </a:ext>
            </a:extLst>
          </p:cNvPr>
          <p:cNvSpPr txBox="1"/>
          <p:nvPr/>
        </p:nvSpPr>
        <p:spPr>
          <a:xfrm>
            <a:off x="736600" y="6400800"/>
            <a:ext cx="1320800" cy="276999"/>
          </a:xfrm>
          <a:prstGeom prst="rect">
            <a:avLst/>
          </a:prstGeom>
          <a:noFill/>
        </p:spPr>
        <p:txBody>
          <a:bodyPr vert="horz" wrap="square" lIns="0" tIns="0" rIns="0" bIns="0" rtlCol="0">
            <a:noAutofit/>
          </a:bodyPr>
          <a:lstStyle/>
          <a:p>
            <a:pPr algn="ctr"/>
            <a:r>
              <a:rPr lang="en-US" sz="1050" b="1">
                <a:solidFill>
                  <a:srgbClr val="060A12"/>
                </a:solidFill>
                <a:latin typeface="Aptos" panose="020B0004020202020204" pitchFamily="34" charset="0"/>
              </a:rPr>
              <a:t>DESIGN REVIEW</a:t>
            </a:r>
          </a:p>
        </p:txBody>
      </p:sp>
      <p:sp>
        <p:nvSpPr>
          <p:cNvPr id="25" name="TextBox 24">
            <a:extLst>
              <a:ext uri="{FF2B5EF4-FFF2-40B4-BE49-F238E27FC236}">
                <a16:creationId xmlns:a16="http://schemas.microsoft.com/office/drawing/2014/main" id="{6235D126-FCD4-65B8-9E33-E8DFCD0B2200}"/>
              </a:ext>
            </a:extLst>
          </p:cNvPr>
          <p:cNvSpPr txBox="1"/>
          <p:nvPr/>
        </p:nvSpPr>
        <p:spPr>
          <a:xfrm>
            <a:off x="2286000" y="6362700"/>
            <a:ext cx="9207500" cy="276999"/>
          </a:xfrm>
          <a:prstGeom prst="rect">
            <a:avLst/>
          </a:prstGeom>
          <a:noFill/>
        </p:spPr>
        <p:txBody>
          <a:bodyPr vert="horz" wrap="square" lIns="0" tIns="0" rIns="0" bIns="0" rtlCol="0" anchor="t">
            <a:noAutofit/>
          </a:bodyPr>
          <a:lstStyle/>
          <a:p>
            <a:r>
              <a:rPr lang="en-US" sz="1300">
                <a:solidFill>
                  <a:srgbClr val="F2F5F9"/>
                </a:solidFill>
                <a:latin typeface="Aptos" panose="020B0004020202020204" pitchFamily="34" charset="0"/>
              </a:rPr>
              <a:t>Why would requiring DriveSubsystem make slow driving fail?</a:t>
            </a:r>
          </a:p>
        </p:txBody>
      </p:sp>
      <p:sp>
        <p:nvSpPr>
          <p:cNvPr id="26" name="TextBox 25">
            <a:extLst>
              <a:ext uri="{FF2B5EF4-FFF2-40B4-BE49-F238E27FC236}">
                <a16:creationId xmlns:a16="http://schemas.microsoft.com/office/drawing/2014/main" id="{9B4EAE2E-3868-68F2-7AB7-135529066CCC}"/>
              </a:ext>
            </a:extLst>
          </p:cNvPr>
          <p:cNvSpPr txBox="1"/>
          <p:nvPr/>
        </p:nvSpPr>
        <p:spPr>
          <a:xfrm>
            <a:off x="533400" y="6908800"/>
            <a:ext cx="8890000" cy="276999"/>
          </a:xfrm>
          <a:prstGeom prst="rect">
            <a:avLst/>
          </a:prstGeom>
          <a:noFill/>
        </p:spPr>
        <p:txBody>
          <a:bodyPr vert="horz" wrap="square" lIns="0" tIns="0" rIns="0" bIns="0" rtlCol="0" anchor="t">
            <a:noAutofit/>
          </a:bodyPr>
          <a:lstStyle/>
          <a:p>
            <a:r>
              <a:rPr lang="fr-FR" sz="850">
                <a:solidFill>
                  <a:srgbClr val="A9B4C5"/>
                </a:solidFill>
                <a:latin typeface="Aptos" panose="020B0004020202020204" pitchFamily="34" charset="0"/>
              </a:rPr>
              <a:t>Sources: Constants.java; SlowDriveCommand.java</a:t>
            </a:r>
            <a:endParaRPr lang="en-US" sz="850">
              <a:solidFill>
                <a:srgbClr val="A9B4C5"/>
              </a:solidFill>
              <a:latin typeface="Aptos" panose="020B0004020202020204" pitchFamily="34" charset="0"/>
            </a:endParaRPr>
          </a:p>
        </p:txBody>
      </p:sp>
      <p:sp>
        <p:nvSpPr>
          <p:cNvPr id="27" name="TextBox 26">
            <a:extLst>
              <a:ext uri="{FF2B5EF4-FFF2-40B4-BE49-F238E27FC236}">
                <a16:creationId xmlns:a16="http://schemas.microsoft.com/office/drawing/2014/main" id="{617B1B94-867A-5D40-AA64-989D0B60BAB0}"/>
              </a:ext>
            </a:extLst>
          </p:cNvPr>
          <p:cNvSpPr txBox="1"/>
          <p:nvPr/>
        </p:nvSpPr>
        <p:spPr>
          <a:xfrm>
            <a:off x="9017000" y="6908800"/>
            <a:ext cx="2641600" cy="276999"/>
          </a:xfrm>
          <a:prstGeom prst="rect">
            <a:avLst/>
          </a:prstGeom>
          <a:noFill/>
        </p:spPr>
        <p:txBody>
          <a:bodyPr vert="horz" wrap="square" lIns="0" tIns="0" rIns="0" bIns="0" rtlCol="0" anchor="t">
            <a:noAutofit/>
          </a:bodyPr>
          <a:lstStyle/>
          <a:p>
            <a:pPr algn="r"/>
            <a:r>
              <a:rPr lang="en-US" sz="850">
                <a:solidFill>
                  <a:srgbClr val="A9B4C5"/>
                </a:solidFill>
                <a:latin typeface="Aptos" panose="020B0004020202020204" pitchFamily="34" charset="0"/>
              </a:rPr>
              <a:t>CURRENT ROBOT IMPLEMENTATION • V2</a:t>
            </a:r>
          </a:p>
        </p:txBody>
      </p:sp>
    </p:spTree>
    <p:extLst>
      <p:ext uri="{BB962C8B-B14F-4D97-AF65-F5344CB8AC3E}">
        <p14:creationId xmlns:p14="http://schemas.microsoft.com/office/powerpoint/2010/main" val="5008121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D1421"/>
        </a:solidFill>
        <a:effectLst/>
      </p:bgPr>
    </p:bg>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4DACC806-65EC-89BF-0DEC-3EC2CC5C65BD}"/>
              </a:ext>
            </a:extLst>
          </p:cNvPr>
          <p:cNvSpPr/>
          <p:nvPr/>
        </p:nvSpPr>
        <p:spPr>
          <a:xfrm>
            <a:off x="533400" y="292100"/>
            <a:ext cx="1473200" cy="330200"/>
          </a:xfrm>
          <a:prstGeom prst="roundRect">
            <a:avLst/>
          </a:prstGeom>
          <a:solidFill>
            <a:srgbClr val="FFC1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B31B5AFF-7DC0-0B25-5337-966959C43A6E}"/>
              </a:ext>
            </a:extLst>
          </p:cNvPr>
          <p:cNvSpPr txBox="1"/>
          <p:nvPr/>
        </p:nvSpPr>
        <p:spPr>
          <a:xfrm>
            <a:off x="609600" y="330200"/>
            <a:ext cx="1320800" cy="276999"/>
          </a:xfrm>
          <a:prstGeom prst="rect">
            <a:avLst/>
          </a:prstGeom>
          <a:noFill/>
        </p:spPr>
        <p:txBody>
          <a:bodyPr vert="horz" wrap="square" lIns="0" tIns="0" rIns="0" bIns="0" rtlCol="0">
            <a:noAutofit/>
          </a:bodyPr>
          <a:lstStyle/>
          <a:p>
            <a:pPr algn="ctr"/>
            <a:r>
              <a:rPr lang="en-US" sz="1050" b="1">
                <a:solidFill>
                  <a:srgbClr val="060A12"/>
                </a:solidFill>
                <a:latin typeface="Aptos" panose="020B0004020202020204" pitchFamily="34" charset="0"/>
              </a:rPr>
              <a:t>EXPERIENCED TRACK</a:t>
            </a:r>
          </a:p>
        </p:txBody>
      </p:sp>
      <p:sp>
        <p:nvSpPr>
          <p:cNvPr id="4" name="TextBox 3">
            <a:extLst>
              <a:ext uri="{FF2B5EF4-FFF2-40B4-BE49-F238E27FC236}">
                <a16:creationId xmlns:a16="http://schemas.microsoft.com/office/drawing/2014/main" id="{CD15BD03-771D-5C22-39C7-67791E6F1596}"/>
              </a:ext>
            </a:extLst>
          </p:cNvPr>
          <p:cNvSpPr txBox="1"/>
          <p:nvPr/>
        </p:nvSpPr>
        <p:spPr>
          <a:xfrm>
            <a:off x="533400" y="762000"/>
            <a:ext cx="10414000" cy="276999"/>
          </a:xfrm>
          <a:prstGeom prst="rect">
            <a:avLst/>
          </a:prstGeom>
          <a:noFill/>
        </p:spPr>
        <p:txBody>
          <a:bodyPr vert="horz" wrap="square" lIns="0" tIns="0" rIns="0" bIns="0" rtlCol="0" anchor="t">
            <a:noAutofit/>
          </a:bodyPr>
          <a:lstStyle/>
          <a:p>
            <a:r>
              <a:rPr lang="en-US" sz="2800" b="1">
                <a:solidFill>
                  <a:srgbClr val="F2F5F9"/>
                </a:solidFill>
                <a:latin typeface="Aptos Display" panose="020B0004020202020204" pitchFamily="34" charset="0"/>
              </a:rPr>
              <a:t>Simple motor mechanisms reuse one pattern</a:t>
            </a:r>
          </a:p>
        </p:txBody>
      </p:sp>
      <p:sp>
        <p:nvSpPr>
          <p:cNvPr id="5" name="TextBox 4">
            <a:extLst>
              <a:ext uri="{FF2B5EF4-FFF2-40B4-BE49-F238E27FC236}">
                <a16:creationId xmlns:a16="http://schemas.microsoft.com/office/drawing/2014/main" id="{74F9A9CB-DC9C-2B7A-6B39-6D271B101D2E}"/>
              </a:ext>
            </a:extLst>
          </p:cNvPr>
          <p:cNvSpPr txBox="1"/>
          <p:nvPr/>
        </p:nvSpPr>
        <p:spPr>
          <a:xfrm>
            <a:off x="11226800" y="355600"/>
            <a:ext cx="381000" cy="276999"/>
          </a:xfrm>
          <a:prstGeom prst="rect">
            <a:avLst/>
          </a:prstGeom>
          <a:noFill/>
        </p:spPr>
        <p:txBody>
          <a:bodyPr vert="horz" wrap="square" lIns="0" tIns="0" rIns="0" bIns="0" rtlCol="0" anchor="t">
            <a:noAutofit/>
          </a:bodyPr>
          <a:lstStyle/>
          <a:p>
            <a:pPr algn="r"/>
            <a:r>
              <a:rPr lang="en-US" sz="1000" b="1">
                <a:solidFill>
                  <a:srgbClr val="A9B4C5"/>
                </a:solidFill>
                <a:latin typeface="Aptos" panose="020B0004020202020204" pitchFamily="34" charset="0"/>
              </a:rPr>
              <a:t>23</a:t>
            </a:r>
          </a:p>
        </p:txBody>
      </p:sp>
      <p:cxnSp>
        <p:nvCxnSpPr>
          <p:cNvPr id="6" name="Straight Connector 5">
            <a:extLst>
              <a:ext uri="{FF2B5EF4-FFF2-40B4-BE49-F238E27FC236}">
                <a16:creationId xmlns:a16="http://schemas.microsoft.com/office/drawing/2014/main" id="{8443BD80-9710-30F2-98ED-689DE21F3C2B}"/>
              </a:ext>
            </a:extLst>
          </p:cNvPr>
          <p:cNvCxnSpPr/>
          <p:nvPr/>
        </p:nvCxnSpPr>
        <p:spPr>
          <a:xfrm>
            <a:off x="533400" y="1371600"/>
            <a:ext cx="11125200" cy="0"/>
          </a:xfrm>
          <a:prstGeom prst="line">
            <a:avLst/>
          </a:prstGeom>
          <a:ln w="12700">
            <a:solidFill>
              <a:srgbClr val="1F2C41"/>
            </a:solidFill>
          </a:ln>
        </p:spPr>
        <p:style>
          <a:lnRef idx="1">
            <a:schemeClr val="accent1"/>
          </a:lnRef>
          <a:fillRef idx="0">
            <a:schemeClr val="accent1"/>
          </a:fillRef>
          <a:effectRef idx="0">
            <a:schemeClr val="accent1"/>
          </a:effectRef>
          <a:fontRef idx="minor">
            <a:schemeClr val="tx1"/>
          </a:fontRef>
        </p:style>
      </p:cxnSp>
      <p:sp>
        <p:nvSpPr>
          <p:cNvPr id="7" name="Rectangle: Rounded Corners 6">
            <a:extLst>
              <a:ext uri="{FF2B5EF4-FFF2-40B4-BE49-F238E27FC236}">
                <a16:creationId xmlns:a16="http://schemas.microsoft.com/office/drawing/2014/main" id="{79246DF9-32B4-81C0-0E99-CDC961A3CF66}"/>
              </a:ext>
            </a:extLst>
          </p:cNvPr>
          <p:cNvSpPr/>
          <p:nvPr/>
        </p:nvSpPr>
        <p:spPr>
          <a:xfrm>
            <a:off x="698500" y="1587500"/>
            <a:ext cx="5905500" cy="3810000"/>
          </a:xfrm>
          <a:prstGeom prst="roundRect">
            <a:avLst/>
          </a:prstGeom>
          <a:solidFill>
            <a:srgbClr val="060A12"/>
          </a:solidFill>
          <a:ln w="15875">
            <a:solidFill>
              <a:srgbClr val="1F2C4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E28C2C06-8F6D-104C-1419-0EC89EC846E0}"/>
              </a:ext>
            </a:extLst>
          </p:cNvPr>
          <p:cNvSpPr/>
          <p:nvPr/>
        </p:nvSpPr>
        <p:spPr>
          <a:xfrm>
            <a:off x="698500" y="1587500"/>
            <a:ext cx="88900" cy="3810000"/>
          </a:xfrm>
          <a:prstGeom prst="rect">
            <a:avLst/>
          </a:prstGeom>
          <a:solidFill>
            <a:srgbClr val="3ECF8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4059BB18-6268-EA3D-0951-C1C9769CC8EB}"/>
              </a:ext>
            </a:extLst>
          </p:cNvPr>
          <p:cNvSpPr txBox="1"/>
          <p:nvPr/>
        </p:nvSpPr>
        <p:spPr>
          <a:xfrm>
            <a:off x="927100" y="1739900"/>
            <a:ext cx="5524500" cy="276999"/>
          </a:xfrm>
          <a:prstGeom prst="rect">
            <a:avLst/>
          </a:prstGeom>
          <a:noFill/>
        </p:spPr>
        <p:txBody>
          <a:bodyPr vert="horz" wrap="square" lIns="0" tIns="0" rIns="0" bIns="0" rtlCol="0" anchor="t">
            <a:noAutofit/>
          </a:bodyPr>
          <a:lstStyle/>
          <a:p>
            <a:r>
              <a:rPr lang="en-US" sz="1350">
                <a:solidFill>
                  <a:srgbClr val="F2F5F9"/>
                </a:solidFill>
                <a:latin typeface="Consolas" panose="020B0609020204030204" pitchFamily="49" charset="0"/>
              </a:rPr>
              <a:t>public RollerSubsystem() {</a:t>
            </a:r>
          </a:p>
          <a:p>
            <a:r>
              <a:rPr lang="en-US" sz="1350">
                <a:solidFill>
                  <a:srgbClr val="F2F5F9"/>
                </a:solidFill>
                <a:latin typeface="Consolas" panose="020B0609020204030204" pitchFamily="49" charset="0"/>
              </a:rPr>
              <a:t>    rollerMotor = new Talon(Constants.Hardware.PWM_ROLLER);</a:t>
            </a:r>
          </a:p>
          <a:p>
            <a:r>
              <a:rPr lang="en-US" sz="1350">
                <a:solidFill>
                  <a:srgbClr val="F2F5F9"/>
                </a:solidFill>
                <a:latin typeface="Consolas" panose="020B0609020204030204" pitchFamily="49" charset="0"/>
              </a:rPr>
              <a:t>}</a:t>
            </a:r>
          </a:p>
          <a:p>
            <a:endParaRPr lang="en-US" sz="1350">
              <a:solidFill>
                <a:srgbClr val="F2F5F9"/>
              </a:solidFill>
              <a:latin typeface="Consolas" panose="020B0609020204030204" pitchFamily="49" charset="0"/>
            </a:endParaRPr>
          </a:p>
          <a:p>
            <a:r>
              <a:rPr lang="en-US" sz="1350">
                <a:solidFill>
                  <a:srgbClr val="F2F5F9"/>
                </a:solidFill>
                <a:latin typeface="Consolas" panose="020B0609020204030204" pitchFamily="49" charset="0"/>
              </a:rPr>
              <a:t>public void run(double speed) {</a:t>
            </a:r>
          </a:p>
          <a:p>
            <a:r>
              <a:rPr lang="en-US" sz="1350">
                <a:solidFill>
                  <a:srgbClr val="F2F5F9"/>
                </a:solidFill>
                <a:latin typeface="Consolas" panose="020B0609020204030204" pitchFamily="49" charset="0"/>
              </a:rPr>
              <a:t>    rollerMotor.set(speed);</a:t>
            </a:r>
          </a:p>
          <a:p>
            <a:r>
              <a:rPr lang="en-US" sz="1350">
                <a:solidFill>
                  <a:srgbClr val="F2F5F9"/>
                </a:solidFill>
                <a:latin typeface="Consolas" panose="020B0609020204030204" pitchFamily="49" charset="0"/>
              </a:rPr>
              <a:t>}</a:t>
            </a:r>
          </a:p>
          <a:p>
            <a:endParaRPr lang="en-US" sz="1350">
              <a:solidFill>
                <a:srgbClr val="F2F5F9"/>
              </a:solidFill>
              <a:latin typeface="Consolas" panose="020B0609020204030204" pitchFamily="49" charset="0"/>
            </a:endParaRPr>
          </a:p>
          <a:p>
            <a:r>
              <a:rPr lang="en-US" sz="1350">
                <a:solidFill>
                  <a:srgbClr val="F2F5F9"/>
                </a:solidFill>
                <a:latin typeface="Consolas" panose="020B0609020204030204" pitchFamily="49" charset="0"/>
              </a:rPr>
              <a:t>public void stop() {</a:t>
            </a:r>
          </a:p>
          <a:p>
            <a:r>
              <a:rPr lang="en-US" sz="1350">
                <a:solidFill>
                  <a:srgbClr val="F2F5F9"/>
                </a:solidFill>
                <a:latin typeface="Consolas" panose="020B0609020204030204" pitchFamily="49" charset="0"/>
              </a:rPr>
              <a:t>    run(0);</a:t>
            </a:r>
          </a:p>
          <a:p>
            <a:r>
              <a:rPr lang="en-US" sz="1350">
                <a:solidFill>
                  <a:srgbClr val="F2F5F9"/>
                </a:solidFill>
                <a:latin typeface="Consolas" panose="020B0609020204030204" pitchFamily="49" charset="0"/>
              </a:rPr>
              <a:t>}</a:t>
            </a:r>
          </a:p>
        </p:txBody>
      </p:sp>
      <p:sp>
        <p:nvSpPr>
          <p:cNvPr id="10" name="Rectangle: Rounded Corners 9">
            <a:extLst>
              <a:ext uri="{FF2B5EF4-FFF2-40B4-BE49-F238E27FC236}">
                <a16:creationId xmlns:a16="http://schemas.microsoft.com/office/drawing/2014/main" id="{AF6402D0-740B-89B0-D3CE-1D160946BEA3}"/>
              </a:ext>
            </a:extLst>
          </p:cNvPr>
          <p:cNvSpPr/>
          <p:nvPr/>
        </p:nvSpPr>
        <p:spPr>
          <a:xfrm>
            <a:off x="7493000" y="1905000"/>
            <a:ext cx="3556000" cy="889000"/>
          </a:xfrm>
          <a:prstGeom prst="roundRect">
            <a:avLst/>
          </a:prstGeom>
          <a:solidFill>
            <a:srgbClr val="182234"/>
          </a:solidFill>
          <a:ln w="15875">
            <a:solidFill>
              <a:srgbClr val="3ECF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7E458B5F-2389-D65A-D6F0-124E721B7A40}"/>
              </a:ext>
            </a:extLst>
          </p:cNvPr>
          <p:cNvSpPr/>
          <p:nvPr/>
        </p:nvSpPr>
        <p:spPr>
          <a:xfrm>
            <a:off x="7493000" y="1905000"/>
            <a:ext cx="76200" cy="889000"/>
          </a:xfrm>
          <a:prstGeom prst="rect">
            <a:avLst/>
          </a:prstGeom>
          <a:solidFill>
            <a:srgbClr val="3ECF8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B924CA40-BAFC-3D5B-272B-3AC09254F8D2}"/>
              </a:ext>
            </a:extLst>
          </p:cNvPr>
          <p:cNvSpPr txBox="1"/>
          <p:nvPr/>
        </p:nvSpPr>
        <p:spPr>
          <a:xfrm>
            <a:off x="7696200" y="2032000"/>
            <a:ext cx="3238500" cy="276999"/>
          </a:xfrm>
          <a:prstGeom prst="rect">
            <a:avLst/>
          </a:prstGeom>
          <a:noFill/>
        </p:spPr>
        <p:txBody>
          <a:bodyPr vert="horz" wrap="square" lIns="0" tIns="0" rIns="0" bIns="0" rtlCol="0" anchor="t">
            <a:noAutofit/>
          </a:bodyPr>
          <a:lstStyle/>
          <a:p>
            <a:r>
              <a:rPr lang="en-US" sz="1600" b="1">
                <a:solidFill>
                  <a:srgbClr val="3ECF8E"/>
                </a:solidFill>
                <a:latin typeface="Aptos" panose="020B0004020202020204" pitchFamily="34" charset="0"/>
              </a:rPr>
              <a:t>CONSTRUCT</a:t>
            </a:r>
          </a:p>
        </p:txBody>
      </p:sp>
      <p:sp>
        <p:nvSpPr>
          <p:cNvPr id="13" name="TextBox 12">
            <a:extLst>
              <a:ext uri="{FF2B5EF4-FFF2-40B4-BE49-F238E27FC236}">
                <a16:creationId xmlns:a16="http://schemas.microsoft.com/office/drawing/2014/main" id="{39E431F6-C57E-68E3-F71A-2F97150CFDC0}"/>
              </a:ext>
            </a:extLst>
          </p:cNvPr>
          <p:cNvSpPr txBox="1"/>
          <p:nvPr/>
        </p:nvSpPr>
        <p:spPr>
          <a:xfrm>
            <a:off x="7696200" y="2387600"/>
            <a:ext cx="3238500" cy="276999"/>
          </a:xfrm>
          <a:prstGeom prst="rect">
            <a:avLst/>
          </a:prstGeom>
          <a:noFill/>
        </p:spPr>
        <p:txBody>
          <a:bodyPr vert="horz" wrap="square" lIns="0" tIns="0" rIns="0" bIns="0" rtlCol="0" anchor="t">
            <a:noAutofit/>
          </a:bodyPr>
          <a:lstStyle/>
          <a:p>
            <a:r>
              <a:rPr lang="en-US" sz="1200">
                <a:solidFill>
                  <a:srgbClr val="F2F5F9"/>
                </a:solidFill>
                <a:latin typeface="Aptos" panose="020B0004020202020204" pitchFamily="34" charset="0"/>
              </a:rPr>
              <a:t>own hardware</a:t>
            </a:r>
          </a:p>
        </p:txBody>
      </p:sp>
      <p:sp>
        <p:nvSpPr>
          <p:cNvPr id="14" name="Rectangle: Rounded Corners 13">
            <a:extLst>
              <a:ext uri="{FF2B5EF4-FFF2-40B4-BE49-F238E27FC236}">
                <a16:creationId xmlns:a16="http://schemas.microsoft.com/office/drawing/2014/main" id="{084AC227-1814-5B06-F078-40566B6A175A}"/>
              </a:ext>
            </a:extLst>
          </p:cNvPr>
          <p:cNvSpPr/>
          <p:nvPr/>
        </p:nvSpPr>
        <p:spPr>
          <a:xfrm>
            <a:off x="7493000" y="3111500"/>
            <a:ext cx="3556000" cy="889000"/>
          </a:xfrm>
          <a:prstGeom prst="roundRect">
            <a:avLst/>
          </a:prstGeom>
          <a:solidFill>
            <a:srgbClr val="182234"/>
          </a:solidFill>
          <a:ln w="15875">
            <a:solidFill>
              <a:srgbClr val="3ECF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80F0CC75-8CD8-92BB-3B15-D89F7D163E5B}"/>
              </a:ext>
            </a:extLst>
          </p:cNvPr>
          <p:cNvSpPr/>
          <p:nvPr/>
        </p:nvSpPr>
        <p:spPr>
          <a:xfrm>
            <a:off x="7493000" y="3111500"/>
            <a:ext cx="76200" cy="889000"/>
          </a:xfrm>
          <a:prstGeom prst="rect">
            <a:avLst/>
          </a:prstGeom>
          <a:solidFill>
            <a:srgbClr val="3ECF8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5D8D9148-8F03-FFDB-0B1C-4E83554810A9}"/>
              </a:ext>
            </a:extLst>
          </p:cNvPr>
          <p:cNvSpPr txBox="1"/>
          <p:nvPr/>
        </p:nvSpPr>
        <p:spPr>
          <a:xfrm>
            <a:off x="7696200" y="3238500"/>
            <a:ext cx="3238500" cy="276999"/>
          </a:xfrm>
          <a:prstGeom prst="rect">
            <a:avLst/>
          </a:prstGeom>
          <a:noFill/>
        </p:spPr>
        <p:txBody>
          <a:bodyPr vert="horz" wrap="square" lIns="0" tIns="0" rIns="0" bIns="0" rtlCol="0" anchor="t">
            <a:noAutofit/>
          </a:bodyPr>
          <a:lstStyle/>
          <a:p>
            <a:r>
              <a:rPr lang="en-US" sz="1600" b="1">
                <a:solidFill>
                  <a:srgbClr val="3ECF8E"/>
                </a:solidFill>
                <a:latin typeface="Aptos" panose="020B0004020202020204" pitchFamily="34" charset="0"/>
              </a:rPr>
              <a:t>RUN</a:t>
            </a:r>
          </a:p>
        </p:txBody>
      </p:sp>
      <p:sp>
        <p:nvSpPr>
          <p:cNvPr id="17" name="TextBox 16">
            <a:extLst>
              <a:ext uri="{FF2B5EF4-FFF2-40B4-BE49-F238E27FC236}">
                <a16:creationId xmlns:a16="http://schemas.microsoft.com/office/drawing/2014/main" id="{832E7EE3-66AF-9A81-B297-C069B2ABB509}"/>
              </a:ext>
            </a:extLst>
          </p:cNvPr>
          <p:cNvSpPr txBox="1"/>
          <p:nvPr/>
        </p:nvSpPr>
        <p:spPr>
          <a:xfrm>
            <a:off x="7696200" y="3594100"/>
            <a:ext cx="3238500" cy="276999"/>
          </a:xfrm>
          <a:prstGeom prst="rect">
            <a:avLst/>
          </a:prstGeom>
          <a:noFill/>
        </p:spPr>
        <p:txBody>
          <a:bodyPr vert="horz" wrap="square" lIns="0" tIns="0" rIns="0" bIns="0" rtlCol="0" anchor="t">
            <a:noAutofit/>
          </a:bodyPr>
          <a:lstStyle/>
          <a:p>
            <a:r>
              <a:rPr lang="en-US" sz="1200">
                <a:solidFill>
                  <a:srgbClr val="F2F5F9"/>
                </a:solidFill>
                <a:latin typeface="Aptos" panose="020B0004020202020204" pitchFamily="34" charset="0"/>
              </a:rPr>
              <a:t>set output</a:t>
            </a:r>
          </a:p>
        </p:txBody>
      </p:sp>
      <p:sp>
        <p:nvSpPr>
          <p:cNvPr id="18" name="Rectangle: Rounded Corners 17">
            <a:extLst>
              <a:ext uri="{FF2B5EF4-FFF2-40B4-BE49-F238E27FC236}">
                <a16:creationId xmlns:a16="http://schemas.microsoft.com/office/drawing/2014/main" id="{2D04E5B4-CAE2-10B2-0A5E-0108E9AD728F}"/>
              </a:ext>
            </a:extLst>
          </p:cNvPr>
          <p:cNvSpPr/>
          <p:nvPr/>
        </p:nvSpPr>
        <p:spPr>
          <a:xfrm>
            <a:off x="7493000" y="4318000"/>
            <a:ext cx="3556000" cy="889000"/>
          </a:xfrm>
          <a:prstGeom prst="roundRect">
            <a:avLst/>
          </a:prstGeom>
          <a:solidFill>
            <a:srgbClr val="182234"/>
          </a:solidFill>
          <a:ln w="15875">
            <a:solidFill>
              <a:srgbClr val="3ECF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CACF2000-8684-71A0-A86C-7CAFA85A49EB}"/>
              </a:ext>
            </a:extLst>
          </p:cNvPr>
          <p:cNvSpPr/>
          <p:nvPr/>
        </p:nvSpPr>
        <p:spPr>
          <a:xfrm>
            <a:off x="7493000" y="4318000"/>
            <a:ext cx="76200" cy="889000"/>
          </a:xfrm>
          <a:prstGeom prst="rect">
            <a:avLst/>
          </a:prstGeom>
          <a:solidFill>
            <a:srgbClr val="3ECF8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7621CB02-677A-BD24-2BE1-9B17F753B87E}"/>
              </a:ext>
            </a:extLst>
          </p:cNvPr>
          <p:cNvSpPr txBox="1"/>
          <p:nvPr/>
        </p:nvSpPr>
        <p:spPr>
          <a:xfrm>
            <a:off x="7696200" y="4445000"/>
            <a:ext cx="3238500" cy="276999"/>
          </a:xfrm>
          <a:prstGeom prst="rect">
            <a:avLst/>
          </a:prstGeom>
          <a:noFill/>
        </p:spPr>
        <p:txBody>
          <a:bodyPr vert="horz" wrap="square" lIns="0" tIns="0" rIns="0" bIns="0" rtlCol="0" anchor="t">
            <a:noAutofit/>
          </a:bodyPr>
          <a:lstStyle/>
          <a:p>
            <a:r>
              <a:rPr lang="en-US" sz="1600" b="1">
                <a:solidFill>
                  <a:srgbClr val="3ECF8E"/>
                </a:solidFill>
                <a:latin typeface="Aptos" panose="020B0004020202020204" pitchFamily="34" charset="0"/>
              </a:rPr>
              <a:t>STOP</a:t>
            </a:r>
          </a:p>
        </p:txBody>
      </p:sp>
      <p:sp>
        <p:nvSpPr>
          <p:cNvPr id="21" name="TextBox 20">
            <a:extLst>
              <a:ext uri="{FF2B5EF4-FFF2-40B4-BE49-F238E27FC236}">
                <a16:creationId xmlns:a16="http://schemas.microsoft.com/office/drawing/2014/main" id="{AECF4A7B-0436-4F4F-66C5-41C02F0133C9}"/>
              </a:ext>
            </a:extLst>
          </p:cNvPr>
          <p:cNvSpPr txBox="1"/>
          <p:nvPr/>
        </p:nvSpPr>
        <p:spPr>
          <a:xfrm>
            <a:off x="7696200" y="4800600"/>
            <a:ext cx="3238500" cy="276999"/>
          </a:xfrm>
          <a:prstGeom prst="rect">
            <a:avLst/>
          </a:prstGeom>
          <a:noFill/>
        </p:spPr>
        <p:txBody>
          <a:bodyPr vert="horz" wrap="square" lIns="0" tIns="0" rIns="0" bIns="0" rtlCol="0" anchor="t">
            <a:noAutofit/>
          </a:bodyPr>
          <a:lstStyle/>
          <a:p>
            <a:r>
              <a:rPr lang="en-US" sz="1200">
                <a:solidFill>
                  <a:srgbClr val="F2F5F9"/>
                </a:solidFill>
                <a:latin typeface="Aptos" panose="020B0004020202020204" pitchFamily="34" charset="0"/>
              </a:rPr>
              <a:t>return to zero</a:t>
            </a:r>
          </a:p>
        </p:txBody>
      </p:sp>
      <p:sp>
        <p:nvSpPr>
          <p:cNvPr id="22" name="TextBox 21">
            <a:extLst>
              <a:ext uri="{FF2B5EF4-FFF2-40B4-BE49-F238E27FC236}">
                <a16:creationId xmlns:a16="http://schemas.microsoft.com/office/drawing/2014/main" id="{FAA2BEC9-3ACF-B4F7-CBB7-C32AF6A39723}"/>
              </a:ext>
            </a:extLst>
          </p:cNvPr>
          <p:cNvSpPr txBox="1"/>
          <p:nvPr/>
        </p:nvSpPr>
        <p:spPr>
          <a:xfrm>
            <a:off x="7086600" y="5537200"/>
            <a:ext cx="4445000" cy="276999"/>
          </a:xfrm>
          <a:prstGeom prst="rect">
            <a:avLst/>
          </a:prstGeom>
          <a:noFill/>
        </p:spPr>
        <p:txBody>
          <a:bodyPr vert="horz" wrap="square" lIns="0" tIns="0" rIns="0" bIns="0" rtlCol="0" anchor="t">
            <a:noAutofit/>
          </a:bodyPr>
          <a:lstStyle/>
          <a:p>
            <a:pPr algn="ctr"/>
            <a:r>
              <a:rPr lang="en-US" sz="1500" b="1">
                <a:solidFill>
                  <a:srgbClr val="F2F5F9"/>
                </a:solidFill>
                <a:latin typeface="Aptos" panose="020B0004020202020204" pitchFamily="34" charset="0"/>
              </a:rPr>
              <a:t>Belt + roller stay separate, so they can run together.</a:t>
            </a:r>
          </a:p>
        </p:txBody>
      </p:sp>
      <p:sp>
        <p:nvSpPr>
          <p:cNvPr id="23" name="Rectangle: Rounded Corners 22">
            <a:extLst>
              <a:ext uri="{FF2B5EF4-FFF2-40B4-BE49-F238E27FC236}">
                <a16:creationId xmlns:a16="http://schemas.microsoft.com/office/drawing/2014/main" id="{F3212C42-A7FD-0425-B858-2DD246C91474}"/>
              </a:ext>
            </a:extLst>
          </p:cNvPr>
          <p:cNvSpPr/>
          <p:nvPr/>
        </p:nvSpPr>
        <p:spPr>
          <a:xfrm>
            <a:off x="533400" y="6261100"/>
            <a:ext cx="11125200" cy="533400"/>
          </a:xfrm>
          <a:prstGeom prst="roundRect">
            <a:avLst/>
          </a:prstGeom>
          <a:solidFill>
            <a:srgbClr val="18223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Rounded Corners 23">
            <a:extLst>
              <a:ext uri="{FF2B5EF4-FFF2-40B4-BE49-F238E27FC236}">
                <a16:creationId xmlns:a16="http://schemas.microsoft.com/office/drawing/2014/main" id="{F6F10BB2-ED66-9D76-FFC8-53B649E01BB6}"/>
              </a:ext>
            </a:extLst>
          </p:cNvPr>
          <p:cNvSpPr/>
          <p:nvPr/>
        </p:nvSpPr>
        <p:spPr>
          <a:xfrm>
            <a:off x="660400" y="6362700"/>
            <a:ext cx="1473200" cy="330200"/>
          </a:xfrm>
          <a:prstGeom prst="roundRect">
            <a:avLst/>
          </a:prstGeom>
          <a:solidFill>
            <a:srgbClr val="FFC1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E69B9CE5-FFC4-A8A0-8A43-022BAE0F2811}"/>
              </a:ext>
            </a:extLst>
          </p:cNvPr>
          <p:cNvSpPr txBox="1"/>
          <p:nvPr/>
        </p:nvSpPr>
        <p:spPr>
          <a:xfrm>
            <a:off x="736600" y="6400800"/>
            <a:ext cx="1320800" cy="276999"/>
          </a:xfrm>
          <a:prstGeom prst="rect">
            <a:avLst/>
          </a:prstGeom>
          <a:noFill/>
        </p:spPr>
        <p:txBody>
          <a:bodyPr vert="horz" wrap="square" lIns="0" tIns="0" rIns="0" bIns="0" rtlCol="0">
            <a:noAutofit/>
          </a:bodyPr>
          <a:lstStyle/>
          <a:p>
            <a:pPr algn="ctr"/>
            <a:r>
              <a:rPr lang="en-US" sz="1050" b="1">
                <a:solidFill>
                  <a:srgbClr val="060A12"/>
                </a:solidFill>
                <a:latin typeface="Aptos" panose="020B0004020202020204" pitchFamily="34" charset="0"/>
              </a:rPr>
              <a:t>CHALLENGE</a:t>
            </a:r>
          </a:p>
        </p:txBody>
      </p:sp>
      <p:sp>
        <p:nvSpPr>
          <p:cNvPr id="26" name="TextBox 25">
            <a:extLst>
              <a:ext uri="{FF2B5EF4-FFF2-40B4-BE49-F238E27FC236}">
                <a16:creationId xmlns:a16="http://schemas.microsoft.com/office/drawing/2014/main" id="{F9F7BD70-941F-D391-58D9-CF1E9201AB5B}"/>
              </a:ext>
            </a:extLst>
          </p:cNvPr>
          <p:cNvSpPr txBox="1"/>
          <p:nvPr/>
        </p:nvSpPr>
        <p:spPr>
          <a:xfrm>
            <a:off x="2286000" y="6362700"/>
            <a:ext cx="9207500" cy="276999"/>
          </a:xfrm>
          <a:prstGeom prst="rect">
            <a:avLst/>
          </a:prstGeom>
          <a:noFill/>
        </p:spPr>
        <p:txBody>
          <a:bodyPr vert="horz" wrap="square" lIns="0" tIns="0" rIns="0" bIns="0" rtlCol="0" anchor="t">
            <a:noAutofit/>
          </a:bodyPr>
          <a:lstStyle/>
          <a:p>
            <a:r>
              <a:rPr lang="en-US" sz="1300">
                <a:solidFill>
                  <a:srgbClr val="F2F5F9"/>
                </a:solidFill>
                <a:latin typeface="Aptos" panose="020B0004020202020204" pitchFamily="34" charset="0"/>
              </a:rPr>
              <a:t>Use requirements alone to list which drive, belt, and roller commands can coexist.</a:t>
            </a:r>
          </a:p>
        </p:txBody>
      </p:sp>
      <p:sp>
        <p:nvSpPr>
          <p:cNvPr id="27" name="TextBox 26">
            <a:extLst>
              <a:ext uri="{FF2B5EF4-FFF2-40B4-BE49-F238E27FC236}">
                <a16:creationId xmlns:a16="http://schemas.microsoft.com/office/drawing/2014/main" id="{3BAB002A-2F54-2A4B-4EDD-A173ACCC0B39}"/>
              </a:ext>
            </a:extLst>
          </p:cNvPr>
          <p:cNvSpPr txBox="1"/>
          <p:nvPr/>
        </p:nvSpPr>
        <p:spPr>
          <a:xfrm>
            <a:off x="533400" y="6908800"/>
            <a:ext cx="8890000" cy="276999"/>
          </a:xfrm>
          <a:prstGeom prst="rect">
            <a:avLst/>
          </a:prstGeom>
          <a:noFill/>
        </p:spPr>
        <p:txBody>
          <a:bodyPr vert="horz" wrap="square" lIns="0" tIns="0" rIns="0" bIns="0" rtlCol="0" anchor="t">
            <a:noAutofit/>
          </a:bodyPr>
          <a:lstStyle/>
          <a:p>
            <a:r>
              <a:rPr lang="en-US" sz="850">
                <a:solidFill>
                  <a:srgbClr val="A9B4C5"/>
                </a:solidFill>
                <a:latin typeface="Aptos" panose="020B0004020202020204" pitchFamily="34" charset="0"/>
              </a:rPr>
              <a:t>Source: RollerSubsystem.java</a:t>
            </a:r>
          </a:p>
        </p:txBody>
      </p:sp>
      <p:sp>
        <p:nvSpPr>
          <p:cNvPr id="28" name="TextBox 27">
            <a:extLst>
              <a:ext uri="{FF2B5EF4-FFF2-40B4-BE49-F238E27FC236}">
                <a16:creationId xmlns:a16="http://schemas.microsoft.com/office/drawing/2014/main" id="{D7543554-4FC2-13F5-3A85-6B5A5B579907}"/>
              </a:ext>
            </a:extLst>
          </p:cNvPr>
          <p:cNvSpPr txBox="1"/>
          <p:nvPr/>
        </p:nvSpPr>
        <p:spPr>
          <a:xfrm>
            <a:off x="9017000" y="6908800"/>
            <a:ext cx="2641600" cy="276999"/>
          </a:xfrm>
          <a:prstGeom prst="rect">
            <a:avLst/>
          </a:prstGeom>
          <a:noFill/>
        </p:spPr>
        <p:txBody>
          <a:bodyPr vert="horz" wrap="square" lIns="0" tIns="0" rIns="0" bIns="0" rtlCol="0" anchor="t">
            <a:noAutofit/>
          </a:bodyPr>
          <a:lstStyle/>
          <a:p>
            <a:pPr algn="r"/>
            <a:r>
              <a:rPr lang="en-US" sz="850">
                <a:solidFill>
                  <a:srgbClr val="A9B4C5"/>
                </a:solidFill>
                <a:latin typeface="Aptos" panose="020B0004020202020204" pitchFamily="34" charset="0"/>
              </a:rPr>
              <a:t>CURRENT ROBOT IMPLEMENTATION • V2</a:t>
            </a:r>
          </a:p>
        </p:txBody>
      </p:sp>
    </p:spTree>
    <p:extLst>
      <p:ext uri="{BB962C8B-B14F-4D97-AF65-F5344CB8AC3E}">
        <p14:creationId xmlns:p14="http://schemas.microsoft.com/office/powerpoint/2010/main" val="382885680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D1421"/>
        </a:solidFill>
        <a:effectLst/>
      </p:bgPr>
    </p:bg>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B8197489-AEAD-31E9-9E66-AA7F2A45CB85}"/>
              </a:ext>
            </a:extLst>
          </p:cNvPr>
          <p:cNvSpPr/>
          <p:nvPr/>
        </p:nvSpPr>
        <p:spPr>
          <a:xfrm>
            <a:off x="533400" y="292100"/>
            <a:ext cx="1473200" cy="330200"/>
          </a:xfrm>
          <a:prstGeom prst="roundRect">
            <a:avLst/>
          </a:prstGeom>
          <a:solidFill>
            <a:srgbClr val="FFC1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3A0EA9B8-81C6-04AF-7275-F9A514880841}"/>
              </a:ext>
            </a:extLst>
          </p:cNvPr>
          <p:cNvSpPr txBox="1"/>
          <p:nvPr/>
        </p:nvSpPr>
        <p:spPr>
          <a:xfrm>
            <a:off x="609600" y="330200"/>
            <a:ext cx="1320800" cy="276999"/>
          </a:xfrm>
          <a:prstGeom prst="rect">
            <a:avLst/>
          </a:prstGeom>
          <a:noFill/>
        </p:spPr>
        <p:txBody>
          <a:bodyPr vert="horz" wrap="square" lIns="0" tIns="0" rIns="0" bIns="0" rtlCol="0">
            <a:noAutofit/>
          </a:bodyPr>
          <a:lstStyle/>
          <a:p>
            <a:pPr algn="ctr"/>
            <a:r>
              <a:rPr lang="en-US" sz="1050" b="1">
                <a:solidFill>
                  <a:srgbClr val="060A12"/>
                </a:solidFill>
                <a:latin typeface="Aptos" panose="020B0004020202020204" pitchFamily="34" charset="0"/>
              </a:rPr>
              <a:t>EXPERIENCED TRACK</a:t>
            </a:r>
          </a:p>
        </p:txBody>
      </p:sp>
      <p:sp>
        <p:nvSpPr>
          <p:cNvPr id="4" name="TextBox 3">
            <a:extLst>
              <a:ext uri="{FF2B5EF4-FFF2-40B4-BE49-F238E27FC236}">
                <a16:creationId xmlns:a16="http://schemas.microsoft.com/office/drawing/2014/main" id="{51C150AD-4E5A-1378-0EC0-324101294161}"/>
              </a:ext>
            </a:extLst>
          </p:cNvPr>
          <p:cNvSpPr txBox="1"/>
          <p:nvPr/>
        </p:nvSpPr>
        <p:spPr>
          <a:xfrm>
            <a:off x="533400" y="762000"/>
            <a:ext cx="10414000" cy="276999"/>
          </a:xfrm>
          <a:prstGeom prst="rect">
            <a:avLst/>
          </a:prstGeom>
          <a:noFill/>
        </p:spPr>
        <p:txBody>
          <a:bodyPr vert="horz" wrap="square" lIns="0" tIns="0" rIns="0" bIns="0" rtlCol="0" anchor="t">
            <a:noAutofit/>
          </a:bodyPr>
          <a:lstStyle/>
          <a:p>
            <a:r>
              <a:rPr lang="en-US" sz="2800" b="1">
                <a:solidFill>
                  <a:srgbClr val="F2F5F9"/>
                </a:solidFill>
                <a:latin typeface="Aptos Display" panose="020B0004020202020204" pitchFamily="34" charset="0"/>
              </a:rPr>
              <a:t>Pneumatics use the same boundary, different hardware</a:t>
            </a:r>
          </a:p>
        </p:txBody>
      </p:sp>
      <p:sp>
        <p:nvSpPr>
          <p:cNvPr id="5" name="TextBox 4">
            <a:extLst>
              <a:ext uri="{FF2B5EF4-FFF2-40B4-BE49-F238E27FC236}">
                <a16:creationId xmlns:a16="http://schemas.microsoft.com/office/drawing/2014/main" id="{75960F00-5FB8-B42C-9AB7-8922F19B9427}"/>
              </a:ext>
            </a:extLst>
          </p:cNvPr>
          <p:cNvSpPr txBox="1"/>
          <p:nvPr/>
        </p:nvSpPr>
        <p:spPr>
          <a:xfrm>
            <a:off x="11226800" y="355600"/>
            <a:ext cx="381000" cy="276999"/>
          </a:xfrm>
          <a:prstGeom prst="rect">
            <a:avLst/>
          </a:prstGeom>
          <a:noFill/>
        </p:spPr>
        <p:txBody>
          <a:bodyPr vert="horz" wrap="square" lIns="0" tIns="0" rIns="0" bIns="0" rtlCol="0" anchor="t">
            <a:noAutofit/>
          </a:bodyPr>
          <a:lstStyle/>
          <a:p>
            <a:pPr algn="r"/>
            <a:r>
              <a:rPr lang="en-US" sz="1000" b="1">
                <a:solidFill>
                  <a:srgbClr val="A9B4C5"/>
                </a:solidFill>
                <a:latin typeface="Aptos" panose="020B0004020202020204" pitchFamily="34" charset="0"/>
              </a:rPr>
              <a:t>24</a:t>
            </a:r>
          </a:p>
        </p:txBody>
      </p:sp>
      <p:cxnSp>
        <p:nvCxnSpPr>
          <p:cNvPr id="6" name="Straight Connector 5">
            <a:extLst>
              <a:ext uri="{FF2B5EF4-FFF2-40B4-BE49-F238E27FC236}">
                <a16:creationId xmlns:a16="http://schemas.microsoft.com/office/drawing/2014/main" id="{C2E9D544-BE10-06D6-B4CC-AC6790E110D8}"/>
              </a:ext>
            </a:extLst>
          </p:cNvPr>
          <p:cNvCxnSpPr/>
          <p:nvPr/>
        </p:nvCxnSpPr>
        <p:spPr>
          <a:xfrm>
            <a:off x="533400" y="1371600"/>
            <a:ext cx="11125200" cy="0"/>
          </a:xfrm>
          <a:prstGeom prst="line">
            <a:avLst/>
          </a:prstGeom>
          <a:ln w="12700">
            <a:solidFill>
              <a:srgbClr val="1F2C41"/>
            </a:solidFill>
          </a:ln>
        </p:spPr>
        <p:style>
          <a:lnRef idx="1">
            <a:schemeClr val="accent1"/>
          </a:lnRef>
          <a:fillRef idx="0">
            <a:schemeClr val="accent1"/>
          </a:fillRef>
          <a:effectRef idx="0">
            <a:schemeClr val="accent1"/>
          </a:effectRef>
          <a:fontRef idx="minor">
            <a:schemeClr val="tx1"/>
          </a:fontRef>
        </p:style>
      </p:cxnSp>
      <p:sp>
        <p:nvSpPr>
          <p:cNvPr id="7" name="Rectangle: Rounded Corners 6">
            <a:extLst>
              <a:ext uri="{FF2B5EF4-FFF2-40B4-BE49-F238E27FC236}">
                <a16:creationId xmlns:a16="http://schemas.microsoft.com/office/drawing/2014/main" id="{57D7427C-28CF-03DE-9B21-4EEA8FC9F16A}"/>
              </a:ext>
            </a:extLst>
          </p:cNvPr>
          <p:cNvSpPr/>
          <p:nvPr/>
        </p:nvSpPr>
        <p:spPr>
          <a:xfrm>
            <a:off x="609600" y="1625600"/>
            <a:ext cx="6527800" cy="1905000"/>
          </a:xfrm>
          <a:prstGeom prst="roundRect">
            <a:avLst/>
          </a:prstGeom>
          <a:solidFill>
            <a:srgbClr val="060A12"/>
          </a:solidFill>
          <a:ln w="15875">
            <a:solidFill>
              <a:srgbClr val="1F2C4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EDB2738A-9518-DC5C-FCB8-885A7F1C2B6A}"/>
              </a:ext>
            </a:extLst>
          </p:cNvPr>
          <p:cNvSpPr/>
          <p:nvPr/>
        </p:nvSpPr>
        <p:spPr>
          <a:xfrm>
            <a:off x="609600" y="1625600"/>
            <a:ext cx="88900" cy="1905000"/>
          </a:xfrm>
          <a:prstGeom prst="rect">
            <a:avLst/>
          </a:prstGeom>
          <a:solidFill>
            <a:srgbClr val="3ECF8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682E3D3A-F68B-240A-A471-10493C802FD7}"/>
              </a:ext>
            </a:extLst>
          </p:cNvPr>
          <p:cNvSpPr txBox="1"/>
          <p:nvPr/>
        </p:nvSpPr>
        <p:spPr>
          <a:xfrm>
            <a:off x="838200" y="1778000"/>
            <a:ext cx="6146800" cy="276999"/>
          </a:xfrm>
          <a:prstGeom prst="rect">
            <a:avLst/>
          </a:prstGeom>
          <a:noFill/>
        </p:spPr>
        <p:txBody>
          <a:bodyPr vert="horz" wrap="square" lIns="0" tIns="0" rIns="0" bIns="0" rtlCol="0" anchor="t">
            <a:noAutofit/>
          </a:bodyPr>
          <a:lstStyle/>
          <a:p>
            <a:r>
              <a:rPr lang="en-US" sz="1450">
                <a:solidFill>
                  <a:srgbClr val="F2F5F9"/>
                </a:solidFill>
                <a:latin typeface="Consolas" panose="020B0609020204030204" pitchFamily="49" charset="0"/>
              </a:rPr>
              <a:t>public void extendArms() {</a:t>
            </a:r>
          </a:p>
          <a:p>
            <a:r>
              <a:rPr lang="en-US" sz="1450">
                <a:solidFill>
                  <a:srgbClr val="F2F5F9"/>
                </a:solidFill>
                <a:latin typeface="Consolas" panose="020B0609020204030204" pitchFamily="49" charset="0"/>
              </a:rPr>
              <a:t>    leftClimberSolenoid.set(SOLENOID_LEFT_OUT);</a:t>
            </a:r>
          </a:p>
          <a:p>
            <a:r>
              <a:rPr lang="en-US" sz="1450">
                <a:solidFill>
                  <a:srgbClr val="F2F5F9"/>
                </a:solidFill>
                <a:latin typeface="Consolas" panose="020B0609020204030204" pitchFamily="49" charset="0"/>
              </a:rPr>
              <a:t>    rightClimberSolenoid.set(SOLENOID_RIGHT_OUT);</a:t>
            </a:r>
          </a:p>
          <a:p>
            <a:r>
              <a:rPr lang="en-US" sz="1450">
                <a:solidFill>
                  <a:srgbClr val="F2F5F9"/>
                </a:solidFill>
                <a:latin typeface="Consolas" panose="020B0609020204030204" pitchFamily="49" charset="0"/>
              </a:rPr>
              <a:t>    armsExtended = true;</a:t>
            </a:r>
          </a:p>
          <a:p>
            <a:r>
              <a:rPr lang="en-US" sz="1450">
                <a:solidFill>
                  <a:srgbClr val="F2F5F9"/>
                </a:solidFill>
                <a:latin typeface="Consolas" panose="020B0609020204030204" pitchFamily="49" charset="0"/>
              </a:rPr>
              <a:t>}</a:t>
            </a:r>
          </a:p>
        </p:txBody>
      </p:sp>
      <p:sp>
        <p:nvSpPr>
          <p:cNvPr id="10" name="Rectangle: Rounded Corners 9">
            <a:extLst>
              <a:ext uri="{FF2B5EF4-FFF2-40B4-BE49-F238E27FC236}">
                <a16:creationId xmlns:a16="http://schemas.microsoft.com/office/drawing/2014/main" id="{A427118F-D2C5-537B-FB59-E3878409A757}"/>
              </a:ext>
            </a:extLst>
          </p:cNvPr>
          <p:cNvSpPr/>
          <p:nvPr/>
        </p:nvSpPr>
        <p:spPr>
          <a:xfrm>
            <a:off x="609600" y="3860800"/>
            <a:ext cx="6527800" cy="1041400"/>
          </a:xfrm>
          <a:prstGeom prst="roundRect">
            <a:avLst/>
          </a:prstGeom>
          <a:solidFill>
            <a:srgbClr val="060A12"/>
          </a:solidFill>
          <a:ln w="15875">
            <a:solidFill>
              <a:srgbClr val="1F2C4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CEC93C8-5C57-0B33-463F-B692AD87464F}"/>
              </a:ext>
            </a:extLst>
          </p:cNvPr>
          <p:cNvSpPr/>
          <p:nvPr/>
        </p:nvSpPr>
        <p:spPr>
          <a:xfrm>
            <a:off x="609600" y="3860800"/>
            <a:ext cx="88900" cy="1041400"/>
          </a:xfrm>
          <a:prstGeom prst="rect">
            <a:avLst/>
          </a:prstGeom>
          <a:solidFill>
            <a:srgbClr val="FFA44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1424E411-F124-0024-2AAC-11435218AB99}"/>
              </a:ext>
            </a:extLst>
          </p:cNvPr>
          <p:cNvSpPr txBox="1"/>
          <p:nvPr/>
        </p:nvSpPr>
        <p:spPr>
          <a:xfrm>
            <a:off x="838200" y="4013200"/>
            <a:ext cx="6146800" cy="276999"/>
          </a:xfrm>
          <a:prstGeom prst="rect">
            <a:avLst/>
          </a:prstGeom>
          <a:noFill/>
        </p:spPr>
        <p:txBody>
          <a:bodyPr vert="horz" wrap="square" lIns="0" tIns="0" rIns="0" bIns="0" rtlCol="0" anchor="t">
            <a:noAutofit/>
          </a:bodyPr>
          <a:lstStyle/>
          <a:p>
            <a:r>
              <a:rPr lang="en-US" sz="1500">
                <a:solidFill>
                  <a:srgbClr val="F2F5F9"/>
                </a:solidFill>
                <a:latin typeface="Consolas" panose="020B0609020204030204" pitchFamily="49" charset="0"/>
              </a:rPr>
              <a:t>public void initialize() {</a:t>
            </a:r>
          </a:p>
          <a:p>
            <a:r>
              <a:rPr lang="en-US" sz="1500">
                <a:solidFill>
                  <a:srgbClr val="F2F5F9"/>
                </a:solidFill>
                <a:latin typeface="Consolas" panose="020B0609020204030204" pitchFamily="49" charset="0"/>
              </a:rPr>
              <a:t>    climberSubsystem.toggleArms();</a:t>
            </a:r>
          </a:p>
          <a:p>
            <a:r>
              <a:rPr lang="en-US" sz="1500">
                <a:solidFill>
                  <a:srgbClr val="F2F5F9"/>
                </a:solidFill>
                <a:latin typeface="Consolas" panose="020B0609020204030204" pitchFamily="49" charset="0"/>
              </a:rPr>
              <a:t>}</a:t>
            </a:r>
          </a:p>
        </p:txBody>
      </p:sp>
      <p:sp>
        <p:nvSpPr>
          <p:cNvPr id="13" name="Rectangle: Rounded Corners 12">
            <a:extLst>
              <a:ext uri="{FF2B5EF4-FFF2-40B4-BE49-F238E27FC236}">
                <a16:creationId xmlns:a16="http://schemas.microsoft.com/office/drawing/2014/main" id="{403D523D-F12F-90E1-9947-36CEFB37B839}"/>
              </a:ext>
            </a:extLst>
          </p:cNvPr>
          <p:cNvSpPr/>
          <p:nvPr/>
        </p:nvSpPr>
        <p:spPr>
          <a:xfrm>
            <a:off x="8064500" y="1816100"/>
            <a:ext cx="3111500" cy="990600"/>
          </a:xfrm>
          <a:prstGeom prst="roundRect">
            <a:avLst/>
          </a:prstGeom>
          <a:solidFill>
            <a:srgbClr val="182234"/>
          </a:solidFill>
          <a:ln w="15875">
            <a:solidFill>
              <a:srgbClr val="3ECF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04717C37-9261-0545-7964-D940C412493D}"/>
              </a:ext>
            </a:extLst>
          </p:cNvPr>
          <p:cNvSpPr/>
          <p:nvPr/>
        </p:nvSpPr>
        <p:spPr>
          <a:xfrm>
            <a:off x="8064500" y="1816100"/>
            <a:ext cx="76200" cy="990600"/>
          </a:xfrm>
          <a:prstGeom prst="rect">
            <a:avLst/>
          </a:prstGeom>
          <a:solidFill>
            <a:srgbClr val="3ECF8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E87089EC-E89A-5567-EEA6-FAB668A14453}"/>
              </a:ext>
            </a:extLst>
          </p:cNvPr>
          <p:cNvSpPr txBox="1"/>
          <p:nvPr/>
        </p:nvSpPr>
        <p:spPr>
          <a:xfrm>
            <a:off x="8267700" y="1943100"/>
            <a:ext cx="2794000" cy="276999"/>
          </a:xfrm>
          <a:prstGeom prst="rect">
            <a:avLst/>
          </a:prstGeom>
          <a:noFill/>
        </p:spPr>
        <p:txBody>
          <a:bodyPr vert="horz" wrap="square" lIns="0" tIns="0" rIns="0" bIns="0" rtlCol="0" anchor="t">
            <a:noAutofit/>
          </a:bodyPr>
          <a:lstStyle/>
          <a:p>
            <a:r>
              <a:rPr lang="en-US" sz="1600" b="1">
                <a:solidFill>
                  <a:srgbClr val="3ECF8E"/>
                </a:solidFill>
                <a:latin typeface="Aptos" panose="020B0004020202020204" pitchFamily="34" charset="0"/>
              </a:rPr>
              <a:t>ONE MECHANISM</a:t>
            </a:r>
          </a:p>
        </p:txBody>
      </p:sp>
      <p:sp>
        <p:nvSpPr>
          <p:cNvPr id="16" name="TextBox 15">
            <a:extLst>
              <a:ext uri="{FF2B5EF4-FFF2-40B4-BE49-F238E27FC236}">
                <a16:creationId xmlns:a16="http://schemas.microsoft.com/office/drawing/2014/main" id="{9DDB6163-EDBD-E514-1B5D-B98A8F75B04D}"/>
              </a:ext>
            </a:extLst>
          </p:cNvPr>
          <p:cNvSpPr txBox="1"/>
          <p:nvPr/>
        </p:nvSpPr>
        <p:spPr>
          <a:xfrm>
            <a:off x="8267700" y="2298700"/>
            <a:ext cx="2794000" cy="276999"/>
          </a:xfrm>
          <a:prstGeom prst="rect">
            <a:avLst/>
          </a:prstGeom>
          <a:noFill/>
        </p:spPr>
        <p:txBody>
          <a:bodyPr vert="horz" wrap="square" lIns="0" tIns="0" rIns="0" bIns="0" rtlCol="0" anchor="t">
            <a:noAutofit/>
          </a:bodyPr>
          <a:lstStyle/>
          <a:p>
            <a:r>
              <a:rPr lang="en-US" sz="1200">
                <a:solidFill>
                  <a:srgbClr val="F2F5F9"/>
                </a:solidFill>
                <a:latin typeface="Aptos" panose="020B0004020202020204" pitchFamily="34" charset="0"/>
              </a:rPr>
              <a:t>two solenoids cooperate</a:t>
            </a:r>
          </a:p>
        </p:txBody>
      </p:sp>
      <p:sp>
        <p:nvSpPr>
          <p:cNvPr id="17" name="Rectangle: Rounded Corners 16">
            <a:extLst>
              <a:ext uri="{FF2B5EF4-FFF2-40B4-BE49-F238E27FC236}">
                <a16:creationId xmlns:a16="http://schemas.microsoft.com/office/drawing/2014/main" id="{0FBFC667-2CBC-0E0C-84D8-7F92A4682089}"/>
              </a:ext>
            </a:extLst>
          </p:cNvPr>
          <p:cNvSpPr/>
          <p:nvPr/>
        </p:nvSpPr>
        <p:spPr>
          <a:xfrm>
            <a:off x="8064500" y="3200400"/>
            <a:ext cx="3111500" cy="990600"/>
          </a:xfrm>
          <a:prstGeom prst="roundRect">
            <a:avLst/>
          </a:prstGeom>
          <a:solidFill>
            <a:srgbClr val="182234"/>
          </a:solidFill>
          <a:ln w="15875">
            <a:solidFill>
              <a:srgbClr val="FFA44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69DBE720-D9A0-EDFF-7F96-99BC8A4C21FE}"/>
              </a:ext>
            </a:extLst>
          </p:cNvPr>
          <p:cNvSpPr/>
          <p:nvPr/>
        </p:nvSpPr>
        <p:spPr>
          <a:xfrm>
            <a:off x="8064500" y="3200400"/>
            <a:ext cx="76200" cy="990600"/>
          </a:xfrm>
          <a:prstGeom prst="rect">
            <a:avLst/>
          </a:prstGeom>
          <a:solidFill>
            <a:srgbClr val="FFA44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CCBD98AE-146F-161E-0788-4F38C5FC71D9}"/>
              </a:ext>
            </a:extLst>
          </p:cNvPr>
          <p:cNvSpPr txBox="1"/>
          <p:nvPr/>
        </p:nvSpPr>
        <p:spPr>
          <a:xfrm>
            <a:off x="8267700" y="3327400"/>
            <a:ext cx="2794000" cy="276999"/>
          </a:xfrm>
          <a:prstGeom prst="rect">
            <a:avLst/>
          </a:prstGeom>
          <a:noFill/>
        </p:spPr>
        <p:txBody>
          <a:bodyPr vert="horz" wrap="square" lIns="0" tIns="0" rIns="0" bIns="0" rtlCol="0" anchor="t">
            <a:noAutofit/>
          </a:bodyPr>
          <a:lstStyle/>
          <a:p>
            <a:r>
              <a:rPr lang="en-US" sz="1600" b="1">
                <a:solidFill>
                  <a:srgbClr val="FFA443"/>
                </a:solidFill>
                <a:latin typeface="Aptos" panose="020B0004020202020204" pitchFamily="34" charset="0"/>
              </a:rPr>
              <a:t>ONE-SHOT COMMAND</a:t>
            </a:r>
          </a:p>
        </p:txBody>
      </p:sp>
      <p:sp>
        <p:nvSpPr>
          <p:cNvPr id="20" name="TextBox 19">
            <a:extLst>
              <a:ext uri="{FF2B5EF4-FFF2-40B4-BE49-F238E27FC236}">
                <a16:creationId xmlns:a16="http://schemas.microsoft.com/office/drawing/2014/main" id="{BCD237B6-1B1C-073C-D45A-163077ACEDC7}"/>
              </a:ext>
            </a:extLst>
          </p:cNvPr>
          <p:cNvSpPr txBox="1"/>
          <p:nvPr/>
        </p:nvSpPr>
        <p:spPr>
          <a:xfrm>
            <a:off x="8267700" y="3683000"/>
            <a:ext cx="2794000" cy="276999"/>
          </a:xfrm>
          <a:prstGeom prst="rect">
            <a:avLst/>
          </a:prstGeom>
          <a:noFill/>
        </p:spPr>
        <p:txBody>
          <a:bodyPr vert="horz" wrap="square" lIns="0" tIns="0" rIns="0" bIns="0" rtlCol="0" anchor="t">
            <a:noAutofit/>
          </a:bodyPr>
          <a:lstStyle/>
          <a:p>
            <a:r>
              <a:rPr lang="en-US" sz="1200">
                <a:solidFill>
                  <a:srgbClr val="F2F5F9"/>
                </a:solidFill>
                <a:latin typeface="Aptos" panose="020B0004020202020204" pitchFamily="34" charset="0"/>
              </a:rPr>
              <a:t>initialize → toggle → finish</a:t>
            </a:r>
          </a:p>
        </p:txBody>
      </p:sp>
      <p:sp>
        <p:nvSpPr>
          <p:cNvPr id="21" name="Rectangle: Rounded Corners 20">
            <a:extLst>
              <a:ext uri="{FF2B5EF4-FFF2-40B4-BE49-F238E27FC236}">
                <a16:creationId xmlns:a16="http://schemas.microsoft.com/office/drawing/2014/main" id="{CDE3C589-8747-AB3F-16CD-58B41841E5C8}"/>
              </a:ext>
            </a:extLst>
          </p:cNvPr>
          <p:cNvSpPr/>
          <p:nvPr/>
        </p:nvSpPr>
        <p:spPr>
          <a:xfrm>
            <a:off x="8064500" y="4584700"/>
            <a:ext cx="3111500" cy="990600"/>
          </a:xfrm>
          <a:prstGeom prst="roundRect">
            <a:avLst/>
          </a:prstGeom>
          <a:solidFill>
            <a:srgbClr val="182234"/>
          </a:solidFill>
          <a:ln w="15875">
            <a:solidFill>
              <a:srgbClr val="FF64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83B55913-A453-44C9-F146-D41E171726EB}"/>
              </a:ext>
            </a:extLst>
          </p:cNvPr>
          <p:cNvSpPr/>
          <p:nvPr/>
        </p:nvSpPr>
        <p:spPr>
          <a:xfrm>
            <a:off x="8064500" y="4584700"/>
            <a:ext cx="76200" cy="990600"/>
          </a:xfrm>
          <a:prstGeom prst="rect">
            <a:avLst/>
          </a:prstGeom>
          <a:solidFill>
            <a:srgbClr val="FF646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C7525951-B9CE-4233-D23C-6EF128847ACB}"/>
              </a:ext>
            </a:extLst>
          </p:cNvPr>
          <p:cNvSpPr txBox="1"/>
          <p:nvPr/>
        </p:nvSpPr>
        <p:spPr>
          <a:xfrm>
            <a:off x="8267700" y="4711700"/>
            <a:ext cx="2794000" cy="276999"/>
          </a:xfrm>
          <a:prstGeom prst="rect">
            <a:avLst/>
          </a:prstGeom>
          <a:noFill/>
        </p:spPr>
        <p:txBody>
          <a:bodyPr vert="horz" wrap="square" lIns="0" tIns="0" rIns="0" bIns="0" rtlCol="0" anchor="t">
            <a:noAutofit/>
          </a:bodyPr>
          <a:lstStyle/>
          <a:p>
            <a:r>
              <a:rPr lang="en-US" sz="1600" b="1">
                <a:solidFill>
                  <a:srgbClr val="FF6464"/>
                </a:solidFill>
                <a:latin typeface="Aptos" panose="020B0004020202020204" pitchFamily="34" charset="0"/>
              </a:rPr>
              <a:t>ASSUMED STATE</a:t>
            </a:r>
          </a:p>
        </p:txBody>
      </p:sp>
      <p:sp>
        <p:nvSpPr>
          <p:cNvPr id="24" name="TextBox 23">
            <a:extLst>
              <a:ext uri="{FF2B5EF4-FFF2-40B4-BE49-F238E27FC236}">
                <a16:creationId xmlns:a16="http://schemas.microsoft.com/office/drawing/2014/main" id="{A2F99711-FD73-2093-C43E-EE202C97E707}"/>
              </a:ext>
            </a:extLst>
          </p:cNvPr>
          <p:cNvSpPr txBox="1"/>
          <p:nvPr/>
        </p:nvSpPr>
        <p:spPr>
          <a:xfrm>
            <a:off x="8267700" y="5067300"/>
            <a:ext cx="2794000" cy="276999"/>
          </a:xfrm>
          <a:prstGeom prst="rect">
            <a:avLst/>
          </a:prstGeom>
          <a:noFill/>
        </p:spPr>
        <p:txBody>
          <a:bodyPr vert="horz" wrap="square" lIns="0" tIns="0" rIns="0" bIns="0" rtlCol="0" anchor="t">
            <a:noAutofit/>
          </a:bodyPr>
          <a:lstStyle/>
          <a:p>
            <a:r>
              <a:rPr lang="en-US" sz="1200">
                <a:solidFill>
                  <a:srgbClr val="F2F5F9"/>
                </a:solidFill>
                <a:latin typeface="Aptos" panose="020B0004020202020204" pitchFamily="34" charset="0"/>
              </a:rPr>
              <a:t>armsExtended starts false</a:t>
            </a:r>
          </a:p>
        </p:txBody>
      </p:sp>
      <p:sp>
        <p:nvSpPr>
          <p:cNvPr id="25" name="Rectangle: Rounded Corners 24">
            <a:extLst>
              <a:ext uri="{FF2B5EF4-FFF2-40B4-BE49-F238E27FC236}">
                <a16:creationId xmlns:a16="http://schemas.microsoft.com/office/drawing/2014/main" id="{27D12B43-B1C9-40FB-0D59-FE9BCDF8742C}"/>
              </a:ext>
            </a:extLst>
          </p:cNvPr>
          <p:cNvSpPr/>
          <p:nvPr/>
        </p:nvSpPr>
        <p:spPr>
          <a:xfrm>
            <a:off x="533400" y="6261100"/>
            <a:ext cx="11125200" cy="533400"/>
          </a:xfrm>
          <a:prstGeom prst="roundRect">
            <a:avLst/>
          </a:prstGeom>
          <a:solidFill>
            <a:srgbClr val="18223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Rounded Corners 25">
            <a:extLst>
              <a:ext uri="{FF2B5EF4-FFF2-40B4-BE49-F238E27FC236}">
                <a16:creationId xmlns:a16="http://schemas.microsoft.com/office/drawing/2014/main" id="{AAD0A12A-6928-E745-DA7D-12C4F677A6CD}"/>
              </a:ext>
            </a:extLst>
          </p:cNvPr>
          <p:cNvSpPr/>
          <p:nvPr/>
        </p:nvSpPr>
        <p:spPr>
          <a:xfrm>
            <a:off x="660400" y="6362700"/>
            <a:ext cx="1473200" cy="330200"/>
          </a:xfrm>
          <a:prstGeom prst="roundRect">
            <a:avLst/>
          </a:prstGeom>
          <a:solidFill>
            <a:srgbClr val="FFC1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2001C51B-384F-A651-6A2A-A4A5CA19724E}"/>
              </a:ext>
            </a:extLst>
          </p:cNvPr>
          <p:cNvSpPr txBox="1"/>
          <p:nvPr/>
        </p:nvSpPr>
        <p:spPr>
          <a:xfrm>
            <a:off x="736600" y="6400800"/>
            <a:ext cx="1320800" cy="276999"/>
          </a:xfrm>
          <a:prstGeom prst="rect">
            <a:avLst/>
          </a:prstGeom>
          <a:noFill/>
        </p:spPr>
        <p:txBody>
          <a:bodyPr vert="horz" wrap="square" lIns="0" tIns="0" rIns="0" bIns="0" rtlCol="0">
            <a:noAutofit/>
          </a:bodyPr>
          <a:lstStyle/>
          <a:p>
            <a:pPr algn="ctr"/>
            <a:r>
              <a:rPr lang="en-US" sz="1050" b="1">
                <a:solidFill>
                  <a:srgbClr val="060A12"/>
                </a:solidFill>
                <a:latin typeface="Aptos" panose="020B0004020202020204" pitchFamily="34" charset="0"/>
              </a:rPr>
              <a:t>SAFETY REVIEW</a:t>
            </a:r>
          </a:p>
        </p:txBody>
      </p:sp>
      <p:sp>
        <p:nvSpPr>
          <p:cNvPr id="28" name="TextBox 27">
            <a:extLst>
              <a:ext uri="{FF2B5EF4-FFF2-40B4-BE49-F238E27FC236}">
                <a16:creationId xmlns:a16="http://schemas.microsoft.com/office/drawing/2014/main" id="{0A9B1138-2F6D-6088-01B1-28ECB9CEB38A}"/>
              </a:ext>
            </a:extLst>
          </p:cNvPr>
          <p:cNvSpPr txBox="1"/>
          <p:nvPr/>
        </p:nvSpPr>
        <p:spPr>
          <a:xfrm>
            <a:off x="2286000" y="6362700"/>
            <a:ext cx="9207500" cy="276999"/>
          </a:xfrm>
          <a:prstGeom prst="rect">
            <a:avLst/>
          </a:prstGeom>
          <a:noFill/>
        </p:spPr>
        <p:txBody>
          <a:bodyPr vert="horz" wrap="square" lIns="0" tIns="0" rIns="0" bIns="0" rtlCol="0" anchor="t">
            <a:noAutofit/>
          </a:bodyPr>
          <a:lstStyle/>
          <a:p>
            <a:r>
              <a:rPr lang="en-US" sz="1300">
                <a:solidFill>
                  <a:srgbClr val="F2F5F9"/>
                </a:solidFill>
                <a:latin typeface="Aptos" panose="020B0004020202020204" pitchFamily="34" charset="0"/>
              </a:rPr>
              <a:t>How could software learn the real arm position?</a:t>
            </a:r>
          </a:p>
        </p:txBody>
      </p:sp>
      <p:sp>
        <p:nvSpPr>
          <p:cNvPr id="29" name="TextBox 28">
            <a:extLst>
              <a:ext uri="{FF2B5EF4-FFF2-40B4-BE49-F238E27FC236}">
                <a16:creationId xmlns:a16="http://schemas.microsoft.com/office/drawing/2014/main" id="{5639972B-5439-E12B-1A27-FC20E1C4C3BD}"/>
              </a:ext>
            </a:extLst>
          </p:cNvPr>
          <p:cNvSpPr txBox="1"/>
          <p:nvPr/>
        </p:nvSpPr>
        <p:spPr>
          <a:xfrm>
            <a:off x="533400" y="6908800"/>
            <a:ext cx="8890000" cy="276999"/>
          </a:xfrm>
          <a:prstGeom prst="rect">
            <a:avLst/>
          </a:prstGeom>
          <a:noFill/>
        </p:spPr>
        <p:txBody>
          <a:bodyPr vert="horz" wrap="square" lIns="0" tIns="0" rIns="0" bIns="0" rtlCol="0" anchor="t">
            <a:noAutofit/>
          </a:bodyPr>
          <a:lstStyle/>
          <a:p>
            <a:r>
              <a:rPr lang="en-US" sz="850">
                <a:solidFill>
                  <a:srgbClr val="A9B4C5"/>
                </a:solidFill>
                <a:latin typeface="Aptos" panose="020B0004020202020204" pitchFamily="34" charset="0"/>
              </a:rPr>
              <a:t>Sources: ClimberSubsystem.java; ToggleClimberArmsCommand.java</a:t>
            </a:r>
          </a:p>
        </p:txBody>
      </p:sp>
      <p:sp>
        <p:nvSpPr>
          <p:cNvPr id="30" name="TextBox 29">
            <a:extLst>
              <a:ext uri="{FF2B5EF4-FFF2-40B4-BE49-F238E27FC236}">
                <a16:creationId xmlns:a16="http://schemas.microsoft.com/office/drawing/2014/main" id="{06436B0A-A0DB-3C07-826D-1EFD1E3BF9D2}"/>
              </a:ext>
            </a:extLst>
          </p:cNvPr>
          <p:cNvSpPr txBox="1"/>
          <p:nvPr/>
        </p:nvSpPr>
        <p:spPr>
          <a:xfrm>
            <a:off x="9017000" y="6908800"/>
            <a:ext cx="2641600" cy="276999"/>
          </a:xfrm>
          <a:prstGeom prst="rect">
            <a:avLst/>
          </a:prstGeom>
          <a:noFill/>
        </p:spPr>
        <p:txBody>
          <a:bodyPr vert="horz" wrap="square" lIns="0" tIns="0" rIns="0" bIns="0" rtlCol="0" anchor="t">
            <a:noAutofit/>
          </a:bodyPr>
          <a:lstStyle/>
          <a:p>
            <a:pPr algn="r"/>
            <a:r>
              <a:rPr lang="en-US" sz="850">
                <a:solidFill>
                  <a:srgbClr val="A9B4C5"/>
                </a:solidFill>
                <a:latin typeface="Aptos" panose="020B0004020202020204" pitchFamily="34" charset="0"/>
              </a:rPr>
              <a:t>CURRENT ROBOT IMPLEMENTATION • V2</a:t>
            </a:r>
          </a:p>
        </p:txBody>
      </p:sp>
    </p:spTree>
    <p:extLst>
      <p:ext uri="{BB962C8B-B14F-4D97-AF65-F5344CB8AC3E}">
        <p14:creationId xmlns:p14="http://schemas.microsoft.com/office/powerpoint/2010/main" val="96319942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D1421"/>
        </a:solidFill>
        <a:effectLst/>
      </p:bgPr>
    </p:bg>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674128E3-E385-75C6-1B7B-B2C7B50AAC97}"/>
              </a:ext>
            </a:extLst>
          </p:cNvPr>
          <p:cNvSpPr/>
          <p:nvPr/>
        </p:nvSpPr>
        <p:spPr>
          <a:xfrm>
            <a:off x="533400" y="292100"/>
            <a:ext cx="1473200" cy="330200"/>
          </a:xfrm>
          <a:prstGeom prst="roundRect">
            <a:avLst/>
          </a:prstGeom>
          <a:solidFill>
            <a:srgbClr val="FFC1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538BC964-CBE8-51B8-6A83-D33E4E80B7E5}"/>
              </a:ext>
            </a:extLst>
          </p:cNvPr>
          <p:cNvSpPr txBox="1"/>
          <p:nvPr/>
        </p:nvSpPr>
        <p:spPr>
          <a:xfrm>
            <a:off x="609600" y="330200"/>
            <a:ext cx="1320800" cy="276999"/>
          </a:xfrm>
          <a:prstGeom prst="rect">
            <a:avLst/>
          </a:prstGeom>
          <a:noFill/>
        </p:spPr>
        <p:txBody>
          <a:bodyPr vert="horz" wrap="square" lIns="0" tIns="0" rIns="0" bIns="0" rtlCol="0">
            <a:noAutofit/>
          </a:bodyPr>
          <a:lstStyle/>
          <a:p>
            <a:pPr algn="ctr"/>
            <a:r>
              <a:rPr lang="en-US" sz="1050" b="1">
                <a:solidFill>
                  <a:srgbClr val="060A12"/>
                </a:solidFill>
                <a:latin typeface="Aptos" panose="020B0004020202020204" pitchFamily="34" charset="0"/>
              </a:rPr>
              <a:t>EXPERIENCED TRACK</a:t>
            </a:r>
          </a:p>
        </p:txBody>
      </p:sp>
      <p:sp>
        <p:nvSpPr>
          <p:cNvPr id="4" name="TextBox 3">
            <a:extLst>
              <a:ext uri="{FF2B5EF4-FFF2-40B4-BE49-F238E27FC236}">
                <a16:creationId xmlns:a16="http://schemas.microsoft.com/office/drawing/2014/main" id="{D12A1556-1741-2A30-0C1C-5C7251419185}"/>
              </a:ext>
            </a:extLst>
          </p:cNvPr>
          <p:cNvSpPr txBox="1"/>
          <p:nvPr/>
        </p:nvSpPr>
        <p:spPr>
          <a:xfrm>
            <a:off x="533400" y="762000"/>
            <a:ext cx="10414000" cy="276999"/>
          </a:xfrm>
          <a:prstGeom prst="rect">
            <a:avLst/>
          </a:prstGeom>
          <a:noFill/>
        </p:spPr>
        <p:txBody>
          <a:bodyPr vert="horz" wrap="square" lIns="0" tIns="0" rIns="0" bIns="0" rtlCol="0" anchor="t">
            <a:noAutofit/>
          </a:bodyPr>
          <a:lstStyle/>
          <a:p>
            <a:r>
              <a:rPr lang="en-US" sz="2800" b="1">
                <a:solidFill>
                  <a:srgbClr val="F2F5F9"/>
                </a:solidFill>
                <a:latin typeface="Aptos Display" panose="020B0004020202020204" pitchFamily="34" charset="0"/>
              </a:rPr>
              <a:t>Coordination means declaring every participant</a:t>
            </a:r>
          </a:p>
        </p:txBody>
      </p:sp>
      <p:sp>
        <p:nvSpPr>
          <p:cNvPr id="5" name="TextBox 4">
            <a:extLst>
              <a:ext uri="{FF2B5EF4-FFF2-40B4-BE49-F238E27FC236}">
                <a16:creationId xmlns:a16="http://schemas.microsoft.com/office/drawing/2014/main" id="{8015BBDF-DA85-39CF-D9AE-BE96BFF24AD8}"/>
              </a:ext>
            </a:extLst>
          </p:cNvPr>
          <p:cNvSpPr txBox="1"/>
          <p:nvPr/>
        </p:nvSpPr>
        <p:spPr>
          <a:xfrm>
            <a:off x="11226800" y="355600"/>
            <a:ext cx="381000" cy="276999"/>
          </a:xfrm>
          <a:prstGeom prst="rect">
            <a:avLst/>
          </a:prstGeom>
          <a:noFill/>
        </p:spPr>
        <p:txBody>
          <a:bodyPr vert="horz" wrap="square" lIns="0" tIns="0" rIns="0" bIns="0" rtlCol="0" anchor="t">
            <a:noAutofit/>
          </a:bodyPr>
          <a:lstStyle/>
          <a:p>
            <a:pPr algn="r"/>
            <a:r>
              <a:rPr lang="en-US" sz="1000" b="1">
                <a:solidFill>
                  <a:srgbClr val="A9B4C5"/>
                </a:solidFill>
                <a:latin typeface="Aptos" panose="020B0004020202020204" pitchFamily="34" charset="0"/>
              </a:rPr>
              <a:t>25</a:t>
            </a:r>
          </a:p>
        </p:txBody>
      </p:sp>
      <p:cxnSp>
        <p:nvCxnSpPr>
          <p:cNvPr id="6" name="Straight Connector 5">
            <a:extLst>
              <a:ext uri="{FF2B5EF4-FFF2-40B4-BE49-F238E27FC236}">
                <a16:creationId xmlns:a16="http://schemas.microsoft.com/office/drawing/2014/main" id="{6C33C584-9FF9-ED04-B218-132AD8A94FB0}"/>
              </a:ext>
            </a:extLst>
          </p:cNvPr>
          <p:cNvCxnSpPr/>
          <p:nvPr/>
        </p:nvCxnSpPr>
        <p:spPr>
          <a:xfrm>
            <a:off x="533400" y="1371600"/>
            <a:ext cx="11125200" cy="0"/>
          </a:xfrm>
          <a:prstGeom prst="line">
            <a:avLst/>
          </a:prstGeom>
          <a:ln w="12700">
            <a:solidFill>
              <a:srgbClr val="1F2C41"/>
            </a:solidFill>
          </a:ln>
        </p:spPr>
        <p:style>
          <a:lnRef idx="1">
            <a:schemeClr val="accent1"/>
          </a:lnRef>
          <a:fillRef idx="0">
            <a:schemeClr val="accent1"/>
          </a:fillRef>
          <a:effectRef idx="0">
            <a:schemeClr val="accent1"/>
          </a:effectRef>
          <a:fontRef idx="minor">
            <a:schemeClr val="tx1"/>
          </a:fontRef>
        </p:style>
      </p:cxnSp>
      <p:sp>
        <p:nvSpPr>
          <p:cNvPr id="7" name="Rectangle: Rounded Corners 6">
            <a:extLst>
              <a:ext uri="{FF2B5EF4-FFF2-40B4-BE49-F238E27FC236}">
                <a16:creationId xmlns:a16="http://schemas.microsoft.com/office/drawing/2014/main" id="{8426F10F-FE13-05BB-6CD9-4C40ADC7AF5C}"/>
              </a:ext>
            </a:extLst>
          </p:cNvPr>
          <p:cNvSpPr/>
          <p:nvPr/>
        </p:nvSpPr>
        <p:spPr>
          <a:xfrm>
            <a:off x="952500" y="1625600"/>
            <a:ext cx="10287000" cy="1841500"/>
          </a:xfrm>
          <a:prstGeom prst="roundRect">
            <a:avLst/>
          </a:prstGeom>
          <a:solidFill>
            <a:srgbClr val="060A12"/>
          </a:solidFill>
          <a:ln w="15875">
            <a:solidFill>
              <a:srgbClr val="1F2C4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408B55CF-725F-39AC-B855-86B0EC9D5880}"/>
              </a:ext>
            </a:extLst>
          </p:cNvPr>
          <p:cNvSpPr/>
          <p:nvPr/>
        </p:nvSpPr>
        <p:spPr>
          <a:xfrm>
            <a:off x="952500" y="1625600"/>
            <a:ext cx="88900" cy="1841500"/>
          </a:xfrm>
          <a:prstGeom prst="rect">
            <a:avLst/>
          </a:prstGeom>
          <a:solidFill>
            <a:srgbClr val="379D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4A83F6D9-68C6-D040-9E5C-536124E01F6F}"/>
              </a:ext>
            </a:extLst>
          </p:cNvPr>
          <p:cNvSpPr txBox="1"/>
          <p:nvPr/>
        </p:nvSpPr>
        <p:spPr>
          <a:xfrm>
            <a:off x="1181100" y="1778000"/>
            <a:ext cx="9906000" cy="276999"/>
          </a:xfrm>
          <a:prstGeom prst="rect">
            <a:avLst/>
          </a:prstGeom>
          <a:noFill/>
        </p:spPr>
        <p:txBody>
          <a:bodyPr vert="horz" wrap="square" lIns="0" tIns="0" rIns="0" bIns="0" rtlCol="0" anchor="t">
            <a:noAutofit/>
          </a:bodyPr>
          <a:lstStyle/>
          <a:p>
            <a:r>
              <a:rPr lang="en-US" sz="1550">
                <a:solidFill>
                  <a:srgbClr val="F2F5F9"/>
                </a:solidFill>
                <a:latin typeface="Consolas" panose="020B0609020204030204" pitchFamily="49" charset="0"/>
              </a:rPr>
              <a:t>operatorController.a()</a:t>
            </a:r>
          </a:p>
          <a:p>
            <a:r>
              <a:rPr lang="en-US" sz="1550">
                <a:solidFill>
                  <a:srgbClr val="F2F5F9"/>
                </a:solidFill>
                <a:latin typeface="Consolas" panose="020B0609020204030204" pitchFamily="49" charset="0"/>
              </a:rPr>
              <a:t>    .whileTrue(new BeltInCommand(beltSubsystem));</a:t>
            </a:r>
          </a:p>
          <a:p>
            <a:r>
              <a:rPr lang="en-US" sz="1550">
                <a:solidFill>
                  <a:srgbClr val="F2F5F9"/>
                </a:solidFill>
                <a:latin typeface="Consolas" panose="020B0609020204030204" pitchFamily="49" charset="0"/>
              </a:rPr>
              <a:t>operatorController.x()</a:t>
            </a:r>
          </a:p>
          <a:p>
            <a:r>
              <a:rPr lang="en-US" sz="1550">
                <a:solidFill>
                  <a:srgbClr val="F2F5F9"/>
                </a:solidFill>
                <a:latin typeface="Consolas" panose="020B0609020204030204" pitchFamily="49" charset="0"/>
              </a:rPr>
              <a:t>    .whileTrue(new RollerCommand(rollerSubsystem));</a:t>
            </a:r>
          </a:p>
        </p:txBody>
      </p:sp>
      <p:sp>
        <p:nvSpPr>
          <p:cNvPr id="10" name="Rectangle: Rounded Corners 9">
            <a:extLst>
              <a:ext uri="{FF2B5EF4-FFF2-40B4-BE49-F238E27FC236}">
                <a16:creationId xmlns:a16="http://schemas.microsoft.com/office/drawing/2014/main" id="{26E88D26-FB92-81FF-F2D8-A7F711A50743}"/>
              </a:ext>
            </a:extLst>
          </p:cNvPr>
          <p:cNvSpPr/>
          <p:nvPr/>
        </p:nvSpPr>
        <p:spPr>
          <a:xfrm>
            <a:off x="1041400" y="4064000"/>
            <a:ext cx="3302000" cy="1066800"/>
          </a:xfrm>
          <a:prstGeom prst="roundRect">
            <a:avLst/>
          </a:prstGeom>
          <a:solidFill>
            <a:srgbClr val="182234"/>
          </a:solidFill>
          <a:ln w="15875">
            <a:solidFill>
              <a:srgbClr val="379D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854AE4E-BA8F-78A0-46CA-101C07DBE513}"/>
              </a:ext>
            </a:extLst>
          </p:cNvPr>
          <p:cNvSpPr/>
          <p:nvPr/>
        </p:nvSpPr>
        <p:spPr>
          <a:xfrm>
            <a:off x="1041400" y="4064000"/>
            <a:ext cx="76200" cy="1066800"/>
          </a:xfrm>
          <a:prstGeom prst="rect">
            <a:avLst/>
          </a:prstGeom>
          <a:solidFill>
            <a:srgbClr val="379D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8C6A530B-68AA-5572-037C-57CC19604740}"/>
              </a:ext>
            </a:extLst>
          </p:cNvPr>
          <p:cNvSpPr txBox="1"/>
          <p:nvPr/>
        </p:nvSpPr>
        <p:spPr>
          <a:xfrm>
            <a:off x="1244600" y="4191000"/>
            <a:ext cx="2984500" cy="276999"/>
          </a:xfrm>
          <a:prstGeom prst="rect">
            <a:avLst/>
          </a:prstGeom>
          <a:noFill/>
        </p:spPr>
        <p:txBody>
          <a:bodyPr vert="horz" wrap="square" lIns="0" tIns="0" rIns="0" bIns="0" rtlCol="0" anchor="t">
            <a:noAutofit/>
          </a:bodyPr>
          <a:lstStyle/>
          <a:p>
            <a:r>
              <a:rPr lang="en-US" sz="1600" b="1">
                <a:solidFill>
                  <a:srgbClr val="379DFF"/>
                </a:solidFill>
                <a:latin typeface="Aptos" panose="020B0004020202020204" pitchFamily="34" charset="0"/>
              </a:rPr>
              <a:t>CURRENT</a:t>
            </a:r>
          </a:p>
        </p:txBody>
      </p:sp>
      <p:sp>
        <p:nvSpPr>
          <p:cNvPr id="13" name="TextBox 12">
            <a:extLst>
              <a:ext uri="{FF2B5EF4-FFF2-40B4-BE49-F238E27FC236}">
                <a16:creationId xmlns:a16="http://schemas.microsoft.com/office/drawing/2014/main" id="{84B90BDC-9889-3553-C93C-EA820B200BF8}"/>
              </a:ext>
            </a:extLst>
          </p:cNvPr>
          <p:cNvSpPr txBox="1"/>
          <p:nvPr/>
        </p:nvSpPr>
        <p:spPr>
          <a:xfrm>
            <a:off x="1244600" y="4546600"/>
            <a:ext cx="2984500" cy="276999"/>
          </a:xfrm>
          <a:prstGeom prst="rect">
            <a:avLst/>
          </a:prstGeom>
          <a:noFill/>
        </p:spPr>
        <p:txBody>
          <a:bodyPr vert="horz" wrap="square" lIns="0" tIns="0" rIns="0" bIns="0" rtlCol="0" anchor="t">
            <a:noAutofit/>
          </a:bodyPr>
          <a:lstStyle/>
          <a:p>
            <a:r>
              <a:rPr lang="en-US" sz="1200">
                <a:solidFill>
                  <a:srgbClr val="F2F5F9"/>
                </a:solidFill>
                <a:latin typeface="Aptos" panose="020B0004020202020204" pitchFamily="34" charset="0"/>
              </a:rPr>
              <a:t>two independent controls</a:t>
            </a:r>
          </a:p>
        </p:txBody>
      </p:sp>
      <p:sp>
        <p:nvSpPr>
          <p:cNvPr id="14" name="Rectangle: Rounded Corners 13">
            <a:extLst>
              <a:ext uri="{FF2B5EF4-FFF2-40B4-BE49-F238E27FC236}">
                <a16:creationId xmlns:a16="http://schemas.microsoft.com/office/drawing/2014/main" id="{BE572943-3A7B-854A-B5C5-1F5335C10079}"/>
              </a:ext>
            </a:extLst>
          </p:cNvPr>
          <p:cNvSpPr/>
          <p:nvPr/>
        </p:nvSpPr>
        <p:spPr>
          <a:xfrm>
            <a:off x="4445000" y="4064000"/>
            <a:ext cx="3302000" cy="1066800"/>
          </a:xfrm>
          <a:prstGeom prst="roundRect">
            <a:avLst/>
          </a:prstGeom>
          <a:solidFill>
            <a:srgbClr val="182234"/>
          </a:solidFill>
          <a:ln w="15875">
            <a:solidFill>
              <a:srgbClr val="FFA44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F5317840-D78C-DCB6-F6A9-DF2BEF945345}"/>
              </a:ext>
            </a:extLst>
          </p:cNvPr>
          <p:cNvSpPr/>
          <p:nvPr/>
        </p:nvSpPr>
        <p:spPr>
          <a:xfrm>
            <a:off x="4445000" y="4064000"/>
            <a:ext cx="76200" cy="1066800"/>
          </a:xfrm>
          <a:prstGeom prst="rect">
            <a:avLst/>
          </a:prstGeom>
          <a:solidFill>
            <a:srgbClr val="FFA44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E1AD94F3-12B5-D0EF-E1B5-6B9E189EB5D8}"/>
              </a:ext>
            </a:extLst>
          </p:cNvPr>
          <p:cNvSpPr txBox="1"/>
          <p:nvPr/>
        </p:nvSpPr>
        <p:spPr>
          <a:xfrm>
            <a:off x="4648200" y="4191000"/>
            <a:ext cx="2984500" cy="276999"/>
          </a:xfrm>
          <a:prstGeom prst="rect">
            <a:avLst/>
          </a:prstGeom>
          <a:noFill/>
        </p:spPr>
        <p:txBody>
          <a:bodyPr vert="horz" wrap="square" lIns="0" tIns="0" rIns="0" bIns="0" rtlCol="0" anchor="t">
            <a:noAutofit/>
          </a:bodyPr>
          <a:lstStyle/>
          <a:p>
            <a:r>
              <a:rPr lang="en-US" sz="1600" b="1">
                <a:solidFill>
                  <a:srgbClr val="FFA443"/>
                </a:solidFill>
                <a:latin typeface="Aptos" panose="020B0004020202020204" pitchFamily="34" charset="0"/>
              </a:rPr>
              <a:t>PROPOSED SCORE</a:t>
            </a:r>
          </a:p>
        </p:txBody>
      </p:sp>
      <p:sp>
        <p:nvSpPr>
          <p:cNvPr id="17" name="TextBox 16">
            <a:extLst>
              <a:ext uri="{FF2B5EF4-FFF2-40B4-BE49-F238E27FC236}">
                <a16:creationId xmlns:a16="http://schemas.microsoft.com/office/drawing/2014/main" id="{EBCBC5E4-2255-0E8F-A101-58F5A0FB0162}"/>
              </a:ext>
            </a:extLst>
          </p:cNvPr>
          <p:cNvSpPr txBox="1"/>
          <p:nvPr/>
        </p:nvSpPr>
        <p:spPr>
          <a:xfrm>
            <a:off x="4648200" y="4546600"/>
            <a:ext cx="2984500" cy="276999"/>
          </a:xfrm>
          <a:prstGeom prst="rect">
            <a:avLst/>
          </a:prstGeom>
          <a:noFill/>
        </p:spPr>
        <p:txBody>
          <a:bodyPr vert="horz" wrap="square" lIns="0" tIns="0" rIns="0" bIns="0" rtlCol="0" anchor="t">
            <a:noAutofit/>
          </a:bodyPr>
          <a:lstStyle/>
          <a:p>
            <a:r>
              <a:rPr lang="en-US" sz="1200">
                <a:solidFill>
                  <a:srgbClr val="F2F5F9"/>
                </a:solidFill>
                <a:latin typeface="Aptos" panose="020B0004020202020204" pitchFamily="34" charset="0"/>
              </a:rPr>
              <a:t>one coordinated lifecycle</a:t>
            </a:r>
          </a:p>
        </p:txBody>
      </p:sp>
      <p:sp>
        <p:nvSpPr>
          <p:cNvPr id="18" name="Rectangle: Rounded Corners 17">
            <a:extLst>
              <a:ext uri="{FF2B5EF4-FFF2-40B4-BE49-F238E27FC236}">
                <a16:creationId xmlns:a16="http://schemas.microsoft.com/office/drawing/2014/main" id="{784213A4-C458-E5FC-12D1-835A6DBA60EB}"/>
              </a:ext>
            </a:extLst>
          </p:cNvPr>
          <p:cNvSpPr/>
          <p:nvPr/>
        </p:nvSpPr>
        <p:spPr>
          <a:xfrm>
            <a:off x="7848600" y="4064000"/>
            <a:ext cx="3302000" cy="1066800"/>
          </a:xfrm>
          <a:prstGeom prst="roundRect">
            <a:avLst/>
          </a:prstGeom>
          <a:solidFill>
            <a:srgbClr val="182234"/>
          </a:solidFill>
          <a:ln w="15875">
            <a:solidFill>
              <a:srgbClr val="A474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B1E34BDA-6223-5709-AAFB-6DCF9FA91599}"/>
              </a:ext>
            </a:extLst>
          </p:cNvPr>
          <p:cNvSpPr/>
          <p:nvPr/>
        </p:nvSpPr>
        <p:spPr>
          <a:xfrm>
            <a:off x="7848600" y="4064000"/>
            <a:ext cx="76200" cy="1066800"/>
          </a:xfrm>
          <a:prstGeom prst="rect">
            <a:avLst/>
          </a:prstGeom>
          <a:solidFill>
            <a:srgbClr val="A474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18A010EA-EEA4-1F25-81CE-88EF1D9794B5}"/>
              </a:ext>
            </a:extLst>
          </p:cNvPr>
          <p:cNvSpPr txBox="1"/>
          <p:nvPr/>
        </p:nvSpPr>
        <p:spPr>
          <a:xfrm>
            <a:off x="8051800" y="4191000"/>
            <a:ext cx="2984500" cy="276999"/>
          </a:xfrm>
          <a:prstGeom prst="rect">
            <a:avLst/>
          </a:prstGeom>
          <a:noFill/>
        </p:spPr>
        <p:txBody>
          <a:bodyPr vert="horz" wrap="square" lIns="0" tIns="0" rIns="0" bIns="0" rtlCol="0" anchor="t">
            <a:noAutofit/>
          </a:bodyPr>
          <a:lstStyle/>
          <a:p>
            <a:r>
              <a:rPr lang="en-US" sz="1600" b="1">
                <a:solidFill>
                  <a:srgbClr val="A474FF"/>
                </a:solidFill>
                <a:latin typeface="Aptos" panose="020B0004020202020204" pitchFamily="34" charset="0"/>
              </a:rPr>
              <a:t>REQUIRES BOTH</a:t>
            </a:r>
          </a:p>
        </p:txBody>
      </p:sp>
      <p:sp>
        <p:nvSpPr>
          <p:cNvPr id="21" name="TextBox 20">
            <a:extLst>
              <a:ext uri="{FF2B5EF4-FFF2-40B4-BE49-F238E27FC236}">
                <a16:creationId xmlns:a16="http://schemas.microsoft.com/office/drawing/2014/main" id="{964D39B5-4B8F-66DB-DFA4-B71483209C65}"/>
              </a:ext>
            </a:extLst>
          </p:cNvPr>
          <p:cNvSpPr txBox="1"/>
          <p:nvPr/>
        </p:nvSpPr>
        <p:spPr>
          <a:xfrm>
            <a:off x="8051800" y="4546600"/>
            <a:ext cx="2984500" cy="276999"/>
          </a:xfrm>
          <a:prstGeom prst="rect">
            <a:avLst/>
          </a:prstGeom>
          <a:noFill/>
        </p:spPr>
        <p:txBody>
          <a:bodyPr vert="horz" wrap="square" lIns="0" tIns="0" rIns="0" bIns="0" rtlCol="0" anchor="t">
            <a:noAutofit/>
          </a:bodyPr>
          <a:lstStyle/>
          <a:p>
            <a:r>
              <a:rPr lang="en-US" sz="1200">
                <a:solidFill>
                  <a:srgbClr val="F2F5F9"/>
                </a:solidFill>
                <a:latin typeface="Aptos" panose="020B0004020202020204" pitchFamily="34" charset="0"/>
              </a:rPr>
              <a:t>belt + roller ownership</a:t>
            </a:r>
          </a:p>
        </p:txBody>
      </p:sp>
      <p:cxnSp>
        <p:nvCxnSpPr>
          <p:cNvPr id="22" name="Straight Connector 21">
            <a:extLst>
              <a:ext uri="{FF2B5EF4-FFF2-40B4-BE49-F238E27FC236}">
                <a16:creationId xmlns:a16="http://schemas.microsoft.com/office/drawing/2014/main" id="{7620F961-5AF1-5DF8-73CC-19109145BE46}"/>
              </a:ext>
            </a:extLst>
          </p:cNvPr>
          <p:cNvCxnSpPr/>
          <p:nvPr/>
        </p:nvCxnSpPr>
        <p:spPr>
          <a:xfrm>
            <a:off x="4343400" y="4597400"/>
            <a:ext cx="101600" cy="0"/>
          </a:xfrm>
          <a:prstGeom prst="line">
            <a:avLst/>
          </a:prstGeom>
          <a:ln w="50800">
            <a:solidFill>
              <a:srgbClr val="FFA443"/>
            </a:solidFill>
            <a:tailEnd type="arrow"/>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7E85CA8A-6145-FE80-2985-F4D8C2D6E750}"/>
              </a:ext>
            </a:extLst>
          </p:cNvPr>
          <p:cNvCxnSpPr/>
          <p:nvPr/>
        </p:nvCxnSpPr>
        <p:spPr>
          <a:xfrm>
            <a:off x="7747000" y="4597400"/>
            <a:ext cx="101600" cy="0"/>
          </a:xfrm>
          <a:prstGeom prst="line">
            <a:avLst/>
          </a:prstGeom>
          <a:ln w="50800">
            <a:solidFill>
              <a:srgbClr val="A474FF"/>
            </a:solidFill>
            <a:tailEnd type="arrow"/>
          </a:ln>
        </p:spPr>
        <p:style>
          <a:lnRef idx="1">
            <a:schemeClr val="accent1"/>
          </a:lnRef>
          <a:fillRef idx="0">
            <a:schemeClr val="accent1"/>
          </a:fillRef>
          <a:effectRef idx="0">
            <a:schemeClr val="accent1"/>
          </a:effectRef>
          <a:fontRef idx="minor">
            <a:schemeClr val="tx1"/>
          </a:fontRef>
        </p:style>
      </p:cxnSp>
      <p:sp>
        <p:nvSpPr>
          <p:cNvPr id="24" name="Rectangle: Rounded Corners 23">
            <a:extLst>
              <a:ext uri="{FF2B5EF4-FFF2-40B4-BE49-F238E27FC236}">
                <a16:creationId xmlns:a16="http://schemas.microsoft.com/office/drawing/2014/main" id="{C426946C-E8FF-44FF-CD96-C1C36DF756FE}"/>
              </a:ext>
            </a:extLst>
          </p:cNvPr>
          <p:cNvSpPr/>
          <p:nvPr/>
        </p:nvSpPr>
        <p:spPr>
          <a:xfrm>
            <a:off x="533400" y="6261100"/>
            <a:ext cx="11125200" cy="533400"/>
          </a:xfrm>
          <a:prstGeom prst="roundRect">
            <a:avLst/>
          </a:prstGeom>
          <a:solidFill>
            <a:srgbClr val="18223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Rounded Corners 24">
            <a:extLst>
              <a:ext uri="{FF2B5EF4-FFF2-40B4-BE49-F238E27FC236}">
                <a16:creationId xmlns:a16="http://schemas.microsoft.com/office/drawing/2014/main" id="{F8145660-8DAA-2CF9-4B45-9561D2DC0F2A}"/>
              </a:ext>
            </a:extLst>
          </p:cNvPr>
          <p:cNvSpPr/>
          <p:nvPr/>
        </p:nvSpPr>
        <p:spPr>
          <a:xfrm>
            <a:off x="660400" y="6362700"/>
            <a:ext cx="1473200" cy="330200"/>
          </a:xfrm>
          <a:prstGeom prst="roundRect">
            <a:avLst/>
          </a:prstGeom>
          <a:solidFill>
            <a:srgbClr val="FFC1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048A2CE3-778F-6D10-F10E-D6FAE0905C9E}"/>
              </a:ext>
            </a:extLst>
          </p:cNvPr>
          <p:cNvSpPr txBox="1"/>
          <p:nvPr/>
        </p:nvSpPr>
        <p:spPr>
          <a:xfrm>
            <a:off x="736600" y="6400800"/>
            <a:ext cx="1320800" cy="276999"/>
          </a:xfrm>
          <a:prstGeom prst="rect">
            <a:avLst/>
          </a:prstGeom>
          <a:noFill/>
        </p:spPr>
        <p:txBody>
          <a:bodyPr vert="horz" wrap="square" lIns="0" tIns="0" rIns="0" bIns="0" rtlCol="0">
            <a:noAutofit/>
          </a:bodyPr>
          <a:lstStyle/>
          <a:p>
            <a:pPr algn="ctr"/>
            <a:r>
              <a:rPr lang="en-US" sz="1050" b="1">
                <a:solidFill>
                  <a:srgbClr val="060A12"/>
                </a:solidFill>
                <a:latin typeface="Aptos" panose="020B0004020202020204" pitchFamily="34" charset="0"/>
              </a:rPr>
              <a:t>DESIGN TASK</a:t>
            </a:r>
          </a:p>
        </p:txBody>
      </p:sp>
      <p:sp>
        <p:nvSpPr>
          <p:cNvPr id="27" name="TextBox 26">
            <a:extLst>
              <a:ext uri="{FF2B5EF4-FFF2-40B4-BE49-F238E27FC236}">
                <a16:creationId xmlns:a16="http://schemas.microsoft.com/office/drawing/2014/main" id="{A87C2351-C4E2-8882-D8E4-55BA7F4F9EAD}"/>
              </a:ext>
            </a:extLst>
          </p:cNvPr>
          <p:cNvSpPr txBox="1"/>
          <p:nvPr/>
        </p:nvSpPr>
        <p:spPr>
          <a:xfrm>
            <a:off x="2286000" y="6362700"/>
            <a:ext cx="9207500" cy="276999"/>
          </a:xfrm>
          <a:prstGeom prst="rect">
            <a:avLst/>
          </a:prstGeom>
          <a:noFill/>
        </p:spPr>
        <p:txBody>
          <a:bodyPr vert="horz" wrap="square" lIns="0" tIns="0" rIns="0" bIns="0" rtlCol="0" anchor="t">
            <a:noAutofit/>
          </a:bodyPr>
          <a:lstStyle/>
          <a:p>
            <a:r>
              <a:rPr lang="en-US" sz="1300">
                <a:solidFill>
                  <a:srgbClr val="F2F5F9"/>
                </a:solidFill>
                <a:latin typeface="Aptos" panose="020B0004020202020204" pitchFamily="34" charset="0"/>
              </a:rPr>
              <a:t>Define start, finish, stop, interruption, and requirements before writing code.</a:t>
            </a:r>
          </a:p>
        </p:txBody>
      </p:sp>
      <p:sp>
        <p:nvSpPr>
          <p:cNvPr id="28" name="TextBox 27">
            <a:extLst>
              <a:ext uri="{FF2B5EF4-FFF2-40B4-BE49-F238E27FC236}">
                <a16:creationId xmlns:a16="http://schemas.microsoft.com/office/drawing/2014/main" id="{C4D9EF7F-1729-9877-DB7E-F326F325C2B6}"/>
              </a:ext>
            </a:extLst>
          </p:cNvPr>
          <p:cNvSpPr txBox="1"/>
          <p:nvPr/>
        </p:nvSpPr>
        <p:spPr>
          <a:xfrm>
            <a:off x="533400" y="6908800"/>
            <a:ext cx="8890000" cy="276999"/>
          </a:xfrm>
          <a:prstGeom prst="rect">
            <a:avLst/>
          </a:prstGeom>
          <a:noFill/>
        </p:spPr>
        <p:txBody>
          <a:bodyPr vert="horz" wrap="square" lIns="0" tIns="0" rIns="0" bIns="0" rtlCol="0" anchor="t">
            <a:noAutofit/>
          </a:bodyPr>
          <a:lstStyle/>
          <a:p>
            <a:r>
              <a:rPr lang="en-US" sz="850">
                <a:solidFill>
                  <a:srgbClr val="A9B4C5"/>
                </a:solidFill>
                <a:latin typeface="Aptos" panose="020B0004020202020204" pitchFamily="34" charset="0"/>
              </a:rPr>
              <a:t>Source: RobotContainer.java</a:t>
            </a:r>
          </a:p>
        </p:txBody>
      </p:sp>
      <p:sp>
        <p:nvSpPr>
          <p:cNvPr id="29" name="TextBox 28">
            <a:extLst>
              <a:ext uri="{FF2B5EF4-FFF2-40B4-BE49-F238E27FC236}">
                <a16:creationId xmlns:a16="http://schemas.microsoft.com/office/drawing/2014/main" id="{CB3FC30A-D399-6165-45A1-FA5704329377}"/>
              </a:ext>
            </a:extLst>
          </p:cNvPr>
          <p:cNvSpPr txBox="1"/>
          <p:nvPr/>
        </p:nvSpPr>
        <p:spPr>
          <a:xfrm>
            <a:off x="9017000" y="6908800"/>
            <a:ext cx="2641600" cy="276999"/>
          </a:xfrm>
          <a:prstGeom prst="rect">
            <a:avLst/>
          </a:prstGeom>
          <a:noFill/>
        </p:spPr>
        <p:txBody>
          <a:bodyPr vert="horz" wrap="square" lIns="0" tIns="0" rIns="0" bIns="0" rtlCol="0" anchor="t">
            <a:noAutofit/>
          </a:bodyPr>
          <a:lstStyle/>
          <a:p>
            <a:pPr algn="r"/>
            <a:r>
              <a:rPr lang="en-US" sz="850">
                <a:solidFill>
                  <a:srgbClr val="A9B4C5"/>
                </a:solidFill>
                <a:latin typeface="Aptos" panose="020B0004020202020204" pitchFamily="34" charset="0"/>
              </a:rPr>
              <a:t>CURRENT ROBOT IMPLEMENTATION • V2</a:t>
            </a:r>
          </a:p>
        </p:txBody>
      </p:sp>
    </p:spTree>
    <p:extLst>
      <p:ext uri="{BB962C8B-B14F-4D97-AF65-F5344CB8AC3E}">
        <p14:creationId xmlns:p14="http://schemas.microsoft.com/office/powerpoint/2010/main" val="155972477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D1421"/>
        </a:solidFill>
        <a:effectLst/>
      </p:bgPr>
    </p:bg>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42DB1A22-AA29-30E1-F730-A5C13BE8BBF8}"/>
              </a:ext>
            </a:extLst>
          </p:cNvPr>
          <p:cNvSpPr/>
          <p:nvPr/>
        </p:nvSpPr>
        <p:spPr>
          <a:xfrm>
            <a:off x="533400" y="292100"/>
            <a:ext cx="1473200" cy="330200"/>
          </a:xfrm>
          <a:prstGeom prst="roundRect">
            <a:avLst/>
          </a:prstGeom>
          <a:solidFill>
            <a:srgbClr val="FFC1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134A91C7-C7A3-E587-30E5-B840772EBAA8}"/>
              </a:ext>
            </a:extLst>
          </p:cNvPr>
          <p:cNvSpPr txBox="1"/>
          <p:nvPr/>
        </p:nvSpPr>
        <p:spPr>
          <a:xfrm>
            <a:off x="609600" y="330200"/>
            <a:ext cx="1320800" cy="276999"/>
          </a:xfrm>
          <a:prstGeom prst="rect">
            <a:avLst/>
          </a:prstGeom>
          <a:noFill/>
        </p:spPr>
        <p:txBody>
          <a:bodyPr vert="horz" wrap="square" lIns="0" tIns="0" rIns="0" bIns="0" rtlCol="0">
            <a:noAutofit/>
          </a:bodyPr>
          <a:lstStyle/>
          <a:p>
            <a:pPr algn="ctr"/>
            <a:r>
              <a:rPr lang="en-US" sz="1050" b="1">
                <a:solidFill>
                  <a:srgbClr val="060A12"/>
                </a:solidFill>
                <a:latin typeface="Aptos" panose="020B0004020202020204" pitchFamily="34" charset="0"/>
              </a:rPr>
              <a:t>EXPERIENCED TRACK</a:t>
            </a:r>
          </a:p>
        </p:txBody>
      </p:sp>
      <p:sp>
        <p:nvSpPr>
          <p:cNvPr id="4" name="TextBox 3">
            <a:extLst>
              <a:ext uri="{FF2B5EF4-FFF2-40B4-BE49-F238E27FC236}">
                <a16:creationId xmlns:a16="http://schemas.microsoft.com/office/drawing/2014/main" id="{C1004827-DF24-53C5-B579-634CC11C976C}"/>
              </a:ext>
            </a:extLst>
          </p:cNvPr>
          <p:cNvSpPr txBox="1"/>
          <p:nvPr/>
        </p:nvSpPr>
        <p:spPr>
          <a:xfrm>
            <a:off x="533400" y="762000"/>
            <a:ext cx="10414000" cy="276999"/>
          </a:xfrm>
          <a:prstGeom prst="rect">
            <a:avLst/>
          </a:prstGeom>
          <a:noFill/>
        </p:spPr>
        <p:txBody>
          <a:bodyPr vert="horz" wrap="square" lIns="0" tIns="0" rIns="0" bIns="0" rtlCol="0" anchor="t">
            <a:noAutofit/>
          </a:bodyPr>
          <a:lstStyle/>
          <a:p>
            <a:r>
              <a:rPr lang="en-US" sz="2800" b="1">
                <a:solidFill>
                  <a:srgbClr val="F2F5F9"/>
                </a:solidFill>
                <a:latin typeface="Aptos Display" panose="020B0004020202020204" pitchFamily="34" charset="0"/>
              </a:rPr>
              <a:t>Tests verify requests without robot hardware</a:t>
            </a:r>
          </a:p>
        </p:txBody>
      </p:sp>
      <p:sp>
        <p:nvSpPr>
          <p:cNvPr id="5" name="TextBox 4">
            <a:extLst>
              <a:ext uri="{FF2B5EF4-FFF2-40B4-BE49-F238E27FC236}">
                <a16:creationId xmlns:a16="http://schemas.microsoft.com/office/drawing/2014/main" id="{8E5D532A-6A23-41B6-DE28-8748BEFA9671}"/>
              </a:ext>
            </a:extLst>
          </p:cNvPr>
          <p:cNvSpPr txBox="1"/>
          <p:nvPr/>
        </p:nvSpPr>
        <p:spPr>
          <a:xfrm>
            <a:off x="11226800" y="355600"/>
            <a:ext cx="381000" cy="276999"/>
          </a:xfrm>
          <a:prstGeom prst="rect">
            <a:avLst/>
          </a:prstGeom>
          <a:noFill/>
        </p:spPr>
        <p:txBody>
          <a:bodyPr vert="horz" wrap="square" lIns="0" tIns="0" rIns="0" bIns="0" rtlCol="0" anchor="t">
            <a:noAutofit/>
          </a:bodyPr>
          <a:lstStyle/>
          <a:p>
            <a:pPr algn="r"/>
            <a:r>
              <a:rPr lang="en-US" sz="1000" b="1">
                <a:solidFill>
                  <a:srgbClr val="A9B4C5"/>
                </a:solidFill>
                <a:latin typeface="Aptos" panose="020B0004020202020204" pitchFamily="34" charset="0"/>
              </a:rPr>
              <a:t>26</a:t>
            </a:r>
          </a:p>
        </p:txBody>
      </p:sp>
      <p:cxnSp>
        <p:nvCxnSpPr>
          <p:cNvPr id="6" name="Straight Connector 5">
            <a:extLst>
              <a:ext uri="{FF2B5EF4-FFF2-40B4-BE49-F238E27FC236}">
                <a16:creationId xmlns:a16="http://schemas.microsoft.com/office/drawing/2014/main" id="{352B3AD1-EA67-4F91-E53F-500B1662BFAC}"/>
              </a:ext>
            </a:extLst>
          </p:cNvPr>
          <p:cNvCxnSpPr/>
          <p:nvPr/>
        </p:nvCxnSpPr>
        <p:spPr>
          <a:xfrm>
            <a:off x="533400" y="1371600"/>
            <a:ext cx="11125200" cy="0"/>
          </a:xfrm>
          <a:prstGeom prst="line">
            <a:avLst/>
          </a:prstGeom>
          <a:ln w="12700">
            <a:solidFill>
              <a:srgbClr val="1F2C41"/>
            </a:solidFill>
          </a:ln>
        </p:spPr>
        <p:style>
          <a:lnRef idx="1">
            <a:schemeClr val="accent1"/>
          </a:lnRef>
          <a:fillRef idx="0">
            <a:schemeClr val="accent1"/>
          </a:fillRef>
          <a:effectRef idx="0">
            <a:schemeClr val="accent1"/>
          </a:effectRef>
          <a:fontRef idx="minor">
            <a:schemeClr val="tx1"/>
          </a:fontRef>
        </p:style>
      </p:cxnSp>
      <p:sp>
        <p:nvSpPr>
          <p:cNvPr id="7" name="Rectangle: Rounded Corners 6">
            <a:extLst>
              <a:ext uri="{FF2B5EF4-FFF2-40B4-BE49-F238E27FC236}">
                <a16:creationId xmlns:a16="http://schemas.microsoft.com/office/drawing/2014/main" id="{A2C631B8-B28F-D893-B87C-C087C0BC848A}"/>
              </a:ext>
            </a:extLst>
          </p:cNvPr>
          <p:cNvSpPr/>
          <p:nvPr/>
        </p:nvSpPr>
        <p:spPr>
          <a:xfrm>
            <a:off x="698500" y="1651000"/>
            <a:ext cx="6604000" cy="2667000"/>
          </a:xfrm>
          <a:prstGeom prst="roundRect">
            <a:avLst/>
          </a:prstGeom>
          <a:solidFill>
            <a:srgbClr val="060A12"/>
          </a:solidFill>
          <a:ln w="15875">
            <a:solidFill>
              <a:srgbClr val="1F2C4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419EFF77-4E9D-73E9-E32F-ECC6695113A6}"/>
              </a:ext>
            </a:extLst>
          </p:cNvPr>
          <p:cNvSpPr/>
          <p:nvPr/>
        </p:nvSpPr>
        <p:spPr>
          <a:xfrm>
            <a:off x="698500" y="1651000"/>
            <a:ext cx="88900" cy="2667000"/>
          </a:xfrm>
          <a:prstGeom prst="rect">
            <a:avLst/>
          </a:prstGeom>
          <a:solidFill>
            <a:srgbClr val="FFC1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62766497-FC6E-06C9-852D-4C8BDF99159E}"/>
              </a:ext>
            </a:extLst>
          </p:cNvPr>
          <p:cNvSpPr txBox="1"/>
          <p:nvPr/>
        </p:nvSpPr>
        <p:spPr>
          <a:xfrm>
            <a:off x="927100" y="1803400"/>
            <a:ext cx="6223000" cy="276999"/>
          </a:xfrm>
          <a:prstGeom prst="rect">
            <a:avLst/>
          </a:prstGeom>
          <a:noFill/>
        </p:spPr>
        <p:txBody>
          <a:bodyPr vert="horz" wrap="square" lIns="0" tIns="0" rIns="0" bIns="0" rtlCol="0" anchor="t">
            <a:noAutofit/>
          </a:bodyPr>
          <a:lstStyle/>
          <a:p>
            <a:r>
              <a:rPr lang="en-US" sz="1500">
                <a:solidFill>
                  <a:srgbClr val="F2F5F9"/>
                </a:solidFill>
                <a:latin typeface="Consolas" panose="020B0609020204030204" pitchFamily="49" charset="0"/>
              </a:rPr>
              <a:t>command.execute();</a:t>
            </a:r>
          </a:p>
          <a:p>
            <a:r>
              <a:rPr lang="en-US" sz="1500">
                <a:solidFill>
                  <a:srgbClr val="F2F5F9"/>
                </a:solidFill>
                <a:latin typeface="Consolas" panose="020B0609020204030204" pitchFamily="49" charset="0"/>
              </a:rPr>
              <a:t>command.end(false);</a:t>
            </a:r>
          </a:p>
          <a:p>
            <a:endParaRPr lang="en-US" sz="1500">
              <a:solidFill>
                <a:srgbClr val="F2F5F9"/>
              </a:solidFill>
              <a:latin typeface="Consolas" panose="020B0609020204030204" pitchFamily="49" charset="0"/>
            </a:endParaRPr>
          </a:p>
          <a:p>
            <a:r>
              <a:rPr lang="en-US" sz="1500">
                <a:solidFill>
                  <a:srgbClr val="F2F5F9"/>
                </a:solidFill>
                <a:latin typeface="Consolas" panose="020B0609020204030204" pitchFamily="49" charset="0"/>
              </a:rPr>
              <a:t>Mockito.verify(beltSubsystem)</a:t>
            </a:r>
          </a:p>
          <a:p>
            <a:r>
              <a:rPr lang="en-US" sz="1500">
                <a:solidFill>
                  <a:srgbClr val="F2F5F9"/>
                </a:solidFill>
                <a:latin typeface="Consolas" panose="020B0609020204030204" pitchFamily="49" charset="0"/>
              </a:rPr>
              <a:t>    .run(Constants.Tuning.BELT_SPEED);</a:t>
            </a:r>
          </a:p>
          <a:p>
            <a:r>
              <a:rPr lang="en-US" sz="1500">
                <a:solidFill>
                  <a:srgbClr val="F2F5F9"/>
                </a:solidFill>
                <a:latin typeface="Consolas" panose="020B0609020204030204" pitchFamily="49" charset="0"/>
              </a:rPr>
              <a:t>Mockito.verify(beltSubsystem).stop();</a:t>
            </a:r>
          </a:p>
        </p:txBody>
      </p:sp>
      <p:sp>
        <p:nvSpPr>
          <p:cNvPr id="10" name="Rectangle: Rounded Corners 9">
            <a:extLst>
              <a:ext uri="{FF2B5EF4-FFF2-40B4-BE49-F238E27FC236}">
                <a16:creationId xmlns:a16="http://schemas.microsoft.com/office/drawing/2014/main" id="{CA93DEDD-1A87-65C6-F4A5-1F37E6A58019}"/>
              </a:ext>
            </a:extLst>
          </p:cNvPr>
          <p:cNvSpPr/>
          <p:nvPr/>
        </p:nvSpPr>
        <p:spPr>
          <a:xfrm>
            <a:off x="8204200" y="1816100"/>
            <a:ext cx="2032000" cy="330200"/>
          </a:xfrm>
          <a:prstGeom prst="roundRect">
            <a:avLst/>
          </a:prstGeom>
          <a:solidFill>
            <a:srgbClr val="379D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965593CA-ABCA-E89B-5886-05F12E2BD832}"/>
              </a:ext>
            </a:extLst>
          </p:cNvPr>
          <p:cNvSpPr txBox="1"/>
          <p:nvPr/>
        </p:nvSpPr>
        <p:spPr>
          <a:xfrm>
            <a:off x="8280400" y="1854200"/>
            <a:ext cx="1879600" cy="276999"/>
          </a:xfrm>
          <a:prstGeom prst="rect">
            <a:avLst/>
          </a:prstGeom>
          <a:noFill/>
        </p:spPr>
        <p:txBody>
          <a:bodyPr vert="horz" wrap="square" lIns="0" tIns="0" rIns="0" bIns="0" rtlCol="0">
            <a:noAutofit/>
          </a:bodyPr>
          <a:lstStyle/>
          <a:p>
            <a:pPr algn="ctr"/>
            <a:r>
              <a:rPr lang="en-US" sz="1050" b="1">
                <a:solidFill>
                  <a:srgbClr val="060A12"/>
                </a:solidFill>
                <a:latin typeface="Aptos" panose="020B0004020202020204" pitchFamily="34" charset="0"/>
              </a:rPr>
              <a:t>ARRANGE</a:t>
            </a:r>
          </a:p>
        </p:txBody>
      </p:sp>
      <p:sp>
        <p:nvSpPr>
          <p:cNvPr id="12" name="TextBox 11">
            <a:extLst>
              <a:ext uri="{FF2B5EF4-FFF2-40B4-BE49-F238E27FC236}">
                <a16:creationId xmlns:a16="http://schemas.microsoft.com/office/drawing/2014/main" id="{3F6C53E6-00BA-3122-8857-AEBC69883301}"/>
              </a:ext>
            </a:extLst>
          </p:cNvPr>
          <p:cNvSpPr txBox="1"/>
          <p:nvPr/>
        </p:nvSpPr>
        <p:spPr>
          <a:xfrm>
            <a:off x="7747000" y="2247900"/>
            <a:ext cx="2984500" cy="276999"/>
          </a:xfrm>
          <a:prstGeom prst="rect">
            <a:avLst/>
          </a:prstGeom>
          <a:noFill/>
        </p:spPr>
        <p:txBody>
          <a:bodyPr vert="horz" wrap="square" lIns="0" tIns="0" rIns="0" bIns="0" rtlCol="0" anchor="t">
            <a:noAutofit/>
          </a:bodyPr>
          <a:lstStyle/>
          <a:p>
            <a:pPr algn="ctr"/>
            <a:r>
              <a:rPr lang="en-US" sz="1400">
                <a:solidFill>
                  <a:srgbClr val="F2F5F9"/>
                </a:solidFill>
                <a:latin typeface="Aptos" panose="020B0004020202020204" pitchFamily="34" charset="0"/>
              </a:rPr>
              <a:t>create command + mock</a:t>
            </a:r>
          </a:p>
        </p:txBody>
      </p:sp>
      <p:cxnSp>
        <p:nvCxnSpPr>
          <p:cNvPr id="13" name="Straight Connector 12">
            <a:extLst>
              <a:ext uri="{FF2B5EF4-FFF2-40B4-BE49-F238E27FC236}">
                <a16:creationId xmlns:a16="http://schemas.microsoft.com/office/drawing/2014/main" id="{D527582D-2CBB-4DCC-701D-4E184A78F1CB}"/>
              </a:ext>
            </a:extLst>
          </p:cNvPr>
          <p:cNvCxnSpPr/>
          <p:nvPr/>
        </p:nvCxnSpPr>
        <p:spPr>
          <a:xfrm>
            <a:off x="9220200" y="2603500"/>
            <a:ext cx="0" cy="279400"/>
          </a:xfrm>
          <a:prstGeom prst="line">
            <a:avLst/>
          </a:prstGeom>
          <a:ln w="25400">
            <a:solidFill>
              <a:srgbClr val="A9B4C5"/>
            </a:solidFill>
            <a:tailEnd type="arrow"/>
          </a:ln>
        </p:spPr>
        <p:style>
          <a:lnRef idx="1">
            <a:schemeClr val="accent1"/>
          </a:lnRef>
          <a:fillRef idx="0">
            <a:schemeClr val="accent1"/>
          </a:fillRef>
          <a:effectRef idx="0">
            <a:schemeClr val="accent1"/>
          </a:effectRef>
          <a:fontRef idx="minor">
            <a:schemeClr val="tx1"/>
          </a:fontRef>
        </p:style>
      </p:cxnSp>
      <p:sp>
        <p:nvSpPr>
          <p:cNvPr id="14" name="Rectangle: Rounded Corners 13">
            <a:extLst>
              <a:ext uri="{FF2B5EF4-FFF2-40B4-BE49-F238E27FC236}">
                <a16:creationId xmlns:a16="http://schemas.microsoft.com/office/drawing/2014/main" id="{2D734FFE-C2DE-F521-C1B2-DEF68F8702F6}"/>
              </a:ext>
            </a:extLst>
          </p:cNvPr>
          <p:cNvSpPr/>
          <p:nvPr/>
        </p:nvSpPr>
        <p:spPr>
          <a:xfrm>
            <a:off x="8204200" y="2921000"/>
            <a:ext cx="2032000" cy="330200"/>
          </a:xfrm>
          <a:prstGeom prst="roundRect">
            <a:avLst/>
          </a:prstGeom>
          <a:solidFill>
            <a:srgbClr val="FFA44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4CE62903-D492-5C41-E649-3E4DFF620743}"/>
              </a:ext>
            </a:extLst>
          </p:cNvPr>
          <p:cNvSpPr txBox="1"/>
          <p:nvPr/>
        </p:nvSpPr>
        <p:spPr>
          <a:xfrm>
            <a:off x="8280400" y="2959100"/>
            <a:ext cx="1879600" cy="276999"/>
          </a:xfrm>
          <a:prstGeom prst="rect">
            <a:avLst/>
          </a:prstGeom>
          <a:noFill/>
        </p:spPr>
        <p:txBody>
          <a:bodyPr vert="horz" wrap="square" lIns="0" tIns="0" rIns="0" bIns="0" rtlCol="0">
            <a:noAutofit/>
          </a:bodyPr>
          <a:lstStyle/>
          <a:p>
            <a:pPr algn="ctr"/>
            <a:r>
              <a:rPr lang="en-US" sz="1050" b="1">
                <a:solidFill>
                  <a:srgbClr val="060A12"/>
                </a:solidFill>
                <a:latin typeface="Aptos" panose="020B0004020202020204" pitchFamily="34" charset="0"/>
              </a:rPr>
              <a:t>ACT</a:t>
            </a:r>
          </a:p>
        </p:txBody>
      </p:sp>
      <p:sp>
        <p:nvSpPr>
          <p:cNvPr id="16" name="TextBox 15">
            <a:extLst>
              <a:ext uri="{FF2B5EF4-FFF2-40B4-BE49-F238E27FC236}">
                <a16:creationId xmlns:a16="http://schemas.microsoft.com/office/drawing/2014/main" id="{CCE3E8BD-C78E-94FC-5CE3-4830D7BA8FF0}"/>
              </a:ext>
            </a:extLst>
          </p:cNvPr>
          <p:cNvSpPr txBox="1"/>
          <p:nvPr/>
        </p:nvSpPr>
        <p:spPr>
          <a:xfrm>
            <a:off x="7747000" y="3352800"/>
            <a:ext cx="2984500" cy="276999"/>
          </a:xfrm>
          <a:prstGeom prst="rect">
            <a:avLst/>
          </a:prstGeom>
          <a:noFill/>
        </p:spPr>
        <p:txBody>
          <a:bodyPr vert="horz" wrap="square" lIns="0" tIns="0" rIns="0" bIns="0" rtlCol="0" anchor="t">
            <a:noAutofit/>
          </a:bodyPr>
          <a:lstStyle/>
          <a:p>
            <a:pPr algn="ctr"/>
            <a:r>
              <a:rPr lang="en-US" sz="1400">
                <a:solidFill>
                  <a:srgbClr val="F2F5F9"/>
                </a:solidFill>
                <a:latin typeface="Aptos" panose="020B0004020202020204" pitchFamily="34" charset="0"/>
              </a:rPr>
              <a:t>execute + end</a:t>
            </a:r>
          </a:p>
        </p:txBody>
      </p:sp>
      <p:cxnSp>
        <p:nvCxnSpPr>
          <p:cNvPr id="17" name="Straight Connector 16">
            <a:extLst>
              <a:ext uri="{FF2B5EF4-FFF2-40B4-BE49-F238E27FC236}">
                <a16:creationId xmlns:a16="http://schemas.microsoft.com/office/drawing/2014/main" id="{2970CB00-5E91-BFB6-079B-368A60A4F550}"/>
              </a:ext>
            </a:extLst>
          </p:cNvPr>
          <p:cNvCxnSpPr/>
          <p:nvPr/>
        </p:nvCxnSpPr>
        <p:spPr>
          <a:xfrm>
            <a:off x="9220200" y="3708400"/>
            <a:ext cx="0" cy="279400"/>
          </a:xfrm>
          <a:prstGeom prst="line">
            <a:avLst/>
          </a:prstGeom>
          <a:ln w="25400">
            <a:solidFill>
              <a:srgbClr val="A9B4C5"/>
            </a:solidFill>
            <a:tailEnd type="arrow"/>
          </a:ln>
        </p:spPr>
        <p:style>
          <a:lnRef idx="1">
            <a:schemeClr val="accent1"/>
          </a:lnRef>
          <a:fillRef idx="0">
            <a:schemeClr val="accent1"/>
          </a:fillRef>
          <a:effectRef idx="0">
            <a:schemeClr val="accent1"/>
          </a:effectRef>
          <a:fontRef idx="minor">
            <a:schemeClr val="tx1"/>
          </a:fontRef>
        </p:style>
      </p:cxnSp>
      <p:sp>
        <p:nvSpPr>
          <p:cNvPr id="18" name="Rectangle: Rounded Corners 17">
            <a:extLst>
              <a:ext uri="{FF2B5EF4-FFF2-40B4-BE49-F238E27FC236}">
                <a16:creationId xmlns:a16="http://schemas.microsoft.com/office/drawing/2014/main" id="{9B0852DA-8901-60D2-BBDF-6CA1902D4B2C}"/>
              </a:ext>
            </a:extLst>
          </p:cNvPr>
          <p:cNvSpPr/>
          <p:nvPr/>
        </p:nvSpPr>
        <p:spPr>
          <a:xfrm>
            <a:off x="8204200" y="4025900"/>
            <a:ext cx="2032000" cy="330200"/>
          </a:xfrm>
          <a:prstGeom prst="roundRect">
            <a:avLst/>
          </a:prstGeom>
          <a:solidFill>
            <a:srgbClr val="3ECF8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2F9B180D-6BF7-D8C2-6897-F2E9AA9D1CEC}"/>
              </a:ext>
            </a:extLst>
          </p:cNvPr>
          <p:cNvSpPr txBox="1"/>
          <p:nvPr/>
        </p:nvSpPr>
        <p:spPr>
          <a:xfrm>
            <a:off x="8280400" y="4064000"/>
            <a:ext cx="1879600" cy="276999"/>
          </a:xfrm>
          <a:prstGeom prst="rect">
            <a:avLst/>
          </a:prstGeom>
          <a:noFill/>
        </p:spPr>
        <p:txBody>
          <a:bodyPr vert="horz" wrap="square" lIns="0" tIns="0" rIns="0" bIns="0" rtlCol="0">
            <a:noAutofit/>
          </a:bodyPr>
          <a:lstStyle/>
          <a:p>
            <a:pPr algn="ctr"/>
            <a:r>
              <a:rPr lang="en-US" sz="1050" b="1">
                <a:solidFill>
                  <a:srgbClr val="060A12"/>
                </a:solidFill>
                <a:latin typeface="Aptos" panose="020B0004020202020204" pitchFamily="34" charset="0"/>
              </a:rPr>
              <a:t>ASSERT</a:t>
            </a:r>
          </a:p>
        </p:txBody>
      </p:sp>
      <p:sp>
        <p:nvSpPr>
          <p:cNvPr id="20" name="TextBox 19">
            <a:extLst>
              <a:ext uri="{FF2B5EF4-FFF2-40B4-BE49-F238E27FC236}">
                <a16:creationId xmlns:a16="http://schemas.microsoft.com/office/drawing/2014/main" id="{6DEB50FC-1719-7D52-55C3-F3ABF0924F2D}"/>
              </a:ext>
            </a:extLst>
          </p:cNvPr>
          <p:cNvSpPr txBox="1"/>
          <p:nvPr/>
        </p:nvSpPr>
        <p:spPr>
          <a:xfrm>
            <a:off x="7747000" y="4457700"/>
            <a:ext cx="2984500" cy="276999"/>
          </a:xfrm>
          <a:prstGeom prst="rect">
            <a:avLst/>
          </a:prstGeom>
          <a:noFill/>
        </p:spPr>
        <p:txBody>
          <a:bodyPr vert="horz" wrap="square" lIns="0" tIns="0" rIns="0" bIns="0" rtlCol="0" anchor="t">
            <a:noAutofit/>
          </a:bodyPr>
          <a:lstStyle/>
          <a:p>
            <a:pPr algn="ctr"/>
            <a:r>
              <a:rPr lang="en-US" sz="1400">
                <a:solidFill>
                  <a:srgbClr val="F2F5F9"/>
                </a:solidFill>
                <a:latin typeface="Aptos" panose="020B0004020202020204" pitchFamily="34" charset="0"/>
              </a:rPr>
              <a:t>run + safe stop requested</a:t>
            </a:r>
          </a:p>
        </p:txBody>
      </p:sp>
      <p:sp>
        <p:nvSpPr>
          <p:cNvPr id="21" name="Rectangle: Rounded Corners 20">
            <a:extLst>
              <a:ext uri="{FF2B5EF4-FFF2-40B4-BE49-F238E27FC236}">
                <a16:creationId xmlns:a16="http://schemas.microsoft.com/office/drawing/2014/main" id="{D10D60B5-6B45-306F-56AD-A35D7A974A81}"/>
              </a:ext>
            </a:extLst>
          </p:cNvPr>
          <p:cNvSpPr/>
          <p:nvPr/>
        </p:nvSpPr>
        <p:spPr>
          <a:xfrm>
            <a:off x="533400" y="6261100"/>
            <a:ext cx="11125200" cy="533400"/>
          </a:xfrm>
          <a:prstGeom prst="roundRect">
            <a:avLst/>
          </a:prstGeom>
          <a:solidFill>
            <a:srgbClr val="18223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Rounded Corners 21">
            <a:extLst>
              <a:ext uri="{FF2B5EF4-FFF2-40B4-BE49-F238E27FC236}">
                <a16:creationId xmlns:a16="http://schemas.microsoft.com/office/drawing/2014/main" id="{21759B64-B7FF-EEC8-B626-D254917095E5}"/>
              </a:ext>
            </a:extLst>
          </p:cNvPr>
          <p:cNvSpPr/>
          <p:nvPr/>
        </p:nvSpPr>
        <p:spPr>
          <a:xfrm>
            <a:off x="660400" y="6362700"/>
            <a:ext cx="1473200" cy="330200"/>
          </a:xfrm>
          <a:prstGeom prst="roundRect">
            <a:avLst/>
          </a:prstGeom>
          <a:solidFill>
            <a:srgbClr val="FFC1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0514EB4F-3BEB-825F-7093-22177140E91F}"/>
              </a:ext>
            </a:extLst>
          </p:cNvPr>
          <p:cNvSpPr txBox="1"/>
          <p:nvPr/>
        </p:nvSpPr>
        <p:spPr>
          <a:xfrm>
            <a:off x="736600" y="6400800"/>
            <a:ext cx="1320800" cy="276999"/>
          </a:xfrm>
          <a:prstGeom prst="rect">
            <a:avLst/>
          </a:prstGeom>
          <a:noFill/>
        </p:spPr>
        <p:txBody>
          <a:bodyPr vert="horz" wrap="square" lIns="0" tIns="0" rIns="0" bIns="0" rtlCol="0">
            <a:noAutofit/>
          </a:bodyPr>
          <a:lstStyle/>
          <a:p>
            <a:pPr algn="ctr"/>
            <a:r>
              <a:rPr lang="en-US" sz="1050" b="1">
                <a:solidFill>
                  <a:srgbClr val="060A12"/>
                </a:solidFill>
                <a:latin typeface="Aptos" panose="020B0004020202020204" pitchFamily="34" charset="0"/>
              </a:rPr>
              <a:t>EXTEND IT</a:t>
            </a:r>
          </a:p>
        </p:txBody>
      </p:sp>
      <p:sp>
        <p:nvSpPr>
          <p:cNvPr id="24" name="TextBox 23">
            <a:extLst>
              <a:ext uri="{FF2B5EF4-FFF2-40B4-BE49-F238E27FC236}">
                <a16:creationId xmlns:a16="http://schemas.microsoft.com/office/drawing/2014/main" id="{7E846358-190D-A5D2-BC75-E938FB37492E}"/>
              </a:ext>
            </a:extLst>
          </p:cNvPr>
          <p:cNvSpPr txBox="1"/>
          <p:nvPr/>
        </p:nvSpPr>
        <p:spPr>
          <a:xfrm>
            <a:off x="2286000" y="6362700"/>
            <a:ext cx="9207500" cy="276999"/>
          </a:xfrm>
          <a:prstGeom prst="rect">
            <a:avLst/>
          </a:prstGeom>
          <a:noFill/>
        </p:spPr>
        <p:txBody>
          <a:bodyPr vert="horz" wrap="square" lIns="0" tIns="0" rIns="0" bIns="0" rtlCol="0" anchor="t">
            <a:noAutofit/>
          </a:bodyPr>
          <a:lstStyle/>
          <a:p>
            <a:r>
              <a:rPr lang="en-US" sz="1300">
                <a:solidFill>
                  <a:srgbClr val="F2F5F9"/>
                </a:solidFill>
                <a:latin typeface="Aptos" panose="020B0004020202020204" pitchFamily="34" charset="0"/>
              </a:rPr>
              <a:t>A combined-score test should verify both mechanisms start and stop.</a:t>
            </a:r>
          </a:p>
        </p:txBody>
      </p:sp>
      <p:sp>
        <p:nvSpPr>
          <p:cNvPr id="25" name="TextBox 24">
            <a:extLst>
              <a:ext uri="{FF2B5EF4-FFF2-40B4-BE49-F238E27FC236}">
                <a16:creationId xmlns:a16="http://schemas.microsoft.com/office/drawing/2014/main" id="{7529E892-AE2A-2FF7-9341-AC4CEE52F04C}"/>
              </a:ext>
            </a:extLst>
          </p:cNvPr>
          <p:cNvSpPr txBox="1"/>
          <p:nvPr/>
        </p:nvSpPr>
        <p:spPr>
          <a:xfrm>
            <a:off x="533400" y="6908800"/>
            <a:ext cx="8890000" cy="276999"/>
          </a:xfrm>
          <a:prstGeom prst="rect">
            <a:avLst/>
          </a:prstGeom>
          <a:noFill/>
        </p:spPr>
        <p:txBody>
          <a:bodyPr vert="horz" wrap="square" lIns="0" tIns="0" rIns="0" bIns="0" rtlCol="0" anchor="t">
            <a:noAutofit/>
          </a:bodyPr>
          <a:lstStyle/>
          <a:p>
            <a:r>
              <a:rPr lang="en-US" sz="850">
                <a:solidFill>
                  <a:srgbClr val="A9B4C5"/>
                </a:solidFill>
                <a:latin typeface="Aptos" panose="020B0004020202020204" pitchFamily="34" charset="0"/>
              </a:rPr>
              <a:t>Source: TeleopCommandsTest.java</a:t>
            </a:r>
          </a:p>
        </p:txBody>
      </p:sp>
      <p:sp>
        <p:nvSpPr>
          <p:cNvPr id="26" name="TextBox 25">
            <a:extLst>
              <a:ext uri="{FF2B5EF4-FFF2-40B4-BE49-F238E27FC236}">
                <a16:creationId xmlns:a16="http://schemas.microsoft.com/office/drawing/2014/main" id="{D6C9BEB0-CC2E-F36B-F87C-BECD0EDC3700}"/>
              </a:ext>
            </a:extLst>
          </p:cNvPr>
          <p:cNvSpPr txBox="1"/>
          <p:nvPr/>
        </p:nvSpPr>
        <p:spPr>
          <a:xfrm>
            <a:off x="9017000" y="6908800"/>
            <a:ext cx="2641600" cy="276999"/>
          </a:xfrm>
          <a:prstGeom prst="rect">
            <a:avLst/>
          </a:prstGeom>
          <a:noFill/>
        </p:spPr>
        <p:txBody>
          <a:bodyPr vert="horz" wrap="square" lIns="0" tIns="0" rIns="0" bIns="0" rtlCol="0" anchor="t">
            <a:noAutofit/>
          </a:bodyPr>
          <a:lstStyle/>
          <a:p>
            <a:pPr algn="r"/>
            <a:r>
              <a:rPr lang="en-US" sz="850">
                <a:solidFill>
                  <a:srgbClr val="A9B4C5"/>
                </a:solidFill>
                <a:latin typeface="Aptos" panose="020B0004020202020204" pitchFamily="34" charset="0"/>
              </a:rPr>
              <a:t>CURRENT ROBOT IMPLEMENTATION • V2</a:t>
            </a:r>
          </a:p>
        </p:txBody>
      </p:sp>
    </p:spTree>
    <p:extLst>
      <p:ext uri="{BB962C8B-B14F-4D97-AF65-F5344CB8AC3E}">
        <p14:creationId xmlns:p14="http://schemas.microsoft.com/office/powerpoint/2010/main" val="299503256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D1421"/>
        </a:solidFill>
        <a:effectLst/>
      </p:bgPr>
    </p:bg>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DF98F903-4E9F-2020-4416-0D7E23876686}"/>
              </a:ext>
            </a:extLst>
          </p:cNvPr>
          <p:cNvSpPr/>
          <p:nvPr/>
        </p:nvSpPr>
        <p:spPr>
          <a:xfrm>
            <a:off x="533400" y="292100"/>
            <a:ext cx="1473200" cy="330200"/>
          </a:xfrm>
          <a:prstGeom prst="roundRect">
            <a:avLst/>
          </a:prstGeom>
          <a:solidFill>
            <a:srgbClr val="379D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71E2C5E9-45B4-2B3F-838E-A6F1B2E3A4E2}"/>
              </a:ext>
            </a:extLst>
          </p:cNvPr>
          <p:cNvSpPr txBox="1"/>
          <p:nvPr/>
        </p:nvSpPr>
        <p:spPr>
          <a:xfrm>
            <a:off x="609600" y="330200"/>
            <a:ext cx="1320800" cy="276999"/>
          </a:xfrm>
          <a:prstGeom prst="rect">
            <a:avLst/>
          </a:prstGeom>
          <a:noFill/>
        </p:spPr>
        <p:txBody>
          <a:bodyPr vert="horz" wrap="square" lIns="0" tIns="0" rIns="0" bIns="0" rtlCol="0">
            <a:noAutofit/>
          </a:bodyPr>
          <a:lstStyle/>
          <a:p>
            <a:pPr algn="ctr"/>
            <a:r>
              <a:rPr lang="en-US" sz="1050" b="1">
                <a:solidFill>
                  <a:srgbClr val="060A12"/>
                </a:solidFill>
                <a:latin typeface="Aptos" panose="020B0004020202020204" pitchFamily="34" charset="0"/>
              </a:rPr>
              <a:t>SHARED CORE</a:t>
            </a:r>
          </a:p>
        </p:txBody>
      </p:sp>
      <p:sp>
        <p:nvSpPr>
          <p:cNvPr id="4" name="TextBox 3">
            <a:extLst>
              <a:ext uri="{FF2B5EF4-FFF2-40B4-BE49-F238E27FC236}">
                <a16:creationId xmlns:a16="http://schemas.microsoft.com/office/drawing/2014/main" id="{952EAC1E-8B0A-C809-05F0-45D2B7E5DD71}"/>
              </a:ext>
            </a:extLst>
          </p:cNvPr>
          <p:cNvSpPr txBox="1"/>
          <p:nvPr/>
        </p:nvSpPr>
        <p:spPr>
          <a:xfrm>
            <a:off x="533400" y="762000"/>
            <a:ext cx="10414000" cy="276999"/>
          </a:xfrm>
          <a:prstGeom prst="rect">
            <a:avLst/>
          </a:prstGeom>
          <a:noFill/>
        </p:spPr>
        <p:txBody>
          <a:bodyPr vert="horz" wrap="square" lIns="0" tIns="0" rIns="0" bIns="0" rtlCol="0" anchor="t">
            <a:noAutofit/>
          </a:bodyPr>
          <a:lstStyle/>
          <a:p>
            <a:r>
              <a:rPr lang="en-US" sz="2800" b="1">
                <a:solidFill>
                  <a:srgbClr val="F2F5F9"/>
                </a:solidFill>
                <a:latin typeface="Aptos Display" panose="020B0004020202020204" pitchFamily="34" charset="0"/>
              </a:rPr>
              <a:t>Build a similar robot in this order</a:t>
            </a:r>
          </a:p>
        </p:txBody>
      </p:sp>
      <p:sp>
        <p:nvSpPr>
          <p:cNvPr id="5" name="TextBox 4">
            <a:extLst>
              <a:ext uri="{FF2B5EF4-FFF2-40B4-BE49-F238E27FC236}">
                <a16:creationId xmlns:a16="http://schemas.microsoft.com/office/drawing/2014/main" id="{E2CD2394-01F1-1938-8775-42F7FE7AC3C8}"/>
              </a:ext>
            </a:extLst>
          </p:cNvPr>
          <p:cNvSpPr txBox="1"/>
          <p:nvPr/>
        </p:nvSpPr>
        <p:spPr>
          <a:xfrm>
            <a:off x="11226800" y="355600"/>
            <a:ext cx="381000" cy="276999"/>
          </a:xfrm>
          <a:prstGeom prst="rect">
            <a:avLst/>
          </a:prstGeom>
          <a:noFill/>
        </p:spPr>
        <p:txBody>
          <a:bodyPr vert="horz" wrap="square" lIns="0" tIns="0" rIns="0" bIns="0" rtlCol="0" anchor="t">
            <a:noAutofit/>
          </a:bodyPr>
          <a:lstStyle/>
          <a:p>
            <a:pPr algn="r"/>
            <a:r>
              <a:rPr lang="en-US" sz="1000" b="1">
                <a:solidFill>
                  <a:srgbClr val="A9B4C5"/>
                </a:solidFill>
                <a:latin typeface="Aptos" panose="020B0004020202020204" pitchFamily="34" charset="0"/>
              </a:rPr>
              <a:t>27</a:t>
            </a:r>
          </a:p>
        </p:txBody>
      </p:sp>
      <p:cxnSp>
        <p:nvCxnSpPr>
          <p:cNvPr id="6" name="Straight Connector 5">
            <a:extLst>
              <a:ext uri="{FF2B5EF4-FFF2-40B4-BE49-F238E27FC236}">
                <a16:creationId xmlns:a16="http://schemas.microsoft.com/office/drawing/2014/main" id="{DAE6D193-ACC8-FE42-BE42-A6174C885E29}"/>
              </a:ext>
            </a:extLst>
          </p:cNvPr>
          <p:cNvCxnSpPr/>
          <p:nvPr/>
        </p:nvCxnSpPr>
        <p:spPr>
          <a:xfrm>
            <a:off x="533400" y="1371600"/>
            <a:ext cx="11125200" cy="0"/>
          </a:xfrm>
          <a:prstGeom prst="line">
            <a:avLst/>
          </a:prstGeom>
          <a:ln w="12700">
            <a:solidFill>
              <a:srgbClr val="1F2C41"/>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4AB1B32B-613A-85E8-9B09-A327AF54FA3E}"/>
              </a:ext>
            </a:extLst>
          </p:cNvPr>
          <p:cNvSpPr txBox="1"/>
          <p:nvPr/>
        </p:nvSpPr>
        <p:spPr>
          <a:xfrm>
            <a:off x="698500" y="1676400"/>
            <a:ext cx="5016500" cy="276999"/>
          </a:xfrm>
          <a:prstGeom prst="rect">
            <a:avLst/>
          </a:prstGeom>
          <a:noFill/>
        </p:spPr>
        <p:txBody>
          <a:bodyPr vert="horz" wrap="square" lIns="0" tIns="0" rIns="0" bIns="0" rtlCol="0" anchor="t">
            <a:noAutofit/>
          </a:bodyPr>
          <a:lstStyle/>
          <a:p>
            <a:r>
              <a:rPr lang="en-US" sz="1700" b="1">
                <a:solidFill>
                  <a:srgbClr val="F2F5F9"/>
                </a:solidFill>
                <a:latin typeface="Aptos" panose="020B0004020202020204" pitchFamily="34" charset="0"/>
              </a:rPr>
              <a:t>1  List mechanisms + operator actions</a:t>
            </a:r>
          </a:p>
        </p:txBody>
      </p:sp>
      <p:sp>
        <p:nvSpPr>
          <p:cNvPr id="8" name="TextBox 7">
            <a:extLst>
              <a:ext uri="{FF2B5EF4-FFF2-40B4-BE49-F238E27FC236}">
                <a16:creationId xmlns:a16="http://schemas.microsoft.com/office/drawing/2014/main" id="{10DF1A95-764B-2F28-8918-AE17C4AA2C88}"/>
              </a:ext>
            </a:extLst>
          </p:cNvPr>
          <p:cNvSpPr txBox="1"/>
          <p:nvPr/>
        </p:nvSpPr>
        <p:spPr>
          <a:xfrm>
            <a:off x="698500" y="2438400"/>
            <a:ext cx="5016500" cy="276999"/>
          </a:xfrm>
          <a:prstGeom prst="rect">
            <a:avLst/>
          </a:prstGeom>
          <a:noFill/>
        </p:spPr>
        <p:txBody>
          <a:bodyPr vert="horz" wrap="square" lIns="0" tIns="0" rIns="0" bIns="0" rtlCol="0" anchor="t">
            <a:noAutofit/>
          </a:bodyPr>
          <a:lstStyle/>
          <a:p>
            <a:r>
              <a:rPr lang="en-US" sz="1700" b="1">
                <a:solidFill>
                  <a:srgbClr val="F2F5F9"/>
                </a:solidFill>
                <a:latin typeface="Aptos" panose="020B0004020202020204" pitchFamily="34" charset="0"/>
              </a:rPr>
              <a:t>2  Make one subsystem per independent mechanism</a:t>
            </a:r>
          </a:p>
        </p:txBody>
      </p:sp>
      <p:sp>
        <p:nvSpPr>
          <p:cNvPr id="9" name="TextBox 8">
            <a:extLst>
              <a:ext uri="{FF2B5EF4-FFF2-40B4-BE49-F238E27FC236}">
                <a16:creationId xmlns:a16="http://schemas.microsoft.com/office/drawing/2014/main" id="{0DBA75D7-2298-48BE-4586-18F1AF1D7DE2}"/>
              </a:ext>
            </a:extLst>
          </p:cNvPr>
          <p:cNvSpPr txBox="1"/>
          <p:nvPr/>
        </p:nvSpPr>
        <p:spPr>
          <a:xfrm>
            <a:off x="698500" y="3200400"/>
            <a:ext cx="5016500" cy="276999"/>
          </a:xfrm>
          <a:prstGeom prst="rect">
            <a:avLst/>
          </a:prstGeom>
          <a:noFill/>
        </p:spPr>
        <p:txBody>
          <a:bodyPr vert="horz" wrap="square" lIns="0" tIns="0" rIns="0" bIns="0" rtlCol="0" anchor="t">
            <a:noAutofit/>
          </a:bodyPr>
          <a:lstStyle/>
          <a:p>
            <a:r>
              <a:rPr lang="en-US" sz="1700" b="1">
                <a:solidFill>
                  <a:srgbClr val="F2F5F9"/>
                </a:solidFill>
                <a:latin typeface="Aptos" panose="020B0004020202020204" pitchFamily="34" charset="0"/>
              </a:rPr>
              <a:t>3  Put direct hardware calls in the subsystem</a:t>
            </a:r>
          </a:p>
        </p:txBody>
      </p:sp>
      <p:sp>
        <p:nvSpPr>
          <p:cNvPr id="10" name="TextBox 9">
            <a:extLst>
              <a:ext uri="{FF2B5EF4-FFF2-40B4-BE49-F238E27FC236}">
                <a16:creationId xmlns:a16="http://schemas.microsoft.com/office/drawing/2014/main" id="{A787646A-07A0-F0B3-92DE-D9C5CD26716F}"/>
              </a:ext>
            </a:extLst>
          </p:cNvPr>
          <p:cNvSpPr txBox="1"/>
          <p:nvPr/>
        </p:nvSpPr>
        <p:spPr>
          <a:xfrm>
            <a:off x="698500" y="3962400"/>
            <a:ext cx="5016500" cy="276999"/>
          </a:xfrm>
          <a:prstGeom prst="rect">
            <a:avLst/>
          </a:prstGeom>
          <a:noFill/>
        </p:spPr>
        <p:txBody>
          <a:bodyPr vert="horz" wrap="square" lIns="0" tIns="0" rIns="0" bIns="0" rtlCol="0" anchor="t">
            <a:noAutofit/>
          </a:bodyPr>
          <a:lstStyle/>
          <a:p>
            <a:r>
              <a:rPr lang="en-US" sz="1700" b="1">
                <a:solidFill>
                  <a:srgbClr val="F2F5F9"/>
                </a:solidFill>
                <a:latin typeface="Aptos" panose="020B0004020202020204" pitchFamily="34" charset="0"/>
              </a:rPr>
              <a:t>4  Add small actions: run, stop, drive</a:t>
            </a:r>
          </a:p>
        </p:txBody>
      </p:sp>
      <p:sp>
        <p:nvSpPr>
          <p:cNvPr id="11" name="TextBox 10">
            <a:extLst>
              <a:ext uri="{FF2B5EF4-FFF2-40B4-BE49-F238E27FC236}">
                <a16:creationId xmlns:a16="http://schemas.microsoft.com/office/drawing/2014/main" id="{D7429B68-7D83-FB1E-7E7A-926E8DE22AAE}"/>
              </a:ext>
            </a:extLst>
          </p:cNvPr>
          <p:cNvSpPr txBox="1"/>
          <p:nvPr/>
        </p:nvSpPr>
        <p:spPr>
          <a:xfrm>
            <a:off x="698500" y="4724400"/>
            <a:ext cx="5016500" cy="276999"/>
          </a:xfrm>
          <a:prstGeom prst="rect">
            <a:avLst/>
          </a:prstGeom>
          <a:noFill/>
        </p:spPr>
        <p:txBody>
          <a:bodyPr vert="horz" wrap="square" lIns="0" tIns="0" rIns="0" bIns="0" rtlCol="0" anchor="t">
            <a:noAutofit/>
          </a:bodyPr>
          <a:lstStyle/>
          <a:p>
            <a:r>
              <a:rPr lang="en-US" sz="1700" b="1">
                <a:solidFill>
                  <a:srgbClr val="F2F5F9"/>
                </a:solidFill>
                <a:latin typeface="Aptos" panose="020B0004020202020204" pitchFamily="34" charset="0"/>
              </a:rPr>
              <a:t>5  Create commands + requirements</a:t>
            </a:r>
          </a:p>
        </p:txBody>
      </p:sp>
      <p:sp>
        <p:nvSpPr>
          <p:cNvPr id="12" name="TextBox 11">
            <a:extLst>
              <a:ext uri="{FF2B5EF4-FFF2-40B4-BE49-F238E27FC236}">
                <a16:creationId xmlns:a16="http://schemas.microsoft.com/office/drawing/2014/main" id="{B49BD2B3-18E8-9A01-6593-1DD30938C418}"/>
              </a:ext>
            </a:extLst>
          </p:cNvPr>
          <p:cNvSpPr txBox="1"/>
          <p:nvPr/>
        </p:nvSpPr>
        <p:spPr>
          <a:xfrm>
            <a:off x="6413500" y="1676400"/>
            <a:ext cx="5080000" cy="276999"/>
          </a:xfrm>
          <a:prstGeom prst="rect">
            <a:avLst/>
          </a:prstGeom>
          <a:noFill/>
        </p:spPr>
        <p:txBody>
          <a:bodyPr vert="horz" wrap="square" lIns="0" tIns="0" rIns="0" bIns="0" rtlCol="0" anchor="t">
            <a:noAutofit/>
          </a:bodyPr>
          <a:lstStyle/>
          <a:p>
            <a:r>
              <a:rPr lang="en-US" sz="1700" b="1">
                <a:solidFill>
                  <a:srgbClr val="F2F5F9"/>
                </a:solidFill>
                <a:latin typeface="Aptos" panose="020B0004020202020204" pitchFamily="34" charset="0"/>
              </a:rPr>
              <a:t>6  Bind controls in RobotContainer</a:t>
            </a:r>
          </a:p>
        </p:txBody>
      </p:sp>
      <p:sp>
        <p:nvSpPr>
          <p:cNvPr id="13" name="TextBox 12">
            <a:extLst>
              <a:ext uri="{FF2B5EF4-FFF2-40B4-BE49-F238E27FC236}">
                <a16:creationId xmlns:a16="http://schemas.microsoft.com/office/drawing/2014/main" id="{EDBCBFFB-9607-8B98-076D-D17467809194}"/>
              </a:ext>
            </a:extLst>
          </p:cNvPr>
          <p:cNvSpPr txBox="1"/>
          <p:nvPr/>
        </p:nvSpPr>
        <p:spPr>
          <a:xfrm>
            <a:off x="6413500" y="2438400"/>
            <a:ext cx="5080000" cy="276999"/>
          </a:xfrm>
          <a:prstGeom prst="rect">
            <a:avLst/>
          </a:prstGeom>
          <a:noFill/>
        </p:spPr>
        <p:txBody>
          <a:bodyPr vert="horz" wrap="square" lIns="0" tIns="0" rIns="0" bIns="0" rtlCol="0" anchor="t">
            <a:noAutofit/>
          </a:bodyPr>
          <a:lstStyle/>
          <a:p>
            <a:r>
              <a:rPr lang="en-US" sz="1700" b="1">
                <a:solidFill>
                  <a:srgbClr val="F2F5F9"/>
                </a:solidFill>
                <a:latin typeface="Aptos" panose="020B0004020202020204" pitchFamily="34" charset="0"/>
              </a:rPr>
              <a:t>7  Run the scheduler in robotPeriodic</a:t>
            </a:r>
          </a:p>
        </p:txBody>
      </p:sp>
      <p:sp>
        <p:nvSpPr>
          <p:cNvPr id="14" name="TextBox 13">
            <a:extLst>
              <a:ext uri="{FF2B5EF4-FFF2-40B4-BE49-F238E27FC236}">
                <a16:creationId xmlns:a16="http://schemas.microsoft.com/office/drawing/2014/main" id="{DF882D69-1313-9125-5200-D109B2DF8BCA}"/>
              </a:ext>
            </a:extLst>
          </p:cNvPr>
          <p:cNvSpPr txBox="1"/>
          <p:nvPr/>
        </p:nvSpPr>
        <p:spPr>
          <a:xfrm>
            <a:off x="6413500" y="3200400"/>
            <a:ext cx="5080000" cy="276999"/>
          </a:xfrm>
          <a:prstGeom prst="rect">
            <a:avLst/>
          </a:prstGeom>
          <a:noFill/>
        </p:spPr>
        <p:txBody>
          <a:bodyPr vert="horz" wrap="square" lIns="0" tIns="0" rIns="0" bIns="0" rtlCol="0" anchor="t">
            <a:noAutofit/>
          </a:bodyPr>
          <a:lstStyle/>
          <a:p>
            <a:r>
              <a:rPr lang="en-US" sz="1700" b="1">
                <a:solidFill>
                  <a:srgbClr val="F2F5F9"/>
                </a:solidFill>
                <a:latin typeface="Aptos" panose="020B0004020202020204" pitchFamily="34" charset="0"/>
              </a:rPr>
              <a:t>8  Name ports + tuning values in Constants</a:t>
            </a:r>
          </a:p>
        </p:txBody>
      </p:sp>
      <p:sp>
        <p:nvSpPr>
          <p:cNvPr id="15" name="TextBox 14">
            <a:extLst>
              <a:ext uri="{FF2B5EF4-FFF2-40B4-BE49-F238E27FC236}">
                <a16:creationId xmlns:a16="http://schemas.microsoft.com/office/drawing/2014/main" id="{15356D9B-9C91-8163-FE21-503B7BE4F174}"/>
              </a:ext>
            </a:extLst>
          </p:cNvPr>
          <p:cNvSpPr txBox="1"/>
          <p:nvPr/>
        </p:nvSpPr>
        <p:spPr>
          <a:xfrm>
            <a:off x="6413500" y="3962400"/>
            <a:ext cx="5080000" cy="276999"/>
          </a:xfrm>
          <a:prstGeom prst="rect">
            <a:avLst/>
          </a:prstGeom>
          <a:noFill/>
        </p:spPr>
        <p:txBody>
          <a:bodyPr vert="horz" wrap="square" lIns="0" tIns="0" rIns="0" bIns="0" rtlCol="0" anchor="t">
            <a:noAutofit/>
          </a:bodyPr>
          <a:lstStyle/>
          <a:p>
            <a:r>
              <a:rPr lang="en-US" sz="1700" b="1">
                <a:solidFill>
                  <a:srgbClr val="F2F5F9"/>
                </a:solidFill>
                <a:latin typeface="Aptos" panose="020B0004020202020204" pitchFamily="34" charset="0"/>
              </a:rPr>
              <a:t>9  Test command requests</a:t>
            </a:r>
          </a:p>
        </p:txBody>
      </p:sp>
      <p:sp>
        <p:nvSpPr>
          <p:cNvPr id="16" name="TextBox 15">
            <a:extLst>
              <a:ext uri="{FF2B5EF4-FFF2-40B4-BE49-F238E27FC236}">
                <a16:creationId xmlns:a16="http://schemas.microsoft.com/office/drawing/2014/main" id="{E512DBBC-3A7C-1F09-BCA0-0D6691EFE687}"/>
              </a:ext>
            </a:extLst>
          </p:cNvPr>
          <p:cNvSpPr txBox="1"/>
          <p:nvPr/>
        </p:nvSpPr>
        <p:spPr>
          <a:xfrm>
            <a:off x="6413500" y="4724400"/>
            <a:ext cx="5080000" cy="276999"/>
          </a:xfrm>
          <a:prstGeom prst="rect">
            <a:avLst/>
          </a:prstGeom>
          <a:noFill/>
        </p:spPr>
        <p:txBody>
          <a:bodyPr vert="horz" wrap="square" lIns="0" tIns="0" rIns="0" bIns="0" rtlCol="0" anchor="t">
            <a:noAutofit/>
          </a:bodyPr>
          <a:lstStyle/>
          <a:p>
            <a:r>
              <a:rPr lang="en-US" sz="1700" b="1">
                <a:solidFill>
                  <a:srgbClr val="F2F5F9"/>
                </a:solidFill>
                <a:latin typeface="Aptos" panose="020B0004020202020204" pitchFamily="34" charset="0"/>
              </a:rPr>
              <a:t>10 Verify direction, stops, and real starting state</a:t>
            </a:r>
          </a:p>
        </p:txBody>
      </p:sp>
      <p:cxnSp>
        <p:nvCxnSpPr>
          <p:cNvPr id="17" name="Straight Connector 16">
            <a:extLst>
              <a:ext uri="{FF2B5EF4-FFF2-40B4-BE49-F238E27FC236}">
                <a16:creationId xmlns:a16="http://schemas.microsoft.com/office/drawing/2014/main" id="{796828E0-B596-069E-63D1-005DD7909E17}"/>
              </a:ext>
            </a:extLst>
          </p:cNvPr>
          <p:cNvCxnSpPr/>
          <p:nvPr/>
        </p:nvCxnSpPr>
        <p:spPr>
          <a:xfrm>
            <a:off x="6070600" y="1676400"/>
            <a:ext cx="0" cy="3733800"/>
          </a:xfrm>
          <a:prstGeom prst="line">
            <a:avLst/>
          </a:prstGeom>
          <a:ln w="25400">
            <a:solidFill>
              <a:srgbClr val="1F2C41"/>
            </a:solidFill>
          </a:ln>
        </p:spPr>
        <p:style>
          <a:lnRef idx="1">
            <a:schemeClr val="accent1"/>
          </a:lnRef>
          <a:fillRef idx="0">
            <a:schemeClr val="accent1"/>
          </a:fillRef>
          <a:effectRef idx="0">
            <a:schemeClr val="accent1"/>
          </a:effectRef>
          <a:fontRef idx="minor">
            <a:schemeClr val="tx1"/>
          </a:fontRef>
        </p:style>
      </p:cxnSp>
      <p:sp>
        <p:nvSpPr>
          <p:cNvPr id="18" name="Rectangle: Rounded Corners 17">
            <a:extLst>
              <a:ext uri="{FF2B5EF4-FFF2-40B4-BE49-F238E27FC236}">
                <a16:creationId xmlns:a16="http://schemas.microsoft.com/office/drawing/2014/main" id="{72180DE1-D67B-5D1D-A6DD-15688906A337}"/>
              </a:ext>
            </a:extLst>
          </p:cNvPr>
          <p:cNvSpPr/>
          <p:nvPr/>
        </p:nvSpPr>
        <p:spPr>
          <a:xfrm>
            <a:off x="533400" y="6261100"/>
            <a:ext cx="11125200" cy="533400"/>
          </a:xfrm>
          <a:prstGeom prst="roundRect">
            <a:avLst/>
          </a:prstGeom>
          <a:solidFill>
            <a:srgbClr val="18223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Rounded Corners 18">
            <a:extLst>
              <a:ext uri="{FF2B5EF4-FFF2-40B4-BE49-F238E27FC236}">
                <a16:creationId xmlns:a16="http://schemas.microsoft.com/office/drawing/2014/main" id="{7ABF8255-BBB6-5D84-ACAA-490B0B9B34D1}"/>
              </a:ext>
            </a:extLst>
          </p:cNvPr>
          <p:cNvSpPr/>
          <p:nvPr/>
        </p:nvSpPr>
        <p:spPr>
          <a:xfrm>
            <a:off x="660400" y="6362700"/>
            <a:ext cx="1473200" cy="330200"/>
          </a:xfrm>
          <a:prstGeom prst="roundRect">
            <a:avLst/>
          </a:prstGeom>
          <a:solidFill>
            <a:srgbClr val="379D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18250A19-57F8-7683-E70C-4D16D8DC38F7}"/>
              </a:ext>
            </a:extLst>
          </p:cNvPr>
          <p:cNvSpPr txBox="1"/>
          <p:nvPr/>
        </p:nvSpPr>
        <p:spPr>
          <a:xfrm>
            <a:off x="736600" y="6400800"/>
            <a:ext cx="1320800" cy="276999"/>
          </a:xfrm>
          <a:prstGeom prst="rect">
            <a:avLst/>
          </a:prstGeom>
          <a:noFill/>
        </p:spPr>
        <p:txBody>
          <a:bodyPr vert="horz" wrap="square" lIns="0" tIns="0" rIns="0" bIns="0" rtlCol="0">
            <a:noAutofit/>
          </a:bodyPr>
          <a:lstStyle/>
          <a:p>
            <a:pPr algn="ctr"/>
            <a:r>
              <a:rPr lang="en-US" sz="1050" b="1">
                <a:solidFill>
                  <a:srgbClr val="060A12"/>
                </a:solidFill>
                <a:latin typeface="Aptos" panose="020B0004020202020204" pitchFamily="34" charset="0"/>
              </a:rPr>
              <a:t>REJOIN</a:t>
            </a:r>
          </a:p>
        </p:txBody>
      </p:sp>
      <p:sp>
        <p:nvSpPr>
          <p:cNvPr id="21" name="TextBox 20">
            <a:extLst>
              <a:ext uri="{FF2B5EF4-FFF2-40B4-BE49-F238E27FC236}">
                <a16:creationId xmlns:a16="http://schemas.microsoft.com/office/drawing/2014/main" id="{5CF90126-858D-42DF-4183-6D2143C6C687}"/>
              </a:ext>
            </a:extLst>
          </p:cNvPr>
          <p:cNvSpPr txBox="1"/>
          <p:nvPr/>
        </p:nvSpPr>
        <p:spPr>
          <a:xfrm>
            <a:off x="2286000" y="6362700"/>
            <a:ext cx="9207500" cy="276999"/>
          </a:xfrm>
          <a:prstGeom prst="rect">
            <a:avLst/>
          </a:prstGeom>
          <a:noFill/>
        </p:spPr>
        <p:txBody>
          <a:bodyPr vert="horz" wrap="square" lIns="0" tIns="0" rIns="0" bIns="0" rtlCol="0" anchor="t">
            <a:noAutofit/>
          </a:bodyPr>
          <a:lstStyle/>
          <a:p>
            <a:r>
              <a:rPr lang="en-US" sz="1300">
                <a:solidFill>
                  <a:srgbClr val="F2F5F9"/>
                </a:solidFill>
                <a:latin typeface="Aptos" panose="020B0004020202020204" pitchFamily="34" charset="0"/>
              </a:rPr>
              <a:t>Beginner traces one action; experienced student explains one design choice plainly.</a:t>
            </a:r>
          </a:p>
        </p:txBody>
      </p:sp>
      <p:sp>
        <p:nvSpPr>
          <p:cNvPr id="22" name="TextBox 21">
            <a:extLst>
              <a:ext uri="{FF2B5EF4-FFF2-40B4-BE49-F238E27FC236}">
                <a16:creationId xmlns:a16="http://schemas.microsoft.com/office/drawing/2014/main" id="{23206020-ACB4-7D27-CD3C-BC4669098A56}"/>
              </a:ext>
            </a:extLst>
          </p:cNvPr>
          <p:cNvSpPr txBox="1"/>
          <p:nvPr/>
        </p:nvSpPr>
        <p:spPr>
          <a:xfrm>
            <a:off x="9017000" y="6908800"/>
            <a:ext cx="2641600" cy="276999"/>
          </a:xfrm>
          <a:prstGeom prst="rect">
            <a:avLst/>
          </a:prstGeom>
          <a:noFill/>
        </p:spPr>
        <p:txBody>
          <a:bodyPr vert="horz" wrap="square" lIns="0" tIns="0" rIns="0" bIns="0" rtlCol="0" anchor="t">
            <a:noAutofit/>
          </a:bodyPr>
          <a:lstStyle/>
          <a:p>
            <a:pPr algn="r"/>
            <a:r>
              <a:rPr lang="en-US" sz="850">
                <a:solidFill>
                  <a:srgbClr val="A9B4C5"/>
                </a:solidFill>
                <a:latin typeface="Aptos" panose="020B0004020202020204" pitchFamily="34" charset="0"/>
              </a:rPr>
              <a:t>CURRENT ROBOT IMPLEMENTATION • V2</a:t>
            </a:r>
          </a:p>
        </p:txBody>
      </p:sp>
    </p:spTree>
    <p:extLst>
      <p:ext uri="{BB962C8B-B14F-4D97-AF65-F5344CB8AC3E}">
        <p14:creationId xmlns:p14="http://schemas.microsoft.com/office/powerpoint/2010/main" val="155026791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1591</TotalTime>
  <Words>4347</Words>
  <Application>Microsoft Office PowerPoint</Application>
  <PresentationFormat>Widescreen</PresentationFormat>
  <Paragraphs>559</Paragraphs>
  <Slides>27</Slides>
  <Notes>27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27</vt:i4>
      </vt:variant>
    </vt:vector>
  </HeadingPairs>
  <TitlesOfParts>
    <vt:vector size="34" baseType="lpstr">
      <vt:lpstr>Aptos</vt:lpstr>
      <vt:lpstr>Aptos Display</vt:lpstr>
      <vt:lpstr>Arial</vt:lpstr>
      <vt:lpstr>Calibri</vt:lpstr>
      <vt:lpstr>Calibri Light</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DAVID MONACHELLO</dc:creator>
  <cp:lastModifiedBy>DAVID MONACHELLO</cp:lastModifiedBy>
  <cp:revision>10</cp:revision>
  <dcterms:created xsi:type="dcterms:W3CDTF">2026-09-29T17:10:32Z</dcterms:created>
  <dcterms:modified xsi:type="dcterms:W3CDTF">2026-09-30T19:55:35Z</dcterms:modified>
</cp:coreProperties>
</file>