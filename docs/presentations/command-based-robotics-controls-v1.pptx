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presentation uses the current 2026 robot source as the authority. The repeated example is Operator A, which runs the belt inward.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FRC Command-Based Robot Controls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94944" y="162763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5F7"/>
                </a:solidFill>
              </a:rPr>
              <a:t>How an Xbox button becomes robot motion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7240" y="2743200"/>
            <a:ext cx="384048" cy="384048"/>
          </a:xfrm>
          <a:prstGeom prst="ellipse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80720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438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53312" y="2770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Physical robot parts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7240" y="3401568"/>
            <a:ext cx="384048" cy="384048"/>
          </a:xfrm>
          <a:prstGeom prst="ellipse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46557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438"/>
                </a:solidFill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53312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Command-based rules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" y="4059936"/>
            <a:ext cx="384048" cy="384048"/>
          </a:xfrm>
          <a:prstGeom prst="ellipse">
            <a:avLst/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123944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2438"/>
                </a:solidFill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53312" y="4087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Java source files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6199632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B8C8"/>
                </a:solidFill>
              </a:rPr>
              <a:t>FRC Team 2126 robot source, 2026 command-based migration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Robot's Jobs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the mechanisms students can see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02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0972800" cy="402336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6400800"/>
              </a:tblGrid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Robot job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Mechanism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Student description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Left and right drivetrain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Moves and turns the robot with tank drive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 game pieces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Moves balls inward or outward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Score game pieces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Roller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the outtake roller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Climb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Pneumatic climber arms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Extends or retracts arms with air pressure</a:t>
                      </a:r>
                      <a:endParaRPr lang="en-US" sz="11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1325880"/>
            <a:ext cx="10972800" cy="804672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371600"/>
            <a:ext cx="1737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job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468880" y="13716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12080" y="1371600"/>
            <a:ext cx="6309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description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IDs identify robot control points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03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84280" cy="4434840"/>
        </p:xfrm>
        <a:graphic>
          <a:graphicData uri="http://schemas.openxmlformats.org/drawingml/2006/table">
            <a:tbl>
              <a:tblPr/>
              <a:tblGrid>
                <a:gridCol w="1600200"/>
                <a:gridCol w="3246120"/>
                <a:gridCol w="2880360"/>
                <a:gridCol w="3657600"/>
              </a:tblGrid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Mechanism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Source object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Hardware ID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Physical function</a:t>
                      </a:r>
                      <a:endParaRPr lang="en-US" sz="9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Left drive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Talon frontLeft, follower backLeft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PWM 0, PWM 1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Drives left side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 drive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Talon frontRight, follower backRight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PWM 3, PWM 2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Drives right side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Talon beltMotor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PWM 5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Moves balls inward or outward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Roller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Talon rollerMotor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PWM 4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outtake roller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Climber arms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Two DoubleSolenoid objects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PCM CAN ID 0, channels 0/1 and 2/3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Moves climber arms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1234440"/>
            <a:ext cx="11384280" cy="73914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80160"/>
            <a:ext cx="1508760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Mechanism</a:t>
            </a:r>
            <a:endParaRPr lang="en-US" sz="940" dirty="0"/>
          </a:p>
        </p:txBody>
      </p:sp>
      <p:sp>
        <p:nvSpPr>
          <p:cNvPr id="9" name="Text 6"/>
          <p:cNvSpPr/>
          <p:nvPr/>
        </p:nvSpPr>
        <p:spPr>
          <a:xfrm>
            <a:off x="2057400" y="1280160"/>
            <a:ext cx="3154680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object</a:t>
            </a:r>
            <a:endParaRPr lang="en-US" sz="940" dirty="0"/>
          </a:p>
        </p:txBody>
      </p:sp>
      <p:sp>
        <p:nvSpPr>
          <p:cNvPr id="10" name="Text 7"/>
          <p:cNvSpPr/>
          <p:nvPr/>
        </p:nvSpPr>
        <p:spPr>
          <a:xfrm>
            <a:off x="5303520" y="1280160"/>
            <a:ext cx="2788920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Hardware ID</a:t>
            </a:r>
            <a:endParaRPr lang="en-US" sz="940" dirty="0"/>
          </a:p>
        </p:txBody>
      </p:sp>
      <p:sp>
        <p:nvSpPr>
          <p:cNvPr id="11" name="Text 8"/>
          <p:cNvSpPr/>
          <p:nvPr/>
        </p:nvSpPr>
        <p:spPr>
          <a:xfrm>
            <a:off x="8183880" y="1280160"/>
            <a:ext cx="3566160" cy="6842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function</a:t>
            </a:r>
            <a:endParaRPr lang="en-US" sz="940" dirty="0"/>
          </a:p>
        </p:txBody>
      </p:sp>
      <p:sp>
        <p:nvSpPr>
          <p:cNvPr id="12" name="Text 9"/>
          <p:cNvSpPr/>
          <p:nvPr/>
        </p:nvSpPr>
        <p:spPr>
          <a:xfrm>
            <a:off x="566928" y="589788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3"/>
                </a:solidFill>
              </a:rPr>
              <a:t>Current source uses WPILib Talon PWM controllers. Newer CAN devices also use numeric IDs.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Hardware Map Diagram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roboRIO sends outputs to motor controllers and pneumatics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04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1234440" cy="502920"/>
          </a:xfrm>
          <a:prstGeom prst="roundRect">
            <a:avLst>
              <a:gd name="adj" fmla="val 10909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798064"/>
            <a:ext cx="108813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roboRIO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743200" y="1143000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197864"/>
            <a:ext cx="20025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drive Talons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0 and 1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2743200" y="2240280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2295144"/>
            <a:ext cx="20025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drive Talons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3 and 2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2743200" y="3337560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3392424"/>
            <a:ext cx="20025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 Talon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5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2743200" y="4434840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4489704"/>
            <a:ext cx="20025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Roller Talon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4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400800" y="2788920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2843784"/>
            <a:ext cx="20025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CTRE PCM CAN ID 0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Solenoid channels 0/1 and 2/3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9555480" y="2788920"/>
            <a:ext cx="214884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28632" y="2843784"/>
            <a:ext cx="200253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Climber arms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737360" y="2999232"/>
            <a:ext cx="1005840" cy="-1563624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737360" y="2999232"/>
            <a:ext cx="1005840" cy="-466344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737360" y="2999232"/>
            <a:ext cx="1005840" cy="630936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737360" y="2999232"/>
            <a:ext cx="1005840" cy="1728216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737360" y="2999232"/>
            <a:ext cx="4663440" cy="82296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49640" y="3090672"/>
            <a:ext cx="1005840" cy="0"/>
          </a:xfrm>
          <a:prstGeom prst="line">
            <a:avLst/>
          </a:prstGeom>
          <a:noFill/>
          <a:ln w="17780">
            <a:solidFill>
              <a:srgbClr val="28735C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Xbox Controllers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Driver Station USB order matters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05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08760"/>
          <a:ext cx="10332720" cy="210312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502920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USB port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Controller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Main responsibility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3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Xbox controller</a:t>
                      </a:r>
                      <a:endParaRPr lang="en-US" sz="13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Tank drive and precision drive</a:t>
                      </a:r>
                      <a:endParaRPr lang="en-US" sz="13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3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 Xbox controller</a:t>
                      </a:r>
                      <a:endParaRPr lang="en-US" sz="13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8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Belt, roller, and climber</a:t>
                      </a:r>
                      <a:endParaRPr lang="en-US" sz="13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1508760"/>
            <a:ext cx="10332720" cy="70104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554480"/>
            <a:ext cx="137160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USB port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2423160" y="1554480"/>
            <a:ext cx="374904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63640" y="1554480"/>
            <a:ext cx="493776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responsibility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4160520"/>
            <a:ext cx="98755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the Driver Station USB tab before enabling</a:t>
            </a:r>
            <a:endParaRPr lang="en-US" sz="1600" dirty="0"/>
          </a:p>
          <a:p>
            <a:pPr marL="203200" indent="-203200">
              <a:buSzPct val="100000"/>
              <a:buChar char="•"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controller must appear before operator controller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 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active input has one job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06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11567160" cy="4892040"/>
        </p:xfrm>
        <a:graphic>
          <a:graphicData uri="http://schemas.openxmlformats.org/drawingml/2006/table">
            <a:tbl>
              <a:tblPr/>
              <a:tblGrid>
                <a:gridCol w="685800"/>
                <a:gridCol w="2011680"/>
                <a:gridCol w="1600200"/>
                <a:gridCol w="3794760"/>
                <a:gridCol w="3474720"/>
              </a:tblGrid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Port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Controller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Code path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Robot action</a:t>
                      </a:r>
                      <a:endParaRPr lang="en-US" sz="8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Xbox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Left stick 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getLeftY()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Left drivetrain speed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Xbox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 stick 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getRightY()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 drivetrain speed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Xbox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 bumper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rightBumper().whileTrue(...)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Precision drive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 Xbox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a().whileTrue(...)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 inward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 Xbox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b().whileTrue(...)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 outward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 Xbox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x().whileTrue(...)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Roller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 Xbox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y().onTrue(...)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Toggle climber arms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1188720"/>
            <a:ext cx="11567160" cy="611505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234440"/>
            <a:ext cx="594360" cy="55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</a:t>
            </a:r>
            <a:endParaRPr lang="en-US" sz="870" dirty="0"/>
          </a:p>
        </p:txBody>
      </p:sp>
      <p:sp>
        <p:nvSpPr>
          <p:cNvPr id="9" name="Text 6"/>
          <p:cNvSpPr/>
          <p:nvPr/>
        </p:nvSpPr>
        <p:spPr>
          <a:xfrm>
            <a:off x="1051560" y="1234440"/>
            <a:ext cx="1920240" cy="55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870" dirty="0"/>
          </a:p>
        </p:txBody>
      </p:sp>
      <p:sp>
        <p:nvSpPr>
          <p:cNvPr id="10" name="Text 7"/>
          <p:cNvSpPr/>
          <p:nvPr/>
        </p:nvSpPr>
        <p:spPr>
          <a:xfrm>
            <a:off x="3063240" y="1234440"/>
            <a:ext cx="1508760" cy="55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870" dirty="0"/>
          </a:p>
        </p:txBody>
      </p:sp>
      <p:sp>
        <p:nvSpPr>
          <p:cNvPr id="11" name="Text 8"/>
          <p:cNvSpPr/>
          <p:nvPr/>
        </p:nvSpPr>
        <p:spPr>
          <a:xfrm>
            <a:off x="4663440" y="1234440"/>
            <a:ext cx="3703320" cy="55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path</a:t>
            </a:r>
            <a:endParaRPr lang="en-US" sz="870" dirty="0"/>
          </a:p>
        </p:txBody>
      </p:sp>
      <p:sp>
        <p:nvSpPr>
          <p:cNvPr id="12" name="Text 9"/>
          <p:cNvSpPr/>
          <p:nvPr/>
        </p:nvSpPr>
        <p:spPr>
          <a:xfrm>
            <a:off x="8458200" y="1234440"/>
            <a:ext cx="3383280" cy="5566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action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Controller Layout Diagram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controls movement; operator controls mechanisms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07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514600" y="2468880"/>
            <a:ext cx="1143000" cy="-804672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14600" y="2468880"/>
            <a:ext cx="1143000" cy="155448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2468880"/>
            <a:ext cx="1143000" cy="1115568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14600" y="4389120"/>
            <a:ext cx="4937760" cy="-1005840"/>
          </a:xfrm>
          <a:prstGeom prst="line">
            <a:avLst/>
          </a:prstGeom>
          <a:noFill/>
          <a:ln w="17780">
            <a:solidFill>
              <a:srgbClr val="28735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514600" y="4389120"/>
            <a:ext cx="4937760" cy="-246888"/>
          </a:xfrm>
          <a:prstGeom prst="line">
            <a:avLst/>
          </a:prstGeom>
          <a:noFill/>
          <a:ln w="17780">
            <a:solidFill>
              <a:srgbClr val="28735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14600" y="4389120"/>
            <a:ext cx="4937760" cy="512064"/>
          </a:xfrm>
          <a:prstGeom prst="line">
            <a:avLst/>
          </a:prstGeom>
          <a:noFill/>
          <a:ln w="17780">
            <a:solidFill>
              <a:srgbClr val="28735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514600" y="4389120"/>
            <a:ext cx="4937760" cy="1271016"/>
          </a:xfrm>
          <a:prstGeom prst="line">
            <a:avLst/>
          </a:prstGeom>
          <a:noFill/>
          <a:ln w="17780">
            <a:solidFill>
              <a:srgbClr val="28735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4360" y="210312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2157984"/>
            <a:ext cx="177393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Xbox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USB 0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594360" y="4023360"/>
            <a:ext cx="1920240" cy="731520"/>
          </a:xfrm>
          <a:prstGeom prst="roundRect">
            <a:avLst>
              <a:gd name="adj" fmla="val 7500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4078224"/>
            <a:ext cx="177393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Xbox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USB 1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657600" y="141732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30752" y="1472184"/>
            <a:ext cx="2139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stick 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drive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3657600" y="237744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30752" y="2432304"/>
            <a:ext cx="2139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stick 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drive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3657600" y="3337560"/>
            <a:ext cx="2286000" cy="502920"/>
          </a:xfrm>
          <a:prstGeom prst="roundRect">
            <a:avLst>
              <a:gd name="adj" fmla="val 10909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30752" y="3392424"/>
            <a:ext cx="2139696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bumper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drive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452360" y="3154680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25512" y="3209544"/>
            <a:ext cx="21396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 in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7452360" y="3913632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25512" y="3968496"/>
            <a:ext cx="21396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 out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7452360" y="4672584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25512" y="4727448"/>
            <a:ext cx="21396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roller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452360" y="5431536"/>
            <a:ext cx="2286000" cy="457200"/>
          </a:xfrm>
          <a:prstGeom prst="roundRect">
            <a:avLst>
              <a:gd name="adj" fmla="val 12000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25512" y="5486400"/>
            <a:ext cx="213969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toggle climber</a:t>
            </a:r>
            <a:endParaRPr lang="en-US" sz="11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Golden Trace Preview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example connects the whole system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08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798064"/>
            <a:ext cx="12710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presses A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011680" y="3072384"/>
            <a:ext cx="54864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60320" y="27432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2798064"/>
            <a:ext cx="12710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Station input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977640" y="3072384"/>
            <a:ext cx="59436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0" y="27432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798064"/>
            <a:ext cx="12710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CommandScheduler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989320" y="3072384"/>
            <a:ext cx="59436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83680" y="27432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2798064"/>
            <a:ext cx="12710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RobotContainer binding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001000" y="3072384"/>
            <a:ext cx="59436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95360" y="2743200"/>
            <a:ext cx="1417320" cy="658368"/>
          </a:xfrm>
          <a:prstGeom prst="roundRect">
            <a:avLst>
              <a:gd name="adj" fmla="val 8333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68512" y="2798064"/>
            <a:ext cx="127101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BeltInCommand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0012680" y="3072384"/>
            <a:ext cx="18288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95560" y="274320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28735C"/>
          </a:solidFill>
          <a:ln w="12700">
            <a:solidFill>
              <a:srgbClr val="2873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68712" y="2798064"/>
            <a:ext cx="136245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BeltSubsystem -&gt; Talon PWM 5 -&gt; belt</a:t>
            </a:r>
            <a:endParaRPr lang="en-US" sz="1120" dirty="0"/>
          </a:p>
        </p:txBody>
      </p:sp>
      <p:sp>
        <p:nvSpPr>
          <p:cNvPr id="23" name="Text 21"/>
          <p:cNvSpPr/>
          <p:nvPr/>
        </p:nvSpPr>
        <p:spPr>
          <a:xfrm>
            <a:off x="685800" y="40690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773"/>
                </a:solidFill>
              </a:rPr>
              <a:t>The next slides unpack each step.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Subsystems and Commands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decide when; subsystems know how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09</a:t>
            </a:r>
            <a:endParaRPr lang="en-US" sz="7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27080" cy="310896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5262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Concept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it represents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</a:t>
                      </a:r>
                      <a:endParaRPr lang="en-US" sz="11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Subsystem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Physical part plus hardware owner code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BeltSubsystem owns beltMotor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Command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Action that tells a subsystem what to do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BeltInCommand runs belt inward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Requirement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Lock on a subsystem while a command uses it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BeltInCommand requires BeltSubsystem</a:t>
                      </a:r>
                      <a:endParaRPr lang="en-US" sz="11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1417320"/>
            <a:ext cx="10927080" cy="77724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1463040"/>
            <a:ext cx="1737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2514600" y="1463040"/>
            <a:ext cx="44805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represents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7086600" y="1463040"/>
            <a:ext cx="443484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1371600" y="4983480"/>
            <a:ext cx="4297680" cy="594360"/>
          </a:xfrm>
          <a:prstGeom prst="roundRect">
            <a:avLst>
              <a:gd name="adj" fmla="val 9231"/>
            </a:avLst>
          </a:prstGeom>
          <a:solidFill>
            <a:srgbClr val="D8EAF8"/>
          </a:solidFill>
          <a:ln w="12700">
            <a:solidFill>
              <a:srgbClr val="D8EA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444752" y="5038344"/>
            <a:ext cx="41513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 decide when to act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6492240" y="4983480"/>
            <a:ext cx="4297680" cy="594360"/>
          </a:xfrm>
          <a:prstGeom prst="roundRect">
            <a:avLst>
              <a:gd name="adj" fmla="val 9231"/>
            </a:avLst>
          </a:prstGeom>
          <a:solidFill>
            <a:srgbClr val="D8EAF8"/>
          </a:solidFill>
          <a:ln w="12700">
            <a:solidFill>
              <a:srgbClr val="D8EA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5392" y="5038344"/>
            <a:ext cx="415137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Subsystems know how to act</a:t>
            </a:r>
            <a:endParaRPr lang="en-US" sz="11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Requirements Exist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one command can own a subsystem at a time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609344"/>
            <a:ext cx="18653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button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BeltInCommand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914400" y="38862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3941064"/>
            <a:ext cx="1865376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button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BeltOutCommand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4297680" y="2743200"/>
            <a:ext cx="2286000" cy="731520"/>
          </a:xfrm>
          <a:prstGeom prst="roundRect">
            <a:avLst>
              <a:gd name="adj" fmla="val 7500"/>
            </a:avLst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70832" y="2798064"/>
            <a:ext cx="213969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0F2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0F2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BeltSubsystem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772400" y="187452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45552" y="1929384"/>
            <a:ext cx="23225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CommandScheduler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allows one owner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7772400" y="3657600"/>
            <a:ext cx="2468880" cy="731520"/>
          </a:xfrm>
          <a:prstGeom prst="roundRect">
            <a:avLst>
              <a:gd name="adj" fmla="val 7500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45552" y="3712464"/>
            <a:ext cx="2322576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 command ends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command runs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2926080" y="1874520"/>
            <a:ext cx="1371600" cy="1161288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26080" y="4206240"/>
            <a:ext cx="1371600" cy="-1078992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583680" y="3017520"/>
            <a:ext cx="1188720" cy="-77724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583680" y="3154680"/>
            <a:ext cx="1188720" cy="86868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Types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Button bindings use different command patterns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84280" cy="4114800"/>
        </p:xfrm>
        <a:graphic>
          <a:graphicData uri="http://schemas.openxmlformats.org/drawingml/2006/table">
            <a:tbl>
              <a:tblPr/>
              <a:tblGrid>
                <a:gridCol w="2468880"/>
                <a:gridCol w="2834640"/>
                <a:gridCol w="2377440"/>
                <a:gridCol w="37033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 pattern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Code pattern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Robot example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Behavior</a:t>
                      </a:r>
                      <a:endParaRPr lang="en-US" sz="10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Hold to run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whileTrue(command)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A, B, 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while held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Tap once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onTrue(command)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once when pressed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Always available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setDefaultCommand(command)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 command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when subsystem is idle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State modifier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whileTrue(command)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 bumper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Changes drive speed mode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1234440"/>
            <a:ext cx="11384280" cy="82296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80160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pattern</a:t>
            </a:r>
            <a:endParaRPr lang="en-US" sz="1020" dirty="0"/>
          </a:p>
        </p:txBody>
      </p:sp>
      <p:sp>
        <p:nvSpPr>
          <p:cNvPr id="9" name="Text 6"/>
          <p:cNvSpPr/>
          <p:nvPr/>
        </p:nvSpPr>
        <p:spPr>
          <a:xfrm>
            <a:off x="2926080" y="1280160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pattern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5760720" y="1280160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example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8138160" y="1280160"/>
            <a:ext cx="3611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Command Lifecycle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scheduler calls these methods at different times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18520" cy="397764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4800600"/>
              </a:tblGrid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it runs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 use</a:t>
                      </a:r>
                      <a:endParaRPr lang="en-US" sz="10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initialize()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command starts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Toggle climber arms once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execute()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Repeated while command runs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Keep belt motor running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end(interrupted)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command stops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Stop belt motor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isFinished()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Scheduler asks if command is done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 returns false; climber toggle returns true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1325880"/>
            <a:ext cx="11018520" cy="795528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371600"/>
            <a:ext cx="22860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070" dirty="0"/>
          </a:p>
        </p:txBody>
      </p:sp>
      <p:sp>
        <p:nvSpPr>
          <p:cNvPr id="9" name="Text 6"/>
          <p:cNvSpPr/>
          <p:nvPr/>
        </p:nvSpPr>
        <p:spPr>
          <a:xfrm>
            <a:off x="2971800" y="1371600"/>
            <a:ext cx="3749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it runs</a:t>
            </a:r>
            <a:endParaRPr lang="en-US" sz="1070" dirty="0"/>
          </a:p>
        </p:txBody>
      </p:sp>
      <p:sp>
        <p:nvSpPr>
          <p:cNvPr id="10" name="Text 7"/>
          <p:cNvSpPr/>
          <p:nvPr/>
        </p:nvSpPr>
        <p:spPr>
          <a:xfrm>
            <a:off x="6812280" y="1371600"/>
            <a:ext cx="47091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use</a:t>
            </a:r>
            <a:endParaRPr lang="en-US" sz="10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20 ms Scheduler Loop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robotPeriodic runs the scheduler about 50 times per second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13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880360" y="1847088"/>
            <a:ext cx="82296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669280" y="1847088"/>
            <a:ext cx="82296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458200" y="1847088"/>
            <a:ext cx="-1965960" cy="242316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458200" y="4270248"/>
            <a:ext cx="-475488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0" y="4270248"/>
            <a:ext cx="-475488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880360" y="4270248"/>
            <a:ext cx="-1965960" cy="-242316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14400" y="155448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609344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Poll controller inputs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3703320" y="155448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1609344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bindings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6492240" y="155448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65392" y="1609344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commands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492240" y="397764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65392" y="4032504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conflicts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703320" y="397764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6472" y="4032504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active commands</a:t>
            </a:r>
            <a:endParaRPr lang="en-US" sz="1120" dirty="0"/>
          </a:p>
        </p:txBody>
      </p:sp>
      <p:sp>
        <p:nvSpPr>
          <p:cNvPr id="22" name="Shape 20"/>
          <p:cNvSpPr/>
          <p:nvPr/>
        </p:nvSpPr>
        <p:spPr>
          <a:xfrm>
            <a:off x="914400" y="397764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" y="4032504"/>
            <a:ext cx="1819656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finished commands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2971800" y="5596128"/>
            <a:ext cx="6217920" cy="411480"/>
          </a:xfrm>
          <a:prstGeom prst="rect">
            <a:avLst/>
          </a:prstGeom>
          <a:solidFill>
            <a:srgbClr val="101820"/>
          </a:solidFill>
          <a:ln w="6350">
            <a:solidFill>
              <a:srgbClr val="1018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81528" y="5687568"/>
            <a:ext cx="5998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CommandScheduler.getInstance().run();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When A Is Held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whileTrue keeps BeltInCommand scheduled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14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7724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E3A21A"/>
          </a:solidFill>
          <a:ln w="12700">
            <a:solidFill>
              <a:srgbClr val="E3A2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button held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194560" y="3145536"/>
            <a:ext cx="54864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4320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a().whileTrue(...)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active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160520" y="3145536"/>
            <a:ext cx="64008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0060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 starts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BeltInCommand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17920" y="3145536"/>
            <a:ext cx="68580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90372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7687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execute()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321040" y="3145536"/>
            <a:ext cx="50292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823960" y="2788920"/>
            <a:ext cx="132588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7112" y="2843784"/>
            <a:ext cx="11795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beltSubsystem.run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(BELT_SPEED)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0149840" y="3145536"/>
            <a:ext cx="22860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378440" y="2788920"/>
            <a:ext cx="132588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51592" y="2843784"/>
            <a:ext cx="117957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beltMotor.set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(speed)</a:t>
            </a:r>
            <a:endParaRPr lang="en-US" sz="11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When A Is Released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 stops the belt output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15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button released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240280" y="3145536"/>
            <a:ext cx="548640" cy="0"/>
          </a:xfrm>
          <a:prstGeom prst="line">
            <a:avLst/>
          </a:prstGeom>
          <a:noFill/>
          <a:ln w="17780">
            <a:solidFill>
              <a:srgbClr val="28735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6207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whileTrue no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active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206240" y="3145536"/>
            <a:ext cx="594360" cy="0"/>
          </a:xfrm>
          <a:prstGeom prst="line">
            <a:avLst/>
          </a:prstGeom>
          <a:noFill/>
          <a:ln w="17780">
            <a:solidFill>
              <a:srgbClr val="28735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80060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 cancels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BeltInCommand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217920" y="3145536"/>
            <a:ext cx="822960" cy="0"/>
          </a:xfrm>
          <a:prstGeom prst="line">
            <a:avLst/>
          </a:prstGeom>
          <a:noFill/>
          <a:ln w="17780">
            <a:solidFill>
              <a:srgbClr val="28735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4088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1403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end(true)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458200" y="3145536"/>
            <a:ext cx="274320" cy="0"/>
          </a:xfrm>
          <a:prstGeom prst="line">
            <a:avLst/>
          </a:prstGeom>
          <a:noFill/>
          <a:ln w="17780">
            <a:solidFill>
              <a:srgbClr val="28735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32520" y="2788920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05672" y="2843784"/>
            <a:ext cx="122529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beltSubsystem.stop()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0104120" y="3145536"/>
            <a:ext cx="274320" cy="0"/>
          </a:xfrm>
          <a:prstGeom prst="line">
            <a:avLst/>
          </a:prstGeom>
          <a:noFill/>
          <a:ln w="17780">
            <a:solidFill>
              <a:srgbClr val="28735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378440" y="2788920"/>
            <a:ext cx="137160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51592" y="2843784"/>
            <a:ext cx="122529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beltMotor.set(0)</a:t>
            </a:r>
            <a:endParaRPr lang="en-US" sz="11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Happens If A and B Are Pressed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framework controls the belt conflict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16</a:t>
            </a:r>
            <a:endParaRPr lang="en-US" sz="7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298448"/>
          <a:ext cx="10835640" cy="4206240"/>
        </p:xfrm>
        <a:graphic>
          <a:graphicData uri="http://schemas.openxmlformats.org/drawingml/2006/table">
            <a:tbl>
              <a:tblPr/>
              <a:tblGrid>
                <a:gridCol w="822960"/>
                <a:gridCol w="4709160"/>
                <a:gridCol w="5303520"/>
              </a:tblGrid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the scheduler sees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asks for BeltInCommand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BeltSubsystem gets claimed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 asks for BeltOutCommand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Scheduler sees the same requirement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Both require BeltSubsystem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Only one belt command can own it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Scheduler interrupts previous command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 end(...) stops output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command runs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 follows the active command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1298448"/>
            <a:ext cx="10835640" cy="70104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344168"/>
            <a:ext cx="7315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554480" y="1344168"/>
            <a:ext cx="461772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scheduler sees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263640" y="1344168"/>
            <a:ext cx="5212080" cy="646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Source File 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file has a specific job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17</a:t>
            </a:r>
            <a:endParaRPr lang="en-US" sz="7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143000"/>
          <a:ext cx="10332720" cy="4983480"/>
        </p:xfrm>
        <a:graphic>
          <a:graphicData uri="http://schemas.openxmlformats.org/drawingml/2006/table">
            <a:tbl>
              <a:tblPr/>
              <a:tblGrid>
                <a:gridCol w="3246120"/>
                <a:gridCol w="7086600"/>
              </a:tblGrid>
              <a:tr h="6229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File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Role in the robot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Constants.java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Stores hardware IDs, controller ports, and tuning values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RobotContainer.java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Creates controllers, subsystems, default commands, and button bindings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DriveSubsystem.java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Owns drive Talons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BeltSubsystem.java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Owns belt Talon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RollerSubsystem.java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Owns roller Talon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ClimberSubsystem.java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Owns climber solenoids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29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commands/*.java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Defines robot actions</a:t>
                      </a:r>
                      <a:endParaRPr lang="en-US" sz="10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14400" y="1143000"/>
            <a:ext cx="10332720" cy="622935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188720"/>
            <a:ext cx="315468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4206240" y="1188720"/>
            <a:ext cx="6995160" cy="5680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 in the robot</a:t>
            </a:r>
            <a:endParaRPr lang="en-US" sz="10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Constants.java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Numeric robot settings live in one place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18</a:t>
            </a:r>
            <a:endParaRPr lang="en-US" sz="7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0972800" cy="3291840"/>
        </p:xfrm>
        <a:graphic>
          <a:graphicData uri="http://schemas.openxmlformats.org/drawingml/2006/table">
            <a:tbl>
              <a:tblPr/>
              <a:tblGrid>
                <a:gridCol w="2194560"/>
                <a:gridCol w="4754880"/>
                <a:gridCol w="402336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Constant group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Examples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Hardware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PWM_BELT = 5, PWM_ROLLER = 4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Hardware ports and channels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DRIVER_CONTROLLER = 0, OPERATOR_CONTROLLER = 1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Station USB ports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Tuning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BELT_SPEED = 1.0, SLOW_DRIVE_SCALE = 0.20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Speeds, scaling, deadband</a:t>
                      </a:r>
                      <a:endParaRPr lang="en-US" sz="10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1508760"/>
            <a:ext cx="10972800" cy="82296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554480"/>
            <a:ext cx="21031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group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834640" y="1554480"/>
            <a:ext cx="4663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89520" y="1554480"/>
            <a:ext cx="3931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BeltSubsystem.java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helper method calls the WPILib motor API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19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5212080" cy="594360"/>
          </a:xfrm>
          <a:prstGeom prst="rect">
            <a:avLst/>
          </a:prstGeom>
          <a:solidFill>
            <a:srgbClr val="101820"/>
          </a:solidFill>
          <a:ln w="6350">
            <a:solidFill>
              <a:srgbClr val="101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32688" y="1417320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final Talon beltMotor;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5212080" cy="1143000"/>
          </a:xfrm>
          <a:prstGeom prst="rect">
            <a:avLst/>
          </a:prstGeom>
          <a:solidFill>
            <a:srgbClr val="101820"/>
          </a:solidFill>
          <a:ln w="6350">
            <a:solidFill>
              <a:srgbClr val="10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331720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run(double speed)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beltMotor.set(speed);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03320"/>
            <a:ext cx="5212080" cy="1005840"/>
          </a:xfrm>
          <a:prstGeom prst="rect">
            <a:avLst/>
          </a:prstGeom>
          <a:solidFill>
            <a:srgbClr val="101820"/>
          </a:solidFill>
          <a:ln w="635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794760"/>
            <a:ext cx="4992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stop()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run(0);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20840" y="2103120"/>
            <a:ext cx="4206240" cy="1737360"/>
          </a:xfrm>
          <a:prstGeom prst="roundRect">
            <a:avLst>
              <a:gd name="adj" fmla="val 3158"/>
            </a:avLst>
          </a:prstGeom>
          <a:solidFill>
            <a:srgbClr val="D8EAF8"/>
          </a:solidFill>
          <a:ln w="12700">
            <a:solidFill>
              <a:srgbClr val="D8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93992" y="2157984"/>
            <a:ext cx="4059936" cy="162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120" dirty="0"/>
          </a:p>
          <a:p>
            <a:pPr algn="ctr" indent="0" marL="0">
              <a:buNone/>
            </a:pP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run(...) helper calls WPILib Talon.set(...), which sends output to PWM 5.</a:t>
            </a:r>
            <a:endParaRPr lang="en-US" sz="11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BeltInCommand.java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command claims the belt, runs it, then stops it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20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5715000" cy="1371600"/>
          </a:xfrm>
          <a:prstGeom prst="rect">
            <a:avLst/>
          </a:prstGeom>
          <a:solidFill>
            <a:srgbClr val="101820"/>
          </a:solidFill>
          <a:ln w="6350">
            <a:solidFill>
              <a:srgbClr val="101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325880"/>
            <a:ext cx="54955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BeltInCommand(BeltSubsystem beltSubsystem)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this.beltSubsystem = beltSubsystem;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addRequirements(beltSubsystem);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94360" y="2880360"/>
            <a:ext cx="5715000" cy="1005840"/>
          </a:xfrm>
          <a:prstGeom prst="rect">
            <a:avLst/>
          </a:prstGeom>
          <a:solidFill>
            <a:srgbClr val="101820"/>
          </a:solidFill>
          <a:ln w="6350">
            <a:solidFill>
              <a:srgbClr val="10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971800"/>
            <a:ext cx="5495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execute()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beltSubsystem.run(Constants.Tuning.BELT_SPEED);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" y="4160520"/>
            <a:ext cx="5715000" cy="1005840"/>
          </a:xfrm>
          <a:prstGeom prst="rect">
            <a:avLst/>
          </a:prstGeom>
          <a:solidFill>
            <a:srgbClr val="101820"/>
          </a:solidFill>
          <a:ln w="6350">
            <a:solidFill>
              <a:srgbClr val="1018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" y="4251960"/>
            <a:ext cx="54955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void end(boolean interrupted)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beltSubsystem.stop();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1417320"/>
          <a:ext cx="4937760" cy="3154680"/>
        </p:xfrm>
        <a:graphic>
          <a:graphicData uri="http://schemas.openxmlformats.org/drawingml/2006/table">
            <a:tbl>
              <a:tblPr/>
              <a:tblGrid>
                <a:gridCol w="1645920"/>
                <a:gridCol w="3291840"/>
              </a:tblGrid>
              <a:tr h="7886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Job</a:t>
                      </a:r>
                      <a:endParaRPr lang="en-US" sz="9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constructor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Stores subsystem and calls addRequirements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execute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belt inward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867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Stops belt when released or interrupted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629400" y="1417320"/>
            <a:ext cx="4937760" cy="78867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675120" y="1463040"/>
            <a:ext cx="1554480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970" dirty="0"/>
          </a:p>
        </p:txBody>
      </p:sp>
      <p:sp>
        <p:nvSpPr>
          <p:cNvPr id="15" name="Text 12"/>
          <p:cNvSpPr/>
          <p:nvPr/>
        </p:nvSpPr>
        <p:spPr>
          <a:xfrm>
            <a:off x="8321040" y="1463040"/>
            <a:ext cx="3200400" cy="73380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</a:t>
            </a:r>
            <a:endParaRPr lang="en-US" sz="97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RobotContainer.java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RobotContainer connects controller inputs to commands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21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85800" y="1508760"/>
            <a:ext cx="10881360" cy="960120"/>
          </a:xfrm>
          <a:prstGeom prst="rect">
            <a:avLst/>
          </a:prstGeom>
          <a:solidFill>
            <a:srgbClr val="101820"/>
          </a:solidFill>
          <a:ln w="6350">
            <a:solidFill>
              <a:srgbClr val="1018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600200"/>
            <a:ext cx="10661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driverController = new CommandXboxController(Constants.Operator.DRIVER_CONTROLLER);</a:t>
            </a:r>
            <a:endParaRPr lang="en-US" sz="1170" dirty="0"/>
          </a:p>
          <a:p>
            <a:pPr indent="0" marL="0">
              <a:buNone/>
            </a:pPr>
            <a:r>
              <a:rPr lang="en-US" sz="117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operatorController = new CommandXboxController(Constants.Operator.OPERATOR_CONTROLLER);</a:t>
            </a:r>
            <a:endParaRPr lang="en-US" sz="1170" dirty="0"/>
          </a:p>
        </p:txBody>
      </p:sp>
      <p:sp>
        <p:nvSpPr>
          <p:cNvPr id="8" name="Shape 6"/>
          <p:cNvSpPr/>
          <p:nvPr/>
        </p:nvSpPr>
        <p:spPr>
          <a:xfrm>
            <a:off x="685800" y="3017520"/>
            <a:ext cx="6675120" cy="914400"/>
          </a:xfrm>
          <a:prstGeom prst="rect">
            <a:avLst/>
          </a:prstGeom>
          <a:solidFill>
            <a:srgbClr val="101820"/>
          </a:solidFill>
          <a:ln w="6350">
            <a:solidFill>
              <a:srgbClr val="1018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5528" y="3108960"/>
            <a:ext cx="64556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operatorController.a()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8EE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.whileTrue(new BeltInCommand(beltSubsystem));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63840" y="2971800"/>
            <a:ext cx="3108960" cy="685800"/>
          </a:xfrm>
          <a:prstGeom prst="roundRect">
            <a:avLst>
              <a:gd name="adj" fmla="val 8000"/>
            </a:avLst>
          </a:prstGeom>
          <a:solidFill>
            <a:srgbClr val="1E5B8F"/>
          </a:solidFill>
          <a:ln w="12700">
            <a:solidFill>
              <a:srgbClr val="1E5B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36992" y="3026664"/>
            <a:ext cx="2962656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RobotContainer is the wiring hub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7406640" y="3977640"/>
            <a:ext cx="3886200" cy="1143000"/>
          </a:xfrm>
          <a:prstGeom prst="roundRect">
            <a:avLst>
              <a:gd name="adj" fmla="val 4800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9792" y="4032504"/>
            <a:ext cx="373989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creates controllers, creates subsystems, installs default commands, and maps buttons to commands.</a:t>
            </a:r>
            <a:endParaRPr lang="en-US" sz="11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Operator A Code Trace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trace, now at source-code level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22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RobotContainer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configureBindings()</a:t>
            </a:r>
            <a:endParaRPr lang="en-US" sz="1120" dirty="0"/>
          </a:p>
        </p:txBody>
      </p:sp>
      <p:sp>
        <p:nvSpPr>
          <p:cNvPr id="8" name="Shape 6"/>
          <p:cNvSpPr/>
          <p:nvPr/>
        </p:nvSpPr>
        <p:spPr>
          <a:xfrm>
            <a:off x="2148840" y="3145536"/>
            <a:ext cx="59436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4320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1635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button bound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BeltInCommand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4160520" y="3145536"/>
            <a:ext cx="59436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2803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CommandScheduler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run() repeats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6172200" y="3145536"/>
            <a:ext cx="59436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6656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3971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Scheduler calls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BeltInCommand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183880" y="3145536"/>
            <a:ext cx="50292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86800" y="2788920"/>
            <a:ext cx="1417320" cy="713232"/>
          </a:xfrm>
          <a:prstGeom prst="roundRect">
            <a:avLst>
              <a:gd name="adj" fmla="val 7692"/>
            </a:avLst>
          </a:prstGeom>
          <a:solidFill>
            <a:srgbClr val="F5F8FB"/>
          </a:solidFill>
          <a:ln w="12700">
            <a:solidFill>
              <a:srgbClr val="F5F8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59952" y="2843784"/>
            <a:ext cx="127101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method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BeltSubsystem.run(...)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10104120" y="3145536"/>
            <a:ext cx="91440" cy="0"/>
          </a:xfrm>
          <a:prstGeom prst="line">
            <a:avLst/>
          </a:prstGeom>
          <a:noFill/>
          <a:ln w="17780">
            <a:solidFill>
              <a:srgbClr val="1E5B8F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195560" y="2788920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28735C"/>
          </a:solidFill>
          <a:ln w="12700">
            <a:solidFill>
              <a:srgbClr val="2873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68712" y="2843784"/>
            <a:ext cx="1133856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WPILib Talon.set(...)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PWM 5 belt motor</a:t>
            </a:r>
            <a:endParaRPr lang="en-US" sz="11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Operator A Lookup Trace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this table while reading the code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23</a:t>
            </a:r>
            <a:endParaRPr lang="en-US" sz="7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11567160" cy="4754880"/>
        </p:xfrm>
        <a:graphic>
          <a:graphicData uri="http://schemas.openxmlformats.org/drawingml/2006/table">
            <a:tbl>
              <a:tblPr/>
              <a:tblGrid>
                <a:gridCol w="1508760"/>
                <a:gridCol w="2331720"/>
                <a:gridCol w="3657600"/>
                <a:gridCol w="4069080"/>
              </a:tblGrid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Code item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Binding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RobotContainer.java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operatorController.a().whileTrue(...)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 schedules command while held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Requirement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BeltInCommand.java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addRequirements(beltSubsystem)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Needs exclusive control of the belt subsystem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Motor request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BeltInCommand.java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beltSubsystem.run(...)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Calls our belt helper method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WPILib motor call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BeltSubsystem.java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beltMotor.set(speed)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Calls WPILib Talon API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Physical result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Robot wiring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PWM 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roboRIO sends output to belt motor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1143000"/>
            <a:ext cx="11567160" cy="79248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188720"/>
            <a:ext cx="141732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1874520" y="1188720"/>
            <a:ext cx="224028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4206240" y="1188720"/>
            <a:ext cx="356616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item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7863840" y="1188720"/>
            <a:ext cx="397764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Other Control Traces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pattern repeats for the rest of the robot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24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43000"/>
          <a:ext cx="11384280" cy="4754880"/>
        </p:xfrm>
        <a:graphic>
          <a:graphicData uri="http://schemas.openxmlformats.org/drawingml/2006/table">
            <a:tbl>
              <a:tblPr/>
              <a:tblGrid>
                <a:gridCol w="2514600"/>
                <a:gridCol w="2057400"/>
                <a:gridCol w="3429000"/>
                <a:gridCol w="3383280"/>
              </a:tblGrid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Input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Binding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Command or read path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Result</a:t>
                      </a:r>
                      <a:endParaRPr lang="en-US" sz="9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left stick 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drive command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getLeftDriveValue()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Left drive output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right stick 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drive command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getRightDriveValue()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Right drive output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Driver right bumper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whileTrue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SlowDriveCommand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Precision drive scale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 B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whileTrue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BeltOutCommand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Belt runs outward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 X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whileTrue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RollerCommand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Roller runs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9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Operator 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onTrue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ToggleClimberArmsCommand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Climber arms toggle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11480" y="1143000"/>
            <a:ext cx="11384280" cy="679269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88720"/>
            <a:ext cx="2423160" cy="62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971800" y="1188720"/>
            <a:ext cx="1965960" cy="62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Binding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0" y="1188720"/>
            <a:ext cx="3337560" cy="62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 or read path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58200" y="1188720"/>
            <a:ext cx="3291840" cy="6244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Student Practice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the code instead of guessing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25</a:t>
            </a:r>
            <a:endParaRPr lang="en-US" sz="7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371600"/>
          <a:ext cx="10012680" cy="3886200"/>
        </p:xfrm>
        <a:graphic>
          <a:graphicData uri="http://schemas.openxmlformats.org/drawingml/2006/table">
            <a:tbl>
              <a:tblPr/>
              <a:tblGrid>
                <a:gridCol w="1188720"/>
                <a:gridCol w="8823960"/>
              </a:tblGrid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Exercise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Prompt</a:t>
                      </a:r>
                      <a:endParaRPr lang="en-US" sz="12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Trace Operator A from button press to belt motion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Explain why A and B cannot both own BeltSubsystem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Explain why A uses whileTrue() and Y uses onTrue()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Find where belt speed is stored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1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Find where the operator controller USB port is stored</a:t>
                      </a:r>
                      <a:endParaRPr lang="en-US" sz="12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097280" y="1371600"/>
            <a:ext cx="10012680" cy="64770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43000" y="1417320"/>
            <a:ext cx="1097280" cy="5928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Exercise</a:t>
            </a:r>
            <a:endParaRPr lang="en-US" sz="1230" dirty="0"/>
          </a:p>
        </p:txBody>
      </p:sp>
      <p:sp>
        <p:nvSpPr>
          <p:cNvPr id="9" name="Text 6"/>
          <p:cNvSpPr/>
          <p:nvPr/>
        </p:nvSpPr>
        <p:spPr>
          <a:xfrm>
            <a:off x="2331720" y="1417320"/>
            <a:ext cx="8732520" cy="5928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2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24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Extension Discussion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881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B67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code changes start from known files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1201400" cy="0"/>
          </a:xfrm>
          <a:prstGeom prst="line">
            <a:avLst/>
          </a:prstGeom>
          <a:noFill/>
          <a:ln w="7620">
            <a:solidFill>
              <a:srgbClr val="AEBE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393424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B6773"/>
                </a:solidFill>
              </a:rPr>
              <a:t>26</a:t>
            </a:r>
            <a:endParaRPr lang="en-US" sz="7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325880"/>
          <a:ext cx="10972800" cy="4114800"/>
        </p:xfrm>
        <a:graphic>
          <a:graphicData uri="http://schemas.openxmlformats.org/drawingml/2006/table">
            <a:tbl>
              <a:tblPr/>
              <a:tblGrid>
                <a:gridCol w="5669280"/>
                <a:gridCol w="5303520"/>
              </a:tblGrid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 to look first</a:t>
                      </a:r>
                      <a:endParaRPr lang="en-US" sz="10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would you make belt speed slower?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Constants.Tuning.BELT_SPEED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would you change the operator controller port?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Constants.Operator.OPERATOR_CONTROLLER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would you add a new button command?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RobotContainer.configureBindings()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How would you make a new mechanism safe?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60" dirty="0">
                          <a:solidFill>
                            <a:srgbClr val="1721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Create a subsystem, then require it from commands</a:t>
                      </a:r>
                      <a:endParaRPr lang="en-US" sz="10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985" cap="flat" cmpd="sng" algn="ctr">
                      <a:solidFill>
                        <a:srgbClr val="AEBE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1325880"/>
            <a:ext cx="10972800" cy="822960"/>
          </a:xfrm>
          <a:prstGeom prst="rect">
            <a:avLst/>
          </a:prstGeom>
          <a:solidFill>
            <a:srgbClr val="1E5B8F"/>
          </a:solidFill>
          <a:ln w="12700">
            <a:solidFill>
              <a:srgbClr val="1E5B8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137160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309360" y="1371600"/>
            <a:ext cx="5212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to look first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1051560" y="5715000"/>
            <a:ext cx="10058400" cy="438912"/>
          </a:xfrm>
          <a:prstGeom prst="roundRect">
            <a:avLst>
              <a:gd name="adj" fmla="val 12500"/>
            </a:avLst>
          </a:prstGeom>
          <a:solidFill>
            <a:srgbClr val="D8EAF8"/>
          </a:solidFill>
          <a:ln w="12700">
            <a:solidFill>
              <a:srgbClr val="D8EA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24712" y="5769864"/>
            <a:ext cx="9912096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command-based pattern scales because each new action has a clear owner, command, and binding.</a:t>
            </a:r>
            <a:endParaRPr lang="en-US" sz="11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FRC Team 2126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FRC Command-Based Robot Controls</dc:title>
  <dc:subject>FRC command-based robot controls</dc:subject>
  <dc:creator>Codex</dc:creator>
  <cp:lastModifiedBy>Codex</cp:lastModifiedBy>
  <cp:revision>1</cp:revision>
  <dcterms:created xsi:type="dcterms:W3CDTF">2026-10-05T13:13:40Z</dcterms:created>
  <dcterms:modified xsi:type="dcterms:W3CDTF">2026-10-05T13:13:40Z</dcterms:modified>
</cp:coreProperties>
</file>