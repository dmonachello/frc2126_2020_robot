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84" r:id="rId3"/>
    <p:sldId id="257" r:id="rId4"/>
    <p:sldId id="282" r:id="rId5"/>
    <p:sldId id="286" r:id="rId6"/>
    <p:sldId id="287" r:id="rId7"/>
    <p:sldId id="258" r:id="rId8"/>
    <p:sldId id="259" r:id="rId9"/>
    <p:sldId id="260" r:id="rId10"/>
    <p:sldId id="261" r:id="rId11"/>
    <p:sldId id="262" r:id="rId12"/>
    <p:sldId id="263" r:id="rId13"/>
    <p:sldId id="264" r:id="rId14"/>
    <p:sldId id="265" r:id="rId15"/>
    <p:sldId id="266" r:id="rId16"/>
    <p:sldId id="267" r:id="rId17"/>
    <p:sldId id="269" r:id="rId18"/>
    <p:sldId id="276" r:id="rId19"/>
    <p:sldId id="270" r:id="rId20"/>
    <p:sldId id="271" r:id="rId21"/>
    <p:sldId id="277" r:id="rId22"/>
    <p:sldId id="285" r:id="rId23"/>
    <p:sldId id="272" r:id="rId24"/>
    <p:sldId id="283" r:id="rId25"/>
    <p:sldId id="268" r:id="rId26"/>
    <p:sldId id="273" r:id="rId27"/>
    <p:sldId id="274" r:id="rId28"/>
    <p:sldId id="275" r:id="rId29"/>
    <p:sldId id="278" r:id="rId30"/>
    <p:sldId id="279" r:id="rId31"/>
    <p:sldId id="280" r:id="rId32"/>
    <p:sldId id="28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77427" autoAdjust="0"/>
  </p:normalViewPr>
  <p:slideViewPr>
    <p:cSldViewPr snapToGrid="0" snapToObjects="1">
      <p:cViewPr varScale="1">
        <p:scale>
          <a:sx n="78" d="100"/>
          <a:sy n="78" d="100"/>
        </p:scale>
        <p:origin x="1308"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Before showing the belt program, explain who calls teleopPeriodic(). WPILib does.
Robot extends TimedRobot. That gives the program WPILib's repeating robot loop. We provide methods that TimedRobot calls at the correct time.
The normal loop period is about 20 milliseconds. That means WPILib gives the program another chance to read inputs and update outputs about 50 times each second.
Our methods should do a small amount of work and return. We do not place our own repeating while loop inside teleopPeriodic(). We also avoid Thread.sleep() because it delays the whole robot loop.
Ask the class: Who calls teleopPeriodic()? The answer is TimedRobot through WPILib. Our code overrides the method, but our code does not call it directly.
Transition: TimedRobot chooses which methods to call based on the robot's current mode.
Source: https://github.wpilib.org/allwpilib/docs/release/java/edu/wpi/first/wpilibj/TimedRobot.html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TimedRobot</a:t>
            </a:r>
            <a:r>
              <a:rPr lang="en-US" dirty="0"/>
              <a:t> calls </a:t>
            </a:r>
            <a:r>
              <a:rPr lang="en-US" dirty="0" err="1"/>
              <a:t>robotInit</a:t>
            </a:r>
            <a:r>
              <a:rPr lang="en-US" dirty="0"/>
              <a:t>() once when the robot program starts. We use it to create the objects and perform setup that the program needs before the repeating loop begins.
During each normal loop, </a:t>
            </a:r>
            <a:r>
              <a:rPr lang="en-US" dirty="0" err="1"/>
              <a:t>TimedRobot</a:t>
            </a:r>
            <a:r>
              <a:rPr lang="en-US" dirty="0"/>
              <a:t> calls </a:t>
            </a:r>
            <a:r>
              <a:rPr lang="en-US" dirty="0" err="1"/>
              <a:t>robotPeriodic</a:t>
            </a:r>
            <a:r>
              <a:rPr lang="en-US" dirty="0"/>
              <a:t>(). It also calls the periodic method for the current Driver Station mode.
If the robot is disabled, </a:t>
            </a:r>
            <a:r>
              <a:rPr lang="en-US" dirty="0" err="1"/>
              <a:t>disabledPeriodic</a:t>
            </a:r>
            <a:r>
              <a:rPr lang="en-US" dirty="0"/>
              <a:t>() runs. During autonomous, </a:t>
            </a:r>
            <a:r>
              <a:rPr lang="en-US" dirty="0" err="1"/>
              <a:t>autonomousPeriodic</a:t>
            </a:r>
            <a:r>
              <a:rPr lang="en-US" dirty="0"/>
              <a:t>() runs. During operator control, </a:t>
            </a:r>
            <a:r>
              <a:rPr lang="en-US" dirty="0" err="1"/>
              <a:t>teleopPeriodic</a:t>
            </a:r>
            <a:r>
              <a:rPr lang="en-US" dirty="0"/>
              <a:t>() runs. Test mode uses </a:t>
            </a:r>
            <a:r>
              <a:rPr lang="en-US" dirty="0" err="1"/>
              <a:t>testPeriodic</a:t>
            </a:r>
            <a:r>
              <a:rPr lang="en-US" dirty="0"/>
              <a:t>().
Mode-specific </a:t>
            </a:r>
            <a:r>
              <a:rPr lang="en-US" dirty="0" err="1"/>
              <a:t>init</a:t>
            </a:r>
            <a:r>
              <a:rPr lang="en-US" dirty="0"/>
              <a:t> methods also exist. For example, </a:t>
            </a:r>
            <a:r>
              <a:rPr lang="en-US" dirty="0" err="1"/>
              <a:t>teleopInit</a:t>
            </a:r>
            <a:r>
              <a:rPr lang="en-US" dirty="0"/>
              <a:t>() runs once when teleoperated mode begins. Keep that detail in the notes for now because the next demonstrations only need </a:t>
            </a:r>
            <a:r>
              <a:rPr lang="en-US" dirty="0" err="1"/>
              <a:t>teleopPeriodic</a:t>
            </a:r>
            <a:r>
              <a:rPr lang="en-US" dirty="0"/>
              <a:t>().
Connect this slide directly to the demonstrations that follow. The belt, roller, climber, and drivetrain examples place one hardware instruction in </a:t>
            </a:r>
            <a:r>
              <a:rPr lang="en-US" dirty="0" err="1"/>
              <a:t>teleopPeriodic</a:t>
            </a:r>
            <a:r>
              <a:rPr lang="en-US" dirty="0"/>
              <a:t>(). When the instructor enables teleoperated mode, </a:t>
            </a:r>
            <a:r>
              <a:rPr lang="en-US" dirty="0" err="1"/>
              <a:t>TimedRobot</a:t>
            </a:r>
            <a:r>
              <a:rPr lang="en-US" dirty="0"/>
              <a:t> calls that method repeatedly. Disabling the robot stops the hardware outputs.
Preview the finished program without teaching the scheduler yet. Later, </a:t>
            </a:r>
            <a:r>
              <a:rPr lang="en-US" dirty="0" err="1"/>
              <a:t>robotPeriodic</a:t>
            </a:r>
            <a:r>
              <a:rPr lang="en-US" dirty="0"/>
              <a:t>() will call the command scheduler. </a:t>
            </a:r>
            <a:r>
              <a:rPr lang="en-US" dirty="0" err="1"/>
              <a:t>TimedRobot</a:t>
            </a:r>
            <a:r>
              <a:rPr lang="en-US" dirty="0"/>
              <a:t> will still provide the repeating loop underneath the command-based code.
Ask the class: While the robot is in teleoperated mode, which two repeating methods run? The expected answer is </a:t>
            </a:r>
            <a:r>
              <a:rPr lang="en-US" dirty="0" err="1"/>
              <a:t>robotPeriodic</a:t>
            </a:r>
            <a:r>
              <a:rPr lang="en-US" dirty="0"/>
              <a:t>() and </a:t>
            </a:r>
            <a:r>
              <a:rPr lang="en-US" dirty="0" err="1"/>
              <a:t>teleopPeriodic</a:t>
            </a:r>
            <a:r>
              <a:rPr lang="en-US" dirty="0"/>
              <a:t>().
Source: https://github.wpilib.org/allwpilib/docs/release/java/edu/wpi/first/wpilibj/IterativeRobotBase.html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r>
              <a:rPr lang="en-US" dirty="0"/>
              <a:t>Make them look at the </a:t>
            </a:r>
            <a:r>
              <a:rPr lang="en-US" dirty="0" err="1"/>
              <a:t>roborio</a:t>
            </a:r>
            <a:r>
              <a:rPr lang="en-US" dirty="0"/>
              <a:t> and seem the wiring for these 2 motors from </a:t>
            </a:r>
            <a:r>
              <a:rPr lang="en-US" dirty="0" err="1"/>
              <a:t>thw</a:t>
            </a:r>
            <a:r>
              <a:rPr lang="en-US" dirty="0"/>
              <a:t>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brings the four direct hardware tests together on one robot.
On the electrical side, each PWM number identifies one roboRIO output. The number used in the Java constructor must match the physical port used by the signal cable. The drivetrain uses ports 0 through 3. The roller uses port 4, and the belt uses port 5.
The PCM communicates with the roboRIO over the CAN bus. The PDP stays connected at the far end of the standard CAN wiring because it contains the second CAN termination resistor. This project does not create a PDP object or refer to a PDP CAN ID in Java code.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same basic process we saw in the </a:t>
            </a:r>
            <a:r>
              <a:rPr lang="en-US" dirty="0" err="1"/>
              <a:t>TimedRobot</a:t>
            </a:r>
            <a:r>
              <a:rPr lang="en-US" dirty="0"/>
              <a:t> demonstration. The operator presses Button A, and Driver Station sends that information to the robot. The robot program sees that the button is pressed and runs the code that moves the belt inward. That code sends an output through PWM port 5 to the belt motor controller.
A more </a:t>
            </a:r>
            <a:r>
              <a:rPr lang="en-US" dirty="0" err="1"/>
              <a:t>coplex</a:t>
            </a:r>
            <a:r>
              <a:rPr lang="en-US" dirty="0"/>
              <a:t> robot needs to repeat this process for many buttons and mechanisms. If we put every button check and motor instruction inside </a:t>
            </a:r>
            <a:r>
              <a:rPr lang="en-US" dirty="0" err="1"/>
              <a:t>teleopPeriodic</a:t>
            </a:r>
            <a:r>
              <a:rPr lang="en-US" dirty="0"/>
              <a:t>(), the method will become difficult to manage. The next slide introduces the way command-based programming divides these jobs into smaller, organized parts.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another way of organizing a robot program. It does not change how a motor or controller works. It gives each part of the program a clear job.
</a:t>
            </a:r>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A subsystem contains the code for one mechanism. </a:t>
            </a:r>
            <a:r>
              <a:rPr lang="en-US" dirty="0" err="1"/>
              <a:t>BeltSubsystem</a:t>
            </a:r>
            <a:r>
              <a:rPr lang="en-US" dirty="0"/>
              <a:t> controls the belt motor.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explain each part before we return to the belt example.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Subsystems and commands have different jobs.</a:t>
            </a:r>
          </a:p>
          <a:p>
            <a:r>
              <a:rPr lang="en-US" dirty="0"/>
              <a:t>A subsystem controls a part of the robot’s hardware. For example, </a:t>
            </a:r>
            <a:r>
              <a:rPr lang="en-US" sz="1200" kern="1200" dirty="0" err="1">
                <a:solidFill>
                  <a:schemeClr val="tx1"/>
                </a:solidFill>
                <a:latin typeface="+mn-lt"/>
                <a:ea typeface="+mn-ea"/>
                <a:cs typeface="+mn-cs"/>
              </a:rPr>
              <a:t>BeltSubsystem</a:t>
            </a:r>
            <a:r>
              <a:rPr lang="en-US" dirty="0"/>
              <a:t> owns the belt motor controller and provides methods to run and stop the belt.</a:t>
            </a:r>
          </a:p>
          <a:p>
            <a:r>
              <a:rPr lang="en-US" dirty="0"/>
              <a:t>A command uses those methods to perform a specific action. </a:t>
            </a:r>
            <a:r>
              <a:rPr lang="en-US" sz="1200" kern="1200" dirty="0" err="1">
                <a:solidFill>
                  <a:schemeClr val="tx1"/>
                </a:solidFill>
                <a:latin typeface="+mn-lt"/>
                <a:ea typeface="+mn-ea"/>
                <a:cs typeface="+mn-cs"/>
              </a:rPr>
              <a:t>BeltInCommand</a:t>
            </a:r>
            <a:r>
              <a:rPr lang="en-US" dirty="0"/>
              <a:t> runs the belt at the intake speed. </a:t>
            </a:r>
            <a:r>
              <a:rPr lang="en-US" sz="1200" kern="1200" dirty="0" err="1">
                <a:solidFill>
                  <a:schemeClr val="tx1"/>
                </a:solidFill>
                <a:latin typeface="+mn-lt"/>
                <a:ea typeface="+mn-ea"/>
                <a:cs typeface="+mn-cs"/>
              </a:rPr>
              <a:t>BeltOutCommand</a:t>
            </a:r>
            <a:r>
              <a:rPr lang="en-US" dirty="0"/>
              <a:t> runs it in the opposite direction.</a:t>
            </a:r>
          </a:p>
          <a:p>
            <a:r>
              <a:rPr lang="en-US" dirty="0"/>
              <a:t>The motor-control code stays in one place. Button controls and autonomous code can both use the same subsystem methods without copying that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 subsystem may control more than one hardware device. For example, our </a:t>
            </a:r>
            <a:r>
              <a:rPr lang="en-US" sz="1200" kern="1200" dirty="0" err="1">
                <a:solidFill>
                  <a:schemeClr val="tx1"/>
                </a:solidFill>
                <a:latin typeface="+mn-lt"/>
                <a:ea typeface="+mn-ea"/>
                <a:cs typeface="+mn-cs"/>
              </a:rPr>
              <a:t>ShooterSubsystem</a:t>
            </a:r>
            <a:r>
              <a:rPr lang="en-US" dirty="0"/>
              <a:t> controlled two flywheel motors, a feeder motor, and several encoders. The subsystem contained the code for running those devices and measuring flywheel speed. The shoot command controlled the sequence: start the flywheels, wait until they reach the requested speed, and then run the feeder to shoot the ball. The intake was a separate mechanism, so it belonged in its own subsystem.</a:t>
            </a:r>
          </a:p>
          <a:p>
            <a:r>
              <a:rPr lang="en-US" dirty="0"/>
              <a:t>The simple division is:</a:t>
            </a:r>
          </a:p>
          <a:p>
            <a:r>
              <a:rPr lang="en-US" dirty="0"/>
              <a:t>Subsystems control the hardware. Commands organize the actions and timing.</a:t>
            </a:r>
          </a:p>
          <a:p>
            <a:br>
              <a:rPr lang="en-US" dirty="0"/>
            </a:br>
            <a:r>
              <a:rPr lang="en-US" dirty="0"/>
              <a:t>We will deal with more complex examples like this in future presentations.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subsystem from the project.
The private Talon field is the motor controller owned by BeltSubsystem. Keeping it private means commands cannot reach around the subsystem and control the motor directly.
The constructor creates the Talon using the PWM port stored in Constants. The run(speed) method sends a requested speed to the motor controller. The stop() method calls run(0), which gives the motor a zero output.
The public run() and stop() methods are the small set of controls that the rest of the robot program uses. Programmers often call this set of public methods an API.
The next slides show how a button starts a command and how that command uses these subsystem methods.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button binding connects an input to a command.
It’s how you tell the system to run commands when a controller button is press or used</a:t>
            </a:r>
          </a:p>
          <a:p>
            <a:endParaRPr lang="en-US" dirty="0"/>
          </a:p>
          <a:p>
            <a:r>
              <a:rPr lang="en-US" dirty="0"/>
              <a:t>This slide shows 3 examples. There are more and they can be more complex.</a:t>
            </a:r>
          </a:p>
          <a:p>
            <a:r>
              <a:rPr lang="en-US" dirty="0"/>
              <a:t>
</a:t>
            </a:r>
            <a:r>
              <a:rPr lang="en-US" dirty="0" err="1"/>
              <a:t>whileTrue</a:t>
            </a:r>
            <a:r>
              <a:rPr lang="en-US" dirty="0"/>
              <a:t> is useful for actions that should last only while the operator holds a button. </a:t>
            </a:r>
          </a:p>
          <a:p>
            <a:r>
              <a:rPr lang="en-US" dirty="0"/>
              <a:t>For example in our code pressing A starts </a:t>
            </a:r>
            <a:r>
              <a:rPr lang="en-US" dirty="0" err="1"/>
              <a:t>BeltInCommand</a:t>
            </a:r>
            <a:r>
              <a:rPr lang="en-US" dirty="0"/>
              <a:t>. </a:t>
            </a:r>
          </a:p>
          <a:p>
            <a:r>
              <a:rPr lang="en-US" dirty="0"/>
              <a:t>Releasing A cancels it, which causes the command's end method to stop the belt.
</a:t>
            </a:r>
            <a:r>
              <a:rPr lang="en-US" dirty="0" err="1"/>
              <a:t>onTrue</a:t>
            </a:r>
            <a:r>
              <a:rPr lang="en-US" dirty="0"/>
              <a:t> starts a command once when the button changes from released to pressed. </a:t>
            </a:r>
          </a:p>
          <a:p>
            <a:r>
              <a:rPr lang="en-US" dirty="0"/>
              <a:t>In this robot’s code the climber toggle uses </a:t>
            </a:r>
            <a:r>
              <a:rPr lang="en-US" dirty="0" err="1"/>
              <a:t>onTrue</a:t>
            </a:r>
            <a:r>
              <a:rPr lang="en-US" dirty="0"/>
              <a:t> because one press should cause one change of state.
A default command runs whenever its subsystem is available. </a:t>
            </a:r>
          </a:p>
          <a:p>
            <a:r>
              <a:rPr lang="en-US" dirty="0"/>
              <a:t>On this robot the </a:t>
            </a:r>
            <a:r>
              <a:rPr lang="en-US" dirty="0" err="1"/>
              <a:t>DriveTeleopCommand</a:t>
            </a:r>
            <a:r>
              <a:rPr lang="en-US" dirty="0"/>
              <a:t> is the default for </a:t>
            </a:r>
            <a:r>
              <a:rPr lang="en-US" dirty="0" err="1"/>
              <a:t>DriveSubsystem</a:t>
            </a:r>
            <a:r>
              <a:rPr lang="en-US" dirty="0"/>
              <a:t>, </a:t>
            </a:r>
          </a:p>
          <a:p>
            <a:r>
              <a:rPr lang="en-US" dirty="0"/>
              <a:t>so normal driving resumes whenever another drive command is not using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a default command runs whenever no other command is using its subsystem.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WPILib</a:t>
            </a:r>
            <a:r>
              <a:rPr lang="en-US" dirty="0"/>
              <a:t> calls these methods for us.
initialize runs once when the scheduler starts a command. execute then runs repeatedly while the command remains active. </a:t>
            </a:r>
            <a:r>
              <a:rPr lang="en-US" dirty="0" err="1"/>
              <a:t>isFinished</a:t>
            </a:r>
            <a:r>
              <a:rPr lang="en-US" dirty="0"/>
              <a:t> tells the scheduler whether the command has completed normally. end runs once when the command finishes or is interrupted.
</a:t>
            </a:r>
            <a:r>
              <a:rPr lang="en-US" dirty="0" err="1"/>
              <a:t>BeltInCommand</a:t>
            </a:r>
            <a:r>
              <a:rPr lang="en-US" dirty="0"/>
              <a:t> does not need initialize, so it uses the empty default implementation. Its execute method runs the belt. Its </a:t>
            </a:r>
            <a:r>
              <a:rPr lang="en-US" dirty="0" err="1"/>
              <a:t>isFinished</a:t>
            </a:r>
            <a:r>
              <a:rPr lang="en-US" dirty="0"/>
              <a:t> method returns false because the button binding controls how long it runs. Its end method stops the belt.
</a:t>
            </a:r>
            <a:r>
              <a:rPr lang="en-US"/>
              <a:t>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command example from the project. It uses the BeltSubsystem methods from the earlier slide.
The constructor receives BeltSubsystem and saves it in a field. The addRequirements line tells the scheduler that this command needs the belt. Point out the line now, but tell students that the later conflict example will explain why it matters.
While the command is active, execute() repeatedly calls beltSubsystem.run() with the configured belt speed. isFinished() returns false, so the command does not finish on its own. The whileTrue button binding controls how long it remains active.
This command does not override initialize() because it has no work that needs to happen only once when the command starts. WPILib uses the empty default implementation.
When the operator releases the button or another command interrupts this one, the scheduler calls end(). The end() method calls beltSubsystem.stop(), which sends zero output to the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actual robotPeriodic() method from Robot.java. The comments are part of the project source code.
The first comment documents the method's purpose. The comment inside the method reminds future programmers why the scheduler call belongs here. Neither comment runs as code.
WPILib calls robotPeriodic() automatically while the robot program is running. It calls this method in disabled, autonomous, teleoperated, and test modes. A normal call happens about every 20 milliseconds.
CommandScheduler.getInstance().run() tells the command scheduler to perform one pass through its work.
During that pass, the scheduler checks button bindings, runs active commands, stops commands that have ended, and starts default commands when their subsystems are available. The next slide breaks that pass into steps.
The scheduler does not need Robot.java to name BeltInCommand directly. RobotContainer created the button binding earlier, so the scheduler already knows what to start when Button A is pressed.
Connect this to the earlier TimedRobot demonstrations. Those examples placed hardware-control code directly in teleopPeriodic(). In the finished command-based robot, robotPeriodic() calls the scheduler, and the scheduler calls the correct command methods.
Ask the class: What would happen if we removed CommandScheduler.getInstance().run()? The program would stop processing button bindings, active commands, and default commands.
Transition: Now that we know where the scheduler is called, the next slide shows what it does during each pass.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cleanup half of the Button A story.
While A is held, the </a:t>
            </a:r>
            <a:r>
              <a:rPr lang="en-US" dirty="0" err="1"/>
              <a:t>whileTrue</a:t>
            </a:r>
            <a:r>
              <a:rPr lang="en-US" dirty="0"/>
              <a:t> binding keeps </a:t>
            </a:r>
            <a:r>
              <a:rPr lang="en-US" dirty="0" err="1"/>
              <a:t>BeltInCommand</a:t>
            </a:r>
            <a:r>
              <a:rPr lang="en-US" dirty="0"/>
              <a:t> active. When the operator releases A, the binding cancels the command. The scheduler then calls end(true). In this project, the end method calls </a:t>
            </a:r>
            <a:r>
              <a:rPr lang="en-US" dirty="0" err="1"/>
              <a:t>beltSubsystem.stop</a:t>
            </a:r>
            <a:r>
              <a:rPr lang="en-US" dirty="0"/>
              <a:t>(), and the subsystem writes 0.0 to the motor controller.
The motor does not stop because execute stopped running. It stops because end explicitly sends the stop request. This is why an empty end method is dangerous for a command that runs a motor.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743200"/>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t>A Student's Technical Guide to Robot Hardware, WPILib Command-Based Architecture, and Java Code</a:t>
            </a: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1200"/>
              </a:spcAft>
              <a:defRPr sz="1800" b="1">
                <a:solidFill>
                  <a:srgbClr val="1B2040"/>
                </a:solidFill>
                <a:latin typeface="Georgia"/>
              </a:defRPr>
            </a:pPr>
            <a:r>
              <a:rPr lang="en-US" b="1" dirty="0">
                <a:solidFill>
                  <a:srgbClr val="1B2144"/>
                </a:solidFill>
                <a:latin typeface="Georgia" panose="02040502050405020303" pitchFamily="18" charset="0"/>
              </a:rPr>
              <a:t>First, prove that the hardware works
1. Identify each motor, valve, port, and controller.
2. Run one component at a time with short </a:t>
            </a:r>
            <a:r>
              <a:rPr lang="en-US" b="1" dirty="0" err="1">
                <a:solidFill>
                  <a:srgbClr val="1B2144"/>
                </a:solidFill>
                <a:latin typeface="Georgia" panose="02040502050405020303" pitchFamily="18" charset="0"/>
              </a:rPr>
              <a:t>TimedRobot</a:t>
            </a:r>
            <a:r>
              <a:rPr lang="en-US" b="1" dirty="0">
                <a:solidFill>
                  <a:srgbClr val="1B2144"/>
                </a:solidFill>
                <a:latin typeface="Georgia" panose="02040502050405020303" pitchFamily="18" charset="0"/>
              </a:rPr>
              <a:t> programs.
3. Read a controller button and stop the output when the button is released.</a:t>
            </a:r>
            <a:endParaRPr b="1" dirty="0">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1200"/>
              </a:spcAft>
              <a:defRPr sz="1800" b="1">
                <a:solidFill>
                  <a:srgbClr val="1B2040"/>
                </a:solidFill>
                <a:latin typeface="Georgia"/>
              </a:defRPr>
            </a:pPr>
            <a:r>
              <a:rPr lang="en-US" b="1" dirty="0">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dirty="0">
              <a:solidFill>
                <a:srgbClr val="1B2144"/>
              </a:solidFill>
              <a:latin typeface="Georgia" panose="02040502050405020303" pitchFamily="18" charset="0"/>
            </a:endParaRP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a:t>
            </a:r>
            <a:r>
              <a:rPr lang="en-US"/>
              <a:t>Power Distribution Panel (PDP)</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t>• </a:t>
            </a:r>
            <a:r>
              <a:rPr lang="en-US"/>
              <a:t>Motor control:</a:t>
            </a:r>
            <a:endParaRPr dirty="0"/>
          </a:p>
          <a:p>
            <a:pPr>
              <a:spcAft>
                <a:spcPts val="600"/>
              </a:spcAft>
              <a:defRPr sz="1400">
                <a:solidFill>
                  <a:srgbClr val="1B2040"/>
                </a:solidFill>
                <a:latin typeface="Arial"/>
              </a:defRPr>
            </a:pPr>
            <a:r>
              <a:t>  </a:t>
            </a:r>
            <a:r>
              <a:rPr lang="en-US"/>
              <a:t>The roboRIO tells each motor controller how fast and which direction to run.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dirty="0">
                <a:solidFill>
                  <a:srgbClr val="1B2144"/>
                </a:solidFill>
                <a:latin typeface="Georgia" panose="02040502050405020303" pitchFamily="18" charset="0"/>
              </a:rPr>
              <a:t>Five single-component demos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Drivetrain motors on PWM 0 through 3</a:t>
            </a:r>
            <a:endParaRPr lang="en-US" sz="1600" b="1" dirty="0">
              <a:solidFill>
                <a:srgbClr val="1B2144"/>
              </a:solidFill>
              <a:latin typeface="Arial" panose="020B0604020202020204" pitchFamily="34" charset="0"/>
            </a:endParaRPr>
          </a:p>
          <a:p>
            <a:pPr marL="285750" indent="-285750">
              <a:spcAft>
                <a:spcPts val="600"/>
              </a:spcAft>
              <a:buFont typeface="Arial" panose="020B0604020202020204" pitchFamily="34" charset="0"/>
              <a:buChar char="•"/>
              <a:defRPr sz="1800" b="1">
                <a:solidFill>
                  <a:srgbClr val="1B2040"/>
                </a:solidFill>
                <a:latin typeface="Georgia"/>
              </a:defRPr>
            </a:pPr>
            <a:r>
              <a:rPr lang="en-US" sz="1600" b="1" dirty="0">
                <a:latin typeface="Georgia" panose="02040502050405020303" pitchFamily="18" charset="0"/>
              </a:rPr>
              <a:t>Reading controller inputs</a:t>
            </a:r>
          </a:p>
          <a:p>
            <a:pPr>
              <a:spcAft>
                <a:spcPts val="600"/>
              </a:spcAft>
              <a:defRPr sz="1800" b="1">
                <a:solidFill>
                  <a:srgbClr val="1B2040"/>
                </a:solidFill>
                <a:latin typeface="Georgia"/>
              </a:defRPr>
            </a:pPr>
            <a:endParaRPr lang="en-US" sz="1600" dirty="0">
              <a:solidFill>
                <a:srgbClr val="1B2144"/>
              </a:solidFill>
              <a:latin typeface="Arial" panose="020B0604020202020204" pitchFamily="34" charset="0"/>
            </a:endParaRP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Each program contains only the hardware it operates.</a:t>
            </a:r>
            <a:endParaRPr sz="1600" dirty="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dirty="0">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a:t>
            </a:r>
            <a:r>
              <a:rPr lang="en-US" sz="1600" dirty="0" err="1">
                <a:solidFill>
                  <a:srgbClr val="1B2144"/>
                </a:solidFill>
                <a:latin typeface="Arial" panose="020B0604020202020204" pitchFamily="34" charset="0"/>
              </a:rPr>
              <a:t>teleopPeriodic</a:t>
            </a:r>
            <a:r>
              <a:rPr lang="en-US" sz="1600" dirty="0">
                <a:solidFill>
                  <a:srgbClr val="1B2144"/>
                </a:solidFill>
                <a:latin typeface="Arial" panose="020B0604020202020204" pitchFamily="34" charset="0"/>
              </a:rPr>
              <a:t>() sends one fixed output.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No Xbox input for the 1</a:t>
            </a:r>
            <a:r>
              <a:rPr lang="en-US" sz="1600" baseline="30000" dirty="0">
                <a:solidFill>
                  <a:srgbClr val="1B2144"/>
                </a:solidFill>
                <a:latin typeface="Arial" panose="020B0604020202020204" pitchFamily="34" charset="0"/>
              </a:rPr>
              <a:t>st</a:t>
            </a:r>
            <a:r>
              <a:rPr lang="en-US" sz="1600" dirty="0">
                <a:solidFill>
                  <a:srgbClr val="1B2144"/>
                </a:solidFill>
                <a:latin typeface="Arial" panose="020B0604020202020204" pitchFamily="34" charset="0"/>
              </a:rPr>
              <a:t> 4 demos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No command-based classes yet.</a:t>
            </a:r>
          </a:p>
          <a:p>
            <a:pPr>
              <a:spcAft>
                <a:spcPts val="600"/>
              </a:spcAft>
              <a:defRPr sz="1800" b="1">
                <a:solidFill>
                  <a:srgbClr val="1B2040"/>
                </a:solidFill>
                <a:latin typeface="Georgia"/>
              </a:defRPr>
            </a:pPr>
            <a:endParaRPr lang="en-US" sz="1600" dirty="0">
              <a:solidFill>
                <a:srgbClr val="1B2144"/>
              </a:solidFill>
              <a:latin typeface="Arial" panose="020B0604020202020204" pitchFamily="34" charset="0"/>
            </a:endParaRP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Raise the drivetrain off the floor before enabling.</a:t>
            </a:r>
            <a:endParaRPr sz="1600" dirty="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707519" cy="261610"/>
          </a:xfrm>
          <a:prstGeom prst="rect">
            <a:avLst/>
          </a:prstGeom>
          <a:noFill/>
        </p:spPr>
        <p:txBody>
          <a:bodyPr wrap="none">
            <a:spAutoFit/>
          </a:bodyPr>
          <a:lstStyle/>
          <a:p>
            <a:pPr>
              <a:defRPr sz="1100" b="1">
                <a:solidFill>
                  <a:srgbClr val="D97724"/>
                </a:solidFill>
                <a:latin typeface="Arial"/>
              </a:defRPr>
            </a:pPr>
            <a:r>
              <a:rPr lang="en-US"/>
              <a:t>TIMEDROBOT BASICS</a:t>
            </a:r>
            <a:endParaRPr/>
          </a:p>
        </p:txBody>
      </p:sp>
      <p:sp>
        <p:nvSpPr>
          <p:cNvPr id="3" name="TextBox 2"/>
          <p:cNvSpPr txBox="1"/>
          <p:nvPr/>
        </p:nvSpPr>
        <p:spPr>
          <a:xfrm>
            <a:off x="731520" y="640080"/>
            <a:ext cx="6460423" cy="492443"/>
          </a:xfrm>
          <a:prstGeom prst="rect">
            <a:avLst/>
          </a:prstGeom>
          <a:noFill/>
        </p:spPr>
        <p:txBody>
          <a:bodyPr wrap="none">
            <a:spAutoFit/>
          </a:bodyPr>
          <a:lstStyle/>
          <a:p>
            <a:pPr>
              <a:defRPr sz="2600" b="1">
                <a:solidFill>
                  <a:srgbClr val="1B2040"/>
                </a:solidFill>
                <a:latin typeface="Georgia"/>
              </a:defRPr>
            </a:pPr>
            <a:r>
              <a:rPr lang="en-US"/>
              <a:t>TimedRobot runs the robot program</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err="1">
                <a:solidFill>
                  <a:srgbClr val="1B2243"/>
                </a:solidFill>
                <a:latin typeface="Georgia" panose="02040502050405020303" pitchFamily="18" charset="0"/>
              </a:rPr>
              <a:t>WPILib</a:t>
            </a:r>
            <a:r>
              <a:rPr lang="en-US" b="1" dirty="0">
                <a:solidFill>
                  <a:srgbClr val="1B2243"/>
                </a:solidFill>
                <a:latin typeface="Georgia" panose="02040502050405020303" pitchFamily="18" charset="0"/>
              </a:rPr>
              <a:t> provides the loop
• Starts the robot program.
• Calls our robot methods.
• Waits for the next cycle.
• Repeats about every 20 </a:t>
            </a:r>
            <a:r>
              <a:rPr lang="en-US" b="1" dirty="0" err="1">
                <a:solidFill>
                  <a:srgbClr val="1B2243"/>
                </a:solidFill>
                <a:latin typeface="Georgia" panose="02040502050405020303" pitchFamily="18" charset="0"/>
              </a:rPr>
              <a:t>ms.</a:t>
            </a:r>
            <a:endParaRPr b="1" dirty="0">
              <a:solidFill>
                <a:srgbClr val="1B2243"/>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We fill in the methods
• </a:t>
            </a:r>
            <a:r>
              <a:rPr lang="en-US" b="1" dirty="0">
                <a:solidFill>
                  <a:srgbClr val="197A5E"/>
                </a:solidFill>
                <a:latin typeface="Consolas" panose="020B0609020204030204" pitchFamily="49" charset="0"/>
              </a:rPr>
              <a:t>Robot</a:t>
            </a:r>
            <a:r>
              <a:rPr lang="en-US" b="1" dirty="0">
                <a:solidFill>
                  <a:srgbClr val="1B2243"/>
                </a:solidFill>
                <a:latin typeface="Georgia" panose="02040502050405020303" pitchFamily="18" charset="0"/>
              </a:rPr>
              <a:t> extends </a:t>
            </a:r>
            <a:r>
              <a:rPr lang="en-US" b="1" dirty="0" err="1">
                <a:solidFill>
                  <a:srgbClr val="197A5E"/>
                </a:solidFill>
                <a:latin typeface="Consolas" panose="020B0609020204030204" pitchFamily="49" charset="0"/>
              </a:rPr>
              <a:t>TimedRobot</a:t>
            </a:r>
            <a:r>
              <a:rPr lang="en-US" b="1" dirty="0">
                <a:solidFill>
                  <a:srgbClr val="1B2243"/>
                </a:solidFill>
                <a:latin typeface="Georgia" panose="02040502050405020303" pitchFamily="18" charset="0"/>
              </a:rPr>
              <a:t>.
• Our methods contain the robot code.
• Each method finishes and returns to </a:t>
            </a:r>
            <a:r>
              <a:rPr lang="en-US" b="1" dirty="0" err="1">
                <a:solidFill>
                  <a:srgbClr val="1B2243"/>
                </a:solidFill>
                <a:latin typeface="Georgia" panose="02040502050405020303" pitchFamily="18" charset="0"/>
              </a:rPr>
              <a:t>WPILib</a:t>
            </a:r>
            <a:r>
              <a:rPr lang="en-US" b="1" dirty="0">
                <a:solidFill>
                  <a:srgbClr val="1B2243"/>
                </a:solidFill>
                <a:latin typeface="Georgia" panose="02040502050405020303" pitchFamily="18" charset="0"/>
              </a:rPr>
              <a:t>.
• We do not write the repeating loop.</a:t>
            </a:r>
            <a:endParaRPr b="1" dirty="0">
              <a:solidFill>
                <a:srgbClr val="1B2243"/>
              </a:solidFill>
              <a:latin typeface="Georgia" panose="02040502050405020303" pitchFamily="18" charset="0"/>
            </a:endParaRPr>
          </a:p>
        </p:txBody>
      </p:sp>
    </p:spTree>
    <p:extLst>
      <p:ext uri="{BB962C8B-B14F-4D97-AF65-F5344CB8AC3E}">
        <p14:creationId xmlns:p14="http://schemas.microsoft.com/office/powerpoint/2010/main" val="3001836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707519" cy="261610"/>
          </a:xfrm>
          <a:prstGeom prst="rect">
            <a:avLst/>
          </a:prstGeom>
          <a:noFill/>
        </p:spPr>
        <p:txBody>
          <a:bodyPr wrap="none">
            <a:spAutoFit/>
          </a:bodyPr>
          <a:lstStyle/>
          <a:p>
            <a:pPr>
              <a:defRPr sz="1100" b="1">
                <a:solidFill>
                  <a:srgbClr val="D97724"/>
                </a:solidFill>
                <a:latin typeface="Arial"/>
              </a:defRPr>
            </a:pPr>
            <a:r>
              <a:rPr lang="en-US"/>
              <a:t>TIMEDROBOT BASICS</a:t>
            </a:r>
            <a:endParaRPr/>
          </a:p>
        </p:txBody>
      </p:sp>
      <p:sp>
        <p:nvSpPr>
          <p:cNvPr id="3" name="TextBox 2"/>
          <p:cNvSpPr txBox="1"/>
          <p:nvPr/>
        </p:nvSpPr>
        <p:spPr>
          <a:xfrm>
            <a:off x="731520" y="640080"/>
            <a:ext cx="8432117" cy="492443"/>
          </a:xfrm>
          <a:prstGeom prst="rect">
            <a:avLst/>
          </a:prstGeom>
          <a:noFill/>
        </p:spPr>
        <p:txBody>
          <a:bodyPr wrap="none">
            <a:spAutoFit/>
          </a:bodyPr>
          <a:lstStyle/>
          <a:p>
            <a:pPr>
              <a:defRPr sz="2600" b="1">
                <a:solidFill>
                  <a:srgbClr val="1B2040"/>
                </a:solidFill>
                <a:latin typeface="Georgia"/>
              </a:defRPr>
            </a:pPr>
            <a:r>
              <a:rPr lang="en-US"/>
              <a:t>TimedRobot calls methods for the current mode</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Called for the whole robot
</a:t>
            </a:r>
            <a:r>
              <a:rPr lang="en-US" b="1" dirty="0" err="1">
                <a:solidFill>
                  <a:srgbClr val="197A5E"/>
                </a:solidFill>
                <a:latin typeface="Consolas" panose="020B0609020204030204" pitchFamily="49" charset="0"/>
              </a:rPr>
              <a:t>robotInit</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Runs once when the program starts.
</a:t>
            </a:r>
            <a:r>
              <a:rPr lang="en-US" b="1" dirty="0" err="1">
                <a:solidFill>
                  <a:srgbClr val="197A5E"/>
                </a:solidFill>
                <a:latin typeface="Consolas" panose="020B0609020204030204" pitchFamily="49" charset="0"/>
              </a:rPr>
              <a:t>robotPeriodic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Runs about every 20 </a:t>
            </a:r>
            <a:r>
              <a:rPr lang="en-US" b="1" dirty="0" err="1">
                <a:solidFill>
                  <a:srgbClr val="1B2243"/>
                </a:solidFill>
                <a:latin typeface="Georgia" panose="02040502050405020303" pitchFamily="18" charset="0"/>
              </a:rPr>
              <a:t>ms</a:t>
            </a:r>
            <a:r>
              <a:rPr lang="en-US" b="1" dirty="0">
                <a:solidFill>
                  <a:srgbClr val="1B2243"/>
                </a:solidFill>
                <a:latin typeface="Georgia" panose="02040502050405020303" pitchFamily="18" charset="0"/>
              </a:rPr>
              <a:t> in every mode.</a:t>
            </a:r>
            <a:endParaRPr b="1" dirty="0">
              <a:solidFill>
                <a:srgbClr val="1B2243"/>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Based on selected mode run when enabled:
</a:t>
            </a:r>
            <a:r>
              <a:rPr lang="en-US" b="1" dirty="0" err="1">
                <a:solidFill>
                  <a:srgbClr val="197A5E"/>
                </a:solidFill>
                <a:latin typeface="Consolas" panose="020B0609020204030204" pitchFamily="49" charset="0"/>
              </a:rPr>
              <a:t>teleopPeriodic</a:t>
            </a:r>
            <a:r>
              <a:rPr lang="en-US" b="1" dirty="0">
                <a:solidFill>
                  <a:srgbClr val="197A5E"/>
                </a:solidFill>
                <a:latin typeface="Consolas" panose="020B0609020204030204" pitchFamily="49" charset="0"/>
              </a:rPr>
              <a:t>() </a:t>
            </a:r>
          </a:p>
          <a:p>
            <a:pPr>
              <a:defRPr sz="1800" b="1">
                <a:solidFill>
                  <a:srgbClr val="1B2040"/>
                </a:solidFill>
                <a:latin typeface="Georgia"/>
              </a:defRPr>
            </a:pPr>
            <a:endParaRPr lang="en-US" b="1" dirty="0">
              <a:solidFill>
                <a:srgbClr val="197A5E"/>
              </a:solidFill>
              <a:latin typeface="Consolas" panose="020B0609020204030204" pitchFamily="49" charset="0"/>
            </a:endParaRPr>
          </a:p>
          <a:p>
            <a:pPr>
              <a:defRPr sz="1800" b="1">
                <a:solidFill>
                  <a:srgbClr val="1B2040"/>
                </a:solidFill>
                <a:latin typeface="Georgia"/>
              </a:defRPr>
            </a:pPr>
            <a:r>
              <a:rPr lang="en-US" b="1" dirty="0" err="1">
                <a:solidFill>
                  <a:srgbClr val="197A5E"/>
                </a:solidFill>
                <a:latin typeface="Consolas" panose="020B0609020204030204" pitchFamily="49" charset="0"/>
              </a:rPr>
              <a:t>autonomousPeriodic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a:t>
            </a:r>
          </a:p>
          <a:p>
            <a:pPr>
              <a:defRPr sz="1800" b="1">
                <a:solidFill>
                  <a:srgbClr val="1B2040"/>
                </a:solidFill>
                <a:latin typeface="Georgia"/>
              </a:defRPr>
            </a:pPr>
            <a:r>
              <a:rPr lang="en-US" b="1" dirty="0" err="1">
                <a:solidFill>
                  <a:srgbClr val="197A5E"/>
                </a:solidFill>
                <a:latin typeface="Consolas" panose="020B0609020204030204" pitchFamily="49" charset="0"/>
              </a:rPr>
              <a:t>disabledPeriodic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a:t>
            </a:r>
            <a:r>
              <a:rPr lang="en-US" b="1" dirty="0" err="1">
                <a:solidFill>
                  <a:srgbClr val="197A5E"/>
                </a:solidFill>
                <a:latin typeface="Consolas" panose="020B0609020204030204" pitchFamily="49" charset="0"/>
              </a:rPr>
              <a:t>testPeriodic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a:t>
            </a:r>
          </a:p>
          <a:p>
            <a:pPr>
              <a:defRPr sz="1800" b="1">
                <a:solidFill>
                  <a:srgbClr val="1B2040"/>
                </a:solidFill>
                <a:latin typeface="Georgia"/>
              </a:defRPr>
            </a:pPr>
            <a:r>
              <a:rPr lang="en-US" b="1" dirty="0">
                <a:solidFill>
                  <a:srgbClr val="1B2243"/>
                </a:solidFill>
                <a:latin typeface="Georgia" panose="02040502050405020303" pitchFamily="18" charset="0"/>
              </a:rPr>
              <a:t>Runs about every 20 </a:t>
            </a:r>
            <a:r>
              <a:rPr lang="en-US" b="1" dirty="0" err="1">
                <a:solidFill>
                  <a:srgbClr val="1B2243"/>
                </a:solidFill>
                <a:latin typeface="Georgia" panose="02040502050405020303" pitchFamily="18" charset="0"/>
              </a:rPr>
              <a:t>ms</a:t>
            </a:r>
            <a:endParaRPr b="1" dirty="0">
              <a:solidFill>
                <a:srgbClr val="1B2243"/>
              </a:solidFill>
              <a:latin typeface="Georgia" panose="02040502050405020303" pitchFamily="18" charset="0"/>
            </a:endParaRPr>
          </a:p>
        </p:txBody>
      </p:sp>
      <p:pic>
        <p:nvPicPr>
          <p:cNvPr id="9" name="Picture 8">
            <a:extLst>
              <a:ext uri="{FF2B5EF4-FFF2-40B4-BE49-F238E27FC236}">
                <a16:creationId xmlns:a16="http://schemas.microsoft.com/office/drawing/2014/main" id="{4D931DFF-D127-FB9F-4665-A234873D6404}"/>
              </a:ext>
            </a:extLst>
          </p:cNvPr>
          <p:cNvPicPr>
            <a:picLocks noChangeAspect="1"/>
          </p:cNvPicPr>
          <p:nvPr/>
        </p:nvPicPr>
        <p:blipFill>
          <a:blip r:embed="rId3"/>
          <a:stretch>
            <a:fillRect/>
          </a:stretch>
        </p:blipFill>
        <p:spPr>
          <a:xfrm>
            <a:off x="9562598" y="2773932"/>
            <a:ext cx="1667108" cy="1143160"/>
          </a:xfrm>
          <a:prstGeom prst="rect">
            <a:avLst/>
          </a:prstGeom>
        </p:spPr>
      </p:pic>
    </p:spTree>
    <p:extLst>
      <p:ext uri="{BB962C8B-B14F-4D97-AF65-F5344CB8AC3E}">
        <p14:creationId xmlns:p14="http://schemas.microsoft.com/office/powerpoint/2010/main" val="43430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Reading controller inputs in </a:t>
            </a:r>
            <a:r>
              <a:rPr lang="en-US" sz="2600" b="1" dirty="0" err="1">
                <a:latin typeface="Georgia" panose="02040502050405020303" pitchFamily="18" charset="0"/>
              </a:rPr>
              <a:t>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nb-NO"/>
              <a:t>3. Robot code</a:t>
            </a:r>
            <a:br>
              <a:rPr lang="nb-NO"/>
            </a:br>
            <a:r>
              <a:rPr lang="nb-NO"/>
              <a:t>sees input</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 code</a:t>
            </a:r>
            <a:br>
              <a:rPr lang="en-US"/>
            </a:br>
            <a:r>
              <a:rPr lang="en-US"/>
              <a:t>runs</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 motor</a:t>
            </a:r>
            <a:br>
              <a:rPr lang="en-US"/>
            </a:br>
            <a:r>
              <a:rPr lang="en-US"/>
              <a:t>turns</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The robot program sees that A is pressed.
4. The program runs the code that moves the belt inward.
5. That code sends output to the belt motor on PWM port 5.
Next, we will see how command-based programming organizes these jobs.</a:t>
            </a:r>
            <a:endParaRPr sz="2000" b="1"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900" b="1" dirty="0">
                <a:latin typeface="Georgia" panose="02040502050405020303" pitchFamily="18" charset="0"/>
              </a:rPr>
              <a:t>Subsystems control hardware
• A subsystem owns one or more of the robot’s motors, valves, or sensors.
• It provides methods such as run(speed) and stop().
• Each robot mechanism has its own subsystem.</a:t>
            </a:r>
            <a:endParaRPr sz="19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Commands describe actions
• A command tells a subsystem what action to perform.
• It declares which subsystem it needs.
</a:t>
            </a:r>
            <a:r>
              <a:rPr lang="en-US" sz="2000" b="1">
                <a:latin typeface="Georgia" panose="02040502050405020303" pitchFamily="18" charset="0"/>
              </a:rPr>
              <a:t>• The scheduler calls its methods as the action starts, runs, and ends.</a:t>
            </a:r>
            <a:endParaRPr sz="2000" b="1" dirty="0">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985558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provides methods for controlling the belt</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07304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Button bindings can start and stop commands</a:t>
            </a:r>
            <a:endParaRPr sz="2600" b="1" dirty="0">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a:spcAft>
                <a:spcPts val="800"/>
              </a:spcAft>
              <a:defRPr sz="1800" b="1">
                <a:solidFill>
                  <a:srgbClr val="1B2040"/>
                </a:solidFill>
                <a:latin typeface="Georgia"/>
              </a:defRPr>
            </a:pPr>
            <a:r>
              <a:rPr lang="en-US" sz="1700" b="1" dirty="0" err="1">
                <a:latin typeface="Georgia" panose="02040502050405020303" pitchFamily="18" charset="0"/>
              </a:rPr>
              <a:t>whileTrue</a:t>
            </a:r>
            <a:r>
              <a:rPr lang="en-US" sz="170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when the button is pressed
Cancels it when the button is released.
Used for held-button controls.</a:t>
            </a:r>
            <a:endParaRPr sz="1700" b="1" dirty="0">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err="1">
                <a:latin typeface="Georgia" panose="02040502050405020303" pitchFamily="18" charset="0"/>
              </a:rPr>
              <a:t>onTrue</a:t>
            </a:r>
            <a:r>
              <a:rPr lang="en-US" sz="1700" b="1" dirty="0">
                <a:latin typeface="Georgia" panose="02040502050405020303" pitchFamily="18" charset="0"/>
              </a:rPr>
              <a:t>(...)</a:t>
            </a:r>
          </a:p>
          <a:p>
            <a:pPr>
              <a:spcAft>
                <a:spcPts val="800"/>
              </a:spcAft>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once when the button is pressed.
Used to toggle the climber arms.</a:t>
            </a:r>
            <a:endParaRPr sz="1700" b="1" dirty="0">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Default command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whenever no other command is using that subsystem.
Used for normal driving.</a:t>
            </a:r>
            <a:endParaRPr sz="1700" b="1" dirty="0">
              <a:latin typeface="Georgia" panose="020405020504050203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9302547"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a:rPr>
              <a:t>The scheduler calls four methods as a command runs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initialize()</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starts.
Prepares the action.</a:t>
            </a:r>
            <a:endParaRPr sz="1700" b="1" dirty="0">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a:latin typeface="Georgia" panose="02040502050405020303" pitchFamily="18" charset="0"/>
              </a:rPr>
              <a:t>execute()
</a:t>
            </a: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Runs repeatedly while the command is active.
Keeps the action running.</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err="1">
                <a:latin typeface="Georgia" panose="02040502050405020303" pitchFamily="18" charset="0"/>
              </a:rPr>
              <a:t>isFinished</a:t>
            </a:r>
            <a:r>
              <a:rPr lang="en-US" sz="165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65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Returns true when the command is done.
False keeps it running.</a:t>
            </a:r>
            <a:endParaRPr sz="1650" b="1" dirty="0">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end(interrupted)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stops.
Stops motors safely.</a:t>
            </a:r>
            <a:endParaRPr sz="1700" b="1" dirty="0">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885210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runs from button press to release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Robot.java calls the scheduler every cycle</a:t>
            </a:r>
            <a:endParaRPr sz="2600" b="1" dirty="0">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457200" tIns="182880" rIns="457200" bIns="182880" rtlCol="0" anchor="ctr"/>
          <a:lstStyle/>
          <a:p>
            <a:pPr>
              <a:defRPr sz="1100" b="1">
                <a:solidFill>
                  <a:srgbClr val="D97724"/>
                </a:solidFill>
                <a:latin typeface="Courier New"/>
              </a:defRPr>
            </a:pPr>
            <a:r>
              <a:rPr lang="en-US" sz="1400">
                <a:solidFill>
                  <a:srgbClr val="FF9124"/>
                </a:solidFill>
                <a:latin typeface="Consolas" panose="020B0609020204030204" pitchFamily="49" charset="0"/>
              </a:rPr>
              <a:t>/** NAME: robotPeriodic - runs the command scheduler every robot packet. */</a:t>
            </a:r>
            <a:r>
              <a:rPr lang="en-US" sz="1400">
                <a:solidFill>
                  <a:srgbClr val="F5F6FA"/>
                </a:solidFill>
                <a:latin typeface="Consolas" panose="020B0609020204030204" pitchFamily="49" charset="0"/>
              </a:rPr>
              <a:t>
</a:t>
            </a:r>
            <a:r>
              <a:rPr lang="en-US" sz="1400">
                <a:solidFill>
                  <a:srgbClr val="FF97CC"/>
                </a:solidFill>
                <a:latin typeface="Consolas" panose="020B0609020204030204" pitchFamily="49" charset="0"/>
              </a:rPr>
              <a:t>@Override</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public</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void</a:t>
            </a:r>
            <a:r>
              <a:rPr lang="en-US" sz="1400">
                <a:solidFill>
                  <a:srgbClr val="F5F6FA"/>
                </a:solidFill>
                <a:latin typeface="Consolas" panose="020B0609020204030204" pitchFamily="49" charset="0"/>
              </a:rPr>
              <a:t> </a:t>
            </a:r>
            <a:r>
              <a:rPr lang="en-US" sz="1400">
                <a:solidFill>
                  <a:srgbClr val="69F0C1"/>
                </a:solidFill>
                <a:latin typeface="Consolas" panose="020B0609020204030204" pitchFamily="49" charset="0"/>
              </a:rPr>
              <a:t>robotPeriodic</a:t>
            </a:r>
            <a:r>
              <a:rPr lang="en-US" sz="1400">
                <a:solidFill>
                  <a:srgbClr val="F5F6FA"/>
                </a:solidFill>
                <a:latin typeface="Consolas" panose="020B0609020204030204" pitchFamily="49" charset="0"/>
              </a:rPr>
              <a:t>() {
  </a:t>
            </a:r>
            <a:r>
              <a:rPr lang="en-US" sz="1400">
                <a:solidFill>
                  <a:srgbClr val="FF9124"/>
                </a:solidFill>
                <a:latin typeface="Consolas" panose="020B0609020204030204" pitchFamily="49" charset="0"/>
              </a:rPr>
              <a:t>// Command-based robots run bindings and default commands through the scheduler every cycle.</a:t>
            </a:r>
            <a:r>
              <a:rPr lang="en-US" sz="1400">
                <a:solidFill>
                  <a:srgbClr val="F5F6FA"/>
                </a:solidFill>
                <a:latin typeface="Consolas" panose="020B0609020204030204" pitchFamily="49" charset="0"/>
              </a:rPr>
              <a:t>
  </a:t>
            </a:r>
            <a:r>
              <a:rPr lang="en-US" sz="1400">
                <a:solidFill>
                  <a:srgbClr val="C7B4FF"/>
                </a:solidFill>
                <a:latin typeface="Consolas" panose="020B0609020204030204" pitchFamily="49" charset="0"/>
              </a:rPr>
              <a:t>CommandScheduler</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getInstance</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run</a:t>
            </a:r>
            <a:r>
              <a:rPr lang="en-US" sz="1400">
                <a:solidFill>
                  <a:srgbClr val="F5F6FA"/>
                </a:solidFill>
                <a:latin typeface="Consolas" panose="020B0609020204030204" pitchFamily="49" charset="0"/>
              </a:rPr>
              <a:t>();
}</a:t>
            </a:r>
            <a:endParaRPr sz="1400">
              <a:solidFill>
                <a:srgbClr val="F5F6FA"/>
              </a:solidFill>
              <a:latin typeface="Consolas" panose="020B0609020204030204" pitchFamily="49" charset="0"/>
            </a:endParaRPr>
          </a:p>
        </p:txBody>
      </p:sp>
    </p:spTree>
    <p:extLst>
      <p:ext uri="{BB962C8B-B14F-4D97-AF65-F5344CB8AC3E}">
        <p14:creationId xmlns:p14="http://schemas.microsoft.com/office/powerpoint/2010/main" val="411731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a:t>
            </a:r>
            <a:r>
              <a:rPr lang="en-US" sz="2000" b="1" dirty="0" err="1">
                <a:latin typeface="Georgia" panose="02040502050405020303" pitchFamily="18" charset="0"/>
              </a:rPr>
              <a:t>Thread.sleep</a:t>
            </a:r>
            <a:r>
              <a:rPr lang="en-US" sz="2000" b="1" dirty="0">
                <a:latin typeface="Georgia" panose="02040502050405020303" pitchFamily="18" charset="0"/>
              </a:rPr>
              <a:t>() inside a command. It delays the rest of the robot program.</a:t>
            </a:r>
            <a:endParaRPr sz="2000" b="1" dirty="0">
              <a:latin typeface="Georgia" panose="0204050205040502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What happens when A is released
1. The </a:t>
            </a:r>
            <a:r>
              <a:rPr lang="en-US" sz="2000" b="1" dirty="0" err="1">
                <a:latin typeface="Georgia" panose="02040502050405020303" pitchFamily="18" charset="0"/>
              </a:rPr>
              <a:t>whileTrue</a:t>
            </a:r>
            <a:r>
              <a:rPr lang="en-US" sz="2000" b="1" dirty="0">
                <a:latin typeface="Georgia" panose="02040502050405020303" pitchFamily="18" charset="0"/>
              </a:rPr>
              <a:t> condition becomes false.
2. The scheduler cancels </a:t>
            </a:r>
            <a:r>
              <a:rPr lang="en-US" sz="2000" b="1" dirty="0" err="1">
                <a:latin typeface="Georgia" panose="02040502050405020303" pitchFamily="18" charset="0"/>
              </a:rPr>
              <a:t>BeltInCommand</a:t>
            </a:r>
            <a:r>
              <a:rPr lang="en-US" sz="2000" b="1" dirty="0">
                <a:latin typeface="Georgia" panose="02040502050405020303" pitchFamily="18" charset="0"/>
              </a:rPr>
              <a:t>.
3. The scheduler calls end(true).
4. end() calls </a:t>
            </a:r>
            <a:r>
              <a:rPr lang="en-US" sz="2000" b="1" dirty="0" err="1">
                <a:latin typeface="Georgia" panose="02040502050405020303" pitchFamily="18" charset="0"/>
              </a:rPr>
              <a:t>beltSubsystem.stop</a:t>
            </a:r>
            <a:r>
              <a:rPr lang="en-US" sz="2000" b="1" dirty="0">
                <a:latin typeface="Georgia" panose="02040502050405020303" pitchFamily="18" charset="0"/>
              </a:rPr>
              <a:t>().
5. </a:t>
            </a:r>
            <a:r>
              <a:rPr lang="en-US" sz="2000" b="1" dirty="0" err="1">
                <a:latin typeface="Georgia" panose="02040502050405020303" pitchFamily="18" charset="0"/>
              </a:rPr>
              <a:t>BeltSubsystem</a:t>
            </a:r>
            <a:r>
              <a:rPr lang="en-US" sz="2000" b="1" dirty="0">
                <a:latin typeface="Georgia" panose="02040502050405020303" pitchFamily="18" charset="0"/>
              </a:rPr>
              <a:t> writes 0.0 to the motor controller.
The belt stops even though execute() no longer runs.</a:t>
            </a:r>
            <a:endParaRPr sz="2000" b="1" dirty="0">
              <a:latin typeface="Georgia" panose="02040502050405020303"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76072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a:t>
            </a:r>
            <a:r>
              <a:rPr lang="en-US"/>
              <a:t>Contains Command classes that describe robot actions.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 static final int PCM = 0;
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Pr/>
            </a:br>
            <a:r>
              <a:t>(</a:t>
            </a:r>
            <a:r>
              <a:rPr lang="en-US"/>
              <a:t>Command methods</a:t>
            </a:r>
            <a:r>
              <a:t>)</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8374</Words>
  <Application>Microsoft Office PowerPoint</Application>
  <PresentationFormat>Widescreen</PresentationFormat>
  <Paragraphs>498</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23</cp:revision>
  <dcterms:created xsi:type="dcterms:W3CDTF">2013-01-27T09:14:16Z</dcterms:created>
  <dcterms:modified xsi:type="dcterms:W3CDTF">2026-10-08T06:43:30Z</dcterms:modified>
  <cp:category/>
</cp:coreProperties>
</file>