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5EE"/>
                </a:solidFill>
                <a:latin typeface="Georgia"/>
              </a:defRPr>
            </a:pPr>
            <a:r>
              <a:t>2020 FRC Robot Code Architecture &amp;</a:t>
            </a:r>
            <a:br/>
            <a:r>
              <a:t>Implementation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Verdana"/>
              </a:defRPr>
            </a:pPr>
            <a:r>
              <a:t>A Technical Guide to Robot Hardware, WPILib Command-Based Architecture, and Java Code</a:t>
            </a:r>
            <a:br/>
            <a:r>
              <a:t>Case Study: 4-Talon Drivetrain, Belt/Roller Transport, CTRE PCM Climber, and Dual CommandXboxControllers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Robot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Exploring physical mechanisms, PWM motor channels, pneumatics, and direct hardware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Physical Hardware Inventory &amp; Actuator Channel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523158"/>
              </p:ext>
            </p:extLst>
          </p:nvPr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Hardware Device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Bus / Channel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Configuration Notes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Drivetrain (4 Motors)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4x Talon SRX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0, 1 (Left)</a:t>
                      </a:r>
                    </a:p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2, 3 (Right)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Tank Drive. Left-side motors inverted due to mechanical mounting.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Ball Transport Belt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1x Talon SRX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Port 5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Feeds balls inward/outward through indexer.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Outtake 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1x Talon SRX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Port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High-speed ball ejection roller.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Climber Arms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1x Double Solenoid Valve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CTRE PCM ID 0</a:t>
                      </a:r>
                    </a:p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Channels 0/1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One valve feeds both cylinders through split air lines.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Verdana"/>
              </a:defRPr>
            </a:pPr>
            <a:r>
              <a:t>Hardware Inversion Note:</a:t>
            </a:r>
          </a:p>
          <a:p>
            <a:pPr>
              <a:defRPr sz="1100">
                <a:solidFill>
                  <a:srgbClr val="1E222A"/>
                </a:solidFill>
                <a:latin typeface="Verdana"/>
              </a:defRPr>
            </a:pPr>
            <a:r>
              <a:t>Because the left and right drive gearboxes are mounted symmetrically facing opposite directions, positive voltage on both sides drives left forward and right backward. The left-side motors must be inverted in software (leftDriveMotors.setInverted(true)) so positive speed drives both sides forward.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Running the belt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Bare-Minimum Belt Control Program: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Direct Hardware Actuation: Uses WPILib's Talon class on PWM Port 5 directly inside a TimedRobot program.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Continuous Teleop Execution: teleopPeriodic() runs continuously every 20ms while teleop is enabled.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Constant Power Output: Calls beltMotor.set(0.25) to run the belt at 25% power.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Automatic Safety Shutdown: Disabling the robot instantly cuts the roboRIO PWM signal to 0V, stopping the motor.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100">
                <a:solidFill>
                  <a:srgbClr val="ABB2BF"/>
                </a:solidFill>
                <a:latin typeface="Consolas"/>
              </a:defRPr>
            </a:pPr>
            <a:r>
              <a:t>package frc.robot;</a:t>
            </a:r>
            <a:br/>
            <a:br/>
            <a:r>
              <a:t>import edu.wpi.first.wpilibj.TimedRobot;</a:t>
            </a:r>
            <a:br/>
            <a:r>
              <a:t>import edu.wpi.first.wpilibj.motorcontrol.Talon;</a:t>
            </a:r>
            <a:br/>
            <a:br/>
            <a:r>
              <a:t>public class Robot extends TimedRobot {</a:t>
            </a:r>
            <a:br/>
            <a:r>
              <a:t>    // Talon motor controller on PWM Port 5</a:t>
            </a:r>
            <a:br/>
            <a:r>
              <a:t>    private final Talon beltMotor = new Talon(5);</a:t>
            </a:r>
            <a:br/>
            <a:br/>
            <a:r>
              <a:t>    @Override</a:t>
            </a:r>
            <a:br/>
            <a:r>
              <a:t>    public void teleopPeriodic() {</a:t>
            </a:r>
            <a:br/>
            <a:r>
              <a:t>        // Runs belt at 25% output continuously</a:t>
            </a:r>
            <a:br/>
            <a:r>
              <a:t>        beltMotor.set(0.25);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Roller Challenge: Running the Roller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What Changes From the Belt Program?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Identical Pattern, Different Channel: Operating the roller requires only changing the PWM channel and instance name.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PWM Port 4: The outtake roller is wired to PWM Port 4 (Talon rollerMotor = new Talon(4)).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Direct Actuation: rollerMotor.set(0.25) runs the outtake roller at 25% speed.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Key Observation: Every motor controller in WPILib uses the exact same set(double speed) API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100">
                <a:solidFill>
                  <a:srgbClr val="ABB2BF"/>
                </a:solidFill>
                <a:latin typeface="Consolas"/>
              </a:defRPr>
            </a:pPr>
            <a:r>
              <a:t>package frc.robot;</a:t>
            </a:r>
            <a:br/>
            <a:br/>
            <a:r>
              <a:t>import edu.wpi.first.wpilibj.TimedRobot;</a:t>
            </a:r>
            <a:br/>
            <a:r>
              <a:t>import edu.wpi.first.wpilibj.motorcontrol.Talon;</a:t>
            </a:r>
            <a:br/>
            <a:br/>
            <a:r>
              <a:t>public class Robot extends TimedRobot {</a:t>
            </a:r>
            <a:br/>
            <a:r>
              <a:t>    // Roller motor controller on PWM Port 4</a:t>
            </a:r>
            <a:br/>
            <a:r>
              <a:t>    private final Talon rollerMotor = new Talon(4);</a:t>
            </a:r>
            <a:br/>
            <a:br/>
            <a:r>
              <a:t>    @Override</a:t>
            </a:r>
            <a:br/>
            <a:r>
              <a:t>    public void teleopPeriodic() {</a:t>
            </a:r>
            <a:br/>
            <a:r>
              <a:t>        // Runs roller at 25% output continuously</a:t>
            </a:r>
            <a:br/>
            <a:r>
              <a:t>        rollerMotor.set(0.25);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Pneumatic Climber 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rPr lang="en-US"/>
              <a:t>One Valve Controls Both Arms
• One DoubleSolenoid: A single valve on CTRE PCM ID 0 controls the climber.
• PCM Channels 0 and 1: The forward and reverse coils use one channel pair.
• Split Air Lines: Each valve output splits to the matching port on both cylinders, so both pistons receive the same command.
• Shared Motion: kForward extends both arms. kReverse retracts both arms.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bIns="101600" rtlCol="0" anchor="t">
            <a:noAutofit/>
          </a:bodyPr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rPr lang="en-US" sz="1000"/>
              <a:t>package frc.robot;
import edu.wpi.first.wpilibj.DoubleSolenoid;
import edu.wpi.first.wpilibj.PneumaticsModuleType;
import edu.wpi.first.wpilibj.TimedRobot;
/**
 * NAME
 *     Robot - extends both climber arms through one valve.
 *
 * DESCRIPTION
 *     One double-solenoid valve feeds both cylinders.
 */
public class Robot extends TimedRobot {
    private final DoubleSolenoid climberSolenoid =
        new DoubleSolenoid(
            0, PneumaticsModuleType.CTREPCM, 0, 1);
    @Override
    public void teleopPeriodic() {
        climberSolenoid.set(
            DoubleSolenoid.Value.kForward);
    }
}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4-Motor Drivetrain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91B1B"/>
                </a:solidFill>
                <a:latin typeface="Verdana"/>
              </a:defRPr>
            </a:pPr>
            <a:r>
              <a:t>SAFETY WARNING:</a:t>
            </a:r>
            <a:br/>
            <a:r>
              <a:t>Place the robot securely on blocks off the floor before enabling this test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4 Motors Across PWM 0..3: Front-left (PWM 0), Back-left (PWM 1), Back-right (PWM 2), Front-right (PWM 3).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Sign Inversion (-0.15 vs +0.15): Drives left side at -0.15 and right side at +0.15 to account for left-side motor inversion.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t>package frc.robot;</a:t>
            </a:r>
            <a:br/>
            <a:br/>
            <a:r>
              <a:t>import edu.wpi.first.wpilibj.TimedRobot;</a:t>
            </a:r>
            <a:br/>
            <a:r>
              <a:t>import edu.wpi.first.wpilibj.motorcontrol.Talon;</a:t>
            </a:r>
            <a:br/>
            <a:br/>
            <a:r>
              <a:t>public class Robot extends TimedRobot {</a:t>
            </a:r>
            <a:br/>
            <a:r>
              <a:t>    private final Talon frontLeft = new Talon(0);</a:t>
            </a:r>
            <a:br/>
            <a:r>
              <a:t>    private final Talon backLeft = new Talon(1);</a:t>
            </a:r>
            <a:br/>
            <a:r>
              <a:t>    private final Talon backRight = new Talon(2);</a:t>
            </a:r>
            <a:br/>
            <a:r>
              <a:t>    private final Talon frontRight = new Talon(3);</a:t>
            </a:r>
            <a:br/>
            <a:br/>
            <a:r>
              <a:t>    @Override</a:t>
            </a:r>
            <a:br/>
            <a:r>
              <a:t>    public void teleopPeriodic() {</a:t>
            </a:r>
            <a:br/>
            <a:r>
              <a:t>        // Left side inverted in software</a:t>
            </a:r>
            <a:br/>
            <a:r>
              <a:t>        frontLeft.set(-0.15);</a:t>
            </a:r>
            <a:br/>
            <a:r>
              <a:t>        backLeft.set(-0.15);</a:t>
            </a:r>
            <a:br/>
            <a:br/>
            <a:r>
              <a:t>        frontRight.set(0.15);</a:t>
            </a:r>
            <a:br/>
            <a:r>
              <a:t>        backRight.set(0.15);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Controlling several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16A34A"/>
                </a:solidFill>
                <a:latin typeface="Verdana"/>
              </a:defRPr>
            </a:pPr>
            <a:r>
              <a:t>Direct Control Strengths: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1-to-1 Hardware Verification: Simple TimedRobot code proves electrical wiring, PWM ports, and PCM channels function.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Zero Framework Overhead: Directly invokes motor.set() without configuring commands or scheduling rules.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Isolated Testing: Validates direction and motor response on blocks prior to driving.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System Coordination Bottlenecks: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Monolithic teleopPeriodic(): Mixing joysticks, buttons, and 4 mechanisms into one huge loop leads to chaotic nested if-else logic.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Hardware Conflicts: What happens if two buttons try to command the same belt motor at once?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No Clean State Cleanup: Button releases, interruptions, and automated scoring sequences require complex state tracking flags.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Human Controls &amp; Dual CommandXboxController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Verdana"/>
              </a:defRPr>
            </a:pPr>
            <a:r>
              <a:t>DRIVER CONTROLLER (USB Port 0)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Left Stick Y: Commands left-side drivetrain speed (-1.0 to +1.0).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Right Stick Y: Commands right-side drivetrain speed (-1.0 to +1.0).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Right Bumper (Held): Activates Precision Slow Drive Mode (scales speed from 40% down to 20%).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Deadband: Applies 0.08 deadband to eliminate stick drift near center.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rPr lang="en-US"/>
              <a:t>OPERATOR CONTROLLER (USB Port 1)
• Button A (Held): Runs Ball Transport Belt Inward (+1.0 speed).
• Button B (Held): Runs Ball Transport Belt Outward (-1.0 speed).
• Button X (Held): Runs Outtake Roller (+1.0 speed).
• Button Y (Pressed): Toggles the shared climber valve, extending or retracting both arms.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Driver Station USB Setup &amp; Live Telemetry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Driver Station USB Slot Rules: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Index Matching: The Driver Station USB tab assigns numeric port slots (0, 1, 2...). Software constants DRIVER_CONTROLLER = 0 and OPERATOR_CONTROLLER = 1 must match physical USB slots.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Port Swap Misconfigurations: If controllers are plugged in backwards (Operator in Slot 0, Driver in Slot 1), stick inputs drive the wrong mechanisms.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Live Diagnostic Grid: Pressing physical buttons on the Xbox controller lights up indicators in the live Driver Station telemetry grid to confirm mapping before enabling.</a:t>
            </a:r>
          </a:p>
        </p:txBody>
      </p:sp>
      <p:pic>
        <p:nvPicPr>
          <p:cNvPr id="5" name="Picture 4" descr="Screenshot_2026-10-05_185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4451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Button A reaches PWM port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PWM 5 Motor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Verdana"/>
              </a:defRPr>
            </a:pPr>
            <a:r>
              <a:t>PHYSICAL SIGNAL ORIGIN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1. Human Press: Thumb depresses Button A on Operator Xbox Controller (USB Port 1).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2. USB HID Packet: Controller micro-ASIC encodes button state and sends USB packet to Driver Station laptop.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3. UDP Network Packet: Driver Station software packages HID state into a 20ms UDP packet sent over Ethernet/Wi-Fi to roboRIO.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400" b="1">
                <a:solidFill>
                  <a:srgbClr val="16A34A"/>
                </a:solidFill>
                <a:latin typeface="Verdana"/>
              </a:defRPr>
            </a:pPr>
            <a:r>
              <a:t>ACTUATOR OUTPUT DESTINATION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4. roboRIO HAL/FPGA: DriverStation HAL updates internal button array during 20ms periodic pass.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5. PWM 5 Signal: Software commands beltMotor.set(1.0). roboRIO FPGA generates 1.0ms to 2.0ms pulse-width signal on PWM Port 5.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6. Motor Motion: Talon SRX reads PWM signal and meters +12V from Power Distribution Panel to drive belt motor inward.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Command-based robot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Managing hardware exclusivity, trigger bindings, lifecycle hooks, and the 20ms execution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Two commands request the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Verdana"/>
              </a:defRPr>
            </a:pPr>
            <a:r>
              <a:t>A Concrete Engineering Conflict: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1. Button A Request: Operator holds Button A -&gt; Triggers BeltInCommand -&gt; Commands belt motor +1.0 (Inward).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2. Button B Request: Simultaneously, Operator holds Button B -&gt; Triggers BeltOutCommand -&gt; Commands belt motor -1.0 (Outward).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3. The Conflict: Both commands target the exact same physical hardware (Talon SRX on PWM Port 5).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4. The Core Question: Which command owns the motor? What prevents the code from sending contradictory signals to the motor controller in the same 20ms loop pass?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2400E"/>
                </a:solidFill>
                <a:latin typeface="Verdana"/>
              </a:defRPr>
            </a:pPr>
            <a:r>
              <a:t>The Architectural Solution: Subsystem Requirements (addRequirements)</a:t>
            </a:r>
          </a:p>
          <a:p>
            <a:pPr>
              <a:defRPr sz="1100">
                <a:solidFill>
                  <a:srgbClr val="1E222A"/>
                </a:solidFill>
                <a:latin typeface="Verdana"/>
              </a:defRPr>
            </a:pPr>
            <a:r>
              <a:t>WPILib solves this through subsystem requirements. Commands must declare which hardware resources they require. The CommandScheduler enforces hardware exclusivity, cancelling the older command before starting the new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Subsystem Requirements &amp; Hardware Exclusivity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How addRequirements(subsystem) Works: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Resource Registration: Inside a Command's constructor, calling addRequirements(beltSubsystem) registers the subsystem as a required resource.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Scheduler Exclusivity Referee: The CommandScheduler tracks which command currently owns each subsystem.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Automatic Interrupt &amp; Cleanup: When Button B schedules BeltOutCommand, the scheduler sees that beltSubsystem is currently owned by BeltInCommand. It interrupts BeltInCommand, calls its end(true) method to safely stop the motor, and grants ownership to BeltOutCommand.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Scheduler Ownership Scope: Enforces ownership within the CommandScheduler list—it is a logical referee, not an OS thread mutex.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t>public class BeltInCommand extends Command {</a:t>
            </a:r>
            <a:br/>
            <a:r>
              <a:t>    private final BeltSubsystem beltSubsystem;</a:t>
            </a:r>
            <a:br/>
            <a:br/>
            <a:r>
              <a:t>    public BeltInCommand(BeltSubsystem beltSubsystem) {</a:t>
            </a:r>
            <a:br/>
            <a:r>
              <a:t>        this.beltSubsystem = beltSubsystem;</a:t>
            </a:r>
            <a:br/>
            <a:r>
              <a:t>        </a:t>
            </a:r>
            <a:br/>
            <a:r>
              <a:t>        // Declares exclusive hardware ownership</a:t>
            </a:r>
            <a:br/>
            <a:r>
              <a:t>        addRequirements(beltSubsystem);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void execute() {</a:t>
            </a:r>
            <a:br/>
            <a:r>
              <a:t>        beltSubsystem.run(Constants.Tuning.BELT_SPEED);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void end(boolean interrupted) {</a:t>
            </a:r>
            <a:br/>
            <a:r>
              <a:t>        // Invoked automatically when cancelled</a:t>
            </a:r>
            <a:br/>
            <a:r>
              <a:t>        beltSubsystem.stop();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Architectural Separation: Subsystems (HOW) vs. Commands (WHEN)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Verdana"/>
              </a:defRPr>
            </a:pPr>
            <a:r>
              <a:t>SUBSYSTEMS (SubsystemBase)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Hardware Ownership: Owns raw motor controllers (Talon), sensors, and solenoids in private fields.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Encapsulation (HOW): Defines public API methods for mechanism actions (run(speed), stop(), extendArms()).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Passive Capability: Knows HOW to move the hardware, but never decides WHEN to move.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Examples: DriveSubsystem, BeltSubsystem, RollerSubsystem, ClimberSubsystem.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COMMANDS (Command)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Execution Logic: Contains state machine rules and lifecycle methods (initialize, execute, end).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Action Sequencing (WHEN): Dictates WHEN hardware actions occur in response to triggers or autonomous schedules.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Resource Locks: Declares required subsystems via addRequirements().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Examples: BeltInCommand, BeltOutCommand, ToggleClimberArmsCommand, DriveTeleopCommand.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Trigger Bindings: whileTrue, onTrue, and setDefaultCommand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Verdana"/>
              </a:defRPr>
            </a:pPr>
            <a:r>
              <a:t>whileTrue(command)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Momentary Active Control: Schedules command when button is pressed; keeps running while held.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Release Cancellation: Button release cancels command and invokes end(true) cleanup.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Used for: BeltInCommand, BeltOutCommand, RollerCommand, SlowDriveCommand.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Verdana"/>
              </a:defRPr>
            </a:pPr>
            <a:r>
              <a:t>onTrue(command)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One-Shot State Trigger: Schedules command once on initial press event.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Instant Execution: Command runs initialize() once and returns isFinished() = true immediately.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Used for: ToggleClimberArmsCommand.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16A34A"/>
                </a:solidFill>
                <a:latin typeface="Verdana"/>
              </a:defRPr>
            </a:pPr>
            <a:r>
              <a:t>setDefaultCommand(...)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Fallback Subsystem Command: Runs automatically whenever no other command is requiring the subsystem.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Continuous Active Control: Re-schedules every pass unreserved.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Used for: DriveTeleopCommand on DriveSubsystem.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Polymorphic Command Lifecycle Method Hooks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Lifecycle Method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When Invoked by CommandScheduler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Implementation Responsibility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initialize()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ONCE when the command is scheduled.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Set up initial state, reset timers, toggle solenoids.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execute()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REPEATEDLY every 20ms while command is active.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Pass motor speed setpoints to subsystem API methods.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isFinished()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Evaluated REPEATEDLY every 20ms after execute().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Return true when complete (instant) or false to keep running.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end(boolean interrupted)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ONCE when command finishes or is cancelled.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Safely shut off outputs (beltSubsystem.stop()).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The Fixed 20ms Single-Threaded CommandScheduler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Verdana"/>
              </a:defRPr>
            </a:pPr>
            <a:r>
              <a:t>5-Step Execution Sequence (runs synchronously inside Robot.robotPeriodic()):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Step 1: Poll Triggers — Scans registered CommandXboxController button state arrays for press/release events.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Step 2: Check isFinished() — Evaluates active commands; invokes end(false) for completed commands.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Step 3: Resolve &amp; Schedule — Schedules new commands; cancels conflicting commands claiming required subsystems.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Step 4: Execute Active Commands — Calls execute() sequentially on all active commands on the single main thread.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Step 5: Subsystem Periodic — Invokes periodic() on all registered SubsystemBase objects to update hardware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91B1B"/>
                </a:solidFill>
                <a:latin typeface="Verdana"/>
              </a:defRPr>
            </a:pPr>
            <a:r>
              <a:t>Single-Threaded Execution Rule:</a:t>
            </a:r>
          </a:p>
          <a:p>
            <a:pPr>
              <a:defRPr sz="1100">
                <a:solidFill>
                  <a:srgbClr val="1E222A"/>
                </a:solidFill>
                <a:latin typeface="Verdana"/>
              </a:defRPr>
            </a:pPr>
            <a:r>
              <a:t>The entire loop runs synchronously on the main thread. Never call Thread.sleep() inside a command's execute()—doing so freezes the entire robot loop, stalling communications, safety watchdogs, and all other mechanisms.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Releasing Button A stops the belt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PWM 5 Motor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STATE MACHINE CLEANUP TRACE ON BUTTON RELEASE: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1. Trigger State Transition: Operator releases Button A -&gt; CommandXboxController detects state change from TRUE to FALSE.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2. Command Cancellation: whileTrue() trigger condition becomes false -&gt; CommandScheduler cancels BeltInCommand.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3. end(true) Lifecycle Hook: CommandScheduler invokes BeltInCommand.end(true) with interrupted = true.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4. Subsystem Shutdown Method: BeltInCommand.end() calls beltSubsystem.stop().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5. Motor Voltage Cutoff: BeltSubsystem.stop() executes run(0.0) -&gt; beltMotor.set(0.0), bringing PWM Port 5 output voltage back to zero.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Project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Examining exact Java repository files: Constants.java, Subsystems, Commands, and RobotContainer.java.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Project Directory Tree &amp; 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00">
                <a:solidFill>
                  <a:srgbClr val="ABB2BF"/>
                </a:solidFill>
                <a:latin typeface="Consolas"/>
              </a:defRPr>
            </a:pPr>
            <a:r>
              <a:rPr lang="en-US"/>
              <a:t>src/main/java/frc/robot/</a:t>
            </a:r>
            <a:br>
              <a:rPr lang="en-US"/>
            </a:br>
            <a:r>
              <a:rPr lang="en-US"/>
              <a:t>├── Main.java                 &lt;- Entry point (starts Robot)</a:t>
            </a:r>
            <a:br>
              <a:rPr lang="en-US"/>
            </a:br>
            <a:r>
              <a:rPr lang="en-US"/>
              <a:t>├── Robot.java                &lt;- 20ms CommandScheduler loop</a:t>
            </a:r>
            <a:br>
              <a:rPr lang="en-US"/>
            </a:br>
            <a:r>
              <a:rPr lang="en-US"/>
              <a:t>├── RobotContainer.java       &lt;- Wiring hub &amp; button bindings</a:t>
            </a:r>
            <a:br>
              <a:rPr lang="en-US"/>
            </a:br>
            <a:r>
              <a:rPr lang="en-US"/>
              <a:t>├── Constants.java            &lt;- Hardware ports &amp; tuning</a:t>
            </a:r>
            <a:br>
              <a:rPr lang="en-US"/>
            </a:br>
            <a:r>
              <a:rPr lang="en-US"/>
              <a:t>├── subsystems/</a:t>
            </a:r>
            <a:br>
              <a:rPr lang="en-US"/>
            </a:br>
            <a:r>
              <a:rPr lang="en-US"/>
              <a:t>│   ├── DriveSubsystem.java   &lt;- 4-motor tank drive</a:t>
            </a:r>
            <a:br>
              <a:rPr lang="en-US"/>
            </a:br>
            <a:r>
              <a:rPr lang="en-US"/>
              <a:t>│   ├── BeltSubsystem.java    &lt;- Ball transport belt</a:t>
            </a:r>
            <a:br>
              <a:rPr lang="en-US"/>
            </a:br>
            <a:r>
              <a:rPr lang="en-US"/>
              <a:t>│   ├── RollerSubsystem.java  &lt;- Outtake roller</a:t>
            </a:r>
            <a:br>
              <a:rPr lang="en-US"/>
            </a:br>
            <a:r>
              <a:rPr lang="en-US"/>
              <a:t>│   └── ClimberSubsystem.java &lt;- One valve, two cylinders</a:t>
            </a:r>
            <a:br>
              <a:rPr lang="en-US"/>
            </a:br>
            <a:r>
              <a:rPr lang="en-US"/>
              <a:t>└── commands/</a:t>
            </a:r>
            <a:br>
              <a:rPr lang="en-US"/>
            </a:br>
            <a:r>
              <a:rPr lang="en-US"/>
              <a:t>    ├── DriveTeleopCommand.java</a:t>
            </a:r>
            <a:br>
              <a:rPr lang="en-US"/>
            </a:br>
            <a:r>
              <a:rPr lang="en-US"/>
              <a:t>    ├── BeltInCommand.java</a:t>
            </a:r>
            <a:br>
              <a:rPr lang="en-US"/>
            </a:br>
            <a:r>
              <a:rPr lang="en-US"/>
              <a:t>    ├── BeltOutCommand.java</a:t>
            </a:r>
            <a:br>
              <a:rPr lang="en-US"/>
            </a:br>
            <a:r>
              <a:rPr lang="en-US"/>
              <a:t>    ├── RollerCommand.java</a:t>
            </a:r>
            <a:br>
              <a:rPr lang="en-US"/>
            </a:br>
            <a:r>
              <a:rPr lang="en-US"/>
              <a:t>    ├── SlowDriveCommand.java</a:t>
            </a:r>
            <a:br>
              <a:rPr lang="en-US"/>
            </a:br>
            <a:r>
              <a:rPr lang="en-US"/>
              <a:t>    └── ToggleClimberArmsCommand.java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Repository Class Roles: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package frc.robot: Root package housing all robot Java source files.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Constants.java: Central configuration hub containing static inner classes for hardware ports and tuning values.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RobotContainer.java: Master wiring hub; instantiates hardware subsystems and connects controller triggers to commands.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subsystems/: Folder containing SubsystemBase classes that encapsulate motor controllers and solenoids.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commands/: Folder containing Command classes implementing action logic and lifecycle hooks.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Centralized Configuration: Constants.java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rPr lang="en-US"/>
              <a:t>Constants.java Structure
• Hardware ports: Stores every PWM channel and the PCM module ID.
• Climber valve: CLIMBER_SOLENOID_FORWARD and CLIMBER_SOLENOID_REVERSE identify PCM channels 0 and 1.
• Climber commands: CLIMBER_ARMS_OUT and CLIMBER_ARMS_IN name the two valve states.
• Operator and tuning groups: Store controller ports, motor speeds, drive scaling, and deadband values.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bIns="101600" rtlCol="0" anchor="t">
            <a:noAutofit/>
          </a:bodyPr>
          <a:lstStyle/>
          <a:p>
            <a:pPr algn="l">
              <a:defRPr sz="950">
                <a:solidFill>
                  <a:srgbClr val="ABB2BF"/>
                </a:solidFill>
                <a:latin typeface="Consolas"/>
              </a:defRPr>
            </a:pPr>
            <a:r>
              <a:rPr lang="en-US" sz="900"/>
              <a:t>package frc.robot;
import edu.wpi.first.wpilibj.DoubleSolenoid.Value;
public final class Constants {
    private Constants() {
    }
    public static final class Hardware {
        public static final int PWM_FRONT_LEFT_DRIVE = 0;
        public static final int PWM_BACK_LEFT_DRIVE = 1;
        public static final int PWM_BACK_RIGHT_DRIVE = 2;
        public static final int PWM_FRONT_RIGHT_DRIVE = 3;
        public static final int PWM_ROLLER = 4;
        public static final int PWM_BELT = 5;
        public static final int PCM = 0;
        public static final int CLIMBER_SOLENOID_FORWARD = 0;
        public static final int CLIMBER_SOLENOID_REVERSE = 1;
        public static final Value CLIMBER_ARMS_OUT = Value.kForward;
        public static final Value CLIMBER_ARMS_IN = Value.kReverse;
    }
}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Hardware Encapsulation: BeltSubsystem.java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BeltSubsystem Class Anatomy: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Extends SubsystemBase: Inherits subsystem capabilities and automatic periodic() registration with the scheduler.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Private Hardware Object: Private final Talon beltMotor hides raw PWM handle from external classes.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run(double speed) API: Public method allowing commands to set motor output speed.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stop() Method: Convenience API executing run(0.0) to command zero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00">
                <a:solidFill>
                  <a:srgbClr val="ABB2BF"/>
                </a:solidFill>
                <a:latin typeface="Consolas"/>
              </a:defRPr>
            </a:pPr>
            <a:r>
              <a:t>package frc.robot.subsystems;</a:t>
            </a:r>
            <a:br/>
            <a:br/>
            <a:r>
              <a:t>import edu.wpi.first.wpilibj.motorcontrol.Talon;</a:t>
            </a:r>
            <a:br/>
            <a:r>
              <a:t>import edu.wpi.first.wpilibj2.command.SubsystemBase;</a:t>
            </a:r>
            <a:br/>
            <a:r>
              <a:t>import frc.robot.Constants;</a:t>
            </a:r>
            <a:br/>
            <a:br/>
            <a:r>
              <a:t>public class BeltSubsystem extends SubsystemBase {</a:t>
            </a:r>
            <a:br/>
            <a:r>
              <a:t>    private final Talon beltMotor;</a:t>
            </a:r>
            <a:br/>
            <a:br/>
            <a:r>
              <a:t>    public BeltSubsystem() {</a:t>
            </a:r>
            <a:br/>
            <a:r>
              <a:t>        beltMotor = new Talon(Constants.Hardware.PWM_BELT);</a:t>
            </a:r>
            <a:br/>
            <a:r>
              <a:t>    }</a:t>
            </a:r>
            <a:br/>
            <a:br/>
            <a:r>
              <a:t>    public void run(double speed) {</a:t>
            </a:r>
            <a:br/>
            <a:r>
              <a:t>        beltMotor.set(speed);</a:t>
            </a:r>
            <a:br/>
            <a:r>
              <a:t>    }</a:t>
            </a:r>
            <a:br/>
            <a:br/>
            <a:r>
              <a:t>    public void stop() {</a:t>
            </a:r>
            <a:br/>
            <a:r>
              <a:t>        run(0.0);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Action Execution Logic: BeltInCommand.java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BeltInCommand Class Anatomy: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Constructor Requirement: Calls addRequirements(beltSubsystem) to declare exclusive hardware ownership.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execute() Pass: Calls beltSubsystem.run(Constants.Tuning.BELT_SPEED) every 20ms.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isFinished() = false: Returns false so the command continues running while Button A is held.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end(boolean interrupted): Calls beltSubsystem.stop() when button is released or command is cancelled.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950">
                <a:solidFill>
                  <a:srgbClr val="ABB2BF"/>
                </a:solidFill>
                <a:latin typeface="Consolas"/>
              </a:defRPr>
            </a:pPr>
            <a:r>
              <a:t>package frc.robot.commands;</a:t>
            </a:r>
            <a:br/>
            <a:br/>
            <a:r>
              <a:t>import edu.wpi.first.wpilibj2.command.Command;</a:t>
            </a:r>
            <a:br/>
            <a:r>
              <a:t>import frc.robot.Constants;</a:t>
            </a:r>
            <a:br/>
            <a:r>
              <a:t>import frc.robot.subsystems.BeltSubsystem;</a:t>
            </a:r>
            <a:br/>
            <a:br/>
            <a:r>
              <a:t>public class BeltInCommand extends Command {</a:t>
            </a:r>
            <a:br/>
            <a:r>
              <a:t>    private final BeltSubsystem beltSubsystem;</a:t>
            </a:r>
            <a:br/>
            <a:br/>
            <a:r>
              <a:t>    public BeltInCommand(BeltSubsystem beltSubsystem) {</a:t>
            </a:r>
            <a:br/>
            <a:r>
              <a:t>        this.beltSubsystem = beltSubsystem;</a:t>
            </a:r>
            <a:br/>
            <a:r>
              <a:t>        addRequirements(beltSubsystem);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void execute() {</a:t>
            </a:r>
            <a:br/>
            <a:r>
              <a:t>        beltSubsystem.run(Constants.Tuning.BELT_SPEED);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void end(boolean interrupted) {</a:t>
            </a:r>
            <a:br/>
            <a:r>
              <a:t>        beltSubsystem.stop();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boolean isFinished() { return false;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Robot Wiring &amp; Event Bindings: RobotContainer.java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Central Event Wiring Hub: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Instantiates Controllers &amp; Subsystems: Instantiates driverController (Port 0), operatorController (Port 1), and all 4 hardware subsystems.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configureBindings(): Connects Xbox triggers to commands (a().whileTrue(BeltIn), b().whileTrue(BeltOut), x().whileTrue(Roller), y().onTrue(ToggleClimber)).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configureDefaultCommands(): Binds DriveTeleopCommand as default command on DriveSubsystem.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Note: Code simplified for slide display.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900">
                <a:solidFill>
                  <a:srgbClr val="ABB2BF"/>
                </a:solidFill>
                <a:latin typeface="Consolas"/>
              </a:defRPr>
            </a:pPr>
            <a:r>
              <a:t>// Note: Simplified code example for slide presentation</a:t>
            </a:r>
            <a:br/>
            <a:r>
              <a:t>public class RobotContainer {</a:t>
            </a:r>
            <a:br/>
            <a:r>
              <a:t>    private final CommandXboxController driverController = </a:t>
            </a:r>
            <a:br/>
            <a:r>
              <a:t>        new CommandXboxController(Constants.Operator.DRIVER_CONTROLLER);</a:t>
            </a:r>
            <a:br/>
            <a:r>
              <a:t>    private final CommandXboxController operatorController = </a:t>
            </a:r>
            <a:br/>
            <a:r>
              <a:t>        new CommandXboxController(Constants.Operator.OPERATOR_CONTROLLER);</a:t>
            </a:r>
            <a:br/>
            <a:br/>
            <a:r>
              <a:t>    private final DriveSubsystem driveSubsystem = new DriveSubsystem();</a:t>
            </a:r>
            <a:br/>
            <a:r>
              <a:t>    private final BeltSubsystem beltSubsystem = new BeltSubsystem();</a:t>
            </a:r>
            <a:br/>
            <a:br/>
            <a:r>
              <a:t>    private void configureBindings() {</a:t>
            </a:r>
            <a:br/>
            <a:r>
              <a:t>        // Operator Xbox Bindings</a:t>
            </a:r>
            <a:br/>
            <a:r>
              <a:t>        operatorController.a().whileTrue(new BeltInCommand(beltSubsystem));</a:t>
            </a:r>
            <a:br/>
            <a:r>
              <a:t>        operatorController.b().whileTrue(new BeltOutCommand(beltSubsystem));</a:t>
            </a:r>
            <a:br/>
            <a:r>
              <a:t>        operatorController.x().whileTrue(new RollerCommand(rollerSubsystem));</a:t>
            </a:r>
            <a:br/>
            <a:r>
              <a:t>        operatorController.y().onTrue(new ToggleClimberArmsCommand(climberSubsystem));</a:t>
            </a:r>
            <a:br/>
            <a:br/>
            <a:r>
              <a:t>        // Driver Xbox Binding</a:t>
            </a:r>
            <a:br/>
            <a:r>
              <a:t>        driverController.rightBumper().whileTrue(new SlowDriveCommand(driveSpeedMode));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Button A across the Java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PWM 5 Motor Output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4688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Repository File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Code Line / Method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Action Execution Responsibility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RobotContainer.java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operatorController.a().whileTrue(...)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Registers whileTrue trigger condition for Operator Button 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BeltInCommand.java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public BeltInCommand(BeltSubsystem...)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addRequirements(beltSubsystem);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Declares exclusive hardware requirement on BeltSubsystem.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BeltInCommand.java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execute() -&gt; beltSubsystem.run(...)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end() -&gt; beltSubsystem.stop()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Commands belt speed in execute(); stops belt in end() on button release.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BeltSubsystem.java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run(double speed) -&gt; beltMotor.set(speed)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stop() -&gt; run(0.0)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Sends speed setpoint directly to Talon motor controller on PWM Port 5.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Practice and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Student code-tracing exercises, technical investigation questions, and hardware protocols.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Trace another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Verdana"/>
              </a:defRPr>
            </a:pPr>
            <a:r>
              <a:rPr lang="en-US"/>
              <a:t>Student Code-Tracing Exercises
EX-01: Signal Path Tracing. Trace Operator Button X (Scoring Roller) from the physical press through RobotContainer.java, RollerCommand.java, and RollerSubsystem.java to PWM Port 4.
EX-02: Conflict Protection Analysis. Trace what happens when Button A (Belt In) and Button B (Belt Out) are pressed simultaneously. Identify the addRequirements() call that lets the scheduler enforce belt ownership.
EX-03: One-Shot vs. Held Lifecycle Comparison. Compare Button Y (ToggleClimberArmsCommand) with Button A (BeltInCommand). Why does isFinished() return true after initialize() toggles the shared climber valve?
EX-04: Driver Slow Drive Mode. Trace the Driver Right Bumper through SlowDriveCommand.java and DriveSpeedMode. Explain how the drive scale changes from 0.40 to 0.20.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Questions to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Verdana"/>
              </a:defRPr>
            </a:pPr>
            <a:r>
              <a:t>Technical Investigation Prompts:</a:t>
            </a:r>
          </a:p>
          <a:p>
            <a:pPr>
              <a:spcBef>
                <a:spcPts val="10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Question 1: Why is thinking of WPILib Command-Based as a 'multithreaded' application a serious mistake, and what happens if you call Thread.sleep() inside execute()?</a:t>
            </a:r>
          </a:p>
          <a:p>
            <a:pPr>
              <a:spcBef>
                <a:spcPts val="10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Question 2: If a programmer forgets to call addRequirements(subsystem) in a command's constructor, what bug occurs when two buttons commanding that subsystem are pressed at the same time?</a:t>
            </a:r>
          </a:p>
          <a:p>
            <a:pPr>
              <a:spcBef>
                <a:spcPts val="10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Question 3: How does the single-threaded 20ms CommandScheduler loop prevent race conditions when reading controller triggers and updating motor setpoints?</a:t>
            </a:r>
          </a:p>
          <a:p>
            <a:pPr>
              <a:spcBef>
                <a:spcPts val="10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Question 4: What is the mechanical and software difference between a momentary command (whileTrue) and a one-shot state toggle (onTrue)?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Hardware Protocol Appendix: PWM vs. CAN Bus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PWM Protocol (Current Robot Setup)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CAN Bus Protocol (Advanced Hardware)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Wiring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Point-to-point 3-wire cable from roboRIO PWM port to each Talon SRX.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Daisy-chained 2-wire differential bus (CAN High / CAN Low) linking all motor controllers.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Signal Direction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One-way control signal (roboRIO -&gt; Talon). No telemetry feedback.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Bi-directional data bus allowing real-time motor telemetry.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Telemetry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Open-loop voltage control only. Cannot read motor temperature, current draw, or encoder position.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Full closed-loop telemetry (current, voltage, temperature, position, velocity).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4576</Words>
  <Application>Microsoft Office PowerPoint</Application>
  <PresentationFormat>Widescreen</PresentationFormat>
  <Paragraphs>289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MONACHELLO</cp:lastModifiedBy>
  <cp:revision>2</cp:revision>
  <dcterms:created xsi:type="dcterms:W3CDTF">2013-01-27T09:14:16Z</dcterms:created>
  <dcterms:modified xsi:type="dcterms:W3CDTF">2026-10-07T07:22:33Z</dcterms:modified>
  <cp:category/>
</cp:coreProperties>
</file>