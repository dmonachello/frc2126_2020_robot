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84" r:id="rId3"/>
    <p:sldId id="257" r:id="rId4"/>
    <p:sldId id="282" r:id="rId5"/>
    <p:sldId id="286" r:id="rId6"/>
    <p:sldId id="287" r:id="rId7"/>
    <p:sldId id="258" r:id="rId8"/>
    <p:sldId id="259" r:id="rId9"/>
    <p:sldId id="260" r:id="rId10"/>
    <p:sldId id="261" r:id="rId11"/>
    <p:sldId id="262" r:id="rId12"/>
    <p:sldId id="263" r:id="rId13"/>
    <p:sldId id="264" r:id="rId14"/>
    <p:sldId id="265" r:id="rId15"/>
    <p:sldId id="266" r:id="rId16"/>
    <p:sldId id="267" r:id="rId17"/>
    <p:sldId id="269" r:id="rId18"/>
    <p:sldId id="276" r:id="rId19"/>
    <p:sldId id="270" r:id="rId20"/>
    <p:sldId id="271" r:id="rId21"/>
    <p:sldId id="277" r:id="rId22"/>
    <p:sldId id="285" r:id="rId23"/>
    <p:sldId id="272" r:id="rId24"/>
    <p:sldId id="283" r:id="rId25"/>
    <p:sldId id="268" r:id="rId26"/>
    <p:sldId id="273" r:id="rId27"/>
    <p:sldId id="274" r:id="rId28"/>
    <p:sldId id="275" r:id="rId29"/>
    <p:sldId id="278" r:id="rId30"/>
    <p:sldId id="279" r:id="rId31"/>
    <p:sldId id="280" r:id="rId32"/>
    <p:sldId id="28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55438" autoAdjust="0"/>
  </p:normalViewPr>
  <p:slideViewPr>
    <p:cSldViewPr snapToGrid="0" snapToObjects="1">
      <p:cViewPr varScale="1">
        <p:scale>
          <a:sx n="61" d="100"/>
          <a:sy n="61" d="100"/>
        </p:scale>
        <p:origin x="171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9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presentation focuses on how Java code controls the robot and how WPILib organizes that code. It does not teach the Java language. Students should learn Java syntax and programming fundamentals separately.
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showing the belt program, explain who calls teleopPeriodic(). WPILib does.
Robot extends TimedRobot. That gives the program WPILib's repeating robot loop. We provide methods that TimedRobot calls at the correct time.
The normal loop period is about 20 milliseconds. That means WPILib gives the program another chance to read inputs and update outputs about 50 times each second.
Our methods should do a small amount of work and return. We do not place our own repeating while loop inside teleopPeriodic(). We also avoid Thread.sleep() because it delays the whole robot loop.
Ask the class: Who calls teleopPeriodic()? The answer is TimedRobot through WPILib. Our code overrides the method, but our code does not call it directly.
Transition: TimedRobot chooses which methods to call based on the robot's current mode.
Source: https://github.wpilib.org/allwpilib/docs/release/java/edu/wpi/first/wpilibj/TimedRobot.html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None of the callback methods shown on this slide is mandatory. </a:t>
            </a:r>
            <a:r>
              <a:rPr lang="en-US" dirty="0" err="1"/>
              <a:t>TimedRobot</a:t>
            </a:r>
            <a:r>
              <a:rPr lang="en-US" dirty="0"/>
              <a:t> already supplies empty versions. We override a method only when our robot needs work done at that time.
</a:t>
            </a:r>
            <a:r>
              <a:rPr lang="en-US" dirty="0" err="1"/>
              <a:t>robotInit</a:t>
            </a:r>
            <a:r>
              <a:rPr lang="en-US" dirty="0"/>
              <a:t>() runs once when the robot program starts. In this project, it creates </a:t>
            </a:r>
            <a:r>
              <a:rPr lang="en-US" dirty="0" err="1"/>
              <a:t>RobotContainer</a:t>
            </a:r>
            <a:r>
              <a:rPr lang="en-US" dirty="0"/>
              <a:t> and performs the setup the program needs before the repeating loop begins.
</a:t>
            </a:r>
            <a:r>
              <a:rPr lang="en-US" dirty="0" err="1"/>
              <a:t>robotPeriodic</a:t>
            </a:r>
            <a:r>
              <a:rPr lang="en-US" dirty="0"/>
              <a:t>() runs about every 20 milliseconds in every Driver Station mode. In our finished command-based robot, this is where the real code calls </a:t>
            </a:r>
            <a:r>
              <a:rPr lang="en-US" dirty="0" err="1"/>
              <a:t>CommandScheduler.getInstance</a:t>
            </a:r>
            <a:r>
              <a:rPr lang="en-US" dirty="0"/>
              <a:t>().run(). That one call lets the scheduler check buttons, run commands, and manage default commands.
</a:t>
            </a:r>
            <a:r>
              <a:rPr lang="en-US" dirty="0" err="1"/>
              <a:t>TimedRobot</a:t>
            </a:r>
            <a:r>
              <a:rPr lang="en-US" dirty="0"/>
              <a:t> also calls one periodic method for the currently selected mode. If the robot is disabled, </a:t>
            </a:r>
            <a:r>
              <a:rPr lang="en-US" dirty="0" err="1"/>
              <a:t>disabledPeriodic</a:t>
            </a:r>
            <a:r>
              <a:rPr lang="en-US" dirty="0"/>
              <a:t>() is the mode method. During autonomous, </a:t>
            </a:r>
            <a:r>
              <a:rPr lang="en-US" dirty="0" err="1"/>
              <a:t>autonomousPeriodic</a:t>
            </a:r>
            <a:r>
              <a:rPr lang="en-US" dirty="0"/>
              <a:t>() is the mode method. During operator control, </a:t>
            </a:r>
            <a:r>
              <a:rPr lang="en-US" dirty="0" err="1"/>
              <a:t>teleopPeriodic</a:t>
            </a:r>
            <a:r>
              <a:rPr lang="en-US" dirty="0"/>
              <a:t>() is the mode method. Test mode uses </a:t>
            </a:r>
            <a:r>
              <a:rPr lang="en-US" dirty="0" err="1"/>
              <a:t>testPeriodic</a:t>
            </a:r>
            <a:r>
              <a:rPr lang="en-US" dirty="0"/>
              <a:t>(). Do not say these all run only while enabled; </a:t>
            </a:r>
            <a:r>
              <a:rPr lang="en-US" dirty="0" err="1"/>
              <a:t>disabledPeriodic</a:t>
            </a:r>
            <a:r>
              <a:rPr lang="en-US" dirty="0"/>
              <a:t>() specifically runs while the robot is disabled.
The small direct-hardware demonstrations that follow override </a:t>
            </a:r>
            <a:r>
              <a:rPr lang="en-US" dirty="0" err="1"/>
              <a:t>teleopPeriodic</a:t>
            </a:r>
            <a:r>
              <a:rPr lang="en-US" dirty="0"/>
              <a:t>() because we want the selected actuator to run repeatedly whenever teleoperated mode is enabled. Those demonstrations do not need the other periodic methods.
Mode-specific initialization methods also exist, such as </a:t>
            </a:r>
            <a:r>
              <a:rPr lang="en-US" dirty="0" err="1"/>
              <a:t>teleopInit</a:t>
            </a:r>
            <a:r>
              <a:rPr lang="en-US" dirty="0"/>
              <a:t>(), </a:t>
            </a:r>
            <a:r>
              <a:rPr lang="en-US" dirty="0" err="1"/>
              <a:t>autonomousInit</a:t>
            </a:r>
            <a:r>
              <a:rPr lang="en-US" dirty="0"/>
              <a:t>(), </a:t>
            </a:r>
            <a:r>
              <a:rPr lang="en-US" dirty="0" err="1"/>
              <a:t>disabledInit</a:t>
            </a:r>
            <a:r>
              <a:rPr lang="en-US" dirty="0"/>
              <a:t>(), and </a:t>
            </a:r>
            <a:r>
              <a:rPr lang="en-US" dirty="0" err="1"/>
              <a:t>testInit</a:t>
            </a:r>
            <a:r>
              <a:rPr lang="en-US" dirty="0"/>
              <a:t>(). Each runs once when the robot enters that mode. We will introduce those methods only when they help explain the real project.
In this project's current Robot.java, </a:t>
            </a:r>
            <a:r>
              <a:rPr lang="en-US" dirty="0" err="1"/>
              <a:t>robotInit</a:t>
            </a:r>
            <a:r>
              <a:rPr lang="en-US" dirty="0"/>
              <a:t>() and </a:t>
            </a:r>
            <a:r>
              <a:rPr lang="en-US" dirty="0" err="1"/>
              <a:t>robotPeriodic</a:t>
            </a:r>
            <a:r>
              <a:rPr lang="en-US" dirty="0"/>
              <a:t>() are important to normal operation. </a:t>
            </a:r>
            <a:r>
              <a:rPr lang="en-US" dirty="0" err="1"/>
              <a:t>autonomousInit</a:t>
            </a:r>
            <a:r>
              <a:rPr lang="en-US" dirty="0"/>
              <a:t>() and </a:t>
            </a:r>
            <a:r>
              <a:rPr lang="en-US" dirty="0" err="1"/>
              <a:t>teleopInit</a:t>
            </a:r>
            <a:r>
              <a:rPr lang="en-US" dirty="0"/>
              <a:t>() manage the custom </a:t>
            </a:r>
            <a:r>
              <a:rPr lang="en-US" dirty="0" err="1"/>
              <a:t>AutonomousMode</a:t>
            </a:r>
            <a:r>
              <a:rPr lang="en-US" dirty="0"/>
              <a:t> object. </a:t>
            </a:r>
            <a:r>
              <a:rPr lang="en-US" dirty="0" err="1"/>
              <a:t>disabledInit</a:t>
            </a:r>
            <a:r>
              <a:rPr lang="en-US" dirty="0"/>
              <a:t>(), </a:t>
            </a:r>
            <a:r>
              <a:rPr lang="en-US" dirty="0" err="1"/>
              <a:t>testInit</a:t>
            </a:r>
            <a:r>
              <a:rPr lang="en-US" dirty="0"/>
              <a:t>(), and </a:t>
            </a:r>
            <a:r>
              <a:rPr lang="en-US" dirty="0" err="1"/>
              <a:t>testPeriodic</a:t>
            </a:r>
            <a:r>
              <a:rPr lang="en-US" dirty="0"/>
              <a:t>() provide explicit safety behavior. The empty </a:t>
            </a:r>
            <a:r>
              <a:rPr lang="en-US" dirty="0" err="1"/>
              <a:t>teleopPeriodic</a:t>
            </a:r>
            <a:r>
              <a:rPr lang="en-US" dirty="0"/>
              <a:t>() override currently adds no behavior and could be removed without changing what the command-based robot does.
Teacher prompt: If we do not write an </a:t>
            </a:r>
            <a:r>
              <a:rPr lang="en-US" dirty="0" err="1"/>
              <a:t>autonomousPeriodic</a:t>
            </a:r>
            <a:r>
              <a:rPr lang="en-US" dirty="0"/>
              <a:t>() method, what happens? Expected answer: </a:t>
            </a:r>
            <a:r>
              <a:rPr lang="en-US" dirty="0" err="1"/>
              <a:t>TimedRobot</a:t>
            </a:r>
            <a:r>
              <a:rPr lang="en-US" dirty="0"/>
              <a:t> calls its inherited empty method, so no autonomous-periodic work is performed there.
Ask the class: While the robot is in teleoperated mode, which two repeating methods run? Expected answer: </a:t>
            </a:r>
            <a:r>
              <a:rPr lang="en-US" dirty="0" err="1"/>
              <a:t>robotPeriodic</a:t>
            </a:r>
            <a:r>
              <a:rPr lang="en-US" dirty="0"/>
              <a:t>() and </a:t>
            </a:r>
            <a:r>
              <a:rPr lang="en-US" dirty="0" err="1"/>
              <a:t>teleopPeriodic</a:t>
            </a:r>
            <a:r>
              <a:rPr lang="en-US" dirty="0"/>
              <a:t>().
Sources:
https://github.wpilib.org/allwpilib/docs/release/java/edu/wpi/first/wpilibj/TimedRobot.html
https://github.wpilib.org/allwpilib/docs/release/java/edu/wpi/first/wpilibj/IterativeRobotBase.html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br>
              <a:rPr lang="en-US" dirty="0"/>
            </a:br>
            <a:r>
              <a:rPr lang="en-US" dirty="0"/>
              <a:t>Look at the robot and see the wiring between the </a:t>
            </a:r>
            <a:r>
              <a:rPr lang="en-US" dirty="0" err="1"/>
              <a:t>roborio</a:t>
            </a:r>
            <a:r>
              <a:rPr lang="en-US" dirty="0"/>
              <a:t> PWM ports and the motor controller connected to the belt.</a:t>
            </a:r>
          </a:p>
          <a:p>
            <a:r>
              <a:rPr lang="en-US" dirty="0"/>
              <a:t>The code says it is connect to PWM port 5.</a:t>
            </a:r>
          </a:p>
          <a:p>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endParaRPr lang="en-US" dirty="0"/>
          </a:p>
          <a:p>
            <a:r>
              <a:rPr lang="en-US" dirty="0"/>
              <a:t>look at the </a:t>
            </a:r>
            <a:r>
              <a:rPr lang="en-US" dirty="0" err="1"/>
              <a:t>roborio</a:t>
            </a:r>
            <a:r>
              <a:rPr lang="en-US" dirty="0"/>
              <a:t> and see the wiring for these 2 motors from the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subsystem from the project.
The private Talon field is the motor controller owned by BeltSubsystem. Keeping it private means commands cannot reach around the subsystem and control the motor directly.
The constructor creates the Talon using the PWM port stored in Constants. The run(speed) method sends a requested speed to the motor controller. The stop() method calls run(0), which gives the motor a zero output.
The public run() and stop() methods are the small set of controls that the rest of the robot program uses. Programmers often call this set of public methods an API.
The next slides show how a button starts a command and how that command uses these subsystem methods.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command example from the project. It uses the BeltSubsystem methods from the earlier slide.
The constructor receives BeltSubsystem and saves it in a field. The addRequirements line tells the scheduler that this command needs the belt. Point out the line now, but tell students that the later conflict example will explain why it matters.
While the command is active, execute() repeatedly calls beltSubsystem.run() with the configured belt speed. isFinished() returns false, so the command does not finish on its own. The whileTrue button binding controls how long it remains active.
This command does not override initialize() because it has no work that needs to happen only once when the command starts. WPILib uses the empty default implementation.
When the operator releases the button or another command interrupts this one, the scheduler calls end(). The end() method calls beltSubsystem.stop(), which sends zero output to the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actual robotPeriodic() method from Robot.java. The comments are part of the project source code.
The first comment documents the method's purpose. The comment inside the method reminds future programmers why the scheduler call belongs here. Neither comment runs as code.
WPILib calls robotPeriodic() automatically while the robot program is running. It calls this method in disabled, autonomous, teleoperated, and test modes. A normal call happens about every 20 milliseconds.
CommandScheduler.getInstance().run() tells the command scheduler to perform one pass through its work.
During that pass, the scheduler checks button bindings, runs active commands, stops commands that have ended, and starts default commands when their subsystems are available. The next slide breaks that pass into steps.
The scheduler does not need Robot.java to name BeltInCommand directly. RobotContainer created the button binding earlier, so the scheduler already knows what to start when Button A is pressed.
Connect this to the earlier TimedRobot demonstrations. Those examples placed hardware-control code directly in teleopPeriodic(). In the finished command-based robot, robotPeriodic() calls the scheduler, and the scheduler calls the correct command methods.
Ask the class: What would happen if we removed CommandScheduler.getInstance().run()? The program would stop processing button bindings, active commands, and default commands.
Transition: Now that we know where the scheduler is called, the next slide shows what it does during each pass.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cleanup half of the Button A story.
While A is held, the </a:t>
            </a:r>
            <a:r>
              <a:rPr lang="en-US" dirty="0" err="1"/>
              <a:t>whileTrue</a:t>
            </a:r>
            <a:r>
              <a:rPr lang="en-US" dirty="0"/>
              <a:t> binding keeps </a:t>
            </a:r>
            <a:r>
              <a:rPr lang="en-US" dirty="0" err="1"/>
              <a:t>BeltInCommand</a:t>
            </a:r>
            <a:r>
              <a:rPr lang="en-US" dirty="0"/>
              <a:t> active. When the operator releases A, the binding cancels the command. The scheduler then calls end(true). In this project, the end method calls </a:t>
            </a:r>
            <a:r>
              <a:rPr lang="en-US" dirty="0" err="1"/>
              <a:t>beltSubsystem.stop</a:t>
            </a:r>
            <a:r>
              <a:rPr lang="en-US" dirty="0"/>
              <a:t>(), and the subsystem writes 0.0 to the motor controller.
The motor does not stop because execute stopped running. It stops because end explicitly sends the stop request. This is why an empty end method is dangerous for a command that runs a motor.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457083"/>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rPr lang="en-US"/>
              <a:t>A Student's Guide to Robot Hardware and WPILib Command-Based Architecture</a:t>
            </a:r>
          </a:p>
          <a:p>
            <a:pPr>
              <a:spcBef>
                <a:spcPts val="1400"/>
              </a:spcBef>
              <a:defRPr sz="1800">
                <a:solidFill>
                  <a:srgbClr val="D97724"/>
                </a:solidFill>
                <a:latin typeface="Arial"/>
              </a:defRPr>
            </a:pPr>
            <a:endParaRP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First, prove that the hardware works
1. Identify each motor, valve, port, and controller.
2. Run one component at a time with short </a:t>
            </a:r>
            <a:r>
              <a:rPr lang="en-US" b="1" dirty="0" err="1">
                <a:solidFill>
                  <a:srgbClr val="1B2144"/>
                </a:solidFill>
                <a:latin typeface="Georgia" panose="02040502050405020303" pitchFamily="18" charset="0"/>
              </a:rPr>
              <a:t>TimedRobot</a:t>
            </a:r>
            <a:r>
              <a:rPr lang="en-US" b="1" dirty="0">
                <a:solidFill>
                  <a:srgbClr val="1B2144"/>
                </a:solidFill>
                <a:latin typeface="Georgia" panose="02040502050405020303" pitchFamily="18" charset="0"/>
              </a:rPr>
              <a:t> programs.
3. Read a controller button and stop the output when the button is released.</a:t>
            </a:r>
            <a:endParaRPr b="1" dirty="0">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1200"/>
              </a:spcAft>
              <a:defRPr sz="1800" b="1">
                <a:solidFill>
                  <a:srgbClr val="1B2040"/>
                </a:solidFill>
                <a:latin typeface="Georgia"/>
              </a:defRPr>
            </a:pPr>
            <a:r>
              <a:rPr lang="en-US" b="1" dirty="0">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dirty="0">
              <a:solidFill>
                <a:srgbClr val="1B2144"/>
              </a:solidFill>
              <a:latin typeface="Georgia" panose="02040502050405020303" pitchFamily="18" charset="0"/>
            </a:endParaRPr>
          </a:p>
        </p:txBody>
      </p:sp>
      <p:sp>
        <p:nvSpPr>
          <p:cNvPr id="6" name="Java scope statement">
            <a:extLst>
              <a:ext uri="{FF2B5EF4-FFF2-40B4-BE49-F238E27FC236}">
                <a16:creationId xmlns:a16="http://schemas.microsoft.com/office/drawing/2014/main" id="{42785D78-FD31-0161-4F23-C627E6DB0E43}"/>
              </a:ext>
            </a:extLst>
          </p:cNvPr>
          <p:cNvSpPr txBox="1"/>
          <p:nvPr/>
        </p:nvSpPr>
        <p:spPr>
          <a:xfrm>
            <a:off x="731520" y="6369050"/>
            <a:ext cx="10698480" cy="230832"/>
          </a:xfrm>
          <a:prstGeom prst="rect">
            <a:avLst/>
          </a:prstGeom>
          <a:noFill/>
        </p:spPr>
        <p:txBody>
          <a:bodyPr vert="horz" lIns="0" tIns="0" rIns="0" bIns="0" rtlCol="0">
            <a:noAutofit/>
          </a:bodyPr>
          <a:lstStyle/>
          <a:p>
            <a:pPr algn="ctr"/>
            <a:r>
              <a:rPr lang="en-US" sz="1500" b="1">
                <a:solidFill>
                  <a:srgbClr val="E67A15"/>
                </a:solidFill>
                <a:latin typeface="Arial" panose="020B0604020202020204" pitchFamily="34" charset="0"/>
              </a:rPr>
              <a:t>We will explain what the robot code does, but this presentation does not teach Java syntax.</a:t>
            </a: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Five single-component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Drivetrain motors on PWM 0 through 3</a:t>
            </a:r>
            <a:endParaRPr lang="en-US" sz="1600" b="1" dirty="0">
              <a:solidFill>
                <a:srgbClr val="1B2144"/>
              </a:solidFill>
              <a:latin typeface="Arial" panose="020B0604020202020204" pitchFamily="34" charset="0"/>
            </a:endParaRPr>
          </a:p>
          <a:p>
            <a:pPr marL="285750" indent="-285750">
              <a:spcAft>
                <a:spcPts val="600"/>
              </a:spcAft>
              <a:buFont typeface="Arial" panose="020B0604020202020204" pitchFamily="34" charset="0"/>
              <a:buChar char="•"/>
              <a:defRPr sz="1800" b="1">
                <a:solidFill>
                  <a:srgbClr val="1B2040"/>
                </a:solidFill>
                <a:latin typeface="Georgia"/>
              </a:defRPr>
            </a:pPr>
            <a:r>
              <a:rPr lang="en-US" sz="1600" b="1" dirty="0">
                <a:latin typeface="Georgia" panose="02040502050405020303" pitchFamily="18" charset="0"/>
              </a:rPr>
              <a:t>Reading controller inputs</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Each program contains only the hardware it operates.</a:t>
            </a:r>
            <a:endParaRPr sz="1600" dirty="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dirty="0">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a:t>
            </a:r>
            <a:r>
              <a:rPr lang="en-US" sz="1600" dirty="0" err="1">
                <a:solidFill>
                  <a:srgbClr val="1B2144"/>
                </a:solidFill>
                <a:latin typeface="Arial" panose="020B0604020202020204" pitchFamily="34" charset="0"/>
              </a:rPr>
              <a:t>teleopPeriodic</a:t>
            </a:r>
            <a:r>
              <a:rPr lang="en-US" sz="1600" dirty="0">
                <a:solidFill>
                  <a:srgbClr val="1B2144"/>
                </a:solidFill>
                <a:latin typeface="Arial" panose="020B0604020202020204" pitchFamily="34" charset="0"/>
              </a:rPr>
              <a:t>() sends one fixed output.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Xbox input for the 1</a:t>
            </a:r>
            <a:r>
              <a:rPr lang="en-US" sz="1600" baseline="30000" dirty="0">
                <a:solidFill>
                  <a:srgbClr val="1B2144"/>
                </a:solidFill>
                <a:latin typeface="Arial" panose="020B0604020202020204" pitchFamily="34" charset="0"/>
              </a:rPr>
              <a:t>st</a:t>
            </a:r>
            <a:r>
              <a:rPr lang="en-US" sz="1600" dirty="0">
                <a:solidFill>
                  <a:srgbClr val="1B2144"/>
                </a:solidFill>
                <a:latin typeface="Arial" panose="020B0604020202020204" pitchFamily="34" charset="0"/>
              </a:rPr>
              <a:t> 4 demos</a:t>
            </a: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 No command-based classes yet.</a:t>
            </a:r>
          </a:p>
          <a:p>
            <a:pPr>
              <a:spcAft>
                <a:spcPts val="600"/>
              </a:spcAft>
              <a:defRPr sz="1800" b="1">
                <a:solidFill>
                  <a:srgbClr val="1B2040"/>
                </a:solidFill>
                <a:latin typeface="Georgia"/>
              </a:defRPr>
            </a:pPr>
            <a:endParaRPr lang="en-US" sz="1600" dirty="0">
              <a:solidFill>
                <a:srgbClr val="1B2144"/>
              </a:solidFill>
              <a:latin typeface="Arial" panose="020B0604020202020204" pitchFamily="34" charset="0"/>
            </a:endParaRPr>
          </a:p>
          <a:p>
            <a:pPr>
              <a:spcAft>
                <a:spcPts val="600"/>
              </a:spcAft>
              <a:defRPr sz="1800" b="1">
                <a:solidFill>
                  <a:srgbClr val="1B2040"/>
                </a:solidFill>
                <a:latin typeface="Georgia"/>
              </a:defRPr>
            </a:pPr>
            <a:r>
              <a:rPr lang="en-US" sz="1600" dirty="0">
                <a:solidFill>
                  <a:srgbClr val="1B2144"/>
                </a:solidFill>
                <a:latin typeface="Arial" panose="020B0604020202020204" pitchFamily="34" charset="0"/>
              </a:rPr>
              <a:t>Raise the drivetrain off the floor before enabling.</a:t>
            </a:r>
            <a:endParaRPr sz="1600" dirty="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6460423" cy="492443"/>
          </a:xfrm>
          <a:prstGeom prst="rect">
            <a:avLst/>
          </a:prstGeom>
          <a:noFill/>
        </p:spPr>
        <p:txBody>
          <a:bodyPr wrap="none">
            <a:spAutoFit/>
          </a:bodyPr>
          <a:lstStyle/>
          <a:p>
            <a:pPr>
              <a:defRPr sz="2600" b="1">
                <a:solidFill>
                  <a:srgbClr val="1B2040"/>
                </a:solidFill>
                <a:latin typeface="Georgia"/>
              </a:defRPr>
            </a:pPr>
            <a:r>
              <a:rPr lang="en-US"/>
              <a:t>TimedRobot runs the robot program</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provides the loop
• Starts the robot program.
• Calls our robot methods.
• Waits for the next cycle.
• Repeats about every 20 </a:t>
            </a:r>
            <a:r>
              <a:rPr lang="en-US" b="1" dirty="0" err="1">
                <a:solidFill>
                  <a:srgbClr val="1B2243"/>
                </a:solidFill>
                <a:latin typeface="Georgia" panose="02040502050405020303" pitchFamily="18" charset="0"/>
              </a:rPr>
              <a:t>ms.</a:t>
            </a:r>
            <a:endParaRPr b="1" dirty="0">
              <a:solidFill>
                <a:srgbClr val="1B2243"/>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defRPr sz="1800" b="1">
                <a:solidFill>
                  <a:srgbClr val="1B2040"/>
                </a:solidFill>
                <a:latin typeface="Georgia"/>
              </a:defRPr>
            </a:pPr>
            <a:r>
              <a:rPr lang="en-US" b="1" dirty="0">
                <a:solidFill>
                  <a:srgbClr val="1B2243"/>
                </a:solidFill>
                <a:latin typeface="Georgia" panose="02040502050405020303" pitchFamily="18" charset="0"/>
              </a:rPr>
              <a:t>We fill in the methods
• </a:t>
            </a:r>
            <a:r>
              <a:rPr lang="en-US" b="1" dirty="0">
                <a:solidFill>
                  <a:srgbClr val="197A5E"/>
                </a:solidFill>
                <a:latin typeface="Consolas" panose="020B0609020204030204" pitchFamily="49" charset="0"/>
              </a:rPr>
              <a:t>Robot</a:t>
            </a:r>
            <a:r>
              <a:rPr lang="en-US" b="1" dirty="0">
                <a:solidFill>
                  <a:srgbClr val="1B2243"/>
                </a:solidFill>
                <a:latin typeface="Georgia" panose="02040502050405020303" pitchFamily="18" charset="0"/>
              </a:rPr>
              <a:t> extends </a:t>
            </a:r>
            <a:r>
              <a:rPr lang="en-US" b="1" dirty="0" err="1">
                <a:solidFill>
                  <a:srgbClr val="197A5E"/>
                </a:solidFill>
                <a:latin typeface="Consolas" panose="020B0609020204030204" pitchFamily="49" charset="0"/>
              </a:rPr>
              <a:t>TimedRobot</a:t>
            </a:r>
            <a:r>
              <a:rPr lang="en-US" b="1" dirty="0">
                <a:solidFill>
                  <a:srgbClr val="1B2243"/>
                </a:solidFill>
                <a:latin typeface="Georgia" panose="02040502050405020303" pitchFamily="18" charset="0"/>
              </a:rPr>
              <a:t>.
• Our methods contain the robot code.
• Each method finishes and returns to </a:t>
            </a:r>
            <a:r>
              <a:rPr lang="en-US" b="1" dirty="0" err="1">
                <a:solidFill>
                  <a:srgbClr val="1B2243"/>
                </a:solidFill>
                <a:latin typeface="Georgia" panose="02040502050405020303" pitchFamily="18" charset="0"/>
              </a:rPr>
              <a:t>WPILib</a:t>
            </a:r>
            <a:r>
              <a:rPr lang="en-US" b="1" dirty="0">
                <a:solidFill>
                  <a:srgbClr val="1B2243"/>
                </a:solidFill>
                <a:latin typeface="Georgia" panose="02040502050405020303" pitchFamily="18" charset="0"/>
              </a:rPr>
              <a:t>.
• We do not write the repeating loop.</a:t>
            </a:r>
            <a:endParaRPr b="1" dirty="0">
              <a:solidFill>
                <a:srgbClr val="1B2243"/>
              </a:solidFill>
              <a:latin typeface="Georgia" panose="02040502050405020303" pitchFamily="18" charset="0"/>
            </a:endParaRPr>
          </a:p>
        </p:txBody>
      </p:sp>
    </p:spTree>
    <p:extLst>
      <p:ext uri="{BB962C8B-B14F-4D97-AF65-F5344CB8AC3E}">
        <p14:creationId xmlns:p14="http://schemas.microsoft.com/office/powerpoint/2010/main" val="3001836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707519" cy="261610"/>
          </a:xfrm>
          <a:prstGeom prst="rect">
            <a:avLst/>
          </a:prstGeom>
          <a:noFill/>
        </p:spPr>
        <p:txBody>
          <a:bodyPr wrap="none">
            <a:spAutoFit/>
          </a:bodyPr>
          <a:lstStyle/>
          <a:p>
            <a:pPr>
              <a:defRPr sz="1100" b="1">
                <a:solidFill>
                  <a:srgbClr val="D97724"/>
                </a:solidFill>
                <a:latin typeface="Arial"/>
              </a:defRPr>
            </a:pPr>
            <a:r>
              <a:rPr lang="en-US"/>
              <a:t>TIMEDROBOT BASICS</a:t>
            </a:r>
            <a:endParaRPr/>
          </a:p>
        </p:txBody>
      </p:sp>
      <p:sp>
        <p:nvSpPr>
          <p:cNvPr id="3" name="TextBox 2"/>
          <p:cNvSpPr txBox="1"/>
          <p:nvPr/>
        </p:nvSpPr>
        <p:spPr>
          <a:xfrm>
            <a:off x="731520" y="640080"/>
            <a:ext cx="9047670" cy="492443"/>
          </a:xfrm>
          <a:prstGeom prst="rect">
            <a:avLst/>
          </a:prstGeom>
          <a:noFill/>
        </p:spPr>
        <p:txBody>
          <a:bodyPr wrap="none">
            <a:spAutoFit/>
          </a:bodyPr>
          <a:lstStyle/>
          <a:p>
            <a:pPr>
              <a:defRPr sz="2600" b="1">
                <a:solidFill>
                  <a:srgbClr val="1B2040"/>
                </a:solidFill>
                <a:latin typeface="Georgia"/>
              </a:defRPr>
            </a:pPr>
            <a:r>
              <a:rPr lang="en-US" sz="2600" b="1">
                <a:solidFill>
                  <a:srgbClr val="2F3129"/>
                </a:solidFill>
                <a:latin typeface="Georgia" panose="02040502050405020303" pitchFamily="18" charset="0"/>
              </a:rPr>
              <a:t>We override only the TimedRobot methods we need</a:t>
            </a:r>
            <a:endParaRPr sz="2600" b="1">
              <a:solidFill>
                <a:srgbClr val="2F3129"/>
              </a:solidFill>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04800" tIns="381000" rIns="304800" bIns="228600" rtlCol="0" anchor="ctr">
            <a:noAutofit/>
          </a:bodyPr>
          <a:lstStyle/>
          <a:p>
            <a:pPr>
              <a:spcAft>
                <a:spcPts val="400"/>
              </a:spcAft>
              <a:defRPr sz="1800" b="1">
                <a:solidFill>
                  <a:srgbClr val="1B2040"/>
                </a:solidFill>
                <a:latin typeface="Georgia"/>
              </a:defRPr>
            </a:pPr>
            <a:r>
              <a:rPr lang="en-US" sz="2100" b="1">
                <a:solidFill>
                  <a:srgbClr val="2F3129"/>
                </a:solidFill>
                <a:latin typeface="Georgia" panose="02040502050405020303" pitchFamily="18" charset="0"/>
              </a:rPr>
              <a:t>Whole-robot methods</a:t>
            </a:r>
          </a:p>
          <a:p>
            <a:pPr>
              <a:spcAft>
                <a:spcPts val="400"/>
              </a:spcAft>
              <a:defRPr sz="1800" b="1">
                <a:solidFill>
                  <a:srgbClr val="1B2040"/>
                </a:solidFill>
                <a:latin typeface="Georgia"/>
              </a:defRPr>
            </a:pPr>
            <a:endParaRPr lang="en-US" sz="1700" b="1">
              <a:solidFill>
                <a:srgbClr val="2F3129"/>
              </a:solidFill>
              <a:latin typeface="Arial" panose="020B0604020202020204" pitchFamily="34" charset="0"/>
            </a:endParaRPr>
          </a:p>
          <a:p>
            <a:pPr>
              <a:spcAft>
                <a:spcPts val="400"/>
              </a:spcAft>
              <a:defRPr sz="1800" b="1">
                <a:solidFill>
                  <a:srgbClr val="1B2040"/>
                </a:solidFill>
                <a:latin typeface="Georgia"/>
              </a:defRPr>
            </a:pPr>
            <a:r>
              <a:rPr lang="en-US" b="1">
                <a:solidFill>
                  <a:srgbClr val="28835E"/>
                </a:solidFill>
                <a:latin typeface="Consolas" panose="020B0609020204030204" pitchFamily="49" charset="0"/>
              </a:rPr>
              <a:t>robotInit()</a:t>
            </a:r>
          </a:p>
          <a:p>
            <a:pPr>
              <a:spcAft>
                <a:spcPts val="400"/>
              </a:spcAft>
              <a:defRPr sz="1800" b="1">
                <a:solidFill>
                  <a:srgbClr val="1B2040"/>
                </a:solidFill>
                <a:latin typeface="Georgia"/>
              </a:defRPr>
            </a:pPr>
            <a:r>
              <a:rPr lang="en-US" sz="1700" b="1">
                <a:solidFill>
                  <a:srgbClr val="2F3129"/>
                </a:solidFill>
                <a:latin typeface="Arial" panose="020B0604020202020204" pitchFamily="34" charset="0"/>
              </a:rPr>
              <a:t>Runs once when the program starts.</a:t>
            </a:r>
          </a:p>
          <a:p>
            <a:pPr>
              <a:spcAft>
                <a:spcPts val="400"/>
              </a:spcAft>
              <a:defRPr sz="1800" b="1">
                <a:solidFill>
                  <a:srgbClr val="1B2040"/>
                </a:solidFill>
                <a:latin typeface="Georgia"/>
              </a:defRPr>
            </a:pPr>
            <a:endParaRPr lang="en-US" sz="1700" b="1">
              <a:solidFill>
                <a:srgbClr val="2F3129"/>
              </a:solidFill>
              <a:latin typeface="Arial" panose="020B0604020202020204" pitchFamily="34" charset="0"/>
            </a:endParaRPr>
          </a:p>
          <a:p>
            <a:pPr>
              <a:spcAft>
                <a:spcPts val="400"/>
              </a:spcAft>
              <a:defRPr sz="1800" b="1">
                <a:solidFill>
                  <a:srgbClr val="1B2040"/>
                </a:solidFill>
                <a:latin typeface="Georgia"/>
              </a:defRPr>
            </a:pPr>
            <a:r>
              <a:rPr lang="en-US" b="1">
                <a:solidFill>
                  <a:srgbClr val="28835E"/>
                </a:solidFill>
                <a:latin typeface="Consolas" panose="020B0609020204030204" pitchFamily="49" charset="0"/>
              </a:rPr>
              <a:t>robotPeriodic()</a:t>
            </a:r>
          </a:p>
          <a:p>
            <a:pPr>
              <a:spcAft>
                <a:spcPts val="400"/>
              </a:spcAft>
              <a:defRPr sz="1800" b="1">
                <a:solidFill>
                  <a:srgbClr val="1B2040"/>
                </a:solidFill>
                <a:latin typeface="Georgia"/>
              </a:defRPr>
            </a:pPr>
            <a:r>
              <a:rPr lang="en-US" sz="1700" b="1">
                <a:solidFill>
                  <a:srgbClr val="2F3129"/>
                </a:solidFill>
                <a:latin typeface="Arial" panose="020B0604020202020204" pitchFamily="34" charset="0"/>
              </a:rPr>
              <a:t>Runs about every 20 ms in every mode.</a:t>
            </a:r>
          </a:p>
          <a:p>
            <a:pPr>
              <a:spcAft>
                <a:spcPts val="400"/>
              </a:spcAft>
              <a:defRPr sz="1800" b="1">
                <a:solidFill>
                  <a:srgbClr val="1B2040"/>
                </a:solidFill>
                <a:latin typeface="Georgia"/>
              </a:defRPr>
            </a:pPr>
            <a:endParaRPr lang="en-US" sz="1700" b="1">
              <a:solidFill>
                <a:srgbClr val="2F3129"/>
              </a:solidFill>
              <a:latin typeface="Arial" panose="020B0604020202020204" pitchFamily="34" charset="0"/>
            </a:endParaRPr>
          </a:p>
          <a:p>
            <a:pPr>
              <a:spcAft>
                <a:spcPts val="400"/>
              </a:spcAft>
              <a:defRPr sz="1800" b="1">
                <a:solidFill>
                  <a:srgbClr val="1B2040"/>
                </a:solidFill>
                <a:latin typeface="Georgia"/>
              </a:defRPr>
            </a:pPr>
            <a:r>
              <a:rPr lang="en-US" sz="1700" b="1">
                <a:solidFill>
                  <a:srgbClr val="4F4F2F"/>
                </a:solidFill>
                <a:latin typeface="Arial" panose="020B0604020202020204" pitchFamily="34" charset="0"/>
              </a:rPr>
              <a:t>These methods are optional.</a:t>
            </a:r>
            <a:endParaRPr sz="1700" b="1" dirty="0">
              <a:solidFill>
                <a:srgbClr val="4F4F2F"/>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defRPr sz="1800" b="1">
                <a:solidFill>
                  <a:srgbClr val="1B2040"/>
                </a:solidFill>
                <a:latin typeface="Georgia"/>
              </a:defRPr>
            </a:pPr>
            <a:endParaRPr b="1" dirty="0">
              <a:solidFill>
                <a:srgbClr val="1B2243"/>
              </a:solidFill>
              <a:latin typeface="Georgia" panose="02040502050405020303" pitchFamily="18" charset="0"/>
            </a:endParaRPr>
          </a:p>
        </p:txBody>
      </p:sp>
      <p:pic>
        <p:nvPicPr>
          <p:cNvPr id="9" name="Picture 8">
            <a:extLst>
              <a:ext uri="{FF2B5EF4-FFF2-40B4-BE49-F238E27FC236}">
                <a16:creationId xmlns:a16="http://schemas.microsoft.com/office/drawing/2014/main" id="{4D931DFF-D127-FB9F-4665-A234873D6404}"/>
              </a:ext>
            </a:extLst>
          </p:cNvPr>
          <p:cNvPicPr>
            <a:picLocks noChangeAspect="1"/>
          </p:cNvPicPr>
          <p:nvPr/>
        </p:nvPicPr>
        <p:blipFill>
          <a:blip r:embed="rId3"/>
          <a:stretch>
            <a:fillRect/>
          </a:stretch>
        </p:blipFill>
        <p:spPr>
          <a:xfrm>
            <a:off x="9474200" y="2438400"/>
            <a:ext cx="1685395" cy="1155700"/>
          </a:xfrm>
          <a:prstGeom prst="rect">
            <a:avLst/>
          </a:prstGeom>
        </p:spPr>
      </p:pic>
      <p:sp>
        <p:nvSpPr>
          <p:cNvPr id="6" name="TextBox 5">
            <a:extLst>
              <a:ext uri="{FF2B5EF4-FFF2-40B4-BE49-F238E27FC236}">
                <a16:creationId xmlns:a16="http://schemas.microsoft.com/office/drawing/2014/main" id="{2F6CC42A-57E6-7500-3A3E-0A5D137C1A56}"/>
              </a:ext>
            </a:extLst>
          </p:cNvPr>
          <p:cNvSpPr txBox="1"/>
          <p:nvPr/>
        </p:nvSpPr>
        <p:spPr>
          <a:xfrm>
            <a:off x="6527800" y="1803400"/>
            <a:ext cx="4572000" cy="400110"/>
          </a:xfrm>
          <a:prstGeom prst="rect">
            <a:avLst/>
          </a:prstGeom>
          <a:noFill/>
        </p:spPr>
        <p:txBody>
          <a:bodyPr vert="horz" rtlCol="0">
            <a:spAutoFit/>
          </a:bodyPr>
          <a:lstStyle/>
          <a:p>
            <a:pPr algn="ctr"/>
            <a:r>
              <a:rPr lang="en-US" sz="2000" b="1">
                <a:solidFill>
                  <a:srgbClr val="2F3129"/>
                </a:solidFill>
                <a:latin typeface="Georgia" panose="02040502050405020303" pitchFamily="18" charset="0"/>
              </a:rPr>
              <a:t>Method for the selected mode</a:t>
            </a:r>
          </a:p>
        </p:txBody>
      </p:sp>
      <p:sp>
        <p:nvSpPr>
          <p:cNvPr id="7" name="TextBox 6">
            <a:extLst>
              <a:ext uri="{FF2B5EF4-FFF2-40B4-BE49-F238E27FC236}">
                <a16:creationId xmlns:a16="http://schemas.microsoft.com/office/drawing/2014/main" id="{B8D2A6EB-FA8D-A4D4-7083-406C0340798F}"/>
              </a:ext>
            </a:extLst>
          </p:cNvPr>
          <p:cNvSpPr txBox="1"/>
          <p:nvPr/>
        </p:nvSpPr>
        <p:spPr>
          <a:xfrm>
            <a:off x="6553200" y="2438400"/>
            <a:ext cx="2667000" cy="1723549"/>
          </a:xfrm>
          <a:prstGeom prst="rect">
            <a:avLst/>
          </a:prstGeom>
          <a:noFill/>
        </p:spPr>
        <p:txBody>
          <a:bodyPr vert="horz" lIns="0" tIns="0" rIns="0" bIns="0" rtlCol="0">
            <a:spAutoFit/>
          </a:bodyPr>
          <a:lstStyle/>
          <a:p>
            <a:r>
              <a:rPr lang="en-US" sz="1600" b="1">
                <a:solidFill>
                  <a:srgbClr val="28835E"/>
                </a:solidFill>
                <a:latin typeface="Consolas" panose="020B0609020204030204" pitchFamily="49" charset="0"/>
              </a:rPr>
              <a:t>disabledPeriodic()</a:t>
            </a:r>
          </a:p>
          <a:p>
            <a:endParaRPr lang="en-US" sz="1600" b="1">
              <a:solidFill>
                <a:srgbClr val="28835E"/>
              </a:solidFill>
              <a:latin typeface="Consolas" panose="020B0609020204030204" pitchFamily="49" charset="0"/>
            </a:endParaRPr>
          </a:p>
          <a:p>
            <a:r>
              <a:rPr lang="en-US" sz="1600" b="1">
                <a:solidFill>
                  <a:srgbClr val="28835E"/>
                </a:solidFill>
                <a:latin typeface="Consolas" panose="020B0609020204030204" pitchFamily="49" charset="0"/>
              </a:rPr>
              <a:t>autonomousPeriodic()</a:t>
            </a:r>
          </a:p>
          <a:p>
            <a:endParaRPr lang="en-US" sz="1600" b="1">
              <a:solidFill>
                <a:srgbClr val="28835E"/>
              </a:solidFill>
              <a:latin typeface="Consolas" panose="020B0609020204030204" pitchFamily="49" charset="0"/>
            </a:endParaRPr>
          </a:p>
          <a:p>
            <a:r>
              <a:rPr lang="en-US" sz="1600" b="1">
                <a:solidFill>
                  <a:srgbClr val="28835E"/>
                </a:solidFill>
                <a:latin typeface="Consolas" panose="020B0609020204030204" pitchFamily="49" charset="0"/>
              </a:rPr>
              <a:t>teleopPeriodic()</a:t>
            </a:r>
          </a:p>
          <a:p>
            <a:endParaRPr lang="en-US" sz="1600" b="1">
              <a:solidFill>
                <a:srgbClr val="28835E"/>
              </a:solidFill>
              <a:latin typeface="Consolas" panose="020B0609020204030204" pitchFamily="49" charset="0"/>
            </a:endParaRPr>
          </a:p>
          <a:p>
            <a:r>
              <a:rPr lang="en-US" sz="1600" b="1">
                <a:solidFill>
                  <a:srgbClr val="28835E"/>
                </a:solidFill>
                <a:latin typeface="Consolas" panose="020B0609020204030204" pitchFamily="49" charset="0"/>
              </a:rPr>
              <a:t>testPeriodic()</a:t>
            </a:r>
          </a:p>
        </p:txBody>
      </p:sp>
      <p:sp>
        <p:nvSpPr>
          <p:cNvPr id="8" name="TextBox 7">
            <a:extLst>
              <a:ext uri="{FF2B5EF4-FFF2-40B4-BE49-F238E27FC236}">
                <a16:creationId xmlns:a16="http://schemas.microsoft.com/office/drawing/2014/main" id="{92CB548E-A702-26F9-9D67-6CB49A20509A}"/>
              </a:ext>
            </a:extLst>
          </p:cNvPr>
          <p:cNvSpPr txBox="1"/>
          <p:nvPr/>
        </p:nvSpPr>
        <p:spPr>
          <a:xfrm>
            <a:off x="6553200" y="4800600"/>
            <a:ext cx="4495800" cy="738664"/>
          </a:xfrm>
          <a:prstGeom prst="rect">
            <a:avLst/>
          </a:prstGeom>
          <a:noFill/>
        </p:spPr>
        <p:txBody>
          <a:bodyPr vert="horz" lIns="0" tIns="0" rIns="0" bIns="0" rtlCol="0">
            <a:spAutoFit/>
          </a:bodyPr>
          <a:lstStyle/>
          <a:p>
            <a:r>
              <a:rPr lang="en-US" sz="1600">
                <a:solidFill>
                  <a:srgbClr val="2F3129"/>
                </a:solidFill>
                <a:latin typeface="Arial" panose="020B0604020202020204" pitchFamily="34" charset="0"/>
              </a:rPr>
              <a:t>Only the current mode's method runs each cycle.</a:t>
            </a:r>
          </a:p>
          <a:p>
            <a:endParaRPr lang="en-US" sz="1600">
              <a:solidFill>
                <a:srgbClr val="2F3129"/>
              </a:solidFill>
              <a:latin typeface="Arial" panose="020B0604020202020204" pitchFamily="34" charset="0"/>
            </a:endParaRPr>
          </a:p>
          <a:p>
            <a:r>
              <a:rPr lang="en-US" sz="1600" b="1">
                <a:solidFill>
                  <a:srgbClr val="4F4F2F"/>
                </a:solidFill>
                <a:latin typeface="Arial" panose="020B0604020202020204" pitchFamily="34" charset="0"/>
              </a:rPr>
              <a:t>The next demos use teleopPeriodic().</a:t>
            </a:r>
          </a:p>
        </p:txBody>
      </p:sp>
    </p:spTree>
    <p:extLst>
      <p:ext uri="{BB962C8B-B14F-4D97-AF65-F5344CB8AC3E}">
        <p14:creationId xmlns:p14="http://schemas.microsoft.com/office/powerpoint/2010/main" val="43430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Reading controller inputs in </a:t>
            </a:r>
            <a:r>
              <a:rPr lang="en-US" sz="2600" b="1" dirty="0" err="1">
                <a:latin typeface="Georgia" panose="02040502050405020303" pitchFamily="18" charset="0"/>
              </a:rPr>
              <a:t>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a:t>
            </a:r>
            <a:r>
              <a:rPr lang="en-US" sz="2000" b="1">
                <a:latin typeface="Georgia" panose="02040502050405020303" pitchFamily="18" charset="0"/>
              </a:rPr>
              <a:t>• The scheduler calls its methods as the action starts, runs, and ends.</a:t>
            </a:r>
            <a:endParaRPr sz="20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985558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provides methods for controlling the belt</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885210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runs from button press to release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Robot.java calls the scheduler every cycle</a:t>
            </a:r>
            <a:endParaRPr sz="2600" b="1" dirty="0">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457200" tIns="182880" rIns="457200" bIns="182880" rtlCol="0" anchor="ctr"/>
          <a:lstStyle/>
          <a:p>
            <a:pPr>
              <a:defRPr sz="1100" b="1">
                <a:solidFill>
                  <a:srgbClr val="D97724"/>
                </a:solidFill>
                <a:latin typeface="Courier New"/>
              </a:defRPr>
            </a:pPr>
            <a:r>
              <a:rPr lang="en-US" sz="1400">
                <a:solidFill>
                  <a:srgbClr val="FF9124"/>
                </a:solidFill>
                <a:latin typeface="Consolas" panose="020B0609020204030204" pitchFamily="49" charset="0"/>
              </a:rPr>
              <a:t>/** NAME: robotPeriodic - runs the command scheduler every robot packet. */</a:t>
            </a:r>
            <a:r>
              <a:rPr lang="en-US" sz="1400">
                <a:solidFill>
                  <a:srgbClr val="F5F6FA"/>
                </a:solidFill>
                <a:latin typeface="Consolas" panose="020B0609020204030204" pitchFamily="49" charset="0"/>
              </a:rPr>
              <a:t>
</a:t>
            </a:r>
            <a:r>
              <a:rPr lang="en-US" sz="1400">
                <a:solidFill>
                  <a:srgbClr val="FF97CC"/>
                </a:solidFill>
                <a:latin typeface="Consolas" panose="020B0609020204030204" pitchFamily="49" charset="0"/>
              </a:rPr>
              <a:t>@Override</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public</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void</a:t>
            </a:r>
            <a:r>
              <a:rPr lang="en-US" sz="1400">
                <a:solidFill>
                  <a:srgbClr val="F5F6FA"/>
                </a:solidFill>
                <a:latin typeface="Consolas" panose="020B0609020204030204" pitchFamily="49" charset="0"/>
              </a:rPr>
              <a:t> </a:t>
            </a:r>
            <a:r>
              <a:rPr lang="en-US" sz="1400">
                <a:solidFill>
                  <a:srgbClr val="69F0C1"/>
                </a:solidFill>
                <a:latin typeface="Consolas" panose="020B0609020204030204" pitchFamily="49" charset="0"/>
              </a:rPr>
              <a:t>robotPeriodic</a:t>
            </a:r>
            <a:r>
              <a:rPr lang="en-US" sz="1400">
                <a:solidFill>
                  <a:srgbClr val="F5F6FA"/>
                </a:solidFill>
                <a:latin typeface="Consolas" panose="020B0609020204030204" pitchFamily="49" charset="0"/>
              </a:rPr>
              <a:t>() {
  </a:t>
            </a:r>
            <a:r>
              <a:rPr lang="en-US" sz="1400">
                <a:solidFill>
                  <a:srgbClr val="FF9124"/>
                </a:solidFill>
                <a:latin typeface="Consolas" panose="020B0609020204030204" pitchFamily="49" charset="0"/>
              </a:rPr>
              <a:t>// Command-based robots run bindings and default commands through the scheduler every cycle.</a:t>
            </a:r>
            <a:r>
              <a:rPr lang="en-US" sz="1400">
                <a:solidFill>
                  <a:srgbClr val="F5F6FA"/>
                </a:solidFill>
                <a:latin typeface="Consolas" panose="020B0609020204030204" pitchFamily="49" charset="0"/>
              </a:rPr>
              <a:t>
  </a:t>
            </a:r>
            <a:r>
              <a:rPr lang="en-US" sz="1400">
                <a:solidFill>
                  <a:srgbClr val="C7B4FF"/>
                </a:solidFill>
                <a:latin typeface="Consolas" panose="020B0609020204030204" pitchFamily="49" charset="0"/>
              </a:rPr>
              <a:t>CommandScheduler</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getInstance</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run</a:t>
            </a:r>
            <a:r>
              <a:rPr lang="en-US" sz="1400">
                <a:solidFill>
                  <a:srgbClr val="F5F6FA"/>
                </a:solidFill>
                <a:latin typeface="Consolas" panose="020B0609020204030204" pitchFamily="49" charset="0"/>
              </a:rPr>
              <a:t>();
}</a:t>
            </a:r>
            <a:endParaRPr sz="1400">
              <a:solidFill>
                <a:srgbClr val="F5F6FA"/>
              </a:solidFill>
              <a:latin typeface="Consolas" panose="020B0609020204030204" pitchFamily="49" charset="0"/>
            </a:endParaRPr>
          </a:p>
        </p:txBody>
      </p:sp>
    </p:spTree>
    <p:extLst>
      <p:ext uri="{BB962C8B-B14F-4D97-AF65-F5344CB8AC3E}">
        <p14:creationId xmlns:p14="http://schemas.microsoft.com/office/powerpoint/2010/main" val="411731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What happens when A is released
1. The </a:t>
            </a:r>
            <a:r>
              <a:rPr lang="en-US" sz="2000" b="1" dirty="0" err="1">
                <a:latin typeface="Georgia" panose="02040502050405020303" pitchFamily="18" charset="0"/>
              </a:rPr>
              <a:t>whileTrue</a:t>
            </a:r>
            <a:r>
              <a:rPr lang="en-US" sz="2000" b="1" dirty="0">
                <a:latin typeface="Georgia" panose="02040502050405020303" pitchFamily="18" charset="0"/>
              </a:rPr>
              <a:t> condition becomes false.
2. The scheduler cancels </a:t>
            </a:r>
            <a:r>
              <a:rPr lang="en-US" sz="2000" b="1" dirty="0" err="1">
                <a:latin typeface="Georgia" panose="02040502050405020303" pitchFamily="18" charset="0"/>
              </a:rPr>
              <a:t>BeltInCommand</a:t>
            </a:r>
            <a:r>
              <a:rPr lang="en-US" sz="2000" b="1" dirty="0">
                <a:latin typeface="Georgia" panose="02040502050405020303" pitchFamily="18" charset="0"/>
              </a:rPr>
              <a:t>.
3. The scheduler calls end(true).
4. end() calls </a:t>
            </a:r>
            <a:r>
              <a:rPr lang="en-US" sz="2000" b="1" dirty="0" err="1">
                <a:latin typeface="Georgia" panose="02040502050405020303" pitchFamily="18" charset="0"/>
              </a:rPr>
              <a:t>beltSubsystem.stop</a:t>
            </a:r>
            <a:r>
              <a:rPr lang="en-US" sz="2000" b="1" dirty="0">
                <a:latin typeface="Georgia" panose="02040502050405020303" pitchFamily="18" charset="0"/>
              </a:rPr>
              <a:t>().
5. </a:t>
            </a:r>
            <a:r>
              <a:rPr lang="en-US" sz="2000" b="1" dirty="0" err="1">
                <a:latin typeface="Georgia" panose="02040502050405020303" pitchFamily="18" charset="0"/>
              </a:rPr>
              <a:t>BeltSubsystem</a:t>
            </a:r>
            <a:r>
              <a:rPr lang="en-US" sz="2000" b="1" dirty="0">
                <a:latin typeface="Georgia" panose="02040502050405020303" pitchFamily="18" charset="0"/>
              </a:rPr>
              <a:t> writes 0.0 to the motor controller.
The belt stops even though execute() no longer runs.</a:t>
            </a:r>
            <a:endParaRPr sz="2000" b="1" dirty="0">
              <a:latin typeface="Georgia" panose="020405020504050203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76072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a:t>
            </a:r>
            <a:r>
              <a:rPr lang="en-US"/>
              <a:t>Contains Command classes that describe robot actions.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Pr/>
            </a:br>
            <a:r>
              <a:t>(</a:t>
            </a:r>
            <a:r>
              <a:rPr lang="en-US"/>
              <a:t>Command methods</a:t>
            </a:r>
            <a:r>
              <a:t>)</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8643</Words>
  <Application>Microsoft Office PowerPoint</Application>
  <PresentationFormat>Widescreen</PresentationFormat>
  <Paragraphs>517</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27</cp:revision>
  <dcterms:created xsi:type="dcterms:W3CDTF">2013-01-27T09:14:16Z</dcterms:created>
  <dcterms:modified xsi:type="dcterms:W3CDTF">2026-10-08T07:21:41Z</dcterms:modified>
  <cp:category/>
</cp:coreProperties>
</file>