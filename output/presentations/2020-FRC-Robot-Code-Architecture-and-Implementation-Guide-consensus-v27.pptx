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4" r:id="rId3"/>
    <p:sldId id="257" r:id="rId4"/>
    <p:sldId id="282" r:id="rId5"/>
    <p:sldId id="258" r:id="rId6"/>
    <p:sldId id="259" r:id="rId7"/>
    <p:sldId id="260" r:id="rId8"/>
    <p:sldId id="261" r:id="rId9"/>
    <p:sldId id="262" r:id="rId10"/>
    <p:sldId id="263" r:id="rId11"/>
    <p:sldId id="264" r:id="rId12"/>
    <p:sldId id="265" r:id="rId13"/>
    <p:sldId id="266" r:id="rId14"/>
    <p:sldId id="267" r:id="rId15"/>
    <p:sldId id="269" r:id="rId16"/>
    <p:sldId id="276" r:id="rId17"/>
    <p:sldId id="270" r:id="rId18"/>
    <p:sldId id="271" r:id="rId19"/>
    <p:sldId id="277" r:id="rId20"/>
    <p:sldId id="285" r:id="rId21"/>
    <p:sldId id="272" r:id="rId22"/>
    <p:sldId id="283" r:id="rId23"/>
    <p:sldId id="268" r:id="rId24"/>
    <p:sldId id="273" r:id="rId25"/>
    <p:sldId id="274" r:id="rId26"/>
    <p:sldId id="275" r:id="rId27"/>
    <p:sldId id="278" r:id="rId28"/>
    <p:sldId id="279" r:id="rId29"/>
    <p:sldId id="280" r:id="rId30"/>
    <p:sldId id="28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77427" autoAdjust="0"/>
  </p:normalViewPr>
  <p:slideViewPr>
    <p:cSldViewPr snapToGrid="0" snapToObjects="1">
      <p:cViewPr varScale="1">
        <p:scale>
          <a:sx n="85" d="100"/>
          <a:sy n="85" d="100"/>
        </p:scale>
        <p:origin x="7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subsystem from the project.
The private Talon field is the motor controller owned by BeltSubsystem. Keeping it private means commands cannot reach around the subsystem and control the motor directly.
The constructor creates the Talon using the PWM port stored in Constants. The run(speed) method sends a requested speed to the motor controller. The stop() method calls run(0), which gives the motor a zero output.
The public run() and stop() methods are the small set of controls that the rest of the robot program uses. Programmers often call this set of public methods an API.
The next slides show how a button starts a command and how that command uses these subsystem methods.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command example from the project. It uses the BeltSubsystem methods from the earlier slide.
The constructor receives BeltSubsystem and saves it in a field. The addRequirements line tells the scheduler that this command needs the belt. Point out the line now, but tell students that the later conflict example will explain why it matters.
While the command is active, execute() repeatedly calls beltSubsystem.run() with the configured belt speed. isFinished() returns false, so the command does not finish on its own. The whileTrue button binding controls how long it remains active.
This command does not override initialize() because it has no work that needs to happen only once when the command starts. WPILib uses the empty default implementation.
When the operator releases the button or another command interrupts this one, the scheduler calls end(). The end() method calls beltSubsystem.stop(), which sends zero output to the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actual robotPeriodic() method from Robot.java. The comments are part of the project source code.
The first comment documents the method's purpose. The comment inside the method reminds future programmers why the scheduler call belongs here. Neither comment runs as code.
WPILib calls robotPeriodic() automatically while the robot program is running. It calls this method in disabled, autonomous, teleoperated, and test modes. A normal call happens about every 20 milliseconds.
CommandScheduler.getInstance().run() tells the command scheduler to perform one pass through its work.
During that pass, the scheduler checks button bindings, runs active commands, stops commands that have ended, and starts default commands when their subsystems are available. The next slide breaks that pass into steps.
The scheduler does not need Robot.java to name BeltInCommand directly. RobotContainer created the button binding earlier, so the scheduler already knows what to start when Button A is pressed.
Connect this to the earlier TimedRobot demonstrations. Those examples placed hardware-control code directly in teleopPeriodic(). In the finished command-based robot, robotPeriodic() calls the scheduler, and the scheduler calls the correct command methods.
Ask the class: What would happen if we removed CommandScheduler.getInstance().run()? The program would stop processing button bindings, active commands, and default commands.
Transition: Now that we know where the scheduler is called, the next slide shows what it does during each pass.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cleanup half of the Button A story.
While A is held, the </a:t>
            </a:r>
            <a:r>
              <a:rPr lang="en-US" dirty="0" err="1"/>
              <a:t>whileTrue</a:t>
            </a:r>
            <a:r>
              <a:rPr lang="en-US" dirty="0"/>
              <a:t> binding keeps </a:t>
            </a:r>
            <a:r>
              <a:rPr lang="en-US" dirty="0" err="1"/>
              <a:t>BeltInCommand</a:t>
            </a:r>
            <a:r>
              <a:rPr lang="en-US" dirty="0"/>
              <a:t> active. When the operator releases A, the binding cancels the command. The scheduler then calls end(true). In this project, the end method calls </a:t>
            </a:r>
            <a:r>
              <a:rPr lang="en-US" dirty="0" err="1"/>
              <a:t>beltSubsystem.stop</a:t>
            </a:r>
            <a:r>
              <a:rPr lang="en-US" dirty="0"/>
              <a:t>(), and the subsystem writes 0.0 to the motor controller.
The motor does not stop because execute stopped running. It stops because end explicitly sends the stop request. This is why an empty end method is dangerous for a command that runs a motor.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First, prove that the hardware works
1. Identify each motor, valve, port, and controller.
2. Run one component at a time with short TimedRobot programs.
3. Read a controller button and stop the output when the button is released.</a:t>
            </a:r>
            <a:endParaRPr b="1">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a:solidFill>
                <a:srgbClr val="1B2144"/>
              </a:solidFill>
              <a:latin typeface="Georgia" panose="02040502050405020303" pitchFamily="18" charset="0"/>
            </a:endParaRP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Four single-component demos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Drivetrain motors on PWM 0 through 3</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Each program contains only the hardware it operates.</a:t>
            </a:r>
            <a:endParaRPr sz="160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teleopPeriodic() sends one fixed output.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No Xbox input or command-based classes yet.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Raise the drivetrain off the floor before enabling.</a:t>
            </a:r>
            <a:endParaRPr sz="160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Reading controller inputs in 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a:t>
            </a:r>
            <a:r>
              <a:rPr lang="en-US" sz="2000" b="1">
                <a:latin typeface="Georgia" panose="02040502050405020303" pitchFamily="18" charset="0"/>
              </a:rPr>
              <a:t>• The scheduler calls its methods as the action starts, runs, and ends.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985558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provides methods for controlling the belt</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885210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runs from button press to release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Robot.java calls the scheduler every cycle</a:t>
            </a:r>
            <a:endParaRPr sz="2600" b="1" dirty="0">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457200" tIns="182880" rIns="457200" bIns="182880" rtlCol="0" anchor="ctr"/>
          <a:lstStyle/>
          <a:p>
            <a:pPr>
              <a:defRPr sz="1100" b="1">
                <a:solidFill>
                  <a:srgbClr val="D97724"/>
                </a:solidFill>
                <a:latin typeface="Courier New"/>
              </a:defRPr>
            </a:pPr>
            <a:r>
              <a:rPr lang="en-US" sz="1400">
                <a:solidFill>
                  <a:srgbClr val="FF9124"/>
                </a:solidFill>
                <a:latin typeface="Consolas" panose="020B0609020204030204" pitchFamily="49" charset="0"/>
              </a:rPr>
              <a:t>/** NAME: robotPeriodic - runs the command scheduler every robot packet. */</a:t>
            </a:r>
            <a:r>
              <a:rPr lang="en-US" sz="1400">
                <a:solidFill>
                  <a:srgbClr val="F5F6FA"/>
                </a:solidFill>
                <a:latin typeface="Consolas" panose="020B0609020204030204" pitchFamily="49" charset="0"/>
              </a:rPr>
              <a:t>
</a:t>
            </a:r>
            <a:r>
              <a:rPr lang="en-US" sz="1400">
                <a:solidFill>
                  <a:srgbClr val="FF97CC"/>
                </a:solidFill>
                <a:latin typeface="Consolas" panose="020B0609020204030204" pitchFamily="49" charset="0"/>
              </a:rPr>
              <a:t>@Override</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public</a:t>
            </a:r>
            <a:r>
              <a:rPr lang="en-US" sz="1400">
                <a:solidFill>
                  <a:srgbClr val="F5F6FA"/>
                </a:solidFill>
                <a:latin typeface="Consolas" panose="020B0609020204030204" pitchFamily="49" charset="0"/>
              </a:rPr>
              <a:t> </a:t>
            </a:r>
            <a:r>
              <a:rPr lang="en-US" sz="1400">
                <a:solidFill>
                  <a:srgbClr val="79D0FF"/>
                </a:solidFill>
                <a:latin typeface="Consolas" panose="020B0609020204030204" pitchFamily="49" charset="0"/>
              </a:rPr>
              <a:t>void</a:t>
            </a:r>
            <a:r>
              <a:rPr lang="en-US" sz="1400">
                <a:solidFill>
                  <a:srgbClr val="F5F6FA"/>
                </a:solidFill>
                <a:latin typeface="Consolas" panose="020B0609020204030204" pitchFamily="49" charset="0"/>
              </a:rPr>
              <a:t> </a:t>
            </a:r>
            <a:r>
              <a:rPr lang="en-US" sz="1400">
                <a:solidFill>
                  <a:srgbClr val="69F0C1"/>
                </a:solidFill>
                <a:latin typeface="Consolas" panose="020B0609020204030204" pitchFamily="49" charset="0"/>
              </a:rPr>
              <a:t>robotPeriodic</a:t>
            </a:r>
            <a:r>
              <a:rPr lang="en-US" sz="1400">
                <a:solidFill>
                  <a:srgbClr val="F5F6FA"/>
                </a:solidFill>
                <a:latin typeface="Consolas" panose="020B0609020204030204" pitchFamily="49" charset="0"/>
              </a:rPr>
              <a:t>() {
  </a:t>
            </a:r>
            <a:r>
              <a:rPr lang="en-US" sz="1400">
                <a:solidFill>
                  <a:srgbClr val="FF9124"/>
                </a:solidFill>
                <a:latin typeface="Consolas" panose="020B0609020204030204" pitchFamily="49" charset="0"/>
              </a:rPr>
              <a:t>// Command-based robots run bindings and default commands through the scheduler every cycle.</a:t>
            </a:r>
            <a:r>
              <a:rPr lang="en-US" sz="1400">
                <a:solidFill>
                  <a:srgbClr val="F5F6FA"/>
                </a:solidFill>
                <a:latin typeface="Consolas" panose="020B0609020204030204" pitchFamily="49" charset="0"/>
              </a:rPr>
              <a:t>
  </a:t>
            </a:r>
            <a:r>
              <a:rPr lang="en-US" sz="1400">
                <a:solidFill>
                  <a:srgbClr val="C7B4FF"/>
                </a:solidFill>
                <a:latin typeface="Consolas" panose="020B0609020204030204" pitchFamily="49" charset="0"/>
              </a:rPr>
              <a:t>CommandScheduler</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getInstance</a:t>
            </a:r>
            <a:r>
              <a:rPr lang="en-US" sz="1400">
                <a:solidFill>
                  <a:srgbClr val="F5F6FA"/>
                </a:solidFill>
                <a:latin typeface="Consolas" panose="020B0609020204030204" pitchFamily="49" charset="0"/>
              </a:rPr>
              <a:t>().</a:t>
            </a:r>
            <a:r>
              <a:rPr lang="en-US" sz="1400">
                <a:solidFill>
                  <a:srgbClr val="69F0C1"/>
                </a:solidFill>
                <a:latin typeface="Consolas" panose="020B0609020204030204" pitchFamily="49" charset="0"/>
              </a:rPr>
              <a:t>run</a:t>
            </a:r>
            <a:r>
              <a:rPr lang="en-US" sz="1400">
                <a:solidFill>
                  <a:srgbClr val="F5F6FA"/>
                </a:solidFill>
                <a:latin typeface="Consolas" panose="020B0609020204030204" pitchFamily="49" charset="0"/>
              </a:rPr>
              <a:t>();
}</a:t>
            </a:r>
            <a:endParaRPr sz="1400">
              <a:solidFill>
                <a:srgbClr val="F5F6FA"/>
              </a:solidFill>
              <a:latin typeface="Consolas" panose="020B0609020204030204" pitchFamily="49" charset="0"/>
            </a:endParaRPr>
          </a:p>
        </p:txBody>
      </p:sp>
    </p:spTree>
    <p:extLst>
      <p:ext uri="{BB962C8B-B14F-4D97-AF65-F5344CB8AC3E}">
        <p14:creationId xmlns:p14="http://schemas.microsoft.com/office/powerpoint/2010/main" val="4117317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What happens when A is released
1. The </a:t>
            </a:r>
            <a:r>
              <a:rPr lang="en-US" sz="2000" b="1" dirty="0" err="1">
                <a:latin typeface="Georgia" panose="02040502050405020303" pitchFamily="18" charset="0"/>
              </a:rPr>
              <a:t>whileTrue</a:t>
            </a:r>
            <a:r>
              <a:rPr lang="en-US" sz="2000" b="1" dirty="0">
                <a:latin typeface="Georgia" panose="02040502050405020303" pitchFamily="18" charset="0"/>
              </a:rPr>
              <a:t> condition becomes false.
2. The scheduler cancels </a:t>
            </a:r>
            <a:r>
              <a:rPr lang="en-US" sz="2000" b="1" dirty="0" err="1">
                <a:latin typeface="Georgia" panose="02040502050405020303" pitchFamily="18" charset="0"/>
              </a:rPr>
              <a:t>BeltInCommand</a:t>
            </a:r>
            <a:r>
              <a:rPr lang="en-US" sz="2000" b="1" dirty="0">
                <a:latin typeface="Georgia" panose="02040502050405020303" pitchFamily="18" charset="0"/>
              </a:rPr>
              <a:t>.
3. The scheduler calls end(true).
4. end() calls </a:t>
            </a:r>
            <a:r>
              <a:rPr lang="en-US" sz="2000" b="1" dirty="0" err="1">
                <a:latin typeface="Georgia" panose="02040502050405020303" pitchFamily="18" charset="0"/>
              </a:rPr>
              <a:t>beltSubsystem.stop</a:t>
            </a:r>
            <a:r>
              <a:rPr lang="en-US" sz="2000" b="1" dirty="0">
                <a:latin typeface="Georgia" panose="02040502050405020303" pitchFamily="18" charset="0"/>
              </a:rPr>
              <a:t>().
5. </a:t>
            </a:r>
            <a:r>
              <a:rPr lang="en-US" sz="2000" b="1" dirty="0" err="1">
                <a:latin typeface="Georgia" panose="02040502050405020303" pitchFamily="18" charset="0"/>
              </a:rPr>
              <a:t>BeltSubsystem</a:t>
            </a:r>
            <a:r>
              <a:rPr lang="en-US" sz="2000" b="1" dirty="0">
                <a:latin typeface="Georgia" panose="02040502050405020303" pitchFamily="18" charset="0"/>
              </a:rPr>
              <a:t> writes 0.0 to the motor controller.
The belt stops even though execute() no longer runs.</a:t>
            </a:r>
            <a:endParaRPr sz="2000" b="1" dirty="0">
              <a:latin typeface="Georgia" panose="02040502050405020303"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76072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a:t>
            </a:r>
            <a:r>
              <a:rPr lang="en-US"/>
              <a:t>Contains Command classes that describe robot actions.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Pr/>
            </a:br>
            <a:r>
              <a:t>(</a:t>
            </a:r>
            <a:r>
              <a:rPr lang="en-US"/>
              <a:t>Command methods</a:t>
            </a:r>
            <a:r>
              <a:t>)</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7750</Words>
  <Application>Microsoft Office PowerPoint</Application>
  <PresentationFormat>Widescreen</PresentationFormat>
  <Paragraphs>480</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20</cp:revision>
  <dcterms:created xsi:type="dcterms:W3CDTF">2013-01-27T09:14:16Z</dcterms:created>
  <dcterms:modified xsi:type="dcterms:W3CDTF">2026-10-08T06:21:23Z</dcterms:modified>
  <cp:category/>
</cp:coreProperties>
</file>